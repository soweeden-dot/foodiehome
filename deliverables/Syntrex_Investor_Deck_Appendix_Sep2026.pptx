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1 fully populated from the main deck; Gates 2 and 3 populated to the level the design supports — where a field is not yet defined it says so rather than being filled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slide exists: a manufacturing executive will observe that 95% on 30 trials is not a reliability demonstration. They are right. Having the binomial treatment ready — and having already chosen the conservative per-geometry reading — turns the objection into evidence of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aerospace quality leader in the room — the difference between a founder who has read the standard and one who has heard of it. Cite by name and requirement, never by clause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design intent. Nothing here is demonstrated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is where slide 8's 'we have already withdrawn internal claims' lands when an investor asks which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is external fact with a date. Machina Labs entered qualification — exact wording. Divergent is not FAA certified. Anduril's confirmed valuation is $61B post-money; the $100B was in-talks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presenting our own arithmetic as a published figure ($11.3B) is exactly the kind of error that costs a room. 5,600 and 3,170 are not alternatives and must never be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assumption is stated on the slide. No invented numbers fill the unmeasured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attribute the 40% capacity figure specifically to Tier 2/3 — all-respondent figure. The defense note (security/data-rights/IT-OT review precedes technical evaluation) signals the founder knows how these deals actually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key: management budget assumption (set by Syntrex, internally defensible) / published price-benchmark (cited) / actual quote (none held today) / calculated total (arithmetic) / not yet bottom-up sourced. To make this fully bottom-up: compensation bands and start months per nucleus role; three Gate 3 quotes; a monthly operating budget behind the $699K; a filing strategy behind the $169K.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APPENDIX · A-1   ·   01 / 10</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APPENDIX A-1 · VALIDATION GATE DETAIL</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Every gate is designed so that failure is cheap and informative.</a:t>
            </a:r>
            <a:endParaRPr lang="en-US" sz="2400" dirty="0"/>
          </a:p>
        </p:txBody>
      </p:sp>
      <p:sp>
        <p:nvSpPr>
          <p:cNvPr id="6" name="Text 4"/>
          <p:cNvSpPr txBox="1"/>
          <p:nvPr/>
        </p:nvSpPr>
        <p:spPr>
          <a:xfrm>
            <a:off x="621792" y="1298448"/>
            <a:ext cx="10948111" cy="256032"/>
          </a:xfrm>
          <a:prstGeom prst="rect">
            <a:avLst/>
          </a:prstGeom>
          <a:noFill/>
          <a:ln/>
        </p:spPr>
        <p:txBody>
          <a:bodyPr wrap="square" lIns="0" tIns="0" rIns="0" bIns="0" rtlCol="0" anchor="ctr"/>
          <a:lstStyle/>
          <a:p>
            <a:pPr indent="0" marL="0">
              <a:buNone/>
            </a:pPr>
            <a:r>
              <a:rPr lang="en-US" sz="1150" i="1" dirty="0">
                <a:solidFill>
                  <a:srgbClr val="6FD3FF"/>
                </a:solidFill>
                <a:latin typeface="Arial" pitchFamily="34" charset="0"/>
                <a:ea typeface="Arial" pitchFamily="34" charset="-122"/>
                <a:cs typeface="Arial" pitchFamily="34" charset="-120"/>
              </a:rPr>
              <a:t>A gate that cannot fail has not been designed.</a:t>
            </a:r>
            <a:endParaRPr lang="en-US" sz="1150" dirty="0"/>
          </a:p>
        </p:txBody>
      </p:sp>
      <p:sp>
        <p:nvSpPr>
          <p:cNvPr id="7" name="Text 5"/>
          <p:cNvSpPr txBox="1"/>
          <p:nvPr/>
        </p:nvSpPr>
        <p:spPr>
          <a:xfrm>
            <a:off x="2724912" y="1481328"/>
            <a:ext cx="2811170" cy="219456"/>
          </a:xfrm>
          <a:prstGeom prst="rect">
            <a:avLst/>
          </a:prstGeom>
          <a:noFill/>
          <a:ln/>
        </p:spPr>
        <p:txBody>
          <a:bodyPr wrap="square" lIns="0" tIns="0" rIns="0" bIns="0" rtlCol="0" anchor="ctr"/>
          <a:lstStyle/>
          <a:p>
            <a:pPr indent="0" marL="0">
              <a:buNone/>
            </a:pPr>
            <a:r>
              <a:rPr lang="en-US" sz="850" b="1" spc="140" kern="0" dirty="0">
                <a:solidFill>
                  <a:srgbClr val="6FD3FF"/>
                </a:solidFill>
                <a:latin typeface="Arial" pitchFamily="34" charset="0"/>
                <a:ea typeface="Arial" pitchFamily="34" charset="-122"/>
                <a:cs typeface="Arial" pitchFamily="34" charset="-120"/>
              </a:rPr>
              <a:t>GATE 1 · UNDER $5K</a:t>
            </a:r>
            <a:endParaRPr lang="en-US" sz="850" dirty="0"/>
          </a:p>
        </p:txBody>
      </p:sp>
      <p:sp>
        <p:nvSpPr>
          <p:cNvPr id="8" name="Text 6"/>
          <p:cNvSpPr txBox="1"/>
          <p:nvPr/>
        </p:nvSpPr>
        <p:spPr>
          <a:xfrm>
            <a:off x="5673242" y="1481328"/>
            <a:ext cx="2811170" cy="219456"/>
          </a:xfrm>
          <a:prstGeom prst="rect">
            <a:avLst/>
          </a:prstGeom>
          <a:noFill/>
          <a:ln/>
        </p:spPr>
        <p:txBody>
          <a:bodyPr wrap="square" lIns="0" tIns="0" rIns="0" bIns="0" rtlCol="0" anchor="ctr"/>
          <a:lstStyle/>
          <a:p>
            <a:pPr indent="0" marL="0">
              <a:buNone/>
            </a:pPr>
            <a:r>
              <a:rPr lang="en-US" sz="850" b="1" spc="140" kern="0" dirty="0">
                <a:solidFill>
                  <a:srgbClr val="6FD3FF"/>
                </a:solidFill>
                <a:latin typeface="Arial" pitchFamily="34" charset="0"/>
                <a:ea typeface="Arial" pitchFamily="34" charset="-122"/>
                <a:cs typeface="Arial" pitchFamily="34" charset="-120"/>
              </a:rPr>
              <a:t>GATE 2 · ~$50K</a:t>
            </a:r>
            <a:endParaRPr lang="en-US" sz="850" dirty="0"/>
          </a:p>
        </p:txBody>
      </p:sp>
      <p:sp>
        <p:nvSpPr>
          <p:cNvPr id="9" name="Text 7"/>
          <p:cNvSpPr txBox="1"/>
          <p:nvPr/>
        </p:nvSpPr>
        <p:spPr>
          <a:xfrm>
            <a:off x="8621573" y="1481328"/>
            <a:ext cx="2811170" cy="219456"/>
          </a:xfrm>
          <a:prstGeom prst="rect">
            <a:avLst/>
          </a:prstGeom>
          <a:noFill/>
          <a:ln/>
        </p:spPr>
        <p:txBody>
          <a:bodyPr wrap="square" lIns="0" tIns="0" rIns="0" bIns="0" rtlCol="0" anchor="ctr"/>
          <a:lstStyle/>
          <a:p>
            <a:pPr indent="0" marL="0">
              <a:buNone/>
            </a:pPr>
            <a:r>
              <a:rPr lang="en-US" sz="850" b="1" spc="140" kern="0" dirty="0">
                <a:solidFill>
                  <a:srgbClr val="6FD3FF"/>
                </a:solidFill>
                <a:latin typeface="Arial" pitchFamily="34" charset="0"/>
                <a:ea typeface="Arial" pitchFamily="34" charset="-122"/>
                <a:cs typeface="Arial" pitchFamily="34" charset="-120"/>
              </a:rPr>
              <a:t>GATE 3 · $250K–$450K</a:t>
            </a:r>
            <a:endParaRPr lang="en-US" sz="850" dirty="0"/>
          </a:p>
        </p:txBody>
      </p:sp>
      <p:sp>
        <p:nvSpPr>
          <p:cNvPr id="10" name="Shape 8"/>
          <p:cNvSpPr/>
          <p:nvPr/>
        </p:nvSpPr>
        <p:spPr>
          <a:xfrm>
            <a:off x="621792" y="1728216"/>
            <a:ext cx="10948111" cy="0"/>
          </a:xfrm>
          <a:prstGeom prst="line">
            <a:avLst/>
          </a:prstGeom>
          <a:noFill/>
          <a:ln w="9525">
            <a:solidFill>
              <a:srgbClr val="23405C"/>
            </a:solidFill>
            <a:prstDash val="solid"/>
          </a:ln>
        </p:spPr>
      </p:sp>
      <p:sp>
        <p:nvSpPr>
          <p:cNvPr id="11" name="Text 9"/>
          <p:cNvSpPr txBox="1"/>
          <p:nvPr/>
        </p:nvSpPr>
        <p:spPr>
          <a:xfrm>
            <a:off x="621792" y="1773936"/>
            <a:ext cx="1828800" cy="397764"/>
          </a:xfrm>
          <a:prstGeom prst="rect">
            <a:avLst/>
          </a:prstGeom>
          <a:noFill/>
          <a:ln/>
        </p:spPr>
        <p:txBody>
          <a:bodyPr wrap="square" lIns="0" tIns="0" rIns="0" bIns="0" rtlCol="0" anchor="ctr"/>
          <a:lstStyle/>
          <a:p>
            <a:pPr indent="0" marL="0">
              <a:lnSpc>
                <a:spcPct val="100000"/>
              </a:lnSpc>
              <a:buNone/>
            </a:pPr>
            <a:r>
              <a:rPr lang="en-US" sz="660" b="1" spc="100" kern="0" dirty="0">
                <a:solidFill>
                  <a:srgbClr val="72879D"/>
                </a:solidFill>
                <a:latin typeface="Arial" pitchFamily="34" charset="0"/>
                <a:ea typeface="Arial" pitchFamily="34" charset="-122"/>
                <a:cs typeface="Arial" pitchFamily="34" charset="-120"/>
              </a:rPr>
              <a:t>TECHNICAL QUESTION</a:t>
            </a:r>
            <a:endParaRPr lang="en-US" sz="660" dirty="0"/>
          </a:p>
        </p:txBody>
      </p:sp>
      <p:sp>
        <p:nvSpPr>
          <p:cNvPr id="12" name="Text 10"/>
          <p:cNvSpPr txBox="1"/>
          <p:nvPr/>
        </p:nvSpPr>
        <p:spPr>
          <a:xfrm>
            <a:off x="2724912" y="1773936"/>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Does a pre-terminated bundle seat repeatably from a branch-specific cassette under closed-loop tension?</a:t>
            </a:r>
            <a:endParaRPr lang="en-US" sz="640" dirty="0"/>
          </a:p>
        </p:txBody>
      </p:sp>
      <p:sp>
        <p:nvSpPr>
          <p:cNvPr id="13" name="Text 11"/>
          <p:cNvSpPr txBox="1"/>
          <p:nvPr/>
        </p:nvSpPr>
        <p:spPr>
          <a:xfrm>
            <a:off x="5673242" y="1773936"/>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Can physical state and process capability be measured under production-like conditions?</a:t>
            </a:r>
            <a:endParaRPr lang="en-US" sz="640" dirty="0"/>
          </a:p>
        </p:txBody>
      </p:sp>
      <p:sp>
        <p:nvSpPr>
          <p:cNvPr id="14" name="Text 12"/>
          <p:cNvSpPr txBox="1"/>
          <p:nvPr/>
        </p:nvSpPr>
        <p:spPr>
          <a:xfrm>
            <a:off x="8621573" y="1773936"/>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Can one operation class run end to end with evidence output?</a:t>
            </a:r>
            <a:endParaRPr lang="en-US" sz="640" dirty="0"/>
          </a:p>
        </p:txBody>
      </p:sp>
      <p:sp>
        <p:nvSpPr>
          <p:cNvPr id="15" name="Shape 13"/>
          <p:cNvSpPr/>
          <p:nvPr/>
        </p:nvSpPr>
        <p:spPr>
          <a:xfrm>
            <a:off x="621792" y="2171700"/>
            <a:ext cx="10948111" cy="0"/>
          </a:xfrm>
          <a:prstGeom prst="line">
            <a:avLst/>
          </a:prstGeom>
          <a:noFill/>
          <a:ln w="9525">
            <a:solidFill>
              <a:srgbClr val="23405C"/>
            </a:solidFill>
            <a:prstDash val="solid"/>
          </a:ln>
        </p:spPr>
      </p:sp>
      <p:sp>
        <p:nvSpPr>
          <p:cNvPr id="16" name="Text 14"/>
          <p:cNvSpPr txBox="1"/>
          <p:nvPr/>
        </p:nvSpPr>
        <p:spPr>
          <a:xfrm>
            <a:off x="621792" y="2217420"/>
            <a:ext cx="1828800" cy="397764"/>
          </a:xfrm>
          <a:prstGeom prst="rect">
            <a:avLst/>
          </a:prstGeom>
          <a:noFill/>
          <a:ln/>
        </p:spPr>
        <p:txBody>
          <a:bodyPr wrap="square" lIns="0" tIns="0" rIns="0" bIns="0" rtlCol="0" anchor="ctr"/>
          <a:lstStyle/>
          <a:p>
            <a:pPr indent="0" marL="0">
              <a:lnSpc>
                <a:spcPct val="100000"/>
              </a:lnSpc>
              <a:buNone/>
            </a:pPr>
            <a:r>
              <a:rPr lang="en-US" sz="660" b="1" spc="100" kern="0" dirty="0">
                <a:solidFill>
                  <a:srgbClr val="72879D"/>
                </a:solidFill>
                <a:latin typeface="Arial" pitchFamily="34" charset="0"/>
                <a:ea typeface="Arial" pitchFamily="34" charset="-122"/>
                <a:cs typeface="Arial" pitchFamily="34" charset="-120"/>
              </a:rPr>
              <a:t>WHAT WOULD FALSIFY IT</a:t>
            </a:r>
            <a:endParaRPr lang="en-US" sz="660" dirty="0"/>
          </a:p>
        </p:txBody>
      </p:sp>
      <p:sp>
        <p:nvSpPr>
          <p:cNvPr id="17" name="Text 15"/>
          <p:cNvSpPr txBox="1"/>
          <p:nvPr/>
        </p:nvSpPr>
        <p:spPr>
          <a:xfrm>
            <a:off x="2724912" y="2217420"/>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Seating below 85% observed first-pass rate, scatter beyond ±3 mm, or any insulation damage</a:t>
            </a:r>
            <a:endParaRPr lang="en-US" sz="640" dirty="0"/>
          </a:p>
        </p:txBody>
      </p:sp>
      <p:sp>
        <p:nvSpPr>
          <p:cNvPr id="18" name="Text 16"/>
          <p:cNvSpPr txBox="1"/>
          <p:nvPr/>
        </p:nvSpPr>
        <p:spPr>
          <a:xfrm>
            <a:off x="5673242" y="2217420"/>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State estimate divergence from reference metrology beyond approved limits</a:t>
            </a:r>
            <a:endParaRPr lang="en-US" sz="640" dirty="0"/>
          </a:p>
        </p:txBody>
      </p:sp>
      <p:sp>
        <p:nvSpPr>
          <p:cNvPr id="19" name="Text 17"/>
          <p:cNvSpPr txBox="1"/>
          <p:nvPr/>
        </p:nvSpPr>
        <p:spPr>
          <a:xfrm>
            <a:off x="8621573" y="2217420"/>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Failure to complete the operation class within approved limits with verifiable evidence</a:t>
            </a:r>
            <a:endParaRPr lang="en-US" sz="640" dirty="0"/>
          </a:p>
        </p:txBody>
      </p:sp>
      <p:sp>
        <p:nvSpPr>
          <p:cNvPr id="20" name="Shape 18"/>
          <p:cNvSpPr/>
          <p:nvPr/>
        </p:nvSpPr>
        <p:spPr>
          <a:xfrm>
            <a:off x="621792" y="2615184"/>
            <a:ext cx="10948111" cy="0"/>
          </a:xfrm>
          <a:prstGeom prst="line">
            <a:avLst/>
          </a:prstGeom>
          <a:noFill/>
          <a:ln w="9525">
            <a:solidFill>
              <a:srgbClr val="23405C"/>
            </a:solidFill>
            <a:prstDash val="solid"/>
          </a:ln>
        </p:spPr>
      </p:sp>
      <p:sp>
        <p:nvSpPr>
          <p:cNvPr id="21" name="Text 19"/>
          <p:cNvSpPr txBox="1"/>
          <p:nvPr/>
        </p:nvSpPr>
        <p:spPr>
          <a:xfrm>
            <a:off x="621792" y="2660904"/>
            <a:ext cx="1828800" cy="397764"/>
          </a:xfrm>
          <a:prstGeom prst="rect">
            <a:avLst/>
          </a:prstGeom>
          <a:noFill/>
          <a:ln/>
        </p:spPr>
        <p:txBody>
          <a:bodyPr wrap="square" lIns="0" tIns="0" rIns="0" bIns="0" rtlCol="0" anchor="ctr"/>
          <a:lstStyle/>
          <a:p>
            <a:pPr indent="0" marL="0">
              <a:lnSpc>
                <a:spcPct val="100000"/>
              </a:lnSpc>
              <a:buNone/>
            </a:pPr>
            <a:r>
              <a:rPr lang="en-US" sz="660" b="1" spc="100" kern="0" dirty="0">
                <a:solidFill>
                  <a:srgbClr val="72879D"/>
                </a:solidFill>
                <a:latin typeface="Arial" pitchFamily="34" charset="0"/>
                <a:ea typeface="Arial" pitchFamily="34" charset="-122"/>
                <a:cs typeface="Arial" pitchFamily="34" charset="-120"/>
              </a:rPr>
              <a:t>HARDWARE AND TEST ARTICLE</a:t>
            </a:r>
            <a:endParaRPr lang="en-US" sz="660" dirty="0"/>
          </a:p>
        </p:txBody>
      </p:sp>
      <p:sp>
        <p:nvSpPr>
          <p:cNvPr id="22" name="Text 20"/>
          <p:cNvSpPr txBox="1"/>
          <p:nvPr/>
        </p:nvSpPr>
        <p:spPr>
          <a:xfrm>
            <a:off x="2724912" y="2660904"/>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Stepper feeder, inline tension cell, three channel geometries, 20-conductor bundle, vision camera — bench scale</a:t>
            </a:r>
            <a:endParaRPr lang="en-US" sz="640" dirty="0"/>
          </a:p>
        </p:txBody>
      </p:sp>
      <p:sp>
        <p:nvSpPr>
          <p:cNvPr id="23" name="Text 21"/>
          <p:cNvSpPr txBox="1"/>
          <p:nvPr/>
        </p:nvSpPr>
        <p:spPr>
          <a:xfrm>
            <a:off x="5673242" y="2660904"/>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Aerospace-relevant hardware; rented reference metrology</a:t>
            </a:r>
            <a:endParaRPr lang="en-US" sz="640" dirty="0"/>
          </a:p>
        </p:txBody>
      </p:sp>
      <p:sp>
        <p:nvSpPr>
          <p:cNvPr id="24" name="Text 22"/>
          <p:cNvSpPr txBox="1"/>
          <p:nvPr/>
        </p:nvSpPr>
        <p:spPr>
          <a:xfrm>
            <a:off x="8621573" y="2660904"/>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One robot arm 10–20 kg class, closed-loop measurement channel, supervised research cell</a:t>
            </a:r>
            <a:endParaRPr lang="en-US" sz="640" dirty="0"/>
          </a:p>
        </p:txBody>
      </p:sp>
      <p:sp>
        <p:nvSpPr>
          <p:cNvPr id="25" name="Shape 23"/>
          <p:cNvSpPr/>
          <p:nvPr/>
        </p:nvSpPr>
        <p:spPr>
          <a:xfrm>
            <a:off x="621792" y="3058668"/>
            <a:ext cx="10948111" cy="0"/>
          </a:xfrm>
          <a:prstGeom prst="line">
            <a:avLst/>
          </a:prstGeom>
          <a:noFill/>
          <a:ln w="9525">
            <a:solidFill>
              <a:srgbClr val="23405C"/>
            </a:solidFill>
            <a:prstDash val="solid"/>
          </a:ln>
        </p:spPr>
      </p:sp>
      <p:sp>
        <p:nvSpPr>
          <p:cNvPr id="26" name="Text 24"/>
          <p:cNvSpPr txBox="1"/>
          <p:nvPr/>
        </p:nvSpPr>
        <p:spPr>
          <a:xfrm>
            <a:off x="621792" y="3104388"/>
            <a:ext cx="1828800" cy="397764"/>
          </a:xfrm>
          <a:prstGeom prst="rect">
            <a:avLst/>
          </a:prstGeom>
          <a:noFill/>
          <a:ln/>
        </p:spPr>
        <p:txBody>
          <a:bodyPr wrap="square" lIns="0" tIns="0" rIns="0" bIns="0" rtlCol="0" anchor="ctr"/>
          <a:lstStyle/>
          <a:p>
            <a:pPr indent="0" marL="0">
              <a:lnSpc>
                <a:spcPct val="100000"/>
              </a:lnSpc>
              <a:buNone/>
            </a:pPr>
            <a:r>
              <a:rPr lang="en-US" sz="660" b="1" spc="100" kern="0" dirty="0">
                <a:solidFill>
                  <a:srgbClr val="72879D"/>
                </a:solidFill>
                <a:latin typeface="Arial" pitchFamily="34" charset="0"/>
                <a:ea typeface="Arial" pitchFamily="34" charset="-122"/>
                <a:cs typeface="Arial" pitchFamily="34" charset="-120"/>
              </a:rPr>
              <a:t>MEASUREMENT CHAIN</a:t>
            </a:r>
            <a:endParaRPr lang="en-US" sz="660" dirty="0"/>
          </a:p>
        </p:txBody>
      </p:sp>
      <p:sp>
        <p:nvSpPr>
          <p:cNvPr id="27" name="Text 25"/>
          <p:cNvSpPr txBox="1"/>
          <p:nvPr/>
        </p:nvSpPr>
        <p:spPr>
          <a:xfrm>
            <a:off x="2724912" y="3104388"/>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Vision + inline tension telemetry; PROPOSED ENGINEERING DESIGN, REQUIRES TECHNICAL APPROVAL</a:t>
            </a:r>
            <a:endParaRPr lang="en-US" sz="640" dirty="0"/>
          </a:p>
        </p:txBody>
      </p:sp>
      <p:sp>
        <p:nvSpPr>
          <p:cNvPr id="28" name="Text 26"/>
          <p:cNvSpPr txBox="1"/>
          <p:nvPr/>
        </p:nvSpPr>
        <p:spPr>
          <a:xfrm>
            <a:off x="5673242" y="3104388"/>
            <a:ext cx="2765450" cy="397764"/>
          </a:xfrm>
          <a:prstGeom prst="rect">
            <a:avLst/>
          </a:prstGeom>
          <a:noFill/>
          <a:ln/>
        </p:spPr>
        <p:txBody>
          <a:bodyPr wrap="square" lIns="0" tIns="0" rIns="0" bIns="0" rtlCol="0" anchor="ctr"/>
          <a:lstStyle/>
          <a:p>
            <a:pPr indent="0" marL="0">
              <a:lnSpc>
                <a:spcPct val="98000"/>
              </a:lnSpc>
              <a:buNone/>
            </a:pPr>
            <a:r>
              <a:rPr lang="en-US" sz="640" i="1" dirty="0">
                <a:solidFill>
                  <a:srgbClr val="51667C"/>
                </a:solidFill>
                <a:latin typeface="Arial" pitchFamily="34" charset="0"/>
                <a:ea typeface="Arial" pitchFamily="34" charset="-122"/>
                <a:cs typeface="Arial" pitchFamily="34" charset="-120"/>
              </a:rPr>
              <a:t>NOT YET DEFINED</a:t>
            </a:r>
            <a:endParaRPr lang="en-US" sz="640" dirty="0"/>
          </a:p>
        </p:txBody>
      </p:sp>
      <p:sp>
        <p:nvSpPr>
          <p:cNvPr id="29" name="Text 27"/>
          <p:cNvSpPr txBox="1"/>
          <p:nvPr/>
        </p:nvSpPr>
        <p:spPr>
          <a:xfrm>
            <a:off x="8621573" y="3104388"/>
            <a:ext cx="2765450" cy="397764"/>
          </a:xfrm>
          <a:prstGeom prst="rect">
            <a:avLst/>
          </a:prstGeom>
          <a:noFill/>
          <a:ln/>
        </p:spPr>
        <p:txBody>
          <a:bodyPr wrap="square" lIns="0" tIns="0" rIns="0" bIns="0" rtlCol="0" anchor="ctr"/>
          <a:lstStyle/>
          <a:p>
            <a:pPr indent="0" marL="0">
              <a:lnSpc>
                <a:spcPct val="98000"/>
              </a:lnSpc>
              <a:buNone/>
            </a:pPr>
            <a:r>
              <a:rPr lang="en-US" sz="640" i="1" dirty="0">
                <a:solidFill>
                  <a:srgbClr val="51667C"/>
                </a:solidFill>
                <a:latin typeface="Arial" pitchFamily="34" charset="0"/>
                <a:ea typeface="Arial" pitchFamily="34" charset="-122"/>
                <a:cs typeface="Arial" pitchFamily="34" charset="-120"/>
              </a:rPr>
              <a:t>NOT YET DEFINED</a:t>
            </a:r>
            <a:endParaRPr lang="en-US" sz="640" dirty="0"/>
          </a:p>
        </p:txBody>
      </p:sp>
      <p:sp>
        <p:nvSpPr>
          <p:cNvPr id="30" name="Shape 28"/>
          <p:cNvSpPr/>
          <p:nvPr/>
        </p:nvSpPr>
        <p:spPr>
          <a:xfrm>
            <a:off x="621792" y="3502152"/>
            <a:ext cx="10948111" cy="0"/>
          </a:xfrm>
          <a:prstGeom prst="line">
            <a:avLst/>
          </a:prstGeom>
          <a:noFill/>
          <a:ln w="9525">
            <a:solidFill>
              <a:srgbClr val="23405C"/>
            </a:solidFill>
            <a:prstDash val="solid"/>
          </a:ln>
        </p:spPr>
      </p:sp>
      <p:sp>
        <p:nvSpPr>
          <p:cNvPr id="31" name="Text 29"/>
          <p:cNvSpPr txBox="1"/>
          <p:nvPr/>
        </p:nvSpPr>
        <p:spPr>
          <a:xfrm>
            <a:off x="621792" y="3547872"/>
            <a:ext cx="1828800" cy="397764"/>
          </a:xfrm>
          <a:prstGeom prst="rect">
            <a:avLst/>
          </a:prstGeom>
          <a:noFill/>
          <a:ln/>
        </p:spPr>
        <p:txBody>
          <a:bodyPr wrap="square" lIns="0" tIns="0" rIns="0" bIns="0" rtlCol="0" anchor="ctr"/>
          <a:lstStyle/>
          <a:p>
            <a:pPr indent="0" marL="0">
              <a:lnSpc>
                <a:spcPct val="100000"/>
              </a:lnSpc>
              <a:buNone/>
            </a:pPr>
            <a:r>
              <a:rPr lang="en-US" sz="660" b="1" spc="100" kern="0" dirty="0">
                <a:solidFill>
                  <a:srgbClr val="72879D"/>
                </a:solidFill>
                <a:latin typeface="Arial" pitchFamily="34" charset="0"/>
                <a:ea typeface="Arial" pitchFamily="34" charset="-122"/>
                <a:cs typeface="Arial" pitchFamily="34" charset="-120"/>
              </a:rPr>
              <a:t>GROUND TRUTH METHOD</a:t>
            </a:r>
            <a:endParaRPr lang="en-US" sz="660" dirty="0"/>
          </a:p>
        </p:txBody>
      </p:sp>
      <p:sp>
        <p:nvSpPr>
          <p:cNvPr id="32" name="Text 30"/>
          <p:cNvSpPr txBox="1"/>
          <p:nvPr/>
        </p:nvSpPr>
        <p:spPr>
          <a:xfrm>
            <a:off x="2724912" y="3547872"/>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Independent dimensional check of seated position; approval pending</a:t>
            </a:r>
            <a:endParaRPr lang="en-US" sz="640" dirty="0"/>
          </a:p>
        </p:txBody>
      </p:sp>
      <p:sp>
        <p:nvSpPr>
          <p:cNvPr id="33" name="Text 31"/>
          <p:cNvSpPr txBox="1"/>
          <p:nvPr/>
        </p:nvSpPr>
        <p:spPr>
          <a:xfrm>
            <a:off x="5673242" y="3547872"/>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Rented laser tracker / arm CMM reference</a:t>
            </a:r>
            <a:endParaRPr lang="en-US" sz="640" dirty="0"/>
          </a:p>
        </p:txBody>
      </p:sp>
      <p:sp>
        <p:nvSpPr>
          <p:cNvPr id="34" name="Text 32"/>
          <p:cNvSpPr txBox="1"/>
          <p:nvPr/>
        </p:nvSpPr>
        <p:spPr>
          <a:xfrm>
            <a:off x="8621573" y="3547872"/>
            <a:ext cx="2765450" cy="397764"/>
          </a:xfrm>
          <a:prstGeom prst="rect">
            <a:avLst/>
          </a:prstGeom>
          <a:noFill/>
          <a:ln/>
        </p:spPr>
        <p:txBody>
          <a:bodyPr wrap="square" lIns="0" tIns="0" rIns="0" bIns="0" rtlCol="0" anchor="ctr"/>
          <a:lstStyle/>
          <a:p>
            <a:pPr indent="0" marL="0">
              <a:lnSpc>
                <a:spcPct val="98000"/>
              </a:lnSpc>
              <a:buNone/>
            </a:pPr>
            <a:r>
              <a:rPr lang="en-US" sz="640" i="1" dirty="0">
                <a:solidFill>
                  <a:srgbClr val="51667C"/>
                </a:solidFill>
                <a:latin typeface="Arial" pitchFamily="34" charset="0"/>
                <a:ea typeface="Arial" pitchFamily="34" charset="-122"/>
                <a:cs typeface="Arial" pitchFamily="34" charset="-120"/>
              </a:rPr>
              <a:t>NOT YET DEFINED</a:t>
            </a:r>
            <a:endParaRPr lang="en-US" sz="640" dirty="0"/>
          </a:p>
        </p:txBody>
      </p:sp>
      <p:sp>
        <p:nvSpPr>
          <p:cNvPr id="35" name="Shape 33"/>
          <p:cNvSpPr/>
          <p:nvPr/>
        </p:nvSpPr>
        <p:spPr>
          <a:xfrm>
            <a:off x="621792" y="3945636"/>
            <a:ext cx="10948111" cy="0"/>
          </a:xfrm>
          <a:prstGeom prst="line">
            <a:avLst/>
          </a:prstGeom>
          <a:noFill/>
          <a:ln w="9525">
            <a:solidFill>
              <a:srgbClr val="23405C"/>
            </a:solidFill>
            <a:prstDash val="solid"/>
          </a:ln>
        </p:spPr>
      </p:sp>
      <p:sp>
        <p:nvSpPr>
          <p:cNvPr id="36" name="Text 34"/>
          <p:cNvSpPr txBox="1"/>
          <p:nvPr/>
        </p:nvSpPr>
        <p:spPr>
          <a:xfrm>
            <a:off x="621792" y="3991356"/>
            <a:ext cx="1828800" cy="397764"/>
          </a:xfrm>
          <a:prstGeom prst="rect">
            <a:avLst/>
          </a:prstGeom>
          <a:noFill/>
          <a:ln/>
        </p:spPr>
        <p:txBody>
          <a:bodyPr wrap="square" lIns="0" tIns="0" rIns="0" bIns="0" rtlCol="0" anchor="ctr"/>
          <a:lstStyle/>
          <a:p>
            <a:pPr indent="0" marL="0">
              <a:lnSpc>
                <a:spcPct val="100000"/>
              </a:lnSpc>
              <a:buNone/>
            </a:pPr>
            <a:r>
              <a:rPr lang="en-US" sz="660" b="1" spc="100" kern="0" dirty="0">
                <a:solidFill>
                  <a:srgbClr val="72879D"/>
                </a:solidFill>
                <a:latin typeface="Arial" pitchFamily="34" charset="0"/>
                <a:ea typeface="Arial" pitchFamily="34" charset="-122"/>
                <a:cs typeface="Arial" pitchFamily="34" charset="-120"/>
              </a:rPr>
              <a:t>COST / SOURCE</a:t>
            </a:r>
            <a:endParaRPr lang="en-US" sz="660" dirty="0"/>
          </a:p>
        </p:txBody>
      </p:sp>
      <p:sp>
        <p:nvSpPr>
          <p:cNvPr id="37" name="Text 35"/>
          <p:cNvSpPr txBox="1"/>
          <p:nvPr/>
        </p:nvSpPr>
        <p:spPr>
          <a:xfrm>
            <a:off x="2724912" y="3991356"/>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Under $5K first test; gate funded to ~$14K incl. two reruns · published catalog prices, part numbers on slide 9</a:t>
            </a:r>
            <a:endParaRPr lang="en-US" sz="640" dirty="0"/>
          </a:p>
        </p:txBody>
      </p:sp>
      <p:sp>
        <p:nvSpPr>
          <p:cNvPr id="38" name="Text 36"/>
          <p:cNvSpPr txBox="1"/>
          <p:nvPr/>
        </p:nvSpPr>
        <p:spPr>
          <a:xfrm>
            <a:off x="5673242" y="3991356"/>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~$50K incl. one full rerun · planning estimate</a:t>
            </a:r>
            <a:endParaRPr lang="en-US" sz="640" dirty="0"/>
          </a:p>
        </p:txBody>
      </p:sp>
      <p:sp>
        <p:nvSpPr>
          <p:cNvPr id="39" name="Text 37"/>
          <p:cNvSpPr txBox="1"/>
          <p:nvPr/>
        </p:nvSpPr>
        <p:spPr>
          <a:xfrm>
            <a:off x="8621573" y="3991356"/>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$250K–$450K · benchmarked against published 2026 robotics and metrology pricing; vendor quotes pending</a:t>
            </a:r>
            <a:endParaRPr lang="en-US" sz="640" dirty="0"/>
          </a:p>
        </p:txBody>
      </p:sp>
      <p:sp>
        <p:nvSpPr>
          <p:cNvPr id="40" name="Shape 38"/>
          <p:cNvSpPr/>
          <p:nvPr/>
        </p:nvSpPr>
        <p:spPr>
          <a:xfrm>
            <a:off x="621792" y="4389120"/>
            <a:ext cx="10948111" cy="0"/>
          </a:xfrm>
          <a:prstGeom prst="line">
            <a:avLst/>
          </a:prstGeom>
          <a:noFill/>
          <a:ln w="9525">
            <a:solidFill>
              <a:srgbClr val="23405C"/>
            </a:solidFill>
            <a:prstDash val="solid"/>
          </a:ln>
        </p:spPr>
      </p:sp>
      <p:sp>
        <p:nvSpPr>
          <p:cNvPr id="41" name="Text 39"/>
          <p:cNvSpPr txBox="1"/>
          <p:nvPr/>
        </p:nvSpPr>
        <p:spPr>
          <a:xfrm>
            <a:off x="621792" y="4434840"/>
            <a:ext cx="1828800" cy="397764"/>
          </a:xfrm>
          <a:prstGeom prst="rect">
            <a:avLst/>
          </a:prstGeom>
          <a:noFill/>
          <a:ln/>
        </p:spPr>
        <p:txBody>
          <a:bodyPr wrap="square" lIns="0" tIns="0" rIns="0" bIns="0" rtlCol="0" anchor="ctr"/>
          <a:lstStyle/>
          <a:p>
            <a:pPr indent="0" marL="0">
              <a:lnSpc>
                <a:spcPct val="100000"/>
              </a:lnSpc>
              <a:buNone/>
            </a:pPr>
            <a:r>
              <a:rPr lang="en-US" sz="660" b="1" spc="100" kern="0" dirty="0">
                <a:solidFill>
                  <a:srgbClr val="72879D"/>
                </a:solidFill>
                <a:latin typeface="Arial" pitchFamily="34" charset="0"/>
                <a:ea typeface="Arial" pitchFamily="34" charset="-122"/>
                <a:cs typeface="Arial" pitchFamily="34" charset="-120"/>
              </a:rPr>
              <a:t>TECHNICAL OWNER</a:t>
            </a:r>
            <a:endParaRPr lang="en-US" sz="660" dirty="0"/>
          </a:p>
        </p:txBody>
      </p:sp>
      <p:sp>
        <p:nvSpPr>
          <p:cNvPr id="42" name="Text 40"/>
          <p:cNvSpPr txBox="1"/>
          <p:nvPr/>
        </p:nvSpPr>
        <p:spPr>
          <a:xfrm>
            <a:off x="2724912" y="4434840"/>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To be appointed — qualified test ownership is funded by this round</a:t>
            </a:r>
            <a:endParaRPr lang="en-US" sz="640" dirty="0"/>
          </a:p>
        </p:txBody>
      </p:sp>
      <p:sp>
        <p:nvSpPr>
          <p:cNvPr id="43" name="Text 41"/>
          <p:cNvSpPr txBox="1"/>
          <p:nvPr/>
        </p:nvSpPr>
        <p:spPr>
          <a:xfrm>
            <a:off x="5673242" y="4434840"/>
            <a:ext cx="2765450" cy="397764"/>
          </a:xfrm>
          <a:prstGeom prst="rect">
            <a:avLst/>
          </a:prstGeom>
          <a:noFill/>
          <a:ln/>
        </p:spPr>
        <p:txBody>
          <a:bodyPr wrap="square" lIns="0" tIns="0" rIns="0" bIns="0" rtlCol="0" anchor="ctr"/>
          <a:lstStyle/>
          <a:p>
            <a:pPr indent="0" marL="0">
              <a:lnSpc>
                <a:spcPct val="98000"/>
              </a:lnSpc>
              <a:buNone/>
            </a:pPr>
            <a:r>
              <a:rPr lang="en-US" sz="640" i="1" dirty="0">
                <a:solidFill>
                  <a:srgbClr val="51667C"/>
                </a:solidFill>
                <a:latin typeface="Arial" pitchFamily="34" charset="0"/>
                <a:ea typeface="Arial" pitchFamily="34" charset="-122"/>
                <a:cs typeface="Arial" pitchFamily="34" charset="-120"/>
              </a:rPr>
              <a:t>NOT YET DEFINED</a:t>
            </a:r>
            <a:endParaRPr lang="en-US" sz="640" dirty="0"/>
          </a:p>
        </p:txBody>
      </p:sp>
      <p:sp>
        <p:nvSpPr>
          <p:cNvPr id="44" name="Text 42"/>
          <p:cNvSpPr txBox="1"/>
          <p:nvPr/>
        </p:nvSpPr>
        <p:spPr>
          <a:xfrm>
            <a:off x="8621573" y="4434840"/>
            <a:ext cx="2765450" cy="397764"/>
          </a:xfrm>
          <a:prstGeom prst="rect">
            <a:avLst/>
          </a:prstGeom>
          <a:noFill/>
          <a:ln/>
        </p:spPr>
        <p:txBody>
          <a:bodyPr wrap="square" lIns="0" tIns="0" rIns="0" bIns="0" rtlCol="0" anchor="ctr"/>
          <a:lstStyle/>
          <a:p>
            <a:pPr indent="0" marL="0">
              <a:lnSpc>
                <a:spcPct val="98000"/>
              </a:lnSpc>
              <a:buNone/>
            </a:pPr>
            <a:r>
              <a:rPr lang="en-US" sz="640" i="1" dirty="0">
                <a:solidFill>
                  <a:srgbClr val="51667C"/>
                </a:solidFill>
                <a:latin typeface="Arial" pitchFamily="34" charset="0"/>
                <a:ea typeface="Arial" pitchFamily="34" charset="-122"/>
                <a:cs typeface="Arial" pitchFamily="34" charset="-120"/>
              </a:rPr>
              <a:t>NOT YET DEFINED</a:t>
            </a:r>
            <a:endParaRPr lang="en-US" sz="640" dirty="0"/>
          </a:p>
        </p:txBody>
      </p:sp>
      <p:sp>
        <p:nvSpPr>
          <p:cNvPr id="45" name="Shape 43"/>
          <p:cNvSpPr/>
          <p:nvPr/>
        </p:nvSpPr>
        <p:spPr>
          <a:xfrm>
            <a:off x="621792" y="4832604"/>
            <a:ext cx="10948111" cy="0"/>
          </a:xfrm>
          <a:prstGeom prst="line">
            <a:avLst/>
          </a:prstGeom>
          <a:noFill/>
          <a:ln w="9525">
            <a:solidFill>
              <a:srgbClr val="23405C"/>
            </a:solidFill>
            <a:prstDash val="solid"/>
          </a:ln>
        </p:spPr>
      </p:sp>
      <p:sp>
        <p:nvSpPr>
          <p:cNvPr id="46" name="Text 44"/>
          <p:cNvSpPr txBox="1"/>
          <p:nvPr/>
        </p:nvSpPr>
        <p:spPr>
          <a:xfrm>
            <a:off x="621792" y="4878324"/>
            <a:ext cx="1828800" cy="397764"/>
          </a:xfrm>
          <a:prstGeom prst="rect">
            <a:avLst/>
          </a:prstGeom>
          <a:noFill/>
          <a:ln/>
        </p:spPr>
        <p:txBody>
          <a:bodyPr wrap="square" lIns="0" tIns="0" rIns="0" bIns="0" rtlCol="0" anchor="ctr"/>
          <a:lstStyle/>
          <a:p>
            <a:pPr indent="0" marL="0">
              <a:lnSpc>
                <a:spcPct val="100000"/>
              </a:lnSpc>
              <a:buNone/>
            </a:pPr>
            <a:r>
              <a:rPr lang="en-US" sz="660" b="1" spc="100" kern="0" dirty="0">
                <a:solidFill>
                  <a:srgbClr val="72879D"/>
                </a:solidFill>
                <a:latin typeface="Arial" pitchFamily="34" charset="0"/>
                <a:ea typeface="Arial" pitchFamily="34" charset="-122"/>
                <a:cs typeface="Arial" pitchFamily="34" charset="-120"/>
              </a:rPr>
              <a:t>PASS · CONDITIONAL · KILL</a:t>
            </a:r>
            <a:endParaRPr lang="en-US" sz="660" dirty="0"/>
          </a:p>
        </p:txBody>
      </p:sp>
      <p:sp>
        <p:nvSpPr>
          <p:cNvPr id="47" name="Text 45"/>
          <p:cNvSpPr txBox="1"/>
          <p:nvPr/>
        </p:nvSpPr>
        <p:spPr>
          <a:xfrm>
            <a:off x="2724912" y="4878324"/>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PASS ≥95% observed · CONDITIONAL 85–95% · KILL &lt;85% or insulation damage</a:t>
            </a:r>
            <a:endParaRPr lang="en-US" sz="640" dirty="0"/>
          </a:p>
        </p:txBody>
      </p:sp>
      <p:sp>
        <p:nvSpPr>
          <p:cNvPr id="48" name="Text 46"/>
          <p:cNvSpPr txBox="1"/>
          <p:nvPr/>
        </p:nvSpPr>
        <p:spPr>
          <a:xfrm>
            <a:off x="5673242" y="4878324"/>
            <a:ext cx="2765450" cy="397764"/>
          </a:xfrm>
          <a:prstGeom prst="rect">
            <a:avLst/>
          </a:prstGeom>
          <a:noFill/>
          <a:ln/>
        </p:spPr>
        <p:txBody>
          <a:bodyPr wrap="square" lIns="0" tIns="0" rIns="0" bIns="0" rtlCol="0" anchor="ctr"/>
          <a:lstStyle/>
          <a:p>
            <a:pPr indent="0" marL="0">
              <a:lnSpc>
                <a:spcPct val="98000"/>
              </a:lnSpc>
              <a:buNone/>
            </a:pPr>
            <a:r>
              <a:rPr lang="en-US" sz="640" i="1" dirty="0">
                <a:solidFill>
                  <a:srgbClr val="51667C"/>
                </a:solidFill>
                <a:latin typeface="Arial" pitchFamily="34" charset="0"/>
                <a:ea typeface="Arial" pitchFamily="34" charset="-122"/>
                <a:cs typeface="Arial" pitchFamily="34" charset="-120"/>
              </a:rPr>
              <a:t>NOT YET DEFINED</a:t>
            </a:r>
            <a:endParaRPr lang="en-US" sz="640" dirty="0"/>
          </a:p>
        </p:txBody>
      </p:sp>
      <p:sp>
        <p:nvSpPr>
          <p:cNvPr id="49" name="Text 47"/>
          <p:cNvSpPr txBox="1"/>
          <p:nvPr/>
        </p:nvSpPr>
        <p:spPr>
          <a:xfrm>
            <a:off x="8621573" y="4878324"/>
            <a:ext cx="2765450" cy="397764"/>
          </a:xfrm>
          <a:prstGeom prst="rect">
            <a:avLst/>
          </a:prstGeom>
          <a:noFill/>
          <a:ln/>
        </p:spPr>
        <p:txBody>
          <a:bodyPr wrap="square" lIns="0" tIns="0" rIns="0" bIns="0" rtlCol="0" anchor="ctr"/>
          <a:lstStyle/>
          <a:p>
            <a:pPr indent="0" marL="0">
              <a:lnSpc>
                <a:spcPct val="98000"/>
              </a:lnSpc>
              <a:buNone/>
            </a:pPr>
            <a:r>
              <a:rPr lang="en-US" sz="640" i="1" dirty="0">
                <a:solidFill>
                  <a:srgbClr val="51667C"/>
                </a:solidFill>
                <a:latin typeface="Arial" pitchFamily="34" charset="0"/>
                <a:ea typeface="Arial" pitchFamily="34" charset="-122"/>
                <a:cs typeface="Arial" pitchFamily="34" charset="-120"/>
              </a:rPr>
              <a:t>NOT YET DEFINED</a:t>
            </a:r>
            <a:endParaRPr lang="en-US" sz="640" dirty="0"/>
          </a:p>
        </p:txBody>
      </p:sp>
      <p:sp>
        <p:nvSpPr>
          <p:cNvPr id="50" name="Shape 48"/>
          <p:cNvSpPr/>
          <p:nvPr/>
        </p:nvSpPr>
        <p:spPr>
          <a:xfrm>
            <a:off x="621792" y="5276088"/>
            <a:ext cx="10948111" cy="0"/>
          </a:xfrm>
          <a:prstGeom prst="line">
            <a:avLst/>
          </a:prstGeom>
          <a:noFill/>
          <a:ln w="9525">
            <a:solidFill>
              <a:srgbClr val="23405C"/>
            </a:solidFill>
            <a:prstDash val="solid"/>
          </a:ln>
        </p:spPr>
      </p:sp>
      <p:sp>
        <p:nvSpPr>
          <p:cNvPr id="51" name="Text 49"/>
          <p:cNvSpPr txBox="1"/>
          <p:nvPr/>
        </p:nvSpPr>
        <p:spPr>
          <a:xfrm>
            <a:off x="621792" y="5321808"/>
            <a:ext cx="1828800" cy="397764"/>
          </a:xfrm>
          <a:prstGeom prst="rect">
            <a:avLst/>
          </a:prstGeom>
          <a:noFill/>
          <a:ln/>
        </p:spPr>
        <p:txBody>
          <a:bodyPr wrap="square" lIns="0" tIns="0" rIns="0" bIns="0" rtlCol="0" anchor="ctr"/>
          <a:lstStyle/>
          <a:p>
            <a:pPr indent="0" marL="0">
              <a:lnSpc>
                <a:spcPct val="100000"/>
              </a:lnSpc>
              <a:buNone/>
            </a:pPr>
            <a:r>
              <a:rPr lang="en-US" sz="660" b="1" spc="100" kern="0" dirty="0">
                <a:solidFill>
                  <a:srgbClr val="72879D"/>
                </a:solidFill>
                <a:latin typeface="Arial" pitchFamily="34" charset="0"/>
                <a:ea typeface="Arial" pitchFamily="34" charset="-122"/>
                <a:cs typeface="Arial" pitchFamily="34" charset="-120"/>
              </a:rPr>
              <a:t>WHAT IT UNLOCKS</a:t>
            </a:r>
            <a:endParaRPr lang="en-US" sz="660" dirty="0"/>
          </a:p>
        </p:txBody>
      </p:sp>
      <p:sp>
        <p:nvSpPr>
          <p:cNvPr id="52" name="Text 50"/>
          <p:cNvSpPr txBox="1"/>
          <p:nvPr/>
        </p:nvSpPr>
        <p:spPr>
          <a:xfrm>
            <a:off x="2724912" y="5321808"/>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Gate 2 — foundational validation</a:t>
            </a:r>
            <a:endParaRPr lang="en-US" sz="640" dirty="0"/>
          </a:p>
        </p:txBody>
      </p:sp>
      <p:sp>
        <p:nvSpPr>
          <p:cNvPr id="53" name="Text 51"/>
          <p:cNvSpPr txBox="1"/>
          <p:nvPr/>
        </p:nvSpPr>
        <p:spPr>
          <a:xfrm>
            <a:off x="5673242" y="5321808"/>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Gate 3 — integrated demonstrator</a:t>
            </a:r>
            <a:endParaRPr lang="en-US" sz="640" dirty="0"/>
          </a:p>
        </p:txBody>
      </p:sp>
      <p:sp>
        <p:nvSpPr>
          <p:cNvPr id="54" name="Text 52"/>
          <p:cNvSpPr txBox="1"/>
          <p:nvPr/>
        </p:nvSpPr>
        <p:spPr>
          <a:xfrm>
            <a:off x="8621573" y="5321808"/>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A bounded customer validation engagement</a:t>
            </a:r>
            <a:endParaRPr lang="en-US" sz="640" dirty="0"/>
          </a:p>
        </p:txBody>
      </p:sp>
      <p:sp>
        <p:nvSpPr>
          <p:cNvPr id="55" name="Shape 53"/>
          <p:cNvSpPr/>
          <p:nvPr/>
        </p:nvSpPr>
        <p:spPr>
          <a:xfrm>
            <a:off x="621792" y="5719572"/>
            <a:ext cx="10948111" cy="0"/>
          </a:xfrm>
          <a:prstGeom prst="line">
            <a:avLst/>
          </a:prstGeom>
          <a:noFill/>
          <a:ln w="9525">
            <a:solidFill>
              <a:srgbClr val="23405C"/>
            </a:solidFill>
            <a:prstDash val="solid"/>
          </a:ln>
        </p:spPr>
      </p:sp>
      <p:sp>
        <p:nvSpPr>
          <p:cNvPr id="56" name="Text 54"/>
          <p:cNvSpPr txBox="1"/>
          <p:nvPr/>
        </p:nvSpPr>
        <p:spPr>
          <a:xfrm>
            <a:off x="621792" y="5765292"/>
            <a:ext cx="1828800" cy="397764"/>
          </a:xfrm>
          <a:prstGeom prst="rect">
            <a:avLst/>
          </a:prstGeom>
          <a:noFill/>
          <a:ln/>
        </p:spPr>
        <p:txBody>
          <a:bodyPr wrap="square" lIns="0" tIns="0" rIns="0" bIns="0" rtlCol="0" anchor="ctr"/>
          <a:lstStyle/>
          <a:p>
            <a:pPr indent="0" marL="0">
              <a:lnSpc>
                <a:spcPct val="100000"/>
              </a:lnSpc>
              <a:buNone/>
            </a:pPr>
            <a:r>
              <a:rPr lang="en-US" sz="660" b="1" spc="100" kern="0" dirty="0">
                <a:solidFill>
                  <a:srgbClr val="72879D"/>
                </a:solidFill>
                <a:latin typeface="Arial" pitchFamily="34" charset="0"/>
                <a:ea typeface="Arial" pitchFamily="34" charset="-122"/>
                <a:cs typeface="Arial" pitchFamily="34" charset="-120"/>
              </a:rPr>
              <a:t>LARGER SPEND PREVENTED</a:t>
            </a:r>
            <a:endParaRPr lang="en-US" sz="660" dirty="0"/>
          </a:p>
        </p:txBody>
      </p:sp>
      <p:sp>
        <p:nvSpPr>
          <p:cNvPr id="57" name="Text 55"/>
          <p:cNvSpPr txBox="1"/>
          <p:nvPr/>
        </p:nvSpPr>
        <p:spPr>
          <a:xfrm>
            <a:off x="2724912" y="5765292"/>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A ~$300K demonstrator commitment</a:t>
            </a:r>
            <a:endParaRPr lang="en-US" sz="640" dirty="0"/>
          </a:p>
        </p:txBody>
      </p:sp>
      <p:sp>
        <p:nvSpPr>
          <p:cNvPr id="58" name="Text 56"/>
          <p:cNvSpPr txBox="1"/>
          <p:nvPr/>
        </p:nvSpPr>
        <p:spPr>
          <a:xfrm>
            <a:off x="5673242" y="5765292"/>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Premature integration spend</a:t>
            </a:r>
            <a:endParaRPr lang="en-US" sz="640" dirty="0"/>
          </a:p>
        </p:txBody>
      </p:sp>
      <p:sp>
        <p:nvSpPr>
          <p:cNvPr id="59" name="Text 57"/>
          <p:cNvSpPr txBox="1"/>
          <p:nvPr/>
        </p:nvSpPr>
        <p:spPr>
          <a:xfrm>
            <a:off x="8621573" y="5765292"/>
            <a:ext cx="2765450" cy="397764"/>
          </a:xfrm>
          <a:prstGeom prst="rect">
            <a:avLst/>
          </a:prstGeom>
          <a:noFill/>
          <a:ln/>
        </p:spPr>
        <p:txBody>
          <a:bodyPr wrap="square" lIns="0" tIns="0" rIns="0" bIns="0" rtlCol="0" anchor="ctr"/>
          <a:lstStyle/>
          <a:p>
            <a:pPr indent="0" marL="0">
              <a:lnSpc>
                <a:spcPct val="98000"/>
              </a:lnSpc>
              <a:buNone/>
            </a:pPr>
            <a:r>
              <a:rPr lang="en-US" sz="640" dirty="0">
                <a:solidFill>
                  <a:srgbClr val="A9BDD1"/>
                </a:solidFill>
                <a:latin typeface="Arial" pitchFamily="34" charset="0"/>
                <a:ea typeface="Arial" pitchFamily="34" charset="-122"/>
                <a:cs typeface="Arial" pitchFamily="34" charset="-120"/>
              </a:rPr>
              <a:t>Scaling an unproven architecture</a:t>
            </a:r>
            <a:endParaRPr lang="en-US" sz="6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APPENDIX · A-2   ·   02 / 10</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APPENDIX A-2 · THE STATISTICAL TREATMENT</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95% is a screening threshold, not a reliability claim.</a:t>
            </a:r>
            <a:endParaRPr lang="en-US" sz="2400" dirty="0"/>
          </a:p>
        </p:txBody>
      </p:sp>
      <p:sp>
        <p:nvSpPr>
          <p:cNvPr id="6" name="Text 4"/>
          <p:cNvSpPr txBox="1"/>
          <p:nvPr/>
        </p:nvSpPr>
        <p:spPr>
          <a:xfrm>
            <a:off x="621792" y="1517904"/>
            <a:ext cx="6309360" cy="1188720"/>
          </a:xfrm>
          <a:prstGeom prst="rect">
            <a:avLst/>
          </a:prstGeom>
          <a:noFill/>
          <a:ln/>
        </p:spPr>
        <p:txBody>
          <a:bodyPr wrap="square" lIns="0" tIns="0" rIns="0" bIns="0" rtlCol="0" anchor="t"/>
          <a:lstStyle/>
          <a:p>
            <a:pPr algn="l" indent="0" marL="0">
              <a:lnSpc>
                <a:spcPct val="120000"/>
              </a:lnSpc>
              <a:spcAft>
                <a:spcPts val="800"/>
              </a:spcAft>
              <a:buNone/>
            </a:pPr>
            <a:r>
              <a:rPr lang="en-US" sz="1100" dirty="0">
                <a:solidFill>
                  <a:srgbClr val="EAF2FA"/>
                </a:solidFill>
                <a:latin typeface="Arial" pitchFamily="34" charset="0"/>
                <a:ea typeface="Arial" pitchFamily="34" charset="-122"/>
                <a:cs typeface="Arial" pitchFamily="34" charset="-120"/>
              </a:rPr>
              <a:t>The 95% figure on Gate 1 is an observed first-pass seating rate used as a screening and kill threshold. It is not a demonstrated reliability claim.</a:t>
            </a:r>
            <a:endParaRPr lang="en-US" sz="1100" dirty="0"/>
          </a:p>
          <a:p>
            <a:pPr algn="l" indent="0" marL="0">
              <a:lnSpc>
                <a:spcPct val="120000"/>
              </a:lnSpc>
              <a:spcAft>
                <a:spcPts val="800"/>
              </a:spcAft>
              <a:buNone/>
            </a:pPr>
            <a:r>
              <a:rPr lang="en-US" sz="1050" dirty="0">
                <a:solidFill>
                  <a:srgbClr val="A9BDD1"/>
                </a:solidFill>
                <a:latin typeface="Arial" pitchFamily="34" charset="0"/>
                <a:ea typeface="Arial" pitchFamily="34" charset="-122"/>
                <a:cs typeface="Arial" pitchFamily="34" charset="-120"/>
              </a:rPr>
              <a:t>For zero failures in n trials, the one-sided 95% lower confidence bound on reliability is 0.05^(1/n).</a:t>
            </a:r>
            <a:endParaRPr lang="en-US" sz="1100" dirty="0"/>
          </a:p>
        </p:txBody>
      </p:sp>
      <p:sp>
        <p:nvSpPr>
          <p:cNvPr id="7" name="Text 5"/>
          <p:cNvSpPr txBox="1"/>
          <p:nvPr/>
        </p:nvSpPr>
        <p:spPr>
          <a:xfrm>
            <a:off x="621792" y="2596896"/>
            <a:ext cx="3108960" cy="182880"/>
          </a:xfrm>
          <a:prstGeom prst="rect">
            <a:avLst/>
          </a:prstGeom>
          <a:noFill/>
          <a:ln/>
        </p:spPr>
        <p:txBody>
          <a:bodyPr wrap="square" lIns="0" tIns="0" rIns="0" bIns="0" rtlCol="0" anchor="ctr"/>
          <a:lstStyle/>
          <a:p>
            <a:pPr indent="0" marL="0">
              <a:buNone/>
            </a:pPr>
            <a:r>
              <a:rPr lang="en-US" sz="750" b="1" spc="200" kern="0" dirty="0">
                <a:solidFill>
                  <a:srgbClr val="72879D"/>
                </a:solidFill>
                <a:latin typeface="Arial" pitchFamily="34" charset="0"/>
                <a:ea typeface="Arial" pitchFamily="34" charset="-122"/>
                <a:cs typeface="Arial" pitchFamily="34" charset="-120"/>
              </a:rPr>
              <a:t>DESIGN</a:t>
            </a:r>
            <a:endParaRPr lang="en-US" sz="750" dirty="0"/>
          </a:p>
        </p:txBody>
      </p:sp>
      <p:sp>
        <p:nvSpPr>
          <p:cNvPr id="8" name="Text 6"/>
          <p:cNvSpPr txBox="1"/>
          <p:nvPr/>
        </p:nvSpPr>
        <p:spPr>
          <a:xfrm>
            <a:off x="3822192" y="2596896"/>
            <a:ext cx="3291840" cy="182880"/>
          </a:xfrm>
          <a:prstGeom prst="rect">
            <a:avLst/>
          </a:prstGeom>
          <a:noFill/>
          <a:ln/>
        </p:spPr>
        <p:txBody>
          <a:bodyPr wrap="square" lIns="0" tIns="0" rIns="0" bIns="0" rtlCol="0" anchor="ctr"/>
          <a:lstStyle/>
          <a:p>
            <a:pPr indent="0" marL="0">
              <a:buNone/>
            </a:pPr>
            <a:r>
              <a:rPr lang="en-US" sz="750" b="1" spc="200" kern="0" dirty="0">
                <a:solidFill>
                  <a:srgbClr val="72879D"/>
                </a:solidFill>
                <a:latin typeface="Arial" pitchFamily="34" charset="0"/>
                <a:ea typeface="Arial" pitchFamily="34" charset="-122"/>
                <a:cs typeface="Arial" pitchFamily="34" charset="-120"/>
              </a:rPr>
              <a:t>SUPPORTS AT 95% CONFIDENCE</a:t>
            </a:r>
            <a:endParaRPr lang="en-US" sz="750" dirty="0"/>
          </a:p>
        </p:txBody>
      </p:sp>
      <p:sp>
        <p:nvSpPr>
          <p:cNvPr id="9" name="Shape 7"/>
          <p:cNvSpPr/>
          <p:nvPr/>
        </p:nvSpPr>
        <p:spPr>
          <a:xfrm>
            <a:off x="621792" y="2798064"/>
            <a:ext cx="6309360" cy="0"/>
          </a:xfrm>
          <a:prstGeom prst="line">
            <a:avLst/>
          </a:prstGeom>
          <a:noFill/>
          <a:ln w="9525">
            <a:solidFill>
              <a:srgbClr val="23405C"/>
            </a:solidFill>
            <a:prstDash val="solid"/>
          </a:ln>
        </p:spPr>
      </p:sp>
      <p:sp>
        <p:nvSpPr>
          <p:cNvPr id="10" name="Text 8"/>
          <p:cNvSpPr txBox="1"/>
          <p:nvPr/>
        </p:nvSpPr>
        <p:spPr>
          <a:xfrm>
            <a:off x="621792" y="2871216"/>
            <a:ext cx="3108960" cy="502920"/>
          </a:xfrm>
          <a:prstGeom prst="rect">
            <a:avLst/>
          </a:prstGeom>
          <a:noFill/>
          <a:ln/>
        </p:spPr>
        <p:txBody>
          <a:bodyPr wrap="square" lIns="0" tIns="0" rIns="0" bIns="0" rtlCol="0" anchor="ctr"/>
          <a:lstStyle/>
          <a:p>
            <a:pPr indent="0" marL="0">
              <a:lnSpc>
                <a:spcPct val="105000"/>
              </a:lnSpc>
              <a:buNone/>
            </a:pPr>
            <a:r>
              <a:rPr lang="en-US" sz="900" dirty="0">
                <a:solidFill>
                  <a:srgbClr val="EAF2FA"/>
                </a:solidFill>
                <a:latin typeface="Arial" pitchFamily="34" charset="0"/>
                <a:ea typeface="Arial" pitchFamily="34" charset="-122"/>
                <a:cs typeface="Arial" pitchFamily="34" charset="-120"/>
              </a:rPr>
              <a:t>n = 30 per geometry, zero failures</a:t>
            </a:r>
            <a:endParaRPr lang="en-US" sz="900" dirty="0"/>
          </a:p>
        </p:txBody>
      </p:sp>
      <p:sp>
        <p:nvSpPr>
          <p:cNvPr id="11" name="Text 9"/>
          <p:cNvSpPr txBox="1"/>
          <p:nvPr/>
        </p:nvSpPr>
        <p:spPr>
          <a:xfrm>
            <a:off x="3822192" y="2871216"/>
            <a:ext cx="3063240" cy="502920"/>
          </a:xfrm>
          <a:prstGeom prst="rect">
            <a:avLst/>
          </a:prstGeom>
          <a:noFill/>
          <a:ln/>
        </p:spPr>
        <p:txBody>
          <a:bodyPr wrap="square" lIns="0" tIns="0" rIns="0" bIns="0" rtlCol="0" anchor="ctr"/>
          <a:lstStyle/>
          <a:p>
            <a:pPr indent="0" marL="0">
              <a:lnSpc>
                <a:spcPct val="105000"/>
              </a:lnSpc>
              <a:buNone/>
            </a:pPr>
            <a:r>
              <a:rPr lang="en-US" sz="900" dirty="0">
                <a:solidFill>
                  <a:srgbClr val="A9BDD1"/>
                </a:solidFill>
                <a:latin typeface="Arial" pitchFamily="34" charset="0"/>
                <a:ea typeface="Arial" pitchFamily="34" charset="-122"/>
                <a:cs typeface="Arial" pitchFamily="34" charset="-120"/>
              </a:rPr>
              <a:t>reliability ≥ 90.5%</a:t>
            </a:r>
            <a:endParaRPr lang="en-US" sz="900" dirty="0"/>
          </a:p>
        </p:txBody>
      </p:sp>
      <p:sp>
        <p:nvSpPr>
          <p:cNvPr id="12" name="Shape 10"/>
          <p:cNvSpPr/>
          <p:nvPr/>
        </p:nvSpPr>
        <p:spPr>
          <a:xfrm>
            <a:off x="621792" y="3364992"/>
            <a:ext cx="6309360" cy="0"/>
          </a:xfrm>
          <a:prstGeom prst="line">
            <a:avLst/>
          </a:prstGeom>
          <a:noFill/>
          <a:ln w="9525">
            <a:solidFill>
              <a:srgbClr val="23405C"/>
            </a:solidFill>
            <a:prstDash val="solid"/>
          </a:ln>
        </p:spPr>
      </p:sp>
      <p:sp>
        <p:nvSpPr>
          <p:cNvPr id="13" name="Text 11"/>
          <p:cNvSpPr txBox="1"/>
          <p:nvPr/>
        </p:nvSpPr>
        <p:spPr>
          <a:xfrm>
            <a:off x="621792" y="3438144"/>
            <a:ext cx="3108960" cy="502920"/>
          </a:xfrm>
          <a:prstGeom prst="rect">
            <a:avLst/>
          </a:prstGeom>
          <a:noFill/>
          <a:ln/>
        </p:spPr>
        <p:txBody>
          <a:bodyPr wrap="square" lIns="0" tIns="0" rIns="0" bIns="0" rtlCol="0" anchor="ctr"/>
          <a:lstStyle/>
          <a:p>
            <a:pPr indent="0" marL="0">
              <a:lnSpc>
                <a:spcPct val="105000"/>
              </a:lnSpc>
              <a:buNone/>
            </a:pPr>
            <a:r>
              <a:rPr lang="en-US" sz="900" dirty="0">
                <a:solidFill>
                  <a:srgbClr val="EAF2FA"/>
                </a:solidFill>
                <a:latin typeface="Arial" pitchFamily="34" charset="0"/>
                <a:ea typeface="Arial" pitchFamily="34" charset="-122"/>
                <a:cs typeface="Arial" pitchFamily="34" charset="-120"/>
              </a:rPr>
              <a:t>n = 59, zero failures</a:t>
            </a:r>
            <a:endParaRPr lang="en-US" sz="900" dirty="0"/>
          </a:p>
        </p:txBody>
      </p:sp>
      <p:sp>
        <p:nvSpPr>
          <p:cNvPr id="14" name="Text 12"/>
          <p:cNvSpPr txBox="1"/>
          <p:nvPr/>
        </p:nvSpPr>
        <p:spPr>
          <a:xfrm>
            <a:off x="3822192" y="3438144"/>
            <a:ext cx="3063240" cy="502920"/>
          </a:xfrm>
          <a:prstGeom prst="rect">
            <a:avLst/>
          </a:prstGeom>
          <a:noFill/>
          <a:ln/>
        </p:spPr>
        <p:txBody>
          <a:bodyPr wrap="square" lIns="0" tIns="0" rIns="0" bIns="0" rtlCol="0" anchor="ctr"/>
          <a:lstStyle/>
          <a:p>
            <a:pPr indent="0" marL="0">
              <a:lnSpc>
                <a:spcPct val="105000"/>
              </a:lnSpc>
              <a:buNone/>
            </a:pPr>
            <a:r>
              <a:rPr lang="en-US" sz="900" dirty="0">
                <a:solidFill>
                  <a:srgbClr val="A9BDD1"/>
                </a:solidFill>
                <a:latin typeface="Arial" pitchFamily="34" charset="0"/>
                <a:ea typeface="Arial" pitchFamily="34" charset="-122"/>
                <a:cs typeface="Arial" pitchFamily="34" charset="-120"/>
              </a:rPr>
              <a:t>reliability ≥ 95.0%</a:t>
            </a:r>
            <a:endParaRPr lang="en-US" sz="900" dirty="0"/>
          </a:p>
        </p:txBody>
      </p:sp>
      <p:sp>
        <p:nvSpPr>
          <p:cNvPr id="15" name="Shape 13"/>
          <p:cNvSpPr/>
          <p:nvPr/>
        </p:nvSpPr>
        <p:spPr>
          <a:xfrm>
            <a:off x="621792" y="3931920"/>
            <a:ext cx="6309360" cy="0"/>
          </a:xfrm>
          <a:prstGeom prst="line">
            <a:avLst/>
          </a:prstGeom>
          <a:noFill/>
          <a:ln w="9525">
            <a:solidFill>
              <a:srgbClr val="23405C"/>
            </a:solidFill>
            <a:prstDash val="solid"/>
          </a:ln>
        </p:spPr>
      </p:sp>
      <p:sp>
        <p:nvSpPr>
          <p:cNvPr id="16" name="Text 14"/>
          <p:cNvSpPr txBox="1"/>
          <p:nvPr/>
        </p:nvSpPr>
        <p:spPr>
          <a:xfrm>
            <a:off x="621792" y="4005072"/>
            <a:ext cx="3108960" cy="502920"/>
          </a:xfrm>
          <a:prstGeom prst="rect">
            <a:avLst/>
          </a:prstGeom>
          <a:noFill/>
          <a:ln/>
        </p:spPr>
        <p:txBody>
          <a:bodyPr wrap="square" lIns="0" tIns="0" rIns="0" bIns="0" rtlCol="0" anchor="ctr"/>
          <a:lstStyle/>
          <a:p>
            <a:pPr indent="0" marL="0">
              <a:lnSpc>
                <a:spcPct val="105000"/>
              </a:lnSpc>
              <a:buNone/>
            </a:pPr>
            <a:r>
              <a:rPr lang="en-US" sz="900" dirty="0">
                <a:solidFill>
                  <a:srgbClr val="EAF2FA"/>
                </a:solidFill>
                <a:latin typeface="Arial" pitchFamily="34" charset="0"/>
                <a:ea typeface="Arial" pitchFamily="34" charset="-122"/>
                <a:cs typeface="Arial" pitchFamily="34" charset="-120"/>
              </a:rPr>
              <a:t>n = 90 pooled across three geometries</a:t>
            </a:r>
            <a:endParaRPr lang="en-US" sz="900" dirty="0"/>
          </a:p>
        </p:txBody>
      </p:sp>
      <p:sp>
        <p:nvSpPr>
          <p:cNvPr id="17" name="Text 15"/>
          <p:cNvSpPr txBox="1"/>
          <p:nvPr/>
        </p:nvSpPr>
        <p:spPr>
          <a:xfrm>
            <a:off x="3822192" y="4005072"/>
            <a:ext cx="3063240" cy="502920"/>
          </a:xfrm>
          <a:prstGeom prst="rect">
            <a:avLst/>
          </a:prstGeom>
          <a:noFill/>
          <a:ln/>
        </p:spPr>
        <p:txBody>
          <a:bodyPr wrap="square" lIns="0" tIns="0" rIns="0" bIns="0" rtlCol="0" anchor="ctr"/>
          <a:lstStyle/>
          <a:p>
            <a:pPr indent="0" marL="0">
              <a:lnSpc>
                <a:spcPct val="105000"/>
              </a:lnSpc>
              <a:buNone/>
            </a:pPr>
            <a:r>
              <a:rPr lang="en-US" sz="900" dirty="0">
                <a:solidFill>
                  <a:srgbClr val="A9BDD1"/>
                </a:solidFill>
                <a:latin typeface="Arial" pitchFamily="34" charset="0"/>
                <a:ea typeface="Arial" pitchFamily="34" charset="-122"/>
                <a:cs typeface="Arial" pitchFamily="34" charset="-120"/>
              </a:rPr>
              <a:t>≥ 96.7% — but only if channel geometry is not a factor, which is precisely what the test exists to determine</a:t>
            </a:r>
            <a:endParaRPr lang="en-US" sz="900" dirty="0"/>
          </a:p>
        </p:txBody>
      </p:sp>
      <p:sp>
        <p:nvSpPr>
          <p:cNvPr id="18" name="Text 16"/>
          <p:cNvSpPr txBox="1"/>
          <p:nvPr/>
        </p:nvSpPr>
        <p:spPr>
          <a:xfrm>
            <a:off x="621792" y="4681728"/>
            <a:ext cx="6309360" cy="292608"/>
          </a:xfrm>
          <a:prstGeom prst="rect">
            <a:avLst/>
          </a:prstGeom>
          <a:noFill/>
          <a:ln/>
        </p:spPr>
        <p:txBody>
          <a:bodyPr wrap="square" lIns="0" tIns="0" rIns="0" bIns="0" rtlCol="0" anchor="ctr"/>
          <a:lstStyle/>
          <a:p>
            <a:pPr indent="0" marL="0">
              <a:buNone/>
            </a:pPr>
            <a:r>
              <a:rPr lang="en-US" sz="1100" b="1" dirty="0">
                <a:solidFill>
                  <a:srgbClr val="6FD3FF"/>
                </a:solidFill>
                <a:latin typeface="Arial" pitchFamily="34" charset="0"/>
                <a:ea typeface="Arial" pitchFamily="34" charset="-122"/>
                <a:cs typeface="Arial" pitchFamily="34" charset="-120"/>
              </a:rPr>
              <a:t>Per-geometry is the honest reading. Pooling assumes away the variable under test.</a:t>
            </a:r>
            <a:endParaRPr lang="en-US" sz="1100" dirty="0"/>
          </a:p>
        </p:txBody>
      </p:sp>
      <p:sp>
        <p:nvSpPr>
          <p:cNvPr id="19" name="Shape 17"/>
          <p:cNvSpPr/>
          <p:nvPr/>
        </p:nvSpPr>
        <p:spPr>
          <a:xfrm>
            <a:off x="7223760" y="1481328"/>
            <a:ext cx="4343400" cy="4297680"/>
          </a:xfrm>
          <a:prstGeom prst="roundRect">
            <a:avLst>
              <a:gd name="adj" fmla="val 1915"/>
            </a:avLst>
          </a:prstGeom>
          <a:solidFill>
            <a:srgbClr val="0F1E31">
              <a:alpha val="68000"/>
            </a:srgbClr>
          </a:solidFill>
          <a:ln w="9525">
            <a:solidFill>
              <a:srgbClr val="2A4A68">
                <a:alpha val="75000"/>
              </a:srgbClr>
            </a:solidFill>
            <a:prstDash val="solid"/>
          </a:ln>
          <a:effectLst>
            <a:outerShdw sx="100000" sy="100000" kx="0" ky="0" algn="bl" rotWithShape="0" blurRad="127000" dist="38100" dir="5400000">
              <a:srgbClr val="000000">
                <a:alpha val="35000"/>
              </a:srgbClr>
            </a:outerShdw>
          </a:effectLst>
        </p:spPr>
      </p:sp>
      <p:sp>
        <p:nvSpPr>
          <p:cNvPr id="20" name="Text 18"/>
          <p:cNvSpPr txBox="1"/>
          <p:nvPr/>
        </p:nvSpPr>
        <p:spPr>
          <a:xfrm>
            <a:off x="7461504" y="1664208"/>
            <a:ext cx="3886200" cy="3931920"/>
          </a:xfrm>
          <a:prstGeom prst="rect">
            <a:avLst/>
          </a:prstGeom>
          <a:noFill/>
          <a:ln/>
        </p:spPr>
        <p:txBody>
          <a:bodyPr wrap="square" lIns="0" tIns="0" rIns="0" bIns="0" rtlCol="0" anchor="t"/>
          <a:lstStyle/>
          <a:p>
            <a:pPr algn="l" indent="0" marL="0">
              <a:lnSpc>
                <a:spcPct val="114000"/>
              </a:lnSpc>
              <a:spcAft>
                <a:spcPts val="500"/>
              </a:spcAft>
              <a:buNone/>
            </a:pPr>
            <a:r>
              <a:rPr lang="en-US" sz="850" b="1" spc="140" kern="0" dirty="0">
                <a:solidFill>
                  <a:srgbClr val="6FD3FF"/>
                </a:solidFill>
                <a:latin typeface="Arial" pitchFamily="34" charset="0"/>
                <a:ea typeface="Arial" pitchFamily="34" charset="-122"/>
                <a:cs typeface="Arial" pitchFamily="34" charset="-120"/>
              </a:rPr>
              <a:t>GATE 3 SCOPE — WHAT $250K–$450K COVERS</a:t>
            </a:r>
            <a:endParaRPr lang="en-US" sz="850" dirty="0"/>
          </a:p>
          <a:p>
            <a:pPr algn="l" indent="0" marL="0">
              <a:lnSpc>
                <a:spcPct val="114000"/>
              </a:lnSpc>
              <a:spcAft>
                <a:spcPts val="800"/>
              </a:spcAft>
              <a:buNone/>
            </a:pPr>
            <a:r>
              <a:rPr lang="en-US" sz="860" dirty="0">
                <a:solidFill>
                  <a:srgbClr val="A9BDD1"/>
                </a:solidFill>
                <a:latin typeface="Arial" pitchFamily="34" charset="0"/>
                <a:ea typeface="Arial" pitchFamily="34" charset="-122"/>
                <a:cs typeface="Arial" pitchFamily="34" charset="-120"/>
              </a:rPr>
              <a:t>One arm in the 10 to 20 kg class with 1.4 to 1.8 m reach; one closed-loop measurement channel combining 3D sensing, 2D vision and six-axis force and torque; end effector, fixturing and part presentation for a bench-scale test article family; guarding, controls and human-machine interface sufficient for a supervised research cell; integration and commissioning largely in-house; rented reference metrology; one funded redesign loop.</a:t>
            </a:r>
            <a:endParaRPr lang="en-US" sz="850" dirty="0"/>
          </a:p>
          <a:p>
            <a:pPr algn="l" indent="0" marL="0">
              <a:lnSpc>
                <a:spcPct val="114000"/>
              </a:lnSpc>
              <a:spcAft>
                <a:spcPts val="500"/>
              </a:spcAft>
              <a:buNone/>
            </a:pPr>
            <a:r>
              <a:rPr lang="en-US" sz="850" b="1" spc="140" kern="0" dirty="0">
                <a:solidFill>
                  <a:srgbClr val="72879D"/>
                </a:solidFill>
                <a:latin typeface="Arial" pitchFamily="34" charset="0"/>
                <a:ea typeface="Arial" pitchFamily="34" charset="-122"/>
                <a:cs typeface="Arial" pitchFamily="34" charset="-120"/>
              </a:rPr>
              <a:t>NOT COVERED, AND WORTH SAYING OUT LOUD</a:t>
            </a:r>
            <a:endParaRPr lang="en-US" sz="850" dirty="0"/>
          </a:p>
          <a:p>
            <a:pPr algn="l" indent="0" marL="0">
              <a:lnSpc>
                <a:spcPct val="114000"/>
              </a:lnSpc>
              <a:buNone/>
            </a:pPr>
            <a:r>
              <a:rPr lang="en-US" sz="860" dirty="0">
                <a:solidFill>
                  <a:srgbClr val="A9BDD1"/>
                </a:solidFill>
                <a:latin typeface="Arial" pitchFamily="34" charset="0"/>
                <a:ea typeface="Arial" pitchFamily="34" charset="-122"/>
                <a:cs typeface="Arial" pitchFamily="34" charset="-120"/>
              </a:rPr>
              <a:t>Facility build-out; purchase of a laser tracker or coordinate measuring machine; a second station or multi-cell line; certified or qualified production equipment; a retained integrator team; ongoing operating expenditure.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APPENDIX · A-3   ·   03 / 10</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APPENDIX A-3 · QUALIFICATION FRAMEWORK</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The standards position, cited by name and requirement.</a:t>
            </a:r>
            <a:endParaRPr lang="en-US" sz="2400" dirty="0"/>
          </a:p>
        </p:txBody>
      </p:sp>
      <p:sp>
        <p:nvSpPr>
          <p:cNvPr id="6" name="Text 4"/>
          <p:cNvSpPr txBox="1"/>
          <p:nvPr/>
        </p:nvSpPr>
        <p:spPr>
          <a:xfrm>
            <a:off x="621792" y="1517904"/>
            <a:ext cx="6126480" cy="4754880"/>
          </a:xfrm>
          <a:prstGeom prst="rect">
            <a:avLst/>
          </a:prstGeom>
          <a:noFill/>
          <a:ln/>
        </p:spPr>
        <p:txBody>
          <a:bodyPr wrap="square" lIns="0" tIns="0" rIns="0" bIns="0" rtlCol="0" anchor="t"/>
          <a:lstStyle/>
          <a:p>
            <a:pPr algn="l" indent="0" marL="0">
              <a:lnSpc>
                <a:spcPct val="112000"/>
              </a:lnSpc>
              <a:spcAft>
                <a:spcPts val="500"/>
              </a:spcAft>
              <a:buNone/>
            </a:pPr>
            <a:r>
              <a:rPr lang="en-US" sz="900" dirty="0">
                <a:solidFill>
                  <a:srgbClr val="EAF2FA"/>
                </a:solidFill>
                <a:latin typeface="Arial" pitchFamily="34" charset="0"/>
                <a:ea typeface="Arial" pitchFamily="34" charset="-122"/>
                <a:cs typeface="Arial" pitchFamily="34" charset="-120"/>
              </a:rPr>
              <a:t>AS9102C — Aerospace First Article Inspection Requirement, revised 28 June 2023. Current. There is no Revision D.</a:t>
            </a:r>
            <a:endParaRPr lang="en-US" sz="900" dirty="0"/>
          </a:p>
          <a:p>
            <a:pPr algn="l" indent="0" marL="0">
              <a:lnSpc>
                <a:spcPct val="112000"/>
              </a:lnSpc>
              <a:spcAft>
                <a:spcPts val="500"/>
              </a:spcAft>
              <a:buNone/>
            </a:pPr>
            <a:r>
              <a:rPr lang="en-US" sz="840" dirty="0">
                <a:solidFill>
                  <a:srgbClr val="A9BDD1"/>
                </a:solidFill>
                <a:latin typeface="Arial" pitchFamily="34" charset="0"/>
                <a:ea typeface="Arial" pitchFamily="34" charset="-122"/>
                <a:cs typeface="Arial" pitchFamily="34" charset="-120"/>
              </a:rPr>
              <a:t>A new part number requires a full first article inspection. A partial FAI is permitted only where a valid prior FAI exists, and it covers only the characteristics affected, invalidated, or not represented by the change. The scoping test is fit, form and function, the rationale must be documented, and the customer can override.</a:t>
            </a:r>
            <a:endParaRPr lang="en-US" sz="900" dirty="0"/>
          </a:p>
          <a:p>
            <a:pPr algn="l" indent="0" marL="0">
              <a:lnSpc>
                <a:spcPct val="112000"/>
              </a:lnSpc>
              <a:spcAft>
                <a:spcPts val="500"/>
              </a:spcAft>
              <a:buNone/>
            </a:pPr>
            <a:r>
              <a:rPr lang="en-US" sz="840" dirty="0">
                <a:solidFill>
                  <a:srgbClr val="A9BDD1"/>
                </a:solidFill>
                <a:latin typeface="Arial" pitchFamily="34" charset="0"/>
                <a:ea typeface="Arial" pitchFamily="34" charset="-122"/>
                <a:cs typeface="Arial" pitchFamily="34" charset="-120"/>
              </a:rPr>
              <a:t>Change triggers named by the standard include: initial production of a new part number or configuration; design change; change of manufacturing source, process, inspection method, location, tooling or material; change to the numerical control program or its translation; a natural or man-made event that could affect the process; corrective action completing a previous FAI; and a lapse in production of two years.</a:t>
            </a:r>
            <a:endParaRPr lang="en-US" sz="900" dirty="0"/>
          </a:p>
          <a:p>
            <a:pPr algn="l" indent="0" marL="0">
              <a:lnSpc>
                <a:spcPct val="112000"/>
              </a:lnSpc>
              <a:spcAft>
                <a:spcPts val="700"/>
              </a:spcAft>
              <a:buNone/>
            </a:pPr>
            <a:r>
              <a:rPr lang="en-US" sz="840" dirty="0">
                <a:solidFill>
                  <a:srgbClr val="A9BDD1"/>
                </a:solidFill>
                <a:latin typeface="Arial" pitchFamily="34" charset="0"/>
                <a:ea typeface="Arial" pitchFamily="34" charset="-122"/>
                <a:cs typeface="Arial" pitchFamily="34" charset="-120"/>
              </a:rPr>
              <a:t>AS9102 is complementary, not alternative, to customer and regulatory requirements. Primes routinely require more.</a:t>
            </a:r>
            <a:endParaRPr lang="en-US" sz="900" dirty="0"/>
          </a:p>
          <a:p>
            <a:pPr algn="l" indent="0" marL="0">
              <a:lnSpc>
                <a:spcPct val="112000"/>
              </a:lnSpc>
              <a:spcAft>
                <a:spcPts val="500"/>
              </a:spcAft>
              <a:buNone/>
            </a:pPr>
            <a:r>
              <a:rPr lang="en-US" sz="840" dirty="0">
                <a:solidFill>
                  <a:srgbClr val="A9BDD1"/>
                </a:solidFill>
                <a:latin typeface="Arial" pitchFamily="34" charset="0"/>
                <a:ea typeface="Arial" pitchFamily="34" charset="-122"/>
                <a:cs typeface="Arial" pitchFamily="34" charset="-120"/>
              </a:rPr>
              <a:t>AS9100D — issued 20 September 2016, remains current. No Revision E. The successor is IA9100, not yet published; the full-scope revision is expected in 2027, following the new ISO 9001. The sixth edition of ISO 9001 had its final draft approved 7 August 2026 and is under publication.</a:t>
            </a:r>
            <a:endParaRPr lang="en-US" sz="900" dirty="0"/>
          </a:p>
          <a:p>
            <a:pPr algn="l" indent="0" marL="0">
              <a:lnSpc>
                <a:spcPct val="112000"/>
              </a:lnSpc>
              <a:spcAft>
                <a:spcPts val="500"/>
              </a:spcAft>
              <a:buNone/>
            </a:pPr>
            <a:r>
              <a:rPr lang="en-US" sz="840" dirty="0">
                <a:solidFill>
                  <a:srgbClr val="A9BDD1"/>
                </a:solidFill>
                <a:latin typeface="Arial" pitchFamily="34" charset="0"/>
                <a:ea typeface="Arial" pitchFamily="34" charset="-122"/>
                <a:cs typeface="Arial" pitchFamily="34" charset="-120"/>
              </a:rPr>
              <a:t>AS9145 — APQP and PPAP requirements, original issue 8 November 2016. No Revision A.</a:t>
            </a:r>
            <a:endParaRPr lang="en-US" sz="900" dirty="0"/>
          </a:p>
          <a:p>
            <a:pPr algn="l" indent="0" marL="0">
              <a:lnSpc>
                <a:spcPct val="112000"/>
              </a:lnSpc>
              <a:buNone/>
            </a:pPr>
            <a:r>
              <a:rPr lang="en-US" sz="840" dirty="0">
                <a:solidFill>
                  <a:srgbClr val="A9BDD1"/>
                </a:solidFill>
                <a:latin typeface="Arial" pitchFamily="34" charset="0"/>
                <a:ea typeface="Arial" pitchFamily="34" charset="-122"/>
                <a:cs typeface="Arial" pitchFamily="34" charset="-120"/>
              </a:rPr>
              <a:t>AS13003A — measurement systems analysis, 18 September 2024, now stabilized; live requirements moved to AS13100 and RM13003. AS13100 Revision A, 14 April 2025, moved capability assessment from Cpk to Ppk.</a:t>
            </a:r>
            <a:endParaRPr lang="en-US" sz="900" dirty="0"/>
          </a:p>
        </p:txBody>
      </p:sp>
      <p:sp>
        <p:nvSpPr>
          <p:cNvPr id="7" name="Shape 5"/>
          <p:cNvSpPr/>
          <p:nvPr/>
        </p:nvSpPr>
        <p:spPr>
          <a:xfrm>
            <a:off x="7040880" y="1481328"/>
            <a:ext cx="4526280" cy="4480560"/>
          </a:xfrm>
          <a:prstGeom prst="roundRect">
            <a:avLst>
              <a:gd name="adj" fmla="val 1837"/>
            </a:avLst>
          </a:prstGeom>
          <a:solidFill>
            <a:srgbClr val="0F1E31">
              <a:alpha val="68000"/>
            </a:srgbClr>
          </a:solidFill>
          <a:ln w="9525">
            <a:solidFill>
              <a:srgbClr val="3D9BD8">
                <a:alpha val="75000"/>
              </a:srgbClr>
            </a:solidFill>
            <a:prstDash val="solid"/>
          </a:ln>
          <a:effectLst>
            <a:outerShdw sx="100000" sy="100000" kx="0" ky="0" algn="bl" rotWithShape="0" blurRad="127000" dist="38100" dir="5400000">
              <a:srgbClr val="000000">
                <a:alpha val="35000"/>
              </a:srgbClr>
            </a:outerShdw>
          </a:effectLst>
        </p:spPr>
      </p:sp>
      <p:sp>
        <p:nvSpPr>
          <p:cNvPr id="8" name="Text 6"/>
          <p:cNvSpPr txBox="1"/>
          <p:nvPr/>
        </p:nvSpPr>
        <p:spPr>
          <a:xfrm>
            <a:off x="7278624" y="1664208"/>
            <a:ext cx="4069080" cy="4114800"/>
          </a:xfrm>
          <a:prstGeom prst="rect">
            <a:avLst/>
          </a:prstGeom>
          <a:noFill/>
          <a:ln/>
        </p:spPr>
        <p:txBody>
          <a:bodyPr wrap="square" lIns="0" tIns="0" rIns="0" bIns="0" rtlCol="0" anchor="t"/>
          <a:lstStyle/>
          <a:p>
            <a:pPr algn="l" indent="0" marL="0">
              <a:lnSpc>
                <a:spcPct val="112000"/>
              </a:lnSpc>
              <a:spcAft>
                <a:spcPts val="600"/>
              </a:spcAft>
              <a:buNone/>
            </a:pPr>
            <a:r>
              <a:rPr lang="en-US" sz="850" b="1" spc="200" kern="0" dirty="0">
                <a:solidFill>
                  <a:srgbClr val="6FD3FF"/>
                </a:solidFill>
                <a:latin typeface="Arial" pitchFamily="34" charset="0"/>
                <a:ea typeface="Arial" pitchFamily="34" charset="-122"/>
                <a:cs typeface="Arial" pitchFamily="34" charset="-120"/>
              </a:rPr>
              <a:t>THE POSITION STATEMENT</a:t>
            </a:r>
            <a:endParaRPr lang="en-US" sz="850" dirty="0"/>
          </a:p>
          <a:p>
            <a:pPr algn="l" indent="0" marL="0">
              <a:lnSpc>
                <a:spcPct val="112000"/>
              </a:lnSpc>
              <a:spcAft>
                <a:spcPts val="700"/>
              </a:spcAft>
              <a:buNone/>
            </a:pPr>
            <a:r>
              <a:rPr lang="en-US" sz="950" b="1" dirty="0">
                <a:solidFill>
                  <a:srgbClr val="EAF2FA"/>
                </a:solidFill>
                <a:latin typeface="Arial" pitchFamily="34" charset="0"/>
                <a:ea typeface="Arial" pitchFamily="34" charset="-122"/>
                <a:cs typeface="Arial" pitchFamily="34" charset="-120"/>
              </a:rPr>
              <a:t>First article inspection is a part-specific verification gate and remains so. Syntrex targets the engineering burden required to reach that gate, not the gate itself.</a:t>
            </a:r>
            <a:endParaRPr lang="en-US" sz="850" dirty="0"/>
          </a:p>
          <a:p>
            <a:pPr algn="l" indent="0" marL="0">
              <a:lnSpc>
                <a:spcPct val="112000"/>
              </a:lnSpc>
              <a:spcAft>
                <a:spcPts val="500"/>
              </a:spcAft>
              <a:buNone/>
            </a:pPr>
            <a:r>
              <a:rPr lang="en-US" sz="880" dirty="0">
                <a:solidFill>
                  <a:srgbClr val="A9BDD1"/>
                </a:solidFill>
                <a:latin typeface="Arial" pitchFamily="34" charset="0"/>
                <a:ea typeface="Arial" pitchFamily="34" charset="-122"/>
                <a:cs typeface="Arial" pitchFamily="34" charset="-120"/>
              </a:rPr>
              <a:t>Demonstrated process capability does not replace a first article inspection. What it can do, subject to customer approval, is reduce ongoing verification burden:</a:t>
            </a:r>
            <a:endParaRPr lang="en-US" sz="850" dirty="0"/>
          </a:p>
          <a:p>
            <a:pPr algn="l" indent="0" marL="0">
              <a:lnSpc>
                <a:spcPct val="112000"/>
              </a:lnSpc>
              <a:spcAft>
                <a:spcPts val="400"/>
              </a:spcAft>
              <a:buNone/>
            </a:pPr>
            <a:r>
              <a:rPr lang="en-US" sz="840" dirty="0">
                <a:solidFill>
                  <a:srgbClr val="A9BDD1"/>
                </a:solidFill>
                <a:latin typeface="Arial" pitchFamily="34" charset="0"/>
                <a:ea typeface="Arial" pitchFamily="34" charset="-122"/>
                <a:cs typeface="Arial" pitchFamily="34" charset="-120"/>
              </a:rPr>
              <a:t>AS13002 permits qualified alternate inspection frequency plans for suppliers demonstrating proficiency in process control, as determined by the purchaser.</a:t>
            </a:r>
            <a:endParaRPr lang="en-US" sz="850" dirty="0"/>
          </a:p>
          <a:p>
            <a:pPr algn="l" indent="0" marL="0">
              <a:lnSpc>
                <a:spcPct val="112000"/>
              </a:lnSpc>
              <a:spcAft>
                <a:spcPts val="400"/>
              </a:spcAft>
              <a:buNone/>
            </a:pPr>
            <a:r>
              <a:rPr lang="en-US" sz="840" dirty="0">
                <a:solidFill>
                  <a:srgbClr val="A9BDD1"/>
                </a:solidFill>
                <a:latin typeface="Arial" pitchFamily="34" charset="0"/>
                <a:ea typeface="Arial" pitchFamily="34" charset="-122"/>
                <a:cs typeface="Arial" pitchFamily="34" charset="-120"/>
              </a:rPr>
              <a:t>AS9138 permits statistical product acceptance against defined risk.</a:t>
            </a:r>
            <a:endParaRPr lang="en-US" sz="850" dirty="0"/>
          </a:p>
          <a:p>
            <a:pPr algn="l" indent="0" marL="0">
              <a:lnSpc>
                <a:spcPct val="112000"/>
              </a:lnSpc>
              <a:spcAft>
                <a:spcPts val="700"/>
              </a:spcAft>
              <a:buNone/>
            </a:pPr>
            <a:r>
              <a:rPr lang="en-US" sz="840" dirty="0">
                <a:solidFill>
                  <a:srgbClr val="A9BDD1"/>
                </a:solidFill>
                <a:latin typeface="Arial" pitchFamily="34" charset="0"/>
                <a:ea typeface="Arial" pitchFamily="34" charset="-122"/>
                <a:cs typeface="Arial" pitchFamily="34" charset="-120"/>
              </a:rPr>
              <a:t>AS9103B allows demonstrated capability on Key Characteristics to shift ongoing verification toward statistical process control.</a:t>
            </a:r>
            <a:endParaRPr lang="en-US" sz="850" dirty="0"/>
          </a:p>
          <a:p>
            <a:pPr algn="l" indent="0" marL="0">
              <a:lnSpc>
                <a:spcPct val="112000"/>
              </a:lnSpc>
              <a:buNone/>
            </a:pPr>
            <a:r>
              <a:rPr lang="en-US" sz="900" b="1" dirty="0">
                <a:solidFill>
                  <a:srgbClr val="6FD3FF"/>
                </a:solidFill>
                <a:latin typeface="Arial" pitchFamily="34" charset="0"/>
                <a:ea typeface="Arial" pitchFamily="34" charset="-122"/>
                <a:cs typeface="Arial" pitchFamily="34" charset="-120"/>
              </a:rPr>
              <a:t>Every one of those reduces ongoing verification after approval. None removes the initial part-level first article inspection, and none is a supplier's unilateral decision.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APPENDIX · A-4   ·   04 / 10</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APPENDIX A-4 · ARCHITECTURE DETAIL</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Eight stages, expanded. Everything on this page is design intent.</a:t>
            </a:r>
            <a:endParaRPr lang="en-US" sz="2400" dirty="0"/>
          </a:p>
        </p:txBody>
      </p:sp>
      <p:sp>
        <p:nvSpPr>
          <p:cNvPr id="6" name="Text 4"/>
          <p:cNvSpPr txBox="1"/>
          <p:nvPr/>
        </p:nvSpPr>
        <p:spPr>
          <a:xfrm>
            <a:off x="621792" y="1627632"/>
            <a:ext cx="5108296" cy="219456"/>
          </a:xfrm>
          <a:prstGeom prst="rect">
            <a:avLst/>
          </a:prstGeom>
          <a:noFill/>
          <a:ln/>
        </p:spPr>
        <p:txBody>
          <a:bodyPr wrap="square" lIns="0" tIns="0" rIns="0" bIns="0" rtlCol="0" anchor="ctr"/>
          <a:lstStyle/>
          <a:p>
            <a:pPr indent="0" marL="0">
              <a:buNone/>
            </a:pPr>
            <a:r>
              <a:rPr lang="en-US" sz="950" b="1" spc="100" kern="0" dirty="0">
                <a:solidFill>
                  <a:srgbClr val="EAF2FA"/>
                </a:solidFill>
                <a:latin typeface="Arial" pitchFamily="34" charset="0"/>
                <a:ea typeface="Arial" pitchFamily="34" charset="-122"/>
                <a:cs typeface="Arial" pitchFamily="34" charset="-120"/>
              </a:rPr>
              <a:t>1 · ENGINEERING INTENT</a:t>
            </a:r>
            <a:endParaRPr lang="en-US" sz="950" dirty="0"/>
          </a:p>
        </p:txBody>
      </p:sp>
      <p:sp>
        <p:nvSpPr>
          <p:cNvPr id="7" name="Text 5"/>
          <p:cNvSpPr txBox="1"/>
          <p:nvPr/>
        </p:nvSpPr>
        <p:spPr>
          <a:xfrm>
            <a:off x="621792" y="1874520"/>
            <a:ext cx="5108296" cy="621792"/>
          </a:xfrm>
          <a:prstGeom prst="rect">
            <a:avLst/>
          </a:prstGeom>
          <a:noFill/>
          <a:ln/>
        </p:spPr>
        <p:txBody>
          <a:bodyPr wrap="square" lIns="0" tIns="0" rIns="0" bIns="0" rtlCol="0" anchor="ctr"/>
          <a:lstStyle/>
          <a:p>
            <a:pPr indent="0" marL="0">
              <a:lnSpc>
                <a:spcPct val="110000"/>
              </a:lnSpc>
              <a:buNone/>
            </a:pPr>
            <a:r>
              <a:rPr lang="en-US" sz="830" dirty="0">
                <a:solidFill>
                  <a:srgbClr val="A9BDD1"/>
                </a:solidFill>
                <a:latin typeface="Arial" pitchFamily="34" charset="0"/>
                <a:ea typeface="Arial" pitchFamily="34" charset="-122"/>
                <a:cs typeface="Arial" pitchFamily="34" charset="-120"/>
              </a:rPr>
              <a:t>Consumes released engineering definition and configuration data. Refuses to proceed without a controlled, identified configuration.</a:t>
            </a:r>
            <a:endParaRPr lang="en-US" sz="830" dirty="0"/>
          </a:p>
        </p:txBody>
      </p:sp>
      <p:sp>
        <p:nvSpPr>
          <p:cNvPr id="8" name="Text 6"/>
          <p:cNvSpPr txBox="1"/>
          <p:nvPr/>
        </p:nvSpPr>
        <p:spPr>
          <a:xfrm>
            <a:off x="6187288" y="1627632"/>
            <a:ext cx="5108296" cy="219456"/>
          </a:xfrm>
          <a:prstGeom prst="rect">
            <a:avLst/>
          </a:prstGeom>
          <a:noFill/>
          <a:ln/>
        </p:spPr>
        <p:txBody>
          <a:bodyPr wrap="square" lIns="0" tIns="0" rIns="0" bIns="0" rtlCol="0" anchor="ctr"/>
          <a:lstStyle/>
          <a:p>
            <a:pPr indent="0" marL="0">
              <a:buNone/>
            </a:pPr>
            <a:r>
              <a:rPr lang="en-US" sz="950" b="1" spc="100" kern="0" dirty="0">
                <a:solidFill>
                  <a:srgbClr val="EAF2FA"/>
                </a:solidFill>
                <a:latin typeface="Arial" pitchFamily="34" charset="0"/>
                <a:ea typeface="Arial" pitchFamily="34" charset="-122"/>
                <a:cs typeface="Arial" pitchFamily="34" charset="-120"/>
              </a:rPr>
              <a:t>2 · MEASURED ARTICLE AND SETUP STATE</a:t>
            </a:r>
            <a:endParaRPr lang="en-US" sz="950" dirty="0"/>
          </a:p>
        </p:txBody>
      </p:sp>
      <p:sp>
        <p:nvSpPr>
          <p:cNvPr id="9" name="Text 7"/>
          <p:cNvSpPr txBox="1"/>
          <p:nvPr/>
        </p:nvSpPr>
        <p:spPr>
          <a:xfrm>
            <a:off x="6187288" y="1874520"/>
            <a:ext cx="5108296" cy="621792"/>
          </a:xfrm>
          <a:prstGeom prst="rect">
            <a:avLst/>
          </a:prstGeom>
          <a:noFill/>
          <a:ln/>
        </p:spPr>
        <p:txBody>
          <a:bodyPr wrap="square" lIns="0" tIns="0" rIns="0" bIns="0" rtlCol="0" anchor="ctr"/>
          <a:lstStyle/>
          <a:p>
            <a:pPr indent="0" marL="0">
              <a:lnSpc>
                <a:spcPct val="110000"/>
              </a:lnSpc>
              <a:buNone/>
            </a:pPr>
            <a:r>
              <a:rPr lang="en-US" sz="830" dirty="0">
                <a:solidFill>
                  <a:srgbClr val="A9BDD1"/>
                </a:solidFill>
                <a:latin typeface="Arial" pitchFamily="34" charset="0"/>
                <a:ea typeface="Arial" pitchFamily="34" charset="-122"/>
                <a:cs typeface="Arial" pitchFamily="34" charset="-120"/>
              </a:rPr>
              <a:t>Independent sensing of the article, fixturing and setup as they physically are. Refuses to substitute nominal geometry for measurement.</a:t>
            </a:r>
            <a:endParaRPr lang="en-US" sz="830" dirty="0"/>
          </a:p>
        </p:txBody>
      </p:sp>
      <p:sp>
        <p:nvSpPr>
          <p:cNvPr id="10" name="Text 8"/>
          <p:cNvSpPr txBox="1"/>
          <p:nvPr/>
        </p:nvSpPr>
        <p:spPr>
          <a:xfrm>
            <a:off x="621792" y="2560320"/>
            <a:ext cx="5108296" cy="219456"/>
          </a:xfrm>
          <a:prstGeom prst="rect">
            <a:avLst/>
          </a:prstGeom>
          <a:noFill/>
          <a:ln/>
        </p:spPr>
        <p:txBody>
          <a:bodyPr wrap="square" lIns="0" tIns="0" rIns="0" bIns="0" rtlCol="0" anchor="ctr"/>
          <a:lstStyle/>
          <a:p>
            <a:pPr indent="0" marL="0">
              <a:buNone/>
            </a:pPr>
            <a:r>
              <a:rPr lang="en-US" sz="950" b="1" spc="100" kern="0" dirty="0">
                <a:solidFill>
                  <a:srgbClr val="EAF2FA"/>
                </a:solidFill>
                <a:latin typeface="Arial" pitchFamily="34" charset="0"/>
                <a:ea typeface="Arial" pitchFamily="34" charset="-122"/>
                <a:cs typeface="Arial" pitchFamily="34" charset="-120"/>
              </a:rPr>
              <a:t>3 · MEASURED PROCESS CAPABILITY</a:t>
            </a:r>
            <a:endParaRPr lang="en-US" sz="950" dirty="0"/>
          </a:p>
        </p:txBody>
      </p:sp>
      <p:sp>
        <p:nvSpPr>
          <p:cNvPr id="11" name="Text 9"/>
          <p:cNvSpPr txBox="1"/>
          <p:nvPr/>
        </p:nvSpPr>
        <p:spPr>
          <a:xfrm>
            <a:off x="621792" y="2807208"/>
            <a:ext cx="5108296" cy="621792"/>
          </a:xfrm>
          <a:prstGeom prst="rect">
            <a:avLst/>
          </a:prstGeom>
          <a:noFill/>
          <a:ln/>
        </p:spPr>
        <p:txBody>
          <a:bodyPr wrap="square" lIns="0" tIns="0" rIns="0" bIns="0" rtlCol="0" anchor="ctr"/>
          <a:lstStyle/>
          <a:p>
            <a:pPr indent="0" marL="0">
              <a:lnSpc>
                <a:spcPct val="110000"/>
              </a:lnSpc>
              <a:buNone/>
            </a:pPr>
            <a:r>
              <a:rPr lang="en-US" sz="830" dirty="0">
                <a:solidFill>
                  <a:srgbClr val="A9BDD1"/>
                </a:solidFill>
                <a:latin typeface="Arial" pitchFamily="34" charset="0"/>
                <a:ea typeface="Arial" pitchFamily="34" charset="-122"/>
                <a:cs typeface="Arial" pitchFamily="34" charset="-120"/>
              </a:rPr>
              <a:t>Process capability measured under production-like conditions, expressed as Ppk. Refuses to act on assumed capability.</a:t>
            </a:r>
            <a:endParaRPr lang="en-US" sz="830" dirty="0"/>
          </a:p>
        </p:txBody>
      </p:sp>
      <p:sp>
        <p:nvSpPr>
          <p:cNvPr id="12" name="Text 10"/>
          <p:cNvSpPr txBox="1"/>
          <p:nvPr/>
        </p:nvSpPr>
        <p:spPr>
          <a:xfrm>
            <a:off x="6187288" y="2560320"/>
            <a:ext cx="5108296" cy="219456"/>
          </a:xfrm>
          <a:prstGeom prst="rect">
            <a:avLst/>
          </a:prstGeom>
          <a:noFill/>
          <a:ln/>
        </p:spPr>
        <p:txBody>
          <a:bodyPr wrap="square" lIns="0" tIns="0" rIns="0" bIns="0" rtlCol="0" anchor="ctr"/>
          <a:lstStyle/>
          <a:p>
            <a:pPr indent="0" marL="0">
              <a:buNone/>
            </a:pPr>
            <a:r>
              <a:rPr lang="en-US" sz="950" b="1" spc="100" kern="0" dirty="0">
                <a:solidFill>
                  <a:srgbClr val="EAF2FA"/>
                </a:solidFill>
                <a:latin typeface="Arial" pitchFamily="34" charset="0"/>
                <a:ea typeface="Arial" pitchFamily="34" charset="-122"/>
                <a:cs typeface="Arial" pitchFamily="34" charset="-120"/>
              </a:rPr>
              <a:t>4 · APPROVED OPERATING LIMITS</a:t>
            </a:r>
            <a:endParaRPr lang="en-US" sz="950" dirty="0"/>
          </a:p>
        </p:txBody>
      </p:sp>
      <p:sp>
        <p:nvSpPr>
          <p:cNvPr id="13" name="Text 11"/>
          <p:cNvSpPr txBox="1"/>
          <p:nvPr/>
        </p:nvSpPr>
        <p:spPr>
          <a:xfrm>
            <a:off x="6187288" y="2807208"/>
            <a:ext cx="5108296" cy="621792"/>
          </a:xfrm>
          <a:prstGeom prst="rect">
            <a:avLst/>
          </a:prstGeom>
          <a:noFill/>
          <a:ln/>
        </p:spPr>
        <p:txBody>
          <a:bodyPr wrap="square" lIns="0" tIns="0" rIns="0" bIns="0" rtlCol="0" anchor="ctr"/>
          <a:lstStyle/>
          <a:p>
            <a:pPr indent="0" marL="0">
              <a:lnSpc>
                <a:spcPct val="110000"/>
              </a:lnSpc>
              <a:buNone/>
            </a:pPr>
            <a:r>
              <a:rPr lang="en-US" sz="830" dirty="0">
                <a:solidFill>
                  <a:srgbClr val="A9BDD1"/>
                </a:solidFill>
                <a:latin typeface="Arial" pitchFamily="34" charset="0"/>
                <a:ea typeface="Arial" pitchFamily="34" charset="-122"/>
                <a:cs typeface="Arial" pitchFamily="34" charset="-120"/>
              </a:rPr>
              <a:t>Limits set and approved by the customer's engineering and quality organisations. Refuses to define its own authority.</a:t>
            </a:r>
            <a:endParaRPr lang="en-US" sz="830" dirty="0"/>
          </a:p>
        </p:txBody>
      </p:sp>
      <p:sp>
        <p:nvSpPr>
          <p:cNvPr id="14" name="Text 12"/>
          <p:cNvSpPr txBox="1"/>
          <p:nvPr/>
        </p:nvSpPr>
        <p:spPr>
          <a:xfrm>
            <a:off x="621792" y="3493008"/>
            <a:ext cx="5108296" cy="219456"/>
          </a:xfrm>
          <a:prstGeom prst="rect">
            <a:avLst/>
          </a:prstGeom>
          <a:noFill/>
          <a:ln/>
        </p:spPr>
        <p:txBody>
          <a:bodyPr wrap="square" lIns="0" tIns="0" rIns="0" bIns="0" rtlCol="0" anchor="ctr"/>
          <a:lstStyle/>
          <a:p>
            <a:pPr indent="0" marL="0">
              <a:buNone/>
            </a:pPr>
            <a:r>
              <a:rPr lang="en-US" sz="950" b="1" spc="100" kern="0" dirty="0">
                <a:solidFill>
                  <a:srgbClr val="6FD3FF"/>
                </a:solidFill>
                <a:latin typeface="Arial" pitchFamily="34" charset="0"/>
                <a:ea typeface="Arial" pitchFamily="34" charset="-122"/>
                <a:cs typeface="Arial" pitchFamily="34" charset="-120"/>
              </a:rPr>
              <a:t>5 · BOUNDED AUTHORIZATION</a:t>
            </a:r>
            <a:endParaRPr lang="en-US" sz="950" dirty="0"/>
          </a:p>
        </p:txBody>
      </p:sp>
      <p:sp>
        <p:nvSpPr>
          <p:cNvPr id="15" name="Text 13"/>
          <p:cNvSpPr txBox="1"/>
          <p:nvPr/>
        </p:nvSpPr>
        <p:spPr>
          <a:xfrm>
            <a:off x="621792" y="3739896"/>
            <a:ext cx="5108296" cy="621792"/>
          </a:xfrm>
          <a:prstGeom prst="rect">
            <a:avLst/>
          </a:prstGeom>
          <a:noFill/>
          <a:ln/>
        </p:spPr>
        <p:txBody>
          <a:bodyPr wrap="square" lIns="0" tIns="0" rIns="0" bIns="0" rtlCol="0" anchor="ctr"/>
          <a:lstStyle/>
          <a:p>
            <a:pPr indent="0" marL="0">
              <a:lnSpc>
                <a:spcPct val="110000"/>
              </a:lnSpc>
              <a:buNone/>
            </a:pPr>
            <a:r>
              <a:rPr lang="en-US" sz="830" dirty="0">
                <a:solidFill>
                  <a:srgbClr val="A9BDD1"/>
                </a:solidFill>
                <a:latin typeface="Arial" pitchFamily="34" charset="0"/>
                <a:ea typeface="Arial" pitchFamily="34" charset="-122"/>
                <a:cs typeface="Arial" pitchFamily="34" charset="-120"/>
              </a:rPr>
              <a:t>The decision point. Authorizes, refuses, or escalates — deterministically, within approved limits. Refusal and escalation are designed outcomes, logged as evidence.</a:t>
            </a:r>
            <a:endParaRPr lang="en-US" sz="830" dirty="0"/>
          </a:p>
        </p:txBody>
      </p:sp>
      <p:sp>
        <p:nvSpPr>
          <p:cNvPr id="16" name="Text 14"/>
          <p:cNvSpPr txBox="1"/>
          <p:nvPr/>
        </p:nvSpPr>
        <p:spPr>
          <a:xfrm>
            <a:off x="6187288" y="3493008"/>
            <a:ext cx="5108296" cy="219456"/>
          </a:xfrm>
          <a:prstGeom prst="rect">
            <a:avLst/>
          </a:prstGeom>
          <a:noFill/>
          <a:ln/>
        </p:spPr>
        <p:txBody>
          <a:bodyPr wrap="square" lIns="0" tIns="0" rIns="0" bIns="0" rtlCol="0" anchor="ctr"/>
          <a:lstStyle/>
          <a:p>
            <a:pPr indent="0" marL="0">
              <a:buNone/>
            </a:pPr>
            <a:r>
              <a:rPr lang="en-US" sz="950" b="1" spc="100" kern="0" dirty="0">
                <a:solidFill>
                  <a:srgbClr val="EAF2FA"/>
                </a:solidFill>
                <a:latin typeface="Arial" pitchFamily="34" charset="0"/>
                <a:ea typeface="Arial" pitchFamily="34" charset="-122"/>
                <a:cs typeface="Arial" pitchFamily="34" charset="-120"/>
              </a:rPr>
              <a:t>6 · ADAPTIVE EXECUTION</a:t>
            </a:r>
            <a:endParaRPr lang="en-US" sz="950" dirty="0"/>
          </a:p>
        </p:txBody>
      </p:sp>
      <p:sp>
        <p:nvSpPr>
          <p:cNvPr id="17" name="Text 15"/>
          <p:cNvSpPr txBox="1"/>
          <p:nvPr/>
        </p:nvSpPr>
        <p:spPr>
          <a:xfrm>
            <a:off x="6187288" y="3739896"/>
            <a:ext cx="5108296" cy="621792"/>
          </a:xfrm>
          <a:prstGeom prst="rect">
            <a:avLst/>
          </a:prstGeom>
          <a:noFill/>
          <a:ln/>
        </p:spPr>
        <p:txBody>
          <a:bodyPr wrap="square" lIns="0" tIns="0" rIns="0" bIns="0" rtlCol="0" anchor="ctr"/>
          <a:lstStyle/>
          <a:p>
            <a:pPr indent="0" marL="0">
              <a:lnSpc>
                <a:spcPct val="110000"/>
              </a:lnSpc>
              <a:buNone/>
            </a:pPr>
            <a:r>
              <a:rPr lang="en-US" sz="830" dirty="0">
                <a:solidFill>
                  <a:srgbClr val="A9BDD1"/>
                </a:solidFill>
                <a:latin typeface="Arial" pitchFamily="34" charset="0"/>
                <a:ea typeface="Arial" pitchFamily="34" charset="-122"/>
                <a:cs typeface="Arial" pitchFamily="34" charset="-120"/>
              </a:rPr>
              <a:t>Execution adapted to measured state, inside the authorized bound only.</a:t>
            </a:r>
            <a:endParaRPr lang="en-US" sz="830" dirty="0"/>
          </a:p>
        </p:txBody>
      </p:sp>
      <p:sp>
        <p:nvSpPr>
          <p:cNvPr id="18" name="Text 16"/>
          <p:cNvSpPr txBox="1"/>
          <p:nvPr/>
        </p:nvSpPr>
        <p:spPr>
          <a:xfrm>
            <a:off x="621792" y="4425696"/>
            <a:ext cx="5108296" cy="219456"/>
          </a:xfrm>
          <a:prstGeom prst="rect">
            <a:avLst/>
          </a:prstGeom>
          <a:noFill/>
          <a:ln/>
        </p:spPr>
        <p:txBody>
          <a:bodyPr wrap="square" lIns="0" tIns="0" rIns="0" bIns="0" rtlCol="0" anchor="ctr"/>
          <a:lstStyle/>
          <a:p>
            <a:pPr indent="0" marL="0">
              <a:buNone/>
            </a:pPr>
            <a:r>
              <a:rPr lang="en-US" sz="950" b="1" spc="100" kern="0" dirty="0">
                <a:solidFill>
                  <a:srgbClr val="EAF2FA"/>
                </a:solidFill>
                <a:latin typeface="Arial" pitchFamily="34" charset="0"/>
                <a:ea typeface="Arial" pitchFamily="34" charset="-122"/>
                <a:cs typeface="Arial" pitchFamily="34" charset="-120"/>
              </a:rPr>
              <a:t>7 · INDEPENDENT VERIFICATION</a:t>
            </a:r>
            <a:endParaRPr lang="en-US" sz="950" dirty="0"/>
          </a:p>
        </p:txBody>
      </p:sp>
      <p:sp>
        <p:nvSpPr>
          <p:cNvPr id="19" name="Text 17"/>
          <p:cNvSpPr txBox="1"/>
          <p:nvPr/>
        </p:nvSpPr>
        <p:spPr>
          <a:xfrm>
            <a:off x="621792" y="4672584"/>
            <a:ext cx="5108296" cy="621792"/>
          </a:xfrm>
          <a:prstGeom prst="rect">
            <a:avLst/>
          </a:prstGeom>
          <a:noFill/>
          <a:ln/>
        </p:spPr>
        <p:txBody>
          <a:bodyPr wrap="square" lIns="0" tIns="0" rIns="0" bIns="0" rtlCol="0" anchor="ctr"/>
          <a:lstStyle/>
          <a:p>
            <a:pPr indent="0" marL="0">
              <a:lnSpc>
                <a:spcPct val="110000"/>
              </a:lnSpc>
              <a:buNone/>
            </a:pPr>
            <a:r>
              <a:rPr lang="en-US" sz="830" dirty="0">
                <a:solidFill>
                  <a:srgbClr val="A9BDD1"/>
                </a:solidFill>
                <a:latin typeface="Arial" pitchFamily="34" charset="0"/>
                <a:ea typeface="Arial" pitchFamily="34" charset="-122"/>
                <a:cs typeface="Arial" pitchFamily="34" charset="-120"/>
              </a:rPr>
              <a:t>Verification independent of the execution path. Refuses self-certification.</a:t>
            </a:r>
            <a:endParaRPr lang="en-US" sz="830" dirty="0"/>
          </a:p>
        </p:txBody>
      </p:sp>
      <p:sp>
        <p:nvSpPr>
          <p:cNvPr id="20" name="Text 18"/>
          <p:cNvSpPr txBox="1"/>
          <p:nvPr/>
        </p:nvSpPr>
        <p:spPr>
          <a:xfrm>
            <a:off x="6187288" y="4425696"/>
            <a:ext cx="5108296" cy="219456"/>
          </a:xfrm>
          <a:prstGeom prst="rect">
            <a:avLst/>
          </a:prstGeom>
          <a:noFill/>
          <a:ln/>
        </p:spPr>
        <p:txBody>
          <a:bodyPr wrap="square" lIns="0" tIns="0" rIns="0" bIns="0" rtlCol="0" anchor="ctr"/>
          <a:lstStyle/>
          <a:p>
            <a:pPr indent="0" marL="0">
              <a:buNone/>
            </a:pPr>
            <a:r>
              <a:rPr lang="en-US" sz="950" b="1" spc="100" kern="0" dirty="0">
                <a:solidFill>
                  <a:srgbClr val="EAF2FA"/>
                </a:solidFill>
                <a:latin typeface="Arial" pitchFamily="34" charset="0"/>
                <a:ea typeface="Arial" pitchFamily="34" charset="-122"/>
                <a:cs typeface="Arial" pitchFamily="34" charset="-120"/>
              </a:rPr>
              <a:t>8 · EVIDENCE RECORD</a:t>
            </a:r>
            <a:endParaRPr lang="en-US" sz="950" dirty="0"/>
          </a:p>
        </p:txBody>
      </p:sp>
      <p:sp>
        <p:nvSpPr>
          <p:cNvPr id="21" name="Text 19"/>
          <p:cNvSpPr txBox="1"/>
          <p:nvPr/>
        </p:nvSpPr>
        <p:spPr>
          <a:xfrm>
            <a:off x="6187288" y="4672584"/>
            <a:ext cx="5108296" cy="621792"/>
          </a:xfrm>
          <a:prstGeom prst="rect">
            <a:avLst/>
          </a:prstGeom>
          <a:noFill/>
          <a:ln/>
        </p:spPr>
        <p:txBody>
          <a:bodyPr wrap="square" lIns="0" tIns="0" rIns="0" bIns="0" rtlCol="0" anchor="ctr"/>
          <a:lstStyle/>
          <a:p>
            <a:pPr indent="0" marL="0">
              <a:lnSpc>
                <a:spcPct val="110000"/>
              </a:lnSpc>
              <a:buNone/>
            </a:pPr>
            <a:r>
              <a:rPr lang="en-US" sz="830" dirty="0">
                <a:solidFill>
                  <a:srgbClr val="A9BDD1"/>
                </a:solidFill>
                <a:latin typeface="Arial" pitchFamily="34" charset="0"/>
                <a:ea typeface="Arial" pitchFamily="34" charset="-122"/>
                <a:cs typeface="Arial" pitchFamily="34" charset="-120"/>
              </a:rPr>
              <a:t>A traceable record of state, decision, action and verification, in formats a quality organisation can accept.</a:t>
            </a:r>
            <a:endParaRPr lang="en-US" sz="830" dirty="0"/>
          </a:p>
        </p:txBody>
      </p:sp>
      <p:sp>
        <p:nvSpPr>
          <p:cNvPr id="22" name="Shape 20"/>
          <p:cNvSpPr/>
          <p:nvPr/>
        </p:nvSpPr>
        <p:spPr>
          <a:xfrm>
            <a:off x="621792" y="5431536"/>
            <a:ext cx="10948111" cy="0"/>
          </a:xfrm>
          <a:prstGeom prst="line">
            <a:avLst/>
          </a:prstGeom>
          <a:noFill/>
          <a:ln w="9525">
            <a:solidFill>
              <a:srgbClr val="23405C"/>
            </a:solidFill>
            <a:prstDash val="solid"/>
          </a:ln>
        </p:spPr>
      </p:sp>
      <p:sp>
        <p:nvSpPr>
          <p:cNvPr id="23" name="Text 21"/>
          <p:cNvSpPr txBox="1"/>
          <p:nvPr/>
        </p:nvSpPr>
        <p:spPr>
          <a:xfrm>
            <a:off x="621792" y="5559552"/>
            <a:ext cx="10948111" cy="777240"/>
          </a:xfrm>
          <a:prstGeom prst="rect">
            <a:avLst/>
          </a:prstGeom>
          <a:noFill/>
          <a:ln/>
        </p:spPr>
        <p:txBody>
          <a:bodyPr wrap="square" lIns="0" tIns="0" rIns="0" bIns="0" rtlCol="0" anchor="t"/>
          <a:lstStyle/>
          <a:p>
            <a:pPr algn="l" indent="0" marL="0">
              <a:lnSpc>
                <a:spcPct val="112000"/>
              </a:lnSpc>
              <a:spcAft>
                <a:spcPts val="400"/>
              </a:spcAft>
              <a:buNone/>
            </a:pPr>
            <a:r>
              <a:rPr lang="en-US" sz="880" dirty="0">
                <a:solidFill>
                  <a:srgbClr val="A9BDD1"/>
                </a:solidFill>
                <a:latin typeface="Arial" pitchFamily="34" charset="0"/>
                <a:ea typeface="Arial" pitchFamily="34" charset="-122"/>
                <a:cs typeface="Arial" pitchFamily="34" charset="-120"/>
              </a:rPr>
              <a:t>AUTHORITY MODEL, IN FULL — AI perceives, estimates and proposes; bounded logic authorizes, refuses, or escalates; humans hold engineering release, quality, safety and acceptance. Interfaces to customer systems are assumed read-only until explicitly approved otherwise.</a:t>
            </a:r>
            <a:endParaRPr lang="en-US" sz="880" dirty="0"/>
          </a:p>
          <a:p>
            <a:pPr algn="l" indent="0" marL="0">
              <a:lnSpc>
                <a:spcPct val="112000"/>
              </a:lnSpc>
              <a:buNone/>
            </a:pPr>
            <a:r>
              <a:rPr lang="en-US" sz="880" i="1" dirty="0">
                <a:solidFill>
                  <a:srgbClr val="EAF2FA"/>
                </a:solidFill>
                <a:latin typeface="Arial" pitchFamily="34" charset="0"/>
                <a:ea typeface="Arial" pitchFamily="34" charset="-122"/>
                <a:cs typeface="Arial" pitchFamily="34" charset="-120"/>
              </a:rPr>
              <a:t>Physical implementation is deliberately not frozen: freezing it before Gate 1 and Gate 2 evidence would privilege a hardware guess over measured reality.</a:t>
            </a:r>
            <a:endParaRPr lang="en-US" sz="8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APPENDIX · A-5   ·   05 / 10</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APPENDIX A-5 · RISK AND CONTRADICTION REGISTER</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Tracked unknowns, and what resolves each.</a:t>
            </a:r>
            <a:endParaRPr lang="en-US" sz="2400" dirty="0"/>
          </a:p>
        </p:txBody>
      </p:sp>
      <p:sp>
        <p:nvSpPr>
          <p:cNvPr id="6" name="Shape 4"/>
          <p:cNvSpPr/>
          <p:nvPr/>
        </p:nvSpPr>
        <p:spPr>
          <a:xfrm>
            <a:off x="621792" y="1600200"/>
            <a:ext cx="10948111" cy="0"/>
          </a:xfrm>
          <a:prstGeom prst="line">
            <a:avLst/>
          </a:prstGeom>
          <a:noFill/>
          <a:ln w="9525">
            <a:solidFill>
              <a:srgbClr val="23405C"/>
            </a:solidFill>
            <a:prstDash val="solid"/>
          </a:ln>
        </p:spPr>
      </p:sp>
      <p:sp>
        <p:nvSpPr>
          <p:cNvPr id="7" name="Text 5"/>
          <p:cNvSpPr txBox="1"/>
          <p:nvPr/>
        </p:nvSpPr>
        <p:spPr>
          <a:xfrm>
            <a:off x="621792" y="1655064"/>
            <a:ext cx="777240" cy="274320"/>
          </a:xfrm>
          <a:prstGeom prst="rect">
            <a:avLst/>
          </a:prstGeom>
          <a:noFill/>
          <a:ln/>
        </p:spPr>
        <p:txBody>
          <a:bodyPr wrap="square" lIns="0" tIns="0" rIns="0" bIns="0" rtlCol="0" anchor="ctr"/>
          <a:lstStyle/>
          <a:p>
            <a:pPr indent="0" marL="0">
              <a:buNone/>
            </a:pPr>
            <a:r>
              <a:rPr lang="en-US" sz="750" b="1" spc="160" kern="0" dirty="0">
                <a:solidFill>
                  <a:srgbClr val="6FD3FF"/>
                </a:solidFill>
                <a:latin typeface="Arial" pitchFamily="34" charset="0"/>
                <a:ea typeface="Arial" pitchFamily="34" charset="-122"/>
                <a:cs typeface="Arial" pitchFamily="34" charset="-120"/>
              </a:rPr>
              <a:t>OPEN</a:t>
            </a:r>
            <a:endParaRPr lang="en-US" sz="750" dirty="0"/>
          </a:p>
        </p:txBody>
      </p:sp>
      <p:sp>
        <p:nvSpPr>
          <p:cNvPr id="8" name="Text 6"/>
          <p:cNvSpPr txBox="1"/>
          <p:nvPr/>
        </p:nvSpPr>
        <p:spPr>
          <a:xfrm>
            <a:off x="1536192" y="1645920"/>
            <a:ext cx="6035040" cy="365760"/>
          </a:xfrm>
          <a:prstGeom prst="rect">
            <a:avLst/>
          </a:prstGeom>
          <a:noFill/>
          <a:ln/>
        </p:spPr>
        <p:txBody>
          <a:bodyPr wrap="square" lIns="0" tIns="0" rIns="0" bIns="0" rtlCol="0" anchor="ctr"/>
          <a:lstStyle/>
          <a:p>
            <a:pPr indent="0" marL="0">
              <a:lnSpc>
                <a:spcPct val="100000"/>
              </a:lnSpc>
              <a:buNone/>
            </a:pPr>
            <a:r>
              <a:rPr lang="en-US" sz="840" dirty="0">
                <a:solidFill>
                  <a:srgbClr val="EAF2FA"/>
                </a:solidFill>
                <a:latin typeface="Arial" pitchFamily="34" charset="0"/>
                <a:ea typeface="Arial" pitchFamily="34" charset="-122"/>
                <a:cs typeface="Arial" pitchFamily="34" charset="-120"/>
              </a:rPr>
              <a:t>Seating repeatability under closed-loop tension across three channel geometries</a:t>
            </a:r>
            <a:endParaRPr lang="en-US" sz="840" dirty="0"/>
          </a:p>
        </p:txBody>
      </p:sp>
      <p:sp>
        <p:nvSpPr>
          <p:cNvPr id="9" name="Text 7"/>
          <p:cNvSpPr txBox="1"/>
          <p:nvPr/>
        </p:nvSpPr>
        <p:spPr>
          <a:xfrm>
            <a:off x="7754112" y="1645920"/>
            <a:ext cx="3840480" cy="365760"/>
          </a:xfrm>
          <a:prstGeom prst="rect">
            <a:avLst/>
          </a:prstGeom>
          <a:noFill/>
          <a:ln/>
        </p:spPr>
        <p:txBody>
          <a:bodyPr wrap="square" lIns="0" tIns="0" rIns="0" bIns="0" rtlCol="0" anchor="ctr"/>
          <a:lstStyle/>
          <a:p>
            <a:pPr indent="0" marL="0">
              <a:lnSpc>
                <a:spcPct val="100000"/>
              </a:lnSpc>
              <a:buNone/>
            </a:pPr>
            <a:r>
              <a:rPr lang="en-US" sz="780" dirty="0">
                <a:solidFill>
                  <a:srgbClr val="A9BDD1"/>
                </a:solidFill>
                <a:latin typeface="Arial" pitchFamily="34" charset="0"/>
                <a:ea typeface="Arial" pitchFamily="34" charset="-122"/>
                <a:cs typeface="Arial" pitchFamily="34" charset="-120"/>
              </a:rPr>
              <a:t>Gate 1 — the first falsifying test</a:t>
            </a:r>
            <a:endParaRPr lang="en-US" sz="780" dirty="0"/>
          </a:p>
        </p:txBody>
      </p:sp>
      <p:sp>
        <p:nvSpPr>
          <p:cNvPr id="10" name="Shape 8"/>
          <p:cNvSpPr/>
          <p:nvPr/>
        </p:nvSpPr>
        <p:spPr>
          <a:xfrm>
            <a:off x="621792" y="2002536"/>
            <a:ext cx="10948111" cy="0"/>
          </a:xfrm>
          <a:prstGeom prst="line">
            <a:avLst/>
          </a:prstGeom>
          <a:noFill/>
          <a:ln w="9525">
            <a:solidFill>
              <a:srgbClr val="23405C"/>
            </a:solidFill>
            <a:prstDash val="solid"/>
          </a:ln>
        </p:spPr>
      </p:sp>
      <p:sp>
        <p:nvSpPr>
          <p:cNvPr id="11" name="Text 9"/>
          <p:cNvSpPr txBox="1"/>
          <p:nvPr/>
        </p:nvSpPr>
        <p:spPr>
          <a:xfrm>
            <a:off x="621792" y="2057400"/>
            <a:ext cx="777240" cy="274320"/>
          </a:xfrm>
          <a:prstGeom prst="rect">
            <a:avLst/>
          </a:prstGeom>
          <a:noFill/>
          <a:ln/>
        </p:spPr>
        <p:txBody>
          <a:bodyPr wrap="square" lIns="0" tIns="0" rIns="0" bIns="0" rtlCol="0" anchor="ctr"/>
          <a:lstStyle/>
          <a:p>
            <a:pPr indent="0" marL="0">
              <a:buNone/>
            </a:pPr>
            <a:r>
              <a:rPr lang="en-US" sz="750" b="1" spc="160" kern="0" dirty="0">
                <a:solidFill>
                  <a:srgbClr val="6FD3FF"/>
                </a:solidFill>
                <a:latin typeface="Arial" pitchFamily="34" charset="0"/>
                <a:ea typeface="Arial" pitchFamily="34" charset="-122"/>
                <a:cs typeface="Arial" pitchFamily="34" charset="-120"/>
              </a:rPr>
              <a:t>OPEN</a:t>
            </a:r>
            <a:endParaRPr lang="en-US" sz="750" dirty="0"/>
          </a:p>
        </p:txBody>
      </p:sp>
      <p:sp>
        <p:nvSpPr>
          <p:cNvPr id="12" name="Text 10"/>
          <p:cNvSpPr txBox="1"/>
          <p:nvPr/>
        </p:nvSpPr>
        <p:spPr>
          <a:xfrm>
            <a:off x="1536192" y="2048256"/>
            <a:ext cx="6035040" cy="365760"/>
          </a:xfrm>
          <a:prstGeom prst="rect">
            <a:avLst/>
          </a:prstGeom>
          <a:noFill/>
          <a:ln/>
        </p:spPr>
        <p:txBody>
          <a:bodyPr wrap="square" lIns="0" tIns="0" rIns="0" bIns="0" rtlCol="0" anchor="ctr"/>
          <a:lstStyle/>
          <a:p>
            <a:pPr indent="0" marL="0">
              <a:lnSpc>
                <a:spcPct val="100000"/>
              </a:lnSpc>
              <a:buNone/>
            </a:pPr>
            <a:r>
              <a:rPr lang="en-US" sz="840" dirty="0">
                <a:solidFill>
                  <a:srgbClr val="EAF2FA"/>
                </a:solidFill>
                <a:latin typeface="Arial" pitchFamily="34" charset="0"/>
                <a:ea typeface="Arial" pitchFamily="34" charset="-122"/>
                <a:cs typeface="Arial" pitchFamily="34" charset="-120"/>
              </a:rPr>
              <a:t>Physical state estimation accuracy on aerospace-relevant hardware</a:t>
            </a:r>
            <a:endParaRPr lang="en-US" sz="840" dirty="0"/>
          </a:p>
        </p:txBody>
      </p:sp>
      <p:sp>
        <p:nvSpPr>
          <p:cNvPr id="13" name="Text 11"/>
          <p:cNvSpPr txBox="1"/>
          <p:nvPr/>
        </p:nvSpPr>
        <p:spPr>
          <a:xfrm>
            <a:off x="7754112" y="2048256"/>
            <a:ext cx="3840480" cy="365760"/>
          </a:xfrm>
          <a:prstGeom prst="rect">
            <a:avLst/>
          </a:prstGeom>
          <a:noFill/>
          <a:ln/>
        </p:spPr>
        <p:txBody>
          <a:bodyPr wrap="square" lIns="0" tIns="0" rIns="0" bIns="0" rtlCol="0" anchor="ctr"/>
          <a:lstStyle/>
          <a:p>
            <a:pPr indent="0" marL="0">
              <a:lnSpc>
                <a:spcPct val="100000"/>
              </a:lnSpc>
              <a:buNone/>
            </a:pPr>
            <a:r>
              <a:rPr lang="en-US" sz="780" dirty="0">
                <a:solidFill>
                  <a:srgbClr val="A9BDD1"/>
                </a:solidFill>
                <a:latin typeface="Arial" pitchFamily="34" charset="0"/>
                <a:ea typeface="Arial" pitchFamily="34" charset="-122"/>
                <a:cs typeface="Arial" pitchFamily="34" charset="-120"/>
              </a:rPr>
              <a:t>Gate 2</a:t>
            </a:r>
            <a:endParaRPr lang="en-US" sz="780" dirty="0"/>
          </a:p>
        </p:txBody>
      </p:sp>
      <p:sp>
        <p:nvSpPr>
          <p:cNvPr id="14" name="Shape 12"/>
          <p:cNvSpPr/>
          <p:nvPr/>
        </p:nvSpPr>
        <p:spPr>
          <a:xfrm>
            <a:off x="621792" y="2404872"/>
            <a:ext cx="10948111" cy="0"/>
          </a:xfrm>
          <a:prstGeom prst="line">
            <a:avLst/>
          </a:prstGeom>
          <a:noFill/>
          <a:ln w="9525">
            <a:solidFill>
              <a:srgbClr val="23405C"/>
            </a:solidFill>
            <a:prstDash val="solid"/>
          </a:ln>
        </p:spPr>
      </p:sp>
      <p:sp>
        <p:nvSpPr>
          <p:cNvPr id="15" name="Text 13"/>
          <p:cNvSpPr txBox="1"/>
          <p:nvPr/>
        </p:nvSpPr>
        <p:spPr>
          <a:xfrm>
            <a:off x="621792" y="2459736"/>
            <a:ext cx="777240" cy="274320"/>
          </a:xfrm>
          <a:prstGeom prst="rect">
            <a:avLst/>
          </a:prstGeom>
          <a:noFill/>
          <a:ln/>
        </p:spPr>
        <p:txBody>
          <a:bodyPr wrap="square" lIns="0" tIns="0" rIns="0" bIns="0" rtlCol="0" anchor="ctr"/>
          <a:lstStyle/>
          <a:p>
            <a:pPr indent="0" marL="0">
              <a:buNone/>
            </a:pPr>
            <a:r>
              <a:rPr lang="en-US" sz="750" b="1" spc="160" kern="0" dirty="0">
                <a:solidFill>
                  <a:srgbClr val="6FD3FF"/>
                </a:solidFill>
                <a:latin typeface="Arial" pitchFamily="34" charset="0"/>
                <a:ea typeface="Arial" pitchFamily="34" charset="-122"/>
                <a:cs typeface="Arial" pitchFamily="34" charset="-120"/>
              </a:rPr>
              <a:t>OPEN</a:t>
            </a:r>
            <a:endParaRPr lang="en-US" sz="750" dirty="0"/>
          </a:p>
        </p:txBody>
      </p:sp>
      <p:sp>
        <p:nvSpPr>
          <p:cNvPr id="16" name="Text 14"/>
          <p:cNvSpPr txBox="1"/>
          <p:nvPr/>
        </p:nvSpPr>
        <p:spPr>
          <a:xfrm>
            <a:off x="1536192" y="2450592"/>
            <a:ext cx="6035040" cy="365760"/>
          </a:xfrm>
          <a:prstGeom prst="rect">
            <a:avLst/>
          </a:prstGeom>
          <a:noFill/>
          <a:ln/>
        </p:spPr>
        <p:txBody>
          <a:bodyPr wrap="square" lIns="0" tIns="0" rIns="0" bIns="0" rtlCol="0" anchor="ctr"/>
          <a:lstStyle/>
          <a:p>
            <a:pPr indent="0" marL="0">
              <a:lnSpc>
                <a:spcPct val="100000"/>
              </a:lnSpc>
              <a:buNone/>
            </a:pPr>
            <a:r>
              <a:rPr lang="en-US" sz="840" dirty="0">
                <a:solidFill>
                  <a:srgbClr val="EAF2FA"/>
                </a:solidFill>
                <a:latin typeface="Arial" pitchFamily="34" charset="0"/>
                <a:ea typeface="Arial" pitchFamily="34" charset="-122"/>
                <a:cs typeface="Arial" pitchFamily="34" charset="-120"/>
              </a:rPr>
              <a:t>Measurement wrong versus part wrong — confounders, drift, and ground truth design</a:t>
            </a:r>
            <a:endParaRPr lang="en-US" sz="840" dirty="0"/>
          </a:p>
        </p:txBody>
      </p:sp>
      <p:sp>
        <p:nvSpPr>
          <p:cNvPr id="17" name="Text 15"/>
          <p:cNvSpPr txBox="1"/>
          <p:nvPr/>
        </p:nvSpPr>
        <p:spPr>
          <a:xfrm>
            <a:off x="7754112" y="2450592"/>
            <a:ext cx="3840480" cy="365760"/>
          </a:xfrm>
          <a:prstGeom prst="rect">
            <a:avLst/>
          </a:prstGeom>
          <a:noFill/>
          <a:ln/>
        </p:spPr>
        <p:txBody>
          <a:bodyPr wrap="square" lIns="0" tIns="0" rIns="0" bIns="0" rtlCol="0" anchor="ctr"/>
          <a:lstStyle/>
          <a:p>
            <a:pPr indent="0" marL="0">
              <a:lnSpc>
                <a:spcPct val="100000"/>
              </a:lnSpc>
              <a:buNone/>
            </a:pPr>
            <a:r>
              <a:rPr lang="en-US" sz="780" dirty="0">
                <a:solidFill>
                  <a:srgbClr val="A9BDD1"/>
                </a:solidFill>
                <a:latin typeface="Arial" pitchFamily="34" charset="0"/>
                <a:ea typeface="Arial" pitchFamily="34" charset="-122"/>
                <a:cs typeface="Arial" pitchFamily="34" charset="-120"/>
              </a:rPr>
              <a:t>Gate 1–2 measurement chain; independent review funded by this round</a:t>
            </a:r>
            <a:endParaRPr lang="en-US" sz="780" dirty="0"/>
          </a:p>
        </p:txBody>
      </p:sp>
      <p:sp>
        <p:nvSpPr>
          <p:cNvPr id="18" name="Shape 16"/>
          <p:cNvSpPr/>
          <p:nvPr/>
        </p:nvSpPr>
        <p:spPr>
          <a:xfrm>
            <a:off x="621792" y="2807208"/>
            <a:ext cx="10948111" cy="0"/>
          </a:xfrm>
          <a:prstGeom prst="line">
            <a:avLst/>
          </a:prstGeom>
          <a:noFill/>
          <a:ln w="9525">
            <a:solidFill>
              <a:srgbClr val="23405C"/>
            </a:solidFill>
            <a:prstDash val="solid"/>
          </a:ln>
        </p:spPr>
      </p:sp>
      <p:sp>
        <p:nvSpPr>
          <p:cNvPr id="19" name="Text 17"/>
          <p:cNvSpPr txBox="1"/>
          <p:nvPr/>
        </p:nvSpPr>
        <p:spPr>
          <a:xfrm>
            <a:off x="621792" y="2862072"/>
            <a:ext cx="777240" cy="274320"/>
          </a:xfrm>
          <a:prstGeom prst="rect">
            <a:avLst/>
          </a:prstGeom>
          <a:noFill/>
          <a:ln/>
        </p:spPr>
        <p:txBody>
          <a:bodyPr wrap="square" lIns="0" tIns="0" rIns="0" bIns="0" rtlCol="0" anchor="ctr"/>
          <a:lstStyle/>
          <a:p>
            <a:pPr indent="0" marL="0">
              <a:buNone/>
            </a:pPr>
            <a:r>
              <a:rPr lang="en-US" sz="750" b="1" spc="160" kern="0" dirty="0">
                <a:solidFill>
                  <a:srgbClr val="6FD3FF"/>
                </a:solidFill>
                <a:latin typeface="Arial" pitchFamily="34" charset="0"/>
                <a:ea typeface="Arial" pitchFamily="34" charset="-122"/>
                <a:cs typeface="Arial" pitchFamily="34" charset="-120"/>
              </a:rPr>
              <a:t>OPEN</a:t>
            </a:r>
            <a:endParaRPr lang="en-US" sz="750" dirty="0"/>
          </a:p>
        </p:txBody>
      </p:sp>
      <p:sp>
        <p:nvSpPr>
          <p:cNvPr id="20" name="Text 18"/>
          <p:cNvSpPr txBox="1"/>
          <p:nvPr/>
        </p:nvSpPr>
        <p:spPr>
          <a:xfrm>
            <a:off x="1536192" y="2852928"/>
            <a:ext cx="6035040" cy="365760"/>
          </a:xfrm>
          <a:prstGeom prst="rect">
            <a:avLst/>
          </a:prstGeom>
          <a:noFill/>
          <a:ln/>
        </p:spPr>
        <p:txBody>
          <a:bodyPr wrap="square" lIns="0" tIns="0" rIns="0" bIns="0" rtlCol="0" anchor="ctr"/>
          <a:lstStyle/>
          <a:p>
            <a:pPr indent="0" marL="0">
              <a:lnSpc>
                <a:spcPct val="100000"/>
              </a:lnSpc>
              <a:buNone/>
            </a:pPr>
            <a:r>
              <a:rPr lang="en-US" sz="840" dirty="0">
                <a:solidFill>
                  <a:srgbClr val="EAF2FA"/>
                </a:solidFill>
                <a:latin typeface="Arial" pitchFamily="34" charset="0"/>
                <a:ea typeface="Arial" pitchFamily="34" charset="-122"/>
                <a:cs typeface="Arial" pitchFamily="34" charset="-120"/>
              </a:rPr>
              <a:t>Magnitude of the engineering introduction burden, in hours and dollars</a:t>
            </a:r>
            <a:endParaRPr lang="en-US" sz="840" dirty="0"/>
          </a:p>
        </p:txBody>
      </p:sp>
      <p:sp>
        <p:nvSpPr>
          <p:cNvPr id="21" name="Text 19"/>
          <p:cNvSpPr txBox="1"/>
          <p:nvPr/>
        </p:nvSpPr>
        <p:spPr>
          <a:xfrm>
            <a:off x="7754112" y="2852928"/>
            <a:ext cx="3840480" cy="365760"/>
          </a:xfrm>
          <a:prstGeom prst="rect">
            <a:avLst/>
          </a:prstGeom>
          <a:noFill/>
          <a:ln/>
        </p:spPr>
        <p:txBody>
          <a:bodyPr wrap="square" lIns="0" tIns="0" rIns="0" bIns="0" rtlCol="0" anchor="ctr"/>
          <a:lstStyle/>
          <a:p>
            <a:pPr indent="0" marL="0">
              <a:lnSpc>
                <a:spcPct val="100000"/>
              </a:lnSpc>
              <a:buNone/>
            </a:pPr>
            <a:r>
              <a:rPr lang="en-US" sz="780" dirty="0">
                <a:solidFill>
                  <a:srgbClr val="A9BDD1"/>
                </a:solidFill>
                <a:latin typeface="Arial" pitchFamily="34" charset="0"/>
                <a:ea typeface="Arial" pitchFamily="34" charset="-122"/>
                <a:cs typeface="Arial" pitchFamily="34" charset="-120"/>
              </a:rPr>
              <a:t>Gate 2 and the first customer engagement — measured, never assumed</a:t>
            </a:r>
            <a:endParaRPr lang="en-US" sz="780" dirty="0"/>
          </a:p>
        </p:txBody>
      </p:sp>
      <p:sp>
        <p:nvSpPr>
          <p:cNvPr id="22" name="Shape 20"/>
          <p:cNvSpPr/>
          <p:nvPr/>
        </p:nvSpPr>
        <p:spPr>
          <a:xfrm>
            <a:off x="621792" y="3209544"/>
            <a:ext cx="10948111" cy="0"/>
          </a:xfrm>
          <a:prstGeom prst="line">
            <a:avLst/>
          </a:prstGeom>
          <a:noFill/>
          <a:ln w="9525">
            <a:solidFill>
              <a:srgbClr val="23405C"/>
            </a:solidFill>
            <a:prstDash val="solid"/>
          </a:ln>
        </p:spPr>
      </p:sp>
      <p:sp>
        <p:nvSpPr>
          <p:cNvPr id="23" name="Text 21"/>
          <p:cNvSpPr txBox="1"/>
          <p:nvPr/>
        </p:nvSpPr>
        <p:spPr>
          <a:xfrm>
            <a:off x="621792" y="3264408"/>
            <a:ext cx="777240" cy="274320"/>
          </a:xfrm>
          <a:prstGeom prst="rect">
            <a:avLst/>
          </a:prstGeom>
          <a:noFill/>
          <a:ln/>
        </p:spPr>
        <p:txBody>
          <a:bodyPr wrap="square" lIns="0" tIns="0" rIns="0" bIns="0" rtlCol="0" anchor="ctr"/>
          <a:lstStyle/>
          <a:p>
            <a:pPr indent="0" marL="0">
              <a:buNone/>
            </a:pPr>
            <a:r>
              <a:rPr lang="en-US" sz="750" b="1" spc="160" kern="0" dirty="0">
                <a:solidFill>
                  <a:srgbClr val="6FD3FF"/>
                </a:solidFill>
                <a:latin typeface="Arial" pitchFamily="34" charset="0"/>
                <a:ea typeface="Arial" pitchFamily="34" charset="-122"/>
                <a:cs typeface="Arial" pitchFamily="34" charset="-120"/>
              </a:rPr>
              <a:t>OPEN</a:t>
            </a:r>
            <a:endParaRPr lang="en-US" sz="750" dirty="0"/>
          </a:p>
        </p:txBody>
      </p:sp>
      <p:sp>
        <p:nvSpPr>
          <p:cNvPr id="24" name="Text 22"/>
          <p:cNvSpPr txBox="1"/>
          <p:nvPr/>
        </p:nvSpPr>
        <p:spPr>
          <a:xfrm>
            <a:off x="1536192" y="3255264"/>
            <a:ext cx="6035040" cy="365760"/>
          </a:xfrm>
          <a:prstGeom prst="rect">
            <a:avLst/>
          </a:prstGeom>
          <a:noFill/>
          <a:ln/>
        </p:spPr>
        <p:txBody>
          <a:bodyPr wrap="square" lIns="0" tIns="0" rIns="0" bIns="0" rtlCol="0" anchor="ctr"/>
          <a:lstStyle/>
          <a:p>
            <a:pPr indent="0" marL="0">
              <a:lnSpc>
                <a:spcPct val="100000"/>
              </a:lnSpc>
              <a:buNone/>
            </a:pPr>
            <a:r>
              <a:rPr lang="en-US" sz="840" dirty="0">
                <a:solidFill>
                  <a:srgbClr val="EAF2FA"/>
                </a:solidFill>
                <a:latin typeface="Arial" pitchFamily="34" charset="0"/>
                <a:ea typeface="Arial" pitchFamily="34" charset="-122"/>
                <a:cs typeface="Arial" pitchFamily="34" charset="-120"/>
              </a:rPr>
              <a:t>Whether evidence formats will be accepted by a customer quality organisation</a:t>
            </a:r>
            <a:endParaRPr lang="en-US" sz="840" dirty="0"/>
          </a:p>
        </p:txBody>
      </p:sp>
      <p:sp>
        <p:nvSpPr>
          <p:cNvPr id="25" name="Text 23"/>
          <p:cNvSpPr txBox="1"/>
          <p:nvPr/>
        </p:nvSpPr>
        <p:spPr>
          <a:xfrm>
            <a:off x="7754112" y="3255264"/>
            <a:ext cx="3840480" cy="365760"/>
          </a:xfrm>
          <a:prstGeom prst="rect">
            <a:avLst/>
          </a:prstGeom>
          <a:noFill/>
          <a:ln/>
        </p:spPr>
        <p:txBody>
          <a:bodyPr wrap="square" lIns="0" tIns="0" rIns="0" bIns="0" rtlCol="0" anchor="ctr"/>
          <a:lstStyle/>
          <a:p>
            <a:pPr indent="0" marL="0">
              <a:lnSpc>
                <a:spcPct val="100000"/>
              </a:lnSpc>
              <a:buNone/>
            </a:pPr>
            <a:r>
              <a:rPr lang="en-US" sz="780" dirty="0">
                <a:solidFill>
                  <a:srgbClr val="A9BDD1"/>
                </a:solidFill>
                <a:latin typeface="Arial" pitchFamily="34" charset="0"/>
                <a:ea typeface="Arial" pitchFamily="34" charset="-122"/>
                <a:cs typeface="Arial" pitchFamily="34" charset="-120"/>
              </a:rPr>
              <a:t>Qualification pathway work funded by this round</a:t>
            </a:r>
            <a:endParaRPr lang="en-US" sz="780" dirty="0"/>
          </a:p>
        </p:txBody>
      </p:sp>
      <p:sp>
        <p:nvSpPr>
          <p:cNvPr id="26" name="Shape 24"/>
          <p:cNvSpPr/>
          <p:nvPr/>
        </p:nvSpPr>
        <p:spPr>
          <a:xfrm>
            <a:off x="621792" y="3611880"/>
            <a:ext cx="10948111" cy="0"/>
          </a:xfrm>
          <a:prstGeom prst="line">
            <a:avLst/>
          </a:prstGeom>
          <a:noFill/>
          <a:ln w="9525">
            <a:solidFill>
              <a:srgbClr val="23405C"/>
            </a:solidFill>
            <a:prstDash val="solid"/>
          </a:ln>
        </p:spPr>
      </p:sp>
      <p:sp>
        <p:nvSpPr>
          <p:cNvPr id="27" name="Text 25"/>
          <p:cNvSpPr txBox="1"/>
          <p:nvPr/>
        </p:nvSpPr>
        <p:spPr>
          <a:xfrm>
            <a:off x="621792" y="3666744"/>
            <a:ext cx="777240" cy="274320"/>
          </a:xfrm>
          <a:prstGeom prst="rect">
            <a:avLst/>
          </a:prstGeom>
          <a:noFill/>
          <a:ln/>
        </p:spPr>
        <p:txBody>
          <a:bodyPr wrap="square" lIns="0" tIns="0" rIns="0" bIns="0" rtlCol="0" anchor="ctr"/>
          <a:lstStyle/>
          <a:p>
            <a:pPr indent="0" marL="0">
              <a:buNone/>
            </a:pPr>
            <a:r>
              <a:rPr lang="en-US" sz="750" b="1" spc="160" kern="0" dirty="0">
                <a:solidFill>
                  <a:srgbClr val="6FD3FF"/>
                </a:solidFill>
                <a:latin typeface="Arial" pitchFamily="34" charset="0"/>
                <a:ea typeface="Arial" pitchFamily="34" charset="-122"/>
                <a:cs typeface="Arial" pitchFamily="34" charset="-120"/>
              </a:rPr>
              <a:t>OPEN</a:t>
            </a:r>
            <a:endParaRPr lang="en-US" sz="750" dirty="0"/>
          </a:p>
        </p:txBody>
      </p:sp>
      <p:sp>
        <p:nvSpPr>
          <p:cNvPr id="28" name="Text 26"/>
          <p:cNvSpPr txBox="1"/>
          <p:nvPr/>
        </p:nvSpPr>
        <p:spPr>
          <a:xfrm>
            <a:off x="1536192" y="3657600"/>
            <a:ext cx="6035040" cy="365760"/>
          </a:xfrm>
          <a:prstGeom prst="rect">
            <a:avLst/>
          </a:prstGeom>
          <a:noFill/>
          <a:ln/>
        </p:spPr>
        <p:txBody>
          <a:bodyPr wrap="square" lIns="0" tIns="0" rIns="0" bIns="0" rtlCol="0" anchor="ctr"/>
          <a:lstStyle/>
          <a:p>
            <a:pPr indent="0" marL="0">
              <a:lnSpc>
                <a:spcPct val="100000"/>
              </a:lnSpc>
              <a:buNone/>
            </a:pPr>
            <a:r>
              <a:rPr lang="en-US" sz="840" dirty="0">
                <a:solidFill>
                  <a:srgbClr val="EAF2FA"/>
                </a:solidFill>
                <a:latin typeface="Arial" pitchFamily="34" charset="0"/>
                <a:ea typeface="Arial" pitchFamily="34" charset="-122"/>
                <a:cs typeface="Arial" pitchFamily="34" charset="-120"/>
              </a:rPr>
              <a:t>Transfer across a second configuration without a full engineering reset</a:t>
            </a:r>
            <a:endParaRPr lang="en-US" sz="840" dirty="0"/>
          </a:p>
        </p:txBody>
      </p:sp>
      <p:sp>
        <p:nvSpPr>
          <p:cNvPr id="29" name="Text 27"/>
          <p:cNvSpPr txBox="1"/>
          <p:nvPr/>
        </p:nvSpPr>
        <p:spPr>
          <a:xfrm>
            <a:off x="7754112" y="3657600"/>
            <a:ext cx="3840480" cy="365760"/>
          </a:xfrm>
          <a:prstGeom prst="rect">
            <a:avLst/>
          </a:prstGeom>
          <a:noFill/>
          <a:ln/>
        </p:spPr>
        <p:txBody>
          <a:bodyPr wrap="square" lIns="0" tIns="0" rIns="0" bIns="0" rtlCol="0" anchor="ctr"/>
          <a:lstStyle/>
          <a:p>
            <a:pPr indent="0" marL="0">
              <a:lnSpc>
                <a:spcPct val="100000"/>
              </a:lnSpc>
              <a:buNone/>
            </a:pPr>
            <a:r>
              <a:rPr lang="en-US" sz="780" dirty="0">
                <a:solidFill>
                  <a:srgbClr val="A9BDD1"/>
                </a:solidFill>
                <a:latin typeface="Arial" pitchFamily="34" charset="0"/>
                <a:ea typeface="Arial" pitchFamily="34" charset="-122"/>
                <a:cs typeface="Arial" pitchFamily="34" charset="-120"/>
              </a:rPr>
              <a:t>Gate 3 and the second operation class</a:t>
            </a:r>
            <a:endParaRPr lang="en-US" sz="780" dirty="0"/>
          </a:p>
        </p:txBody>
      </p:sp>
      <p:sp>
        <p:nvSpPr>
          <p:cNvPr id="30" name="Shape 28"/>
          <p:cNvSpPr/>
          <p:nvPr/>
        </p:nvSpPr>
        <p:spPr>
          <a:xfrm>
            <a:off x="621792" y="4014216"/>
            <a:ext cx="10948111" cy="0"/>
          </a:xfrm>
          <a:prstGeom prst="line">
            <a:avLst/>
          </a:prstGeom>
          <a:noFill/>
          <a:ln w="9525">
            <a:solidFill>
              <a:srgbClr val="23405C"/>
            </a:solidFill>
            <a:prstDash val="solid"/>
          </a:ln>
        </p:spPr>
      </p:sp>
      <p:sp>
        <p:nvSpPr>
          <p:cNvPr id="31" name="Text 29"/>
          <p:cNvSpPr txBox="1"/>
          <p:nvPr/>
        </p:nvSpPr>
        <p:spPr>
          <a:xfrm>
            <a:off x="621792" y="4069080"/>
            <a:ext cx="777240" cy="274320"/>
          </a:xfrm>
          <a:prstGeom prst="rect">
            <a:avLst/>
          </a:prstGeom>
          <a:noFill/>
          <a:ln/>
        </p:spPr>
        <p:txBody>
          <a:bodyPr wrap="square" lIns="0" tIns="0" rIns="0" bIns="0" rtlCol="0" anchor="ctr"/>
          <a:lstStyle/>
          <a:p>
            <a:pPr indent="0" marL="0">
              <a:buNone/>
            </a:pPr>
            <a:r>
              <a:rPr lang="en-US" sz="750" b="1" spc="160" kern="0" dirty="0">
                <a:solidFill>
                  <a:srgbClr val="6FD3FF"/>
                </a:solidFill>
                <a:latin typeface="Arial" pitchFamily="34" charset="0"/>
                <a:ea typeface="Arial" pitchFamily="34" charset="-122"/>
                <a:cs typeface="Arial" pitchFamily="34" charset="-120"/>
              </a:rPr>
              <a:t>OPEN</a:t>
            </a:r>
            <a:endParaRPr lang="en-US" sz="750" dirty="0"/>
          </a:p>
        </p:txBody>
      </p:sp>
      <p:sp>
        <p:nvSpPr>
          <p:cNvPr id="32" name="Text 30"/>
          <p:cNvSpPr txBox="1"/>
          <p:nvPr/>
        </p:nvSpPr>
        <p:spPr>
          <a:xfrm>
            <a:off x="1536192" y="4059936"/>
            <a:ext cx="6035040" cy="365760"/>
          </a:xfrm>
          <a:prstGeom prst="rect">
            <a:avLst/>
          </a:prstGeom>
          <a:noFill/>
          <a:ln/>
        </p:spPr>
        <p:txBody>
          <a:bodyPr wrap="square" lIns="0" tIns="0" rIns="0" bIns="0" rtlCol="0" anchor="ctr"/>
          <a:lstStyle/>
          <a:p>
            <a:pPr indent="0" marL="0">
              <a:lnSpc>
                <a:spcPct val="100000"/>
              </a:lnSpc>
              <a:buNone/>
            </a:pPr>
            <a:r>
              <a:rPr lang="en-US" sz="840" dirty="0">
                <a:solidFill>
                  <a:srgbClr val="EAF2FA"/>
                </a:solidFill>
                <a:latin typeface="Arial" pitchFamily="34" charset="0"/>
                <a:ea typeface="Arial" pitchFamily="34" charset="-122"/>
                <a:cs typeface="Arial" pitchFamily="34" charset="-120"/>
              </a:rPr>
              <a:t>Warranty and controller access constraints at a specific customer</a:t>
            </a:r>
            <a:endParaRPr lang="en-US" sz="840" dirty="0"/>
          </a:p>
        </p:txBody>
      </p:sp>
      <p:sp>
        <p:nvSpPr>
          <p:cNvPr id="33" name="Text 31"/>
          <p:cNvSpPr txBox="1"/>
          <p:nvPr/>
        </p:nvSpPr>
        <p:spPr>
          <a:xfrm>
            <a:off x="7754112" y="4059936"/>
            <a:ext cx="3840480" cy="365760"/>
          </a:xfrm>
          <a:prstGeom prst="rect">
            <a:avLst/>
          </a:prstGeom>
          <a:noFill/>
          <a:ln/>
        </p:spPr>
        <p:txBody>
          <a:bodyPr wrap="square" lIns="0" tIns="0" rIns="0" bIns="0" rtlCol="0" anchor="ctr"/>
          <a:lstStyle/>
          <a:p>
            <a:pPr indent="0" marL="0">
              <a:lnSpc>
                <a:spcPct val="100000"/>
              </a:lnSpc>
              <a:buNone/>
            </a:pPr>
            <a:r>
              <a:rPr lang="en-US" sz="780" dirty="0">
                <a:solidFill>
                  <a:srgbClr val="A9BDD1"/>
                </a:solidFill>
                <a:latin typeface="Arial" pitchFamily="34" charset="0"/>
                <a:ea typeface="Arial" pitchFamily="34" charset="-122"/>
                <a:cs typeface="Arial" pitchFamily="34" charset="-120"/>
              </a:rPr>
              <a:t>Bilateral contract terms; read-only entry doctrine</a:t>
            </a:r>
            <a:endParaRPr lang="en-US" sz="780" dirty="0"/>
          </a:p>
        </p:txBody>
      </p:sp>
      <p:sp>
        <p:nvSpPr>
          <p:cNvPr id="34" name="Shape 32"/>
          <p:cNvSpPr/>
          <p:nvPr/>
        </p:nvSpPr>
        <p:spPr>
          <a:xfrm>
            <a:off x="621792" y="4416552"/>
            <a:ext cx="10948111" cy="0"/>
          </a:xfrm>
          <a:prstGeom prst="line">
            <a:avLst/>
          </a:prstGeom>
          <a:noFill/>
          <a:ln w="9525">
            <a:solidFill>
              <a:srgbClr val="23405C"/>
            </a:solidFill>
            <a:prstDash val="solid"/>
          </a:ln>
        </p:spPr>
      </p:sp>
      <p:sp>
        <p:nvSpPr>
          <p:cNvPr id="35" name="Text 33"/>
          <p:cNvSpPr txBox="1"/>
          <p:nvPr/>
        </p:nvSpPr>
        <p:spPr>
          <a:xfrm>
            <a:off x="621792" y="4471416"/>
            <a:ext cx="777240" cy="274320"/>
          </a:xfrm>
          <a:prstGeom prst="rect">
            <a:avLst/>
          </a:prstGeom>
          <a:noFill/>
          <a:ln/>
        </p:spPr>
        <p:txBody>
          <a:bodyPr wrap="square" lIns="0" tIns="0" rIns="0" bIns="0" rtlCol="0" anchor="ctr"/>
          <a:lstStyle/>
          <a:p>
            <a:pPr indent="0" marL="0">
              <a:buNone/>
            </a:pPr>
            <a:r>
              <a:rPr lang="en-US" sz="750" b="1" spc="160" kern="0" dirty="0">
                <a:solidFill>
                  <a:srgbClr val="6FD3FF"/>
                </a:solidFill>
                <a:latin typeface="Arial" pitchFamily="34" charset="0"/>
                <a:ea typeface="Arial" pitchFamily="34" charset="-122"/>
                <a:cs typeface="Arial" pitchFamily="34" charset="-120"/>
              </a:rPr>
              <a:t>OPEN</a:t>
            </a:r>
            <a:endParaRPr lang="en-US" sz="750" dirty="0"/>
          </a:p>
        </p:txBody>
      </p:sp>
      <p:sp>
        <p:nvSpPr>
          <p:cNvPr id="36" name="Text 34"/>
          <p:cNvSpPr txBox="1"/>
          <p:nvPr/>
        </p:nvSpPr>
        <p:spPr>
          <a:xfrm>
            <a:off x="1536192" y="4462272"/>
            <a:ext cx="6035040" cy="365760"/>
          </a:xfrm>
          <a:prstGeom prst="rect">
            <a:avLst/>
          </a:prstGeom>
          <a:noFill/>
          <a:ln/>
        </p:spPr>
        <p:txBody>
          <a:bodyPr wrap="square" lIns="0" tIns="0" rIns="0" bIns="0" rtlCol="0" anchor="ctr"/>
          <a:lstStyle/>
          <a:p>
            <a:pPr indent="0" marL="0">
              <a:lnSpc>
                <a:spcPct val="100000"/>
              </a:lnSpc>
              <a:buNone/>
            </a:pPr>
            <a:r>
              <a:rPr lang="en-US" sz="840" dirty="0">
                <a:solidFill>
                  <a:srgbClr val="EAF2FA"/>
                </a:solidFill>
                <a:latin typeface="Arial" pitchFamily="34" charset="0"/>
                <a:ea typeface="Arial" pitchFamily="34" charset="-122"/>
                <a:cs typeface="Arial" pitchFamily="34" charset="-120"/>
              </a:rPr>
              <a:t>Gate 3 cost inside the $250K–$450K planning range</a:t>
            </a:r>
            <a:endParaRPr lang="en-US" sz="840" dirty="0"/>
          </a:p>
        </p:txBody>
      </p:sp>
      <p:sp>
        <p:nvSpPr>
          <p:cNvPr id="37" name="Text 35"/>
          <p:cNvSpPr txBox="1"/>
          <p:nvPr/>
        </p:nvSpPr>
        <p:spPr>
          <a:xfrm>
            <a:off x="7754112" y="4462272"/>
            <a:ext cx="3840480" cy="365760"/>
          </a:xfrm>
          <a:prstGeom prst="rect">
            <a:avLst/>
          </a:prstGeom>
          <a:noFill/>
          <a:ln/>
        </p:spPr>
        <p:txBody>
          <a:bodyPr wrap="square" lIns="0" tIns="0" rIns="0" bIns="0" rtlCol="0" anchor="ctr"/>
          <a:lstStyle/>
          <a:p>
            <a:pPr indent="0" marL="0">
              <a:lnSpc>
                <a:spcPct val="100000"/>
              </a:lnSpc>
              <a:buNone/>
            </a:pPr>
            <a:r>
              <a:rPr lang="en-US" sz="780" dirty="0">
                <a:solidFill>
                  <a:srgbClr val="A9BDD1"/>
                </a:solidFill>
                <a:latin typeface="Arial" pitchFamily="34" charset="0"/>
                <a:ea typeface="Arial" pitchFamily="34" charset="-122"/>
                <a:cs typeface="Arial" pitchFamily="34" charset="-120"/>
              </a:rPr>
              <a:t>Three written vendor quotes — the highest-value diligence action available</a:t>
            </a:r>
            <a:endParaRPr lang="en-US" sz="780" dirty="0"/>
          </a:p>
        </p:txBody>
      </p:sp>
      <p:sp>
        <p:nvSpPr>
          <p:cNvPr id="38" name="Shape 36"/>
          <p:cNvSpPr/>
          <p:nvPr/>
        </p:nvSpPr>
        <p:spPr>
          <a:xfrm>
            <a:off x="621792" y="4818888"/>
            <a:ext cx="10948111" cy="0"/>
          </a:xfrm>
          <a:prstGeom prst="line">
            <a:avLst/>
          </a:prstGeom>
          <a:noFill/>
          <a:ln w="9525">
            <a:solidFill>
              <a:srgbClr val="23405C"/>
            </a:solidFill>
            <a:prstDash val="solid"/>
          </a:ln>
        </p:spPr>
      </p:sp>
      <p:sp>
        <p:nvSpPr>
          <p:cNvPr id="39" name="Text 37"/>
          <p:cNvSpPr txBox="1"/>
          <p:nvPr/>
        </p:nvSpPr>
        <p:spPr>
          <a:xfrm>
            <a:off x="621792" y="4873752"/>
            <a:ext cx="777240" cy="274320"/>
          </a:xfrm>
          <a:prstGeom prst="rect">
            <a:avLst/>
          </a:prstGeom>
          <a:noFill/>
          <a:ln/>
        </p:spPr>
        <p:txBody>
          <a:bodyPr wrap="square" lIns="0" tIns="0" rIns="0" bIns="0" rtlCol="0" anchor="ctr"/>
          <a:lstStyle/>
          <a:p>
            <a:pPr indent="0" marL="0">
              <a:buNone/>
            </a:pPr>
            <a:r>
              <a:rPr lang="en-US" sz="750" b="1" spc="160" kern="0" dirty="0">
                <a:solidFill>
                  <a:srgbClr val="72879D"/>
                </a:solidFill>
                <a:latin typeface="Arial" pitchFamily="34" charset="0"/>
                <a:ea typeface="Arial" pitchFamily="34" charset="-122"/>
                <a:cs typeface="Arial" pitchFamily="34" charset="-120"/>
              </a:rPr>
              <a:t>CLOSED</a:t>
            </a:r>
            <a:endParaRPr lang="en-US" sz="750" dirty="0"/>
          </a:p>
        </p:txBody>
      </p:sp>
      <p:sp>
        <p:nvSpPr>
          <p:cNvPr id="40" name="Text 38"/>
          <p:cNvSpPr txBox="1"/>
          <p:nvPr/>
        </p:nvSpPr>
        <p:spPr>
          <a:xfrm>
            <a:off x="1536192" y="4864608"/>
            <a:ext cx="6035040" cy="365760"/>
          </a:xfrm>
          <a:prstGeom prst="rect">
            <a:avLst/>
          </a:prstGeom>
          <a:noFill/>
          <a:ln/>
        </p:spPr>
        <p:txBody>
          <a:bodyPr wrap="square" lIns="0" tIns="0" rIns="0" bIns="0" rtlCol="0" anchor="ctr"/>
          <a:lstStyle/>
          <a:p>
            <a:pPr indent="0" marL="0">
              <a:lnSpc>
                <a:spcPct val="100000"/>
              </a:lnSpc>
              <a:buNone/>
            </a:pPr>
            <a:r>
              <a:rPr lang="en-US" sz="840" strike="sngStrike" dirty="0">
                <a:solidFill>
                  <a:srgbClr val="72879D"/>
                </a:solidFill>
                <a:latin typeface="Arial" pitchFamily="34" charset="0"/>
                <a:ea typeface="Arial" pitchFamily="34" charset="-122"/>
                <a:cs typeface="Arial" pitchFamily="34" charset="-120"/>
              </a:rPr>
              <a:t>Internal unit-cost advantage calculation</a:t>
            </a:r>
            <a:endParaRPr lang="en-US" sz="840" dirty="0"/>
          </a:p>
        </p:txBody>
      </p:sp>
      <p:sp>
        <p:nvSpPr>
          <p:cNvPr id="41" name="Text 39"/>
          <p:cNvSpPr txBox="1"/>
          <p:nvPr/>
        </p:nvSpPr>
        <p:spPr>
          <a:xfrm>
            <a:off x="7754112" y="4864608"/>
            <a:ext cx="3840480" cy="365760"/>
          </a:xfrm>
          <a:prstGeom prst="rect">
            <a:avLst/>
          </a:prstGeom>
          <a:noFill/>
          <a:ln/>
        </p:spPr>
        <p:txBody>
          <a:bodyPr wrap="square" lIns="0" tIns="0" rIns="0" bIns="0" rtlCol="0" anchor="ctr"/>
          <a:lstStyle/>
          <a:p>
            <a:pPr indent="0" marL="0">
              <a:lnSpc>
                <a:spcPct val="100000"/>
              </a:lnSpc>
              <a:buNone/>
            </a:pPr>
            <a:r>
              <a:rPr lang="en-US" sz="780" dirty="0">
                <a:solidFill>
                  <a:srgbClr val="A9BDD1"/>
                </a:solidFill>
                <a:latin typeface="Arial" pitchFamily="34" charset="0"/>
                <a:ea typeface="Arial" pitchFamily="34" charset="-122"/>
                <a:cs typeface="Arial" pitchFamily="34" charset="-120"/>
              </a:rPr>
              <a:t>Withdrawn — customer engineering hours per part number had not been measured</a:t>
            </a:r>
            <a:endParaRPr lang="en-US" sz="780" dirty="0"/>
          </a:p>
        </p:txBody>
      </p:sp>
      <p:sp>
        <p:nvSpPr>
          <p:cNvPr id="42" name="Shape 40"/>
          <p:cNvSpPr/>
          <p:nvPr/>
        </p:nvSpPr>
        <p:spPr>
          <a:xfrm>
            <a:off x="621792" y="5221224"/>
            <a:ext cx="10948111" cy="0"/>
          </a:xfrm>
          <a:prstGeom prst="line">
            <a:avLst/>
          </a:prstGeom>
          <a:noFill/>
          <a:ln w="9525">
            <a:solidFill>
              <a:srgbClr val="23405C"/>
            </a:solidFill>
            <a:prstDash val="solid"/>
          </a:ln>
        </p:spPr>
      </p:sp>
      <p:sp>
        <p:nvSpPr>
          <p:cNvPr id="43" name="Text 41"/>
          <p:cNvSpPr txBox="1"/>
          <p:nvPr/>
        </p:nvSpPr>
        <p:spPr>
          <a:xfrm>
            <a:off x="621792" y="5276088"/>
            <a:ext cx="777240" cy="274320"/>
          </a:xfrm>
          <a:prstGeom prst="rect">
            <a:avLst/>
          </a:prstGeom>
          <a:noFill/>
          <a:ln/>
        </p:spPr>
        <p:txBody>
          <a:bodyPr wrap="square" lIns="0" tIns="0" rIns="0" bIns="0" rtlCol="0" anchor="ctr"/>
          <a:lstStyle/>
          <a:p>
            <a:pPr indent="0" marL="0">
              <a:buNone/>
            </a:pPr>
            <a:r>
              <a:rPr lang="en-US" sz="750" b="1" spc="160" kern="0" dirty="0">
                <a:solidFill>
                  <a:srgbClr val="72879D"/>
                </a:solidFill>
                <a:latin typeface="Arial" pitchFamily="34" charset="0"/>
                <a:ea typeface="Arial" pitchFamily="34" charset="-122"/>
                <a:cs typeface="Arial" pitchFamily="34" charset="-120"/>
              </a:rPr>
              <a:t>CLOSED</a:t>
            </a:r>
            <a:endParaRPr lang="en-US" sz="750" dirty="0"/>
          </a:p>
        </p:txBody>
      </p:sp>
      <p:sp>
        <p:nvSpPr>
          <p:cNvPr id="44" name="Text 42"/>
          <p:cNvSpPr txBox="1"/>
          <p:nvPr/>
        </p:nvSpPr>
        <p:spPr>
          <a:xfrm>
            <a:off x="1536192" y="5266944"/>
            <a:ext cx="6035040" cy="365760"/>
          </a:xfrm>
          <a:prstGeom prst="rect">
            <a:avLst/>
          </a:prstGeom>
          <a:noFill/>
          <a:ln/>
        </p:spPr>
        <p:txBody>
          <a:bodyPr wrap="square" lIns="0" tIns="0" rIns="0" bIns="0" rtlCol="0" anchor="ctr"/>
          <a:lstStyle/>
          <a:p>
            <a:pPr indent="0" marL="0">
              <a:lnSpc>
                <a:spcPct val="100000"/>
              </a:lnSpc>
              <a:buNone/>
            </a:pPr>
            <a:r>
              <a:rPr lang="en-US" sz="840" strike="sngStrike" dirty="0">
                <a:solidFill>
                  <a:srgbClr val="72879D"/>
                </a:solidFill>
                <a:latin typeface="Arial" pitchFamily="34" charset="0"/>
                <a:ea typeface="Arial" pitchFamily="34" charset="-122"/>
                <a:cs typeface="Arial" pitchFamily="34" charset="-120"/>
              </a:rPr>
              <a:t>One qualified process envelope reducing part-specific FAI across part numbers</a:t>
            </a:r>
            <a:endParaRPr lang="en-US" sz="840" dirty="0"/>
          </a:p>
        </p:txBody>
      </p:sp>
      <p:sp>
        <p:nvSpPr>
          <p:cNvPr id="45" name="Text 43"/>
          <p:cNvSpPr txBox="1"/>
          <p:nvPr/>
        </p:nvSpPr>
        <p:spPr>
          <a:xfrm>
            <a:off x="7754112" y="5266944"/>
            <a:ext cx="3840480" cy="365760"/>
          </a:xfrm>
          <a:prstGeom prst="rect">
            <a:avLst/>
          </a:prstGeom>
          <a:noFill/>
          <a:ln/>
        </p:spPr>
        <p:txBody>
          <a:bodyPr wrap="square" lIns="0" tIns="0" rIns="0" bIns="0" rtlCol="0" anchor="ctr"/>
          <a:lstStyle/>
          <a:p>
            <a:pPr indent="0" marL="0">
              <a:lnSpc>
                <a:spcPct val="100000"/>
              </a:lnSpc>
              <a:buNone/>
            </a:pPr>
            <a:r>
              <a:rPr lang="en-US" sz="780" dirty="0">
                <a:solidFill>
                  <a:srgbClr val="A9BDD1"/>
                </a:solidFill>
                <a:latin typeface="Arial" pitchFamily="34" charset="0"/>
                <a:ea typeface="Arial" pitchFamily="34" charset="-122"/>
                <a:cs typeface="Arial" pitchFamily="34" charset="-120"/>
              </a:rPr>
              <a:t>Killed — AS9102 Rev C requires full FAI for a new part number</a:t>
            </a:r>
            <a:endParaRPr lang="en-US" sz="780" dirty="0"/>
          </a:p>
        </p:txBody>
      </p:sp>
      <p:sp>
        <p:nvSpPr>
          <p:cNvPr id="46" name="Text 44"/>
          <p:cNvSpPr txBox="1"/>
          <p:nvPr/>
        </p:nvSpPr>
        <p:spPr>
          <a:xfrm>
            <a:off x="621792" y="5760720"/>
            <a:ext cx="10948111" cy="274320"/>
          </a:xfrm>
          <a:prstGeom prst="rect">
            <a:avLst/>
          </a:prstGeom>
          <a:noFill/>
          <a:ln/>
        </p:spPr>
        <p:txBody>
          <a:bodyPr wrap="square" lIns="0" tIns="0" rIns="0" bIns="0" rtlCol="0" anchor="ctr"/>
          <a:lstStyle/>
          <a:p>
            <a:pPr indent="0" marL="0">
              <a:buNone/>
            </a:pPr>
            <a:r>
              <a:rPr lang="en-US" sz="1000" b="1" i="1" dirty="0">
                <a:solidFill>
                  <a:srgbClr val="6FD3FF"/>
                </a:solidFill>
                <a:latin typeface="Arial" pitchFamily="34" charset="0"/>
                <a:ea typeface="Arial" pitchFamily="34" charset="-122"/>
                <a:cs typeface="Arial" pitchFamily="34" charset="-120"/>
              </a:rPr>
              <a:t>A register with no closed entries is not a register. The two struck entries were closed by withdrawing the claim.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APPENDIX · A-6   ·   06 / 10</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APPENDIX A-6 · COMPETITIVE DEEP DIVE</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Per company, with dates. Verified against the public record.</a:t>
            </a:r>
            <a:endParaRPr lang="en-US" sz="2400" dirty="0"/>
          </a:p>
        </p:txBody>
      </p:sp>
      <p:sp>
        <p:nvSpPr>
          <p:cNvPr id="6" name="Shape 4"/>
          <p:cNvSpPr/>
          <p:nvPr/>
        </p:nvSpPr>
        <p:spPr>
          <a:xfrm>
            <a:off x="621792" y="1527048"/>
            <a:ext cx="10948111" cy="0"/>
          </a:xfrm>
          <a:prstGeom prst="line">
            <a:avLst/>
          </a:prstGeom>
          <a:noFill/>
          <a:ln w="9525">
            <a:solidFill>
              <a:srgbClr val="23405C"/>
            </a:solidFill>
            <a:prstDash val="solid"/>
          </a:ln>
        </p:spPr>
      </p:sp>
      <p:sp>
        <p:nvSpPr>
          <p:cNvPr id="7" name="Text 5"/>
          <p:cNvSpPr txBox="1"/>
          <p:nvPr/>
        </p:nvSpPr>
        <p:spPr>
          <a:xfrm>
            <a:off x="621792" y="1581912"/>
            <a:ext cx="1783080" cy="434340"/>
          </a:xfrm>
          <a:prstGeom prst="rect">
            <a:avLst/>
          </a:prstGeom>
          <a:noFill/>
          <a:ln/>
        </p:spPr>
        <p:txBody>
          <a:bodyPr wrap="square" lIns="0" tIns="0" rIns="0" bIns="0" rtlCol="0" anchor="ctr"/>
          <a:lstStyle/>
          <a:p>
            <a:pPr indent="0" marL="0">
              <a:lnSpc>
                <a:spcPct val="100000"/>
              </a:lnSpc>
              <a:buNone/>
            </a:pPr>
            <a:r>
              <a:rPr lang="en-US" sz="860" b="1" dirty="0">
                <a:solidFill>
                  <a:srgbClr val="EAF2FA"/>
                </a:solidFill>
                <a:latin typeface="Arial" pitchFamily="34" charset="0"/>
                <a:ea typeface="Arial" pitchFamily="34" charset="-122"/>
                <a:cs typeface="Arial" pitchFamily="34" charset="-120"/>
              </a:rPr>
              <a:t>Electroimpact</a:t>
            </a:r>
            <a:endParaRPr lang="en-US" sz="860" dirty="0"/>
          </a:p>
        </p:txBody>
      </p:sp>
      <p:sp>
        <p:nvSpPr>
          <p:cNvPr id="8" name="Text 6"/>
          <p:cNvSpPr txBox="1"/>
          <p:nvPr/>
        </p:nvSpPr>
        <p:spPr>
          <a:xfrm>
            <a:off x="2542032" y="1581912"/>
            <a:ext cx="7635240" cy="443484"/>
          </a:xfrm>
          <a:prstGeom prst="rect">
            <a:avLst/>
          </a:prstGeom>
          <a:noFill/>
          <a:ln/>
        </p:spPr>
        <p:txBody>
          <a:bodyPr wrap="square" lIns="0" tIns="0" rIns="0" bIns="0" rtlCol="0" anchor="ctr"/>
          <a:lstStyle/>
          <a:p>
            <a:pPr indent="0" marL="0">
              <a:lnSpc>
                <a:spcPct val="100000"/>
              </a:lnSpc>
              <a:buNone/>
            </a:pPr>
            <a:r>
              <a:rPr lang="en-US" sz="690" dirty="0">
                <a:solidFill>
                  <a:srgbClr val="A9BDD1"/>
                </a:solidFill>
                <a:latin typeface="Arial" pitchFamily="34" charset="0"/>
                <a:ea typeface="Arial" pitchFamily="34" charset="-122"/>
                <a:cs typeface="Arial" pitchFamily="34" charset="-120"/>
              </a:rPr>
              <a:t>Accurate Robot Technology: secondary encoders on each axis plus a high-order kinematic model. Documented ±0.08 mm at three sigma over 64 holes across 1.18 m², versus ±0.45 mm for a standard robot. Flex Track normality sensing to ±0.03°, vision-based datum location. Installed on A400M, A380, A350, 787, 737 inboard flaps and others.</a:t>
            </a:r>
            <a:endParaRPr lang="en-US" sz="690" dirty="0"/>
          </a:p>
        </p:txBody>
      </p:sp>
      <p:sp>
        <p:nvSpPr>
          <p:cNvPr id="9" name="Text 7"/>
          <p:cNvSpPr txBox="1"/>
          <p:nvPr/>
        </p:nvSpPr>
        <p:spPr>
          <a:xfrm>
            <a:off x="10314432" y="1581912"/>
            <a:ext cx="1280160" cy="434340"/>
          </a:xfrm>
          <a:prstGeom prst="rect">
            <a:avLst/>
          </a:prstGeom>
          <a:noFill/>
          <a:ln/>
        </p:spPr>
        <p:txBody>
          <a:bodyPr wrap="square" lIns="0" tIns="0" rIns="0" bIns="0" rtlCol="0" anchor="ctr"/>
          <a:lstStyle/>
          <a:p>
            <a:pPr indent="0" marL="0">
              <a:lnSpc>
                <a:spcPct val="100000"/>
              </a:lnSpc>
              <a:buNone/>
            </a:pPr>
            <a:r>
              <a:rPr lang="en-US" sz="680" dirty="0">
                <a:solidFill>
                  <a:srgbClr val="72879D"/>
                </a:solidFill>
                <a:latin typeface="Arial" pitchFamily="34" charset="0"/>
                <a:ea typeface="Arial" pitchFamily="34" charset="-122"/>
                <a:cs typeface="Arial" pitchFamily="34" charset="-120"/>
              </a:rPr>
              <a:t>SAE 2013-01-2290 · Sep 2013</a:t>
            </a:r>
            <a:endParaRPr lang="en-US" sz="680" dirty="0"/>
          </a:p>
        </p:txBody>
      </p:sp>
      <p:sp>
        <p:nvSpPr>
          <p:cNvPr id="10" name="Shape 8"/>
          <p:cNvSpPr/>
          <p:nvPr/>
        </p:nvSpPr>
        <p:spPr>
          <a:xfrm>
            <a:off x="621792" y="2016252"/>
            <a:ext cx="10948111" cy="0"/>
          </a:xfrm>
          <a:prstGeom prst="line">
            <a:avLst/>
          </a:prstGeom>
          <a:noFill/>
          <a:ln w="9525">
            <a:solidFill>
              <a:srgbClr val="23405C"/>
            </a:solidFill>
            <a:prstDash val="solid"/>
          </a:ln>
        </p:spPr>
      </p:sp>
      <p:sp>
        <p:nvSpPr>
          <p:cNvPr id="11" name="Text 9"/>
          <p:cNvSpPr txBox="1"/>
          <p:nvPr/>
        </p:nvSpPr>
        <p:spPr>
          <a:xfrm>
            <a:off x="621792" y="2071116"/>
            <a:ext cx="1783080" cy="434340"/>
          </a:xfrm>
          <a:prstGeom prst="rect">
            <a:avLst/>
          </a:prstGeom>
          <a:noFill/>
          <a:ln/>
        </p:spPr>
        <p:txBody>
          <a:bodyPr wrap="square" lIns="0" tIns="0" rIns="0" bIns="0" rtlCol="0" anchor="ctr"/>
          <a:lstStyle/>
          <a:p>
            <a:pPr indent="0" marL="0">
              <a:lnSpc>
                <a:spcPct val="100000"/>
              </a:lnSpc>
              <a:buNone/>
            </a:pPr>
            <a:r>
              <a:rPr lang="en-US" sz="860" b="1" dirty="0">
                <a:solidFill>
                  <a:srgbClr val="EAF2FA"/>
                </a:solidFill>
                <a:latin typeface="Arial" pitchFamily="34" charset="0"/>
                <a:ea typeface="Arial" pitchFamily="34" charset="-122"/>
                <a:cs typeface="Arial" pitchFamily="34" charset="-120"/>
              </a:rPr>
              <a:t>Hadrian</a:t>
            </a:r>
            <a:endParaRPr lang="en-US" sz="860" dirty="0"/>
          </a:p>
        </p:txBody>
      </p:sp>
      <p:sp>
        <p:nvSpPr>
          <p:cNvPr id="12" name="Text 10"/>
          <p:cNvSpPr txBox="1"/>
          <p:nvPr/>
        </p:nvSpPr>
        <p:spPr>
          <a:xfrm>
            <a:off x="2542032" y="2071116"/>
            <a:ext cx="7635240" cy="443484"/>
          </a:xfrm>
          <a:prstGeom prst="rect">
            <a:avLst/>
          </a:prstGeom>
          <a:noFill/>
          <a:ln/>
        </p:spPr>
        <p:txBody>
          <a:bodyPr wrap="square" lIns="0" tIns="0" rIns="0" bIns="0" rtlCol="0" anchor="ctr"/>
          <a:lstStyle/>
          <a:p>
            <a:pPr indent="0" marL="0">
              <a:lnSpc>
                <a:spcPct val="100000"/>
              </a:lnSpc>
              <a:buNone/>
            </a:pPr>
            <a:r>
              <a:rPr lang="en-US" sz="690" dirty="0">
                <a:solidFill>
                  <a:srgbClr val="A9BDD1"/>
                </a:solidFill>
                <a:latin typeface="Arial" pitchFamily="34" charset="0"/>
                <a:ea typeface="Arial" pitchFamily="34" charset="-122"/>
                <a:cs typeface="Arial" pitchFamily="34" charset="-120"/>
              </a:rPr>
              <a:t>$1.37B Series D at $7.87B post-money. Three service tiers including cells deployed at Hadrian facilities or customer sites. Approximately 3 million sq ft across four sites.</a:t>
            </a:r>
            <a:endParaRPr lang="en-US" sz="690" dirty="0"/>
          </a:p>
        </p:txBody>
      </p:sp>
      <p:sp>
        <p:nvSpPr>
          <p:cNvPr id="13" name="Text 11"/>
          <p:cNvSpPr txBox="1"/>
          <p:nvPr/>
        </p:nvSpPr>
        <p:spPr>
          <a:xfrm>
            <a:off x="10314432" y="2071116"/>
            <a:ext cx="1280160" cy="434340"/>
          </a:xfrm>
          <a:prstGeom prst="rect">
            <a:avLst/>
          </a:prstGeom>
          <a:noFill/>
          <a:ln/>
        </p:spPr>
        <p:txBody>
          <a:bodyPr wrap="square" lIns="0" tIns="0" rIns="0" bIns="0" rtlCol="0" anchor="ctr"/>
          <a:lstStyle/>
          <a:p>
            <a:pPr indent="0" marL="0">
              <a:lnSpc>
                <a:spcPct val="100000"/>
              </a:lnSpc>
              <a:buNone/>
            </a:pPr>
            <a:r>
              <a:rPr lang="en-US" sz="680" dirty="0">
                <a:solidFill>
                  <a:srgbClr val="72879D"/>
                </a:solidFill>
                <a:latin typeface="Arial" pitchFamily="34" charset="0"/>
                <a:ea typeface="Arial" pitchFamily="34" charset="-122"/>
                <a:cs typeface="Arial" pitchFamily="34" charset="-120"/>
              </a:rPr>
              <a:t>Aug 2026</a:t>
            </a:r>
            <a:endParaRPr lang="en-US" sz="680" dirty="0"/>
          </a:p>
        </p:txBody>
      </p:sp>
      <p:sp>
        <p:nvSpPr>
          <p:cNvPr id="14" name="Shape 12"/>
          <p:cNvSpPr/>
          <p:nvPr/>
        </p:nvSpPr>
        <p:spPr>
          <a:xfrm>
            <a:off x="621792" y="2505456"/>
            <a:ext cx="10948111" cy="0"/>
          </a:xfrm>
          <a:prstGeom prst="line">
            <a:avLst/>
          </a:prstGeom>
          <a:noFill/>
          <a:ln w="9525">
            <a:solidFill>
              <a:srgbClr val="23405C"/>
            </a:solidFill>
            <a:prstDash val="solid"/>
          </a:ln>
        </p:spPr>
      </p:sp>
      <p:sp>
        <p:nvSpPr>
          <p:cNvPr id="15" name="Text 13"/>
          <p:cNvSpPr txBox="1"/>
          <p:nvPr/>
        </p:nvSpPr>
        <p:spPr>
          <a:xfrm>
            <a:off x="621792" y="2560320"/>
            <a:ext cx="1783080" cy="434340"/>
          </a:xfrm>
          <a:prstGeom prst="rect">
            <a:avLst/>
          </a:prstGeom>
          <a:noFill/>
          <a:ln/>
        </p:spPr>
        <p:txBody>
          <a:bodyPr wrap="square" lIns="0" tIns="0" rIns="0" bIns="0" rtlCol="0" anchor="ctr"/>
          <a:lstStyle/>
          <a:p>
            <a:pPr indent="0" marL="0">
              <a:lnSpc>
                <a:spcPct val="100000"/>
              </a:lnSpc>
              <a:buNone/>
            </a:pPr>
            <a:r>
              <a:rPr lang="en-US" sz="860" b="1" dirty="0">
                <a:solidFill>
                  <a:srgbClr val="EAF2FA"/>
                </a:solidFill>
                <a:latin typeface="Arial" pitchFamily="34" charset="0"/>
                <a:ea typeface="Arial" pitchFamily="34" charset="-122"/>
                <a:cs typeface="Arial" pitchFamily="34" charset="-120"/>
              </a:rPr>
              <a:t>Divergent</a:t>
            </a:r>
            <a:endParaRPr lang="en-US" sz="860" dirty="0"/>
          </a:p>
        </p:txBody>
      </p:sp>
      <p:sp>
        <p:nvSpPr>
          <p:cNvPr id="16" name="Text 14"/>
          <p:cNvSpPr txBox="1"/>
          <p:nvPr/>
        </p:nvSpPr>
        <p:spPr>
          <a:xfrm>
            <a:off x="2542032" y="2560320"/>
            <a:ext cx="7635240" cy="443484"/>
          </a:xfrm>
          <a:prstGeom prst="rect">
            <a:avLst/>
          </a:prstGeom>
          <a:noFill/>
          <a:ln/>
        </p:spPr>
        <p:txBody>
          <a:bodyPr wrap="square" lIns="0" tIns="0" rIns="0" bIns="0" rtlCol="0" anchor="ctr"/>
          <a:lstStyle/>
          <a:p>
            <a:pPr indent="0" marL="0">
              <a:lnSpc>
                <a:spcPct val="100000"/>
              </a:lnSpc>
              <a:buNone/>
            </a:pPr>
            <a:r>
              <a:rPr lang="en-US" sz="690" dirty="0">
                <a:solidFill>
                  <a:srgbClr val="A9BDD1"/>
                </a:solidFill>
                <a:latin typeface="Arial" pitchFamily="34" charset="0"/>
                <a:ea typeface="Arial" pitchFamily="34" charset="-122"/>
                <a:cs typeface="Arial" pitchFamily="34" charset="-120"/>
              </a:rPr>
              <a:t>$290M Series E at $2.3B. Monolith One printer; second 430,000 sq ft factory. Nadcap accredited for additive manufacturing under AC7131. Saab fuselage of 26 printed parts assembled without tooling or fixturing, passed structural proof loading — a flight-test demonstrator, not a production program.</a:t>
            </a:r>
            <a:endParaRPr lang="en-US" sz="690" dirty="0"/>
          </a:p>
        </p:txBody>
      </p:sp>
      <p:sp>
        <p:nvSpPr>
          <p:cNvPr id="17" name="Text 15"/>
          <p:cNvSpPr txBox="1"/>
          <p:nvPr/>
        </p:nvSpPr>
        <p:spPr>
          <a:xfrm>
            <a:off x="10314432" y="2560320"/>
            <a:ext cx="1280160" cy="434340"/>
          </a:xfrm>
          <a:prstGeom prst="rect">
            <a:avLst/>
          </a:prstGeom>
          <a:noFill/>
          <a:ln/>
        </p:spPr>
        <p:txBody>
          <a:bodyPr wrap="square" lIns="0" tIns="0" rIns="0" bIns="0" rtlCol="0" anchor="ctr"/>
          <a:lstStyle/>
          <a:p>
            <a:pPr indent="0" marL="0">
              <a:lnSpc>
                <a:spcPct val="100000"/>
              </a:lnSpc>
              <a:buNone/>
            </a:pPr>
            <a:r>
              <a:rPr lang="en-US" sz="680" dirty="0">
                <a:solidFill>
                  <a:srgbClr val="72879D"/>
                </a:solidFill>
                <a:latin typeface="Arial" pitchFamily="34" charset="0"/>
                <a:ea typeface="Arial" pitchFamily="34" charset="-122"/>
                <a:cs typeface="Arial" pitchFamily="34" charset="-120"/>
              </a:rPr>
              <a:t>Sep 2025 · Jun 2026 · Dec 2024 · Dec 2025</a:t>
            </a:r>
            <a:endParaRPr lang="en-US" sz="680" dirty="0"/>
          </a:p>
        </p:txBody>
      </p:sp>
      <p:sp>
        <p:nvSpPr>
          <p:cNvPr id="18" name="Shape 16"/>
          <p:cNvSpPr/>
          <p:nvPr/>
        </p:nvSpPr>
        <p:spPr>
          <a:xfrm>
            <a:off x="621792" y="2994660"/>
            <a:ext cx="10948111" cy="0"/>
          </a:xfrm>
          <a:prstGeom prst="line">
            <a:avLst/>
          </a:prstGeom>
          <a:noFill/>
          <a:ln w="9525">
            <a:solidFill>
              <a:srgbClr val="23405C"/>
            </a:solidFill>
            <a:prstDash val="solid"/>
          </a:ln>
        </p:spPr>
      </p:sp>
      <p:sp>
        <p:nvSpPr>
          <p:cNvPr id="19" name="Text 17"/>
          <p:cNvSpPr txBox="1"/>
          <p:nvPr/>
        </p:nvSpPr>
        <p:spPr>
          <a:xfrm>
            <a:off x="621792" y="3049524"/>
            <a:ext cx="1783080" cy="434340"/>
          </a:xfrm>
          <a:prstGeom prst="rect">
            <a:avLst/>
          </a:prstGeom>
          <a:noFill/>
          <a:ln/>
        </p:spPr>
        <p:txBody>
          <a:bodyPr wrap="square" lIns="0" tIns="0" rIns="0" bIns="0" rtlCol="0" anchor="ctr"/>
          <a:lstStyle/>
          <a:p>
            <a:pPr indent="0" marL="0">
              <a:lnSpc>
                <a:spcPct val="100000"/>
              </a:lnSpc>
              <a:buNone/>
            </a:pPr>
            <a:r>
              <a:rPr lang="en-US" sz="860" b="1" dirty="0">
                <a:solidFill>
                  <a:srgbClr val="EAF2FA"/>
                </a:solidFill>
                <a:latin typeface="Arial" pitchFamily="34" charset="0"/>
                <a:ea typeface="Arial" pitchFamily="34" charset="-122"/>
                <a:cs typeface="Arial" pitchFamily="34" charset="-120"/>
              </a:rPr>
              <a:t>Machina Labs</a:t>
            </a:r>
            <a:endParaRPr lang="en-US" sz="860" dirty="0"/>
          </a:p>
        </p:txBody>
      </p:sp>
      <p:sp>
        <p:nvSpPr>
          <p:cNvPr id="20" name="Text 18"/>
          <p:cNvSpPr txBox="1"/>
          <p:nvPr/>
        </p:nvSpPr>
        <p:spPr>
          <a:xfrm>
            <a:off x="2542032" y="3049524"/>
            <a:ext cx="7635240" cy="443484"/>
          </a:xfrm>
          <a:prstGeom prst="rect">
            <a:avLst/>
          </a:prstGeom>
          <a:noFill/>
          <a:ln/>
        </p:spPr>
        <p:txBody>
          <a:bodyPr wrap="square" lIns="0" tIns="0" rIns="0" bIns="0" rtlCol="0" anchor="ctr"/>
          <a:lstStyle/>
          <a:p>
            <a:pPr indent="0" marL="0">
              <a:lnSpc>
                <a:spcPct val="100000"/>
              </a:lnSpc>
              <a:buNone/>
            </a:pPr>
            <a:r>
              <a:rPr lang="en-US" sz="690" dirty="0">
                <a:solidFill>
                  <a:srgbClr val="A9BDD1"/>
                </a:solidFill>
                <a:latin typeface="Arial" pitchFamily="34" charset="0"/>
                <a:ea typeface="Arial" pitchFamily="34" charset="-122"/>
                <a:cs typeface="Arial" pitchFamily="34" charset="-120"/>
              </a:rPr>
              <a:t>$124M Series C including Lockheed Martin Ventures. Awarded a qualification contract from Lockheed Martin in support of JASSM. Entered qualification — not qualified, not in production.</a:t>
            </a:r>
            <a:endParaRPr lang="en-US" sz="690" dirty="0"/>
          </a:p>
        </p:txBody>
      </p:sp>
      <p:sp>
        <p:nvSpPr>
          <p:cNvPr id="21" name="Text 19"/>
          <p:cNvSpPr txBox="1"/>
          <p:nvPr/>
        </p:nvSpPr>
        <p:spPr>
          <a:xfrm>
            <a:off x="10314432" y="3049524"/>
            <a:ext cx="1280160" cy="434340"/>
          </a:xfrm>
          <a:prstGeom prst="rect">
            <a:avLst/>
          </a:prstGeom>
          <a:noFill/>
          <a:ln/>
        </p:spPr>
        <p:txBody>
          <a:bodyPr wrap="square" lIns="0" tIns="0" rIns="0" bIns="0" rtlCol="0" anchor="ctr"/>
          <a:lstStyle/>
          <a:p>
            <a:pPr indent="0" marL="0">
              <a:lnSpc>
                <a:spcPct val="100000"/>
              </a:lnSpc>
              <a:buNone/>
            </a:pPr>
            <a:r>
              <a:rPr lang="en-US" sz="680" dirty="0">
                <a:solidFill>
                  <a:srgbClr val="72879D"/>
                </a:solidFill>
                <a:latin typeface="Arial" pitchFamily="34" charset="0"/>
                <a:ea typeface="Arial" pitchFamily="34" charset="-122"/>
                <a:cs typeface="Arial" pitchFamily="34" charset="-120"/>
              </a:rPr>
              <a:t>Feb 2026 · Jul 2026</a:t>
            </a:r>
            <a:endParaRPr lang="en-US" sz="680" dirty="0"/>
          </a:p>
        </p:txBody>
      </p:sp>
      <p:sp>
        <p:nvSpPr>
          <p:cNvPr id="22" name="Shape 20"/>
          <p:cNvSpPr/>
          <p:nvPr/>
        </p:nvSpPr>
        <p:spPr>
          <a:xfrm>
            <a:off x="621792" y="3483864"/>
            <a:ext cx="10948111" cy="0"/>
          </a:xfrm>
          <a:prstGeom prst="line">
            <a:avLst/>
          </a:prstGeom>
          <a:noFill/>
          <a:ln w="9525">
            <a:solidFill>
              <a:srgbClr val="23405C"/>
            </a:solidFill>
            <a:prstDash val="solid"/>
          </a:ln>
        </p:spPr>
      </p:sp>
      <p:sp>
        <p:nvSpPr>
          <p:cNvPr id="23" name="Text 21"/>
          <p:cNvSpPr txBox="1"/>
          <p:nvPr/>
        </p:nvSpPr>
        <p:spPr>
          <a:xfrm>
            <a:off x="621792" y="3538728"/>
            <a:ext cx="1783080" cy="434340"/>
          </a:xfrm>
          <a:prstGeom prst="rect">
            <a:avLst/>
          </a:prstGeom>
          <a:noFill/>
          <a:ln/>
        </p:spPr>
        <p:txBody>
          <a:bodyPr wrap="square" lIns="0" tIns="0" rIns="0" bIns="0" rtlCol="0" anchor="ctr"/>
          <a:lstStyle/>
          <a:p>
            <a:pPr indent="0" marL="0">
              <a:lnSpc>
                <a:spcPct val="100000"/>
              </a:lnSpc>
              <a:buNone/>
            </a:pPr>
            <a:r>
              <a:rPr lang="en-US" sz="860" b="1" dirty="0">
                <a:solidFill>
                  <a:srgbClr val="EAF2FA"/>
                </a:solidFill>
                <a:latin typeface="Arial" pitchFamily="34" charset="0"/>
                <a:ea typeface="Arial" pitchFamily="34" charset="-122"/>
                <a:cs typeface="Arial" pitchFamily="34" charset="-120"/>
              </a:rPr>
              <a:t>Anduril</a:t>
            </a:r>
            <a:endParaRPr lang="en-US" sz="860" dirty="0"/>
          </a:p>
        </p:txBody>
      </p:sp>
      <p:sp>
        <p:nvSpPr>
          <p:cNvPr id="24" name="Text 22"/>
          <p:cNvSpPr txBox="1"/>
          <p:nvPr/>
        </p:nvSpPr>
        <p:spPr>
          <a:xfrm>
            <a:off x="2542032" y="3538728"/>
            <a:ext cx="7635240" cy="443484"/>
          </a:xfrm>
          <a:prstGeom prst="rect">
            <a:avLst/>
          </a:prstGeom>
          <a:noFill/>
          <a:ln/>
        </p:spPr>
        <p:txBody>
          <a:bodyPr wrap="square" lIns="0" tIns="0" rIns="0" bIns="0" rtlCol="0" anchor="ctr"/>
          <a:lstStyle/>
          <a:p>
            <a:pPr indent="0" marL="0">
              <a:lnSpc>
                <a:spcPct val="100000"/>
              </a:lnSpc>
              <a:buNone/>
            </a:pPr>
            <a:r>
              <a:rPr lang="en-US" sz="690" dirty="0">
                <a:solidFill>
                  <a:srgbClr val="A9BDD1"/>
                </a:solidFill>
                <a:latin typeface="Arial" pitchFamily="34" charset="0"/>
                <a:ea typeface="Arial" pitchFamily="34" charset="-122"/>
                <a:cs typeface="Arial" pitchFamily="34" charset="-120"/>
              </a:rPr>
              <a:t>ArsenalOS digital manufacturing backbone announced. Arsenal-1 began production of the YFQ-44A in March 2026. $5B Series H at $61B post-money confirmed. A ~$100B round was reported as in talks; Anduril stated on the record that no decisions had been made.</a:t>
            </a:r>
            <a:endParaRPr lang="en-US" sz="690" dirty="0"/>
          </a:p>
        </p:txBody>
      </p:sp>
      <p:sp>
        <p:nvSpPr>
          <p:cNvPr id="25" name="Text 23"/>
          <p:cNvSpPr txBox="1"/>
          <p:nvPr/>
        </p:nvSpPr>
        <p:spPr>
          <a:xfrm>
            <a:off x="10314432" y="3538728"/>
            <a:ext cx="1280160" cy="434340"/>
          </a:xfrm>
          <a:prstGeom prst="rect">
            <a:avLst/>
          </a:prstGeom>
          <a:noFill/>
          <a:ln/>
        </p:spPr>
        <p:txBody>
          <a:bodyPr wrap="square" lIns="0" tIns="0" rIns="0" bIns="0" rtlCol="0" anchor="ctr"/>
          <a:lstStyle/>
          <a:p>
            <a:pPr indent="0" marL="0">
              <a:lnSpc>
                <a:spcPct val="100000"/>
              </a:lnSpc>
              <a:buNone/>
            </a:pPr>
            <a:r>
              <a:rPr lang="en-US" sz="680" dirty="0">
                <a:solidFill>
                  <a:srgbClr val="72879D"/>
                </a:solidFill>
                <a:latin typeface="Arial" pitchFamily="34" charset="0"/>
                <a:ea typeface="Arial" pitchFamily="34" charset="-122"/>
                <a:cs typeface="Arial" pitchFamily="34" charset="-120"/>
              </a:rPr>
              <a:t>Mar–Jul 2026</a:t>
            </a:r>
            <a:endParaRPr lang="en-US" sz="680" dirty="0"/>
          </a:p>
        </p:txBody>
      </p:sp>
      <p:sp>
        <p:nvSpPr>
          <p:cNvPr id="26" name="Shape 24"/>
          <p:cNvSpPr/>
          <p:nvPr/>
        </p:nvSpPr>
        <p:spPr>
          <a:xfrm>
            <a:off x="621792" y="3973068"/>
            <a:ext cx="10948111" cy="0"/>
          </a:xfrm>
          <a:prstGeom prst="line">
            <a:avLst/>
          </a:prstGeom>
          <a:noFill/>
          <a:ln w="9525">
            <a:solidFill>
              <a:srgbClr val="23405C"/>
            </a:solidFill>
            <a:prstDash val="solid"/>
          </a:ln>
        </p:spPr>
      </p:sp>
      <p:sp>
        <p:nvSpPr>
          <p:cNvPr id="27" name="Text 25"/>
          <p:cNvSpPr txBox="1"/>
          <p:nvPr/>
        </p:nvSpPr>
        <p:spPr>
          <a:xfrm>
            <a:off x="621792" y="4027932"/>
            <a:ext cx="1783080" cy="434340"/>
          </a:xfrm>
          <a:prstGeom prst="rect">
            <a:avLst/>
          </a:prstGeom>
          <a:noFill/>
          <a:ln/>
        </p:spPr>
        <p:txBody>
          <a:bodyPr wrap="square" lIns="0" tIns="0" rIns="0" bIns="0" rtlCol="0" anchor="ctr"/>
          <a:lstStyle/>
          <a:p>
            <a:pPr indent="0" marL="0">
              <a:lnSpc>
                <a:spcPct val="100000"/>
              </a:lnSpc>
              <a:buNone/>
            </a:pPr>
            <a:r>
              <a:rPr lang="en-US" sz="860" b="1" dirty="0">
                <a:solidFill>
                  <a:srgbClr val="EAF2FA"/>
                </a:solidFill>
                <a:latin typeface="Arial" pitchFamily="34" charset="0"/>
                <a:ea typeface="Arial" pitchFamily="34" charset="-122"/>
                <a:cs typeface="Arial" pitchFamily="34" charset="-120"/>
              </a:rPr>
              <a:t>Path Robotics · GrayMatter</a:t>
            </a:r>
            <a:endParaRPr lang="en-US" sz="860" dirty="0"/>
          </a:p>
        </p:txBody>
      </p:sp>
      <p:sp>
        <p:nvSpPr>
          <p:cNvPr id="28" name="Text 26"/>
          <p:cNvSpPr txBox="1"/>
          <p:nvPr/>
        </p:nvSpPr>
        <p:spPr>
          <a:xfrm>
            <a:off x="2542032" y="4027932"/>
            <a:ext cx="7635240" cy="443484"/>
          </a:xfrm>
          <a:prstGeom prst="rect">
            <a:avLst/>
          </a:prstGeom>
          <a:noFill/>
          <a:ln/>
        </p:spPr>
        <p:txBody>
          <a:bodyPr wrap="square" lIns="0" tIns="0" rIns="0" bIns="0" rtlCol="0" anchor="ctr"/>
          <a:lstStyle/>
          <a:p>
            <a:pPr indent="0" marL="0">
              <a:lnSpc>
                <a:spcPct val="100000"/>
              </a:lnSpc>
              <a:buNone/>
            </a:pPr>
            <a:r>
              <a:rPr lang="en-US" sz="690" dirty="0">
                <a:solidFill>
                  <a:srgbClr val="A9BDD1"/>
                </a:solidFill>
                <a:latin typeface="Arial" pitchFamily="34" charset="0"/>
                <a:ea typeface="Arial" pitchFamily="34" charset="-122"/>
                <a:cs typeface="Arial" pitchFamily="34" charset="-120"/>
              </a:rPr>
              <a:t>HII performance-based production agreements worth up to $900M over seven years, milestone-contingent; split not disclosed. GrayMatter's platform explicitly self-programs for high-mix, high-variability environments.</a:t>
            </a:r>
            <a:endParaRPr lang="en-US" sz="690" dirty="0"/>
          </a:p>
        </p:txBody>
      </p:sp>
      <p:sp>
        <p:nvSpPr>
          <p:cNvPr id="29" name="Text 27"/>
          <p:cNvSpPr txBox="1"/>
          <p:nvPr/>
        </p:nvSpPr>
        <p:spPr>
          <a:xfrm>
            <a:off x="10314432" y="4027932"/>
            <a:ext cx="1280160" cy="434340"/>
          </a:xfrm>
          <a:prstGeom prst="rect">
            <a:avLst/>
          </a:prstGeom>
          <a:noFill/>
          <a:ln/>
        </p:spPr>
        <p:txBody>
          <a:bodyPr wrap="square" lIns="0" tIns="0" rIns="0" bIns="0" rtlCol="0" anchor="ctr"/>
          <a:lstStyle/>
          <a:p>
            <a:pPr indent="0" marL="0">
              <a:lnSpc>
                <a:spcPct val="100000"/>
              </a:lnSpc>
              <a:buNone/>
            </a:pPr>
            <a:r>
              <a:rPr lang="en-US" sz="680" dirty="0">
                <a:solidFill>
                  <a:srgbClr val="72879D"/>
                </a:solidFill>
                <a:latin typeface="Arial" pitchFamily="34" charset="0"/>
                <a:ea typeface="Arial" pitchFamily="34" charset="-122"/>
                <a:cs typeface="Arial" pitchFamily="34" charset="-120"/>
              </a:rPr>
              <a:t>Aug 2026</a:t>
            </a:r>
            <a:endParaRPr lang="en-US" sz="680" dirty="0"/>
          </a:p>
        </p:txBody>
      </p:sp>
      <p:sp>
        <p:nvSpPr>
          <p:cNvPr id="30" name="Shape 28"/>
          <p:cNvSpPr/>
          <p:nvPr/>
        </p:nvSpPr>
        <p:spPr>
          <a:xfrm>
            <a:off x="621792" y="4462272"/>
            <a:ext cx="10948111" cy="0"/>
          </a:xfrm>
          <a:prstGeom prst="line">
            <a:avLst/>
          </a:prstGeom>
          <a:noFill/>
          <a:ln w="9525">
            <a:solidFill>
              <a:srgbClr val="23405C"/>
            </a:solidFill>
            <a:prstDash val="solid"/>
          </a:ln>
        </p:spPr>
      </p:sp>
      <p:sp>
        <p:nvSpPr>
          <p:cNvPr id="31" name="Text 29"/>
          <p:cNvSpPr txBox="1"/>
          <p:nvPr/>
        </p:nvSpPr>
        <p:spPr>
          <a:xfrm>
            <a:off x="621792" y="4517136"/>
            <a:ext cx="1783080" cy="434340"/>
          </a:xfrm>
          <a:prstGeom prst="rect">
            <a:avLst/>
          </a:prstGeom>
          <a:noFill/>
          <a:ln/>
        </p:spPr>
        <p:txBody>
          <a:bodyPr wrap="square" lIns="0" tIns="0" rIns="0" bIns="0" rtlCol="0" anchor="ctr"/>
          <a:lstStyle/>
          <a:p>
            <a:pPr indent="0" marL="0">
              <a:lnSpc>
                <a:spcPct val="100000"/>
              </a:lnSpc>
              <a:buNone/>
            </a:pPr>
            <a:r>
              <a:rPr lang="en-US" sz="860" b="1" dirty="0">
                <a:solidFill>
                  <a:srgbClr val="EAF2FA"/>
                </a:solidFill>
                <a:latin typeface="Arial" pitchFamily="34" charset="0"/>
                <a:ea typeface="Arial" pitchFamily="34" charset="-122"/>
                <a:cs typeface="Arial" pitchFamily="34" charset="-120"/>
              </a:rPr>
              <a:t>CloudNC</a:t>
            </a:r>
            <a:endParaRPr lang="en-US" sz="860" dirty="0"/>
          </a:p>
        </p:txBody>
      </p:sp>
      <p:sp>
        <p:nvSpPr>
          <p:cNvPr id="32" name="Text 30"/>
          <p:cNvSpPr txBox="1"/>
          <p:nvPr/>
        </p:nvSpPr>
        <p:spPr>
          <a:xfrm>
            <a:off x="2542032" y="4517136"/>
            <a:ext cx="7635240" cy="443484"/>
          </a:xfrm>
          <a:prstGeom prst="rect">
            <a:avLst/>
          </a:prstGeom>
          <a:noFill/>
          <a:ln/>
        </p:spPr>
        <p:txBody>
          <a:bodyPr wrap="square" lIns="0" tIns="0" rIns="0" bIns="0" rtlCol="0" anchor="ctr"/>
          <a:lstStyle/>
          <a:p>
            <a:pPr indent="0" marL="0">
              <a:lnSpc>
                <a:spcPct val="100000"/>
              </a:lnSpc>
              <a:buNone/>
            </a:pPr>
            <a:r>
              <a:rPr lang="en-US" sz="690" dirty="0">
                <a:solidFill>
                  <a:srgbClr val="A9BDD1"/>
                </a:solidFill>
                <a:latin typeface="Arial" pitchFamily="34" charset="0"/>
                <a:ea typeface="Arial" pitchFamily="34" charset="-122"/>
                <a:cs typeface="Arial" pitchFamily="34" charset="-120"/>
              </a:rPr>
              <a:t>CAM Assist claims up to 80% of a CAM program completed automatically. In use at over 1,000 factories. Embedded in Mastercam, Fusion 360, Siemens NX, GibbsCAM and SolidCAM. Three-axis and 3+2 only; no lathes or mill-turn.</a:t>
            </a:r>
            <a:endParaRPr lang="en-US" sz="690" dirty="0"/>
          </a:p>
        </p:txBody>
      </p:sp>
      <p:sp>
        <p:nvSpPr>
          <p:cNvPr id="33" name="Text 31"/>
          <p:cNvSpPr txBox="1"/>
          <p:nvPr/>
        </p:nvSpPr>
        <p:spPr>
          <a:xfrm>
            <a:off x="10314432" y="4517136"/>
            <a:ext cx="1280160" cy="434340"/>
          </a:xfrm>
          <a:prstGeom prst="rect">
            <a:avLst/>
          </a:prstGeom>
          <a:noFill/>
          <a:ln/>
        </p:spPr>
        <p:txBody>
          <a:bodyPr wrap="square" lIns="0" tIns="0" rIns="0" bIns="0" rtlCol="0" anchor="ctr"/>
          <a:lstStyle/>
          <a:p>
            <a:pPr indent="0" marL="0">
              <a:lnSpc>
                <a:spcPct val="100000"/>
              </a:lnSpc>
              <a:buNone/>
            </a:pPr>
            <a:r>
              <a:rPr lang="en-US" sz="680" dirty="0">
                <a:solidFill>
                  <a:srgbClr val="72879D"/>
                </a:solidFill>
                <a:latin typeface="Arial" pitchFamily="34" charset="0"/>
                <a:ea typeface="Arial" pitchFamily="34" charset="-122"/>
                <a:cs typeface="Arial" pitchFamily="34" charset="-120"/>
              </a:rPr>
              <a:t>verified Sep 2026</a:t>
            </a:r>
            <a:endParaRPr lang="en-US" sz="680" dirty="0"/>
          </a:p>
        </p:txBody>
      </p:sp>
      <p:sp>
        <p:nvSpPr>
          <p:cNvPr id="34" name="Shape 32"/>
          <p:cNvSpPr/>
          <p:nvPr/>
        </p:nvSpPr>
        <p:spPr>
          <a:xfrm>
            <a:off x="621792" y="4951476"/>
            <a:ext cx="10948111" cy="0"/>
          </a:xfrm>
          <a:prstGeom prst="line">
            <a:avLst/>
          </a:prstGeom>
          <a:noFill/>
          <a:ln w="9525">
            <a:solidFill>
              <a:srgbClr val="23405C"/>
            </a:solidFill>
            <a:prstDash val="solid"/>
          </a:ln>
        </p:spPr>
      </p:sp>
      <p:sp>
        <p:nvSpPr>
          <p:cNvPr id="35" name="Text 33"/>
          <p:cNvSpPr txBox="1"/>
          <p:nvPr/>
        </p:nvSpPr>
        <p:spPr>
          <a:xfrm>
            <a:off x="621792" y="5006340"/>
            <a:ext cx="1783080" cy="434340"/>
          </a:xfrm>
          <a:prstGeom prst="rect">
            <a:avLst/>
          </a:prstGeom>
          <a:noFill/>
          <a:ln/>
        </p:spPr>
        <p:txBody>
          <a:bodyPr wrap="square" lIns="0" tIns="0" rIns="0" bIns="0" rtlCol="0" anchor="ctr"/>
          <a:lstStyle/>
          <a:p>
            <a:pPr indent="0" marL="0">
              <a:lnSpc>
                <a:spcPct val="100000"/>
              </a:lnSpc>
              <a:buNone/>
            </a:pPr>
            <a:r>
              <a:rPr lang="en-US" sz="860" b="1" dirty="0">
                <a:solidFill>
                  <a:srgbClr val="EAF2FA"/>
                </a:solidFill>
                <a:latin typeface="Arial" pitchFamily="34" charset="0"/>
                <a:ea typeface="Arial" pitchFamily="34" charset="-122"/>
                <a:cs typeface="Arial" pitchFamily="34" charset="-120"/>
              </a:rPr>
              <a:t>Augmentus</a:t>
            </a:r>
            <a:endParaRPr lang="en-US" sz="860" dirty="0"/>
          </a:p>
        </p:txBody>
      </p:sp>
      <p:sp>
        <p:nvSpPr>
          <p:cNvPr id="36" name="Text 34"/>
          <p:cNvSpPr txBox="1"/>
          <p:nvPr/>
        </p:nvSpPr>
        <p:spPr>
          <a:xfrm>
            <a:off x="2542032" y="5006340"/>
            <a:ext cx="7635240" cy="443484"/>
          </a:xfrm>
          <a:prstGeom prst="rect">
            <a:avLst/>
          </a:prstGeom>
          <a:noFill/>
          <a:ln/>
        </p:spPr>
        <p:txBody>
          <a:bodyPr wrap="square" lIns="0" tIns="0" rIns="0" bIns="0" rtlCol="0" anchor="ctr"/>
          <a:lstStyle/>
          <a:p>
            <a:pPr indent="0" marL="0">
              <a:lnSpc>
                <a:spcPct val="100000"/>
              </a:lnSpc>
              <a:buNone/>
            </a:pPr>
            <a:r>
              <a:rPr lang="en-US" sz="690" dirty="0">
                <a:solidFill>
                  <a:srgbClr val="A9BDD1"/>
                </a:solidFill>
                <a:latin typeface="Arial" pitchFamily="34" charset="0"/>
                <a:ea typeface="Arial" pitchFamily="34" charset="-122"/>
                <a:cs typeface="Arial" pitchFamily="34" charset="-120"/>
              </a:rPr>
              <a:t>$11M Series A plus strategic investment from Applied Ventures. Scan-to-toolpath robot programming with adaptive motion, explicitly targeting high-mix production and aerospace.</a:t>
            </a:r>
            <a:endParaRPr lang="en-US" sz="690" dirty="0"/>
          </a:p>
        </p:txBody>
      </p:sp>
      <p:sp>
        <p:nvSpPr>
          <p:cNvPr id="37" name="Text 35"/>
          <p:cNvSpPr txBox="1"/>
          <p:nvPr/>
        </p:nvSpPr>
        <p:spPr>
          <a:xfrm>
            <a:off x="10314432" y="5006340"/>
            <a:ext cx="1280160" cy="434340"/>
          </a:xfrm>
          <a:prstGeom prst="rect">
            <a:avLst/>
          </a:prstGeom>
          <a:noFill/>
          <a:ln/>
        </p:spPr>
        <p:txBody>
          <a:bodyPr wrap="square" lIns="0" tIns="0" rIns="0" bIns="0" rtlCol="0" anchor="ctr"/>
          <a:lstStyle/>
          <a:p>
            <a:pPr indent="0" marL="0">
              <a:lnSpc>
                <a:spcPct val="100000"/>
              </a:lnSpc>
              <a:buNone/>
            </a:pPr>
            <a:r>
              <a:rPr lang="en-US" sz="680" dirty="0">
                <a:solidFill>
                  <a:srgbClr val="72879D"/>
                </a:solidFill>
                <a:latin typeface="Arial" pitchFamily="34" charset="0"/>
                <a:ea typeface="Arial" pitchFamily="34" charset="-122"/>
                <a:cs typeface="Arial" pitchFamily="34" charset="-120"/>
              </a:rPr>
              <a:t>Jul · Oct 2025</a:t>
            </a:r>
            <a:endParaRPr lang="en-US" sz="680" dirty="0"/>
          </a:p>
        </p:txBody>
      </p:sp>
      <p:sp>
        <p:nvSpPr>
          <p:cNvPr id="38" name="Shape 36"/>
          <p:cNvSpPr/>
          <p:nvPr/>
        </p:nvSpPr>
        <p:spPr>
          <a:xfrm>
            <a:off x="621792" y="5440680"/>
            <a:ext cx="10948111" cy="0"/>
          </a:xfrm>
          <a:prstGeom prst="line">
            <a:avLst/>
          </a:prstGeom>
          <a:noFill/>
          <a:ln w="9525">
            <a:solidFill>
              <a:srgbClr val="23405C"/>
            </a:solidFill>
            <a:prstDash val="solid"/>
          </a:ln>
        </p:spPr>
      </p:sp>
      <p:sp>
        <p:nvSpPr>
          <p:cNvPr id="39" name="Text 37"/>
          <p:cNvSpPr txBox="1"/>
          <p:nvPr/>
        </p:nvSpPr>
        <p:spPr>
          <a:xfrm>
            <a:off x="621792" y="5495544"/>
            <a:ext cx="1783080" cy="434340"/>
          </a:xfrm>
          <a:prstGeom prst="rect">
            <a:avLst/>
          </a:prstGeom>
          <a:noFill/>
          <a:ln/>
        </p:spPr>
        <p:txBody>
          <a:bodyPr wrap="square" lIns="0" tIns="0" rIns="0" bIns="0" rtlCol="0" anchor="ctr"/>
          <a:lstStyle/>
          <a:p>
            <a:pPr indent="0" marL="0">
              <a:lnSpc>
                <a:spcPct val="100000"/>
              </a:lnSpc>
              <a:buNone/>
            </a:pPr>
            <a:r>
              <a:rPr lang="en-US" sz="860" b="1" dirty="0">
                <a:solidFill>
                  <a:srgbClr val="EAF2FA"/>
                </a:solidFill>
                <a:latin typeface="Arial" pitchFamily="34" charset="0"/>
                <a:ea typeface="Arial" pitchFamily="34" charset="-122"/>
                <a:cs typeface="Arial" pitchFamily="34" charset="-120"/>
              </a:rPr>
              <a:t>Also tracked</a:t>
            </a:r>
            <a:endParaRPr lang="en-US" sz="860" dirty="0"/>
          </a:p>
        </p:txBody>
      </p:sp>
      <p:sp>
        <p:nvSpPr>
          <p:cNvPr id="40" name="Text 38"/>
          <p:cNvSpPr txBox="1"/>
          <p:nvPr/>
        </p:nvSpPr>
        <p:spPr>
          <a:xfrm>
            <a:off x="2542032" y="5495544"/>
            <a:ext cx="7635240" cy="443484"/>
          </a:xfrm>
          <a:prstGeom prst="rect">
            <a:avLst/>
          </a:prstGeom>
          <a:noFill/>
          <a:ln/>
        </p:spPr>
        <p:txBody>
          <a:bodyPr wrap="square" lIns="0" tIns="0" rIns="0" bIns="0" rtlCol="0" anchor="ctr"/>
          <a:lstStyle/>
          <a:p>
            <a:pPr indent="0" marL="0">
              <a:lnSpc>
                <a:spcPct val="100000"/>
              </a:lnSpc>
              <a:buNone/>
            </a:pPr>
            <a:r>
              <a:rPr lang="en-US" sz="690" dirty="0">
                <a:solidFill>
                  <a:srgbClr val="A9BDD1"/>
                </a:solidFill>
                <a:latin typeface="Arial" pitchFamily="34" charset="0"/>
                <a:ea typeface="Arial" pitchFamily="34" charset="-122"/>
                <a:cs typeface="Arial" pitchFamily="34" charset="-120"/>
              </a:rPr>
              <a:t>Wilder Systems, LimitlessCNC, Toolpath, Lambda Function AI with NobleTek, Bright Machines, Broetje-Automation, MTorres, AIT, Loop Technology.</a:t>
            </a:r>
            <a:endParaRPr lang="en-US" sz="690" dirty="0"/>
          </a:p>
        </p:txBody>
      </p:sp>
      <p:sp>
        <p:nvSpPr>
          <p:cNvPr id="41" name="Text 39"/>
          <p:cNvSpPr txBox="1"/>
          <p:nvPr/>
        </p:nvSpPr>
        <p:spPr>
          <a:xfrm>
            <a:off x="10314432" y="5495544"/>
            <a:ext cx="1280160" cy="434340"/>
          </a:xfrm>
          <a:prstGeom prst="rect">
            <a:avLst/>
          </a:prstGeom>
          <a:noFill/>
          <a:ln/>
        </p:spPr>
        <p:txBody>
          <a:bodyPr wrap="square" lIns="0" tIns="0" rIns="0" bIns="0" rtlCol="0" anchor="ctr"/>
          <a:lstStyle/>
          <a:p>
            <a:pPr indent="0" marL="0">
              <a:lnSpc>
                <a:spcPct val="100000"/>
              </a:lnSpc>
              <a:buNone/>
            </a:pPr>
            <a:endParaRPr lang="en-US" sz="680" dirty="0"/>
          </a:p>
        </p:txBody>
      </p:sp>
      <p:sp>
        <p:nvSpPr>
          <p:cNvPr id="42" name="Text 40"/>
          <p:cNvSpPr txBox="1"/>
          <p:nvPr/>
        </p:nvSpPr>
        <p:spPr>
          <a:xfrm>
            <a:off x="621792" y="6144768"/>
            <a:ext cx="10948111" cy="256032"/>
          </a:xfrm>
          <a:prstGeom prst="rect">
            <a:avLst/>
          </a:prstGeom>
          <a:noFill/>
          <a:ln/>
        </p:spPr>
        <p:txBody>
          <a:bodyPr wrap="square" lIns="0" tIns="0" rIns="0" bIns="0" rtlCol="0" anchor="ctr"/>
          <a:lstStyle/>
          <a:p>
            <a:pPr indent="0" marL="0">
              <a:lnSpc>
                <a:spcPct val="105000"/>
              </a:lnSpc>
              <a:buNone/>
            </a:pPr>
            <a:r>
              <a:rPr lang="en-US" sz="650" dirty="0">
                <a:solidFill>
                  <a:srgbClr val="51667C"/>
                </a:solidFill>
                <a:latin typeface="Arial" pitchFamily="34" charset="0"/>
                <a:ea typeface="Arial" pitchFamily="34" charset="-122"/>
                <a:cs typeface="Arial" pitchFamily="34" charset="-120"/>
              </a:rPr>
              <a:t>Context: physical AI and robotics venture funding reached $47.4bn across 521 deals in the first half of 2026. Full citations in the source audit.</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APPENDIX · A-7   ·   07 / 10</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APPENDIX A-7 · MARKET SOURCE METHODOLOGY</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Four constructs that are routinely confused.</a:t>
            </a:r>
            <a:endParaRPr lang="en-US" sz="2400" dirty="0"/>
          </a:p>
        </p:txBody>
      </p:sp>
      <p:sp>
        <p:nvSpPr>
          <p:cNvPr id="6" name="Text 4"/>
          <p:cNvSpPr txBox="1"/>
          <p:nvPr/>
        </p:nvSpPr>
        <p:spPr>
          <a:xfrm>
            <a:off x="621792" y="1682496"/>
            <a:ext cx="5108296" cy="219456"/>
          </a:xfrm>
          <a:prstGeom prst="rect">
            <a:avLst/>
          </a:prstGeom>
          <a:noFill/>
          <a:ln/>
        </p:spPr>
        <p:txBody>
          <a:bodyPr wrap="square" lIns="0" tIns="0" rIns="0" bIns="0" rtlCol="0" anchor="ctr"/>
          <a:lstStyle/>
          <a:p>
            <a:pPr indent="0" marL="0">
              <a:buNone/>
            </a:pPr>
            <a:r>
              <a:rPr lang="en-US" sz="1000" b="1" spc="160" kern="0" dirty="0">
                <a:solidFill>
                  <a:srgbClr val="6FD3FF"/>
                </a:solidFill>
                <a:latin typeface="Arial" pitchFamily="34" charset="0"/>
                <a:ea typeface="Arial" pitchFamily="34" charset="-122"/>
                <a:cs typeface="Arial" pitchFamily="34" charset="-120"/>
              </a:rPr>
              <a:t>ORDER BACKLOG</a:t>
            </a:r>
            <a:endParaRPr lang="en-US" sz="1000" dirty="0"/>
          </a:p>
        </p:txBody>
      </p:sp>
      <p:sp>
        <p:nvSpPr>
          <p:cNvPr id="7" name="Text 5"/>
          <p:cNvSpPr txBox="1"/>
          <p:nvPr/>
        </p:nvSpPr>
        <p:spPr>
          <a:xfrm>
            <a:off x="621792" y="1956816"/>
            <a:ext cx="5062576" cy="1005840"/>
          </a:xfrm>
          <a:prstGeom prst="rect">
            <a:avLst/>
          </a:prstGeom>
          <a:noFill/>
          <a:ln/>
        </p:spPr>
        <p:txBody>
          <a:bodyPr wrap="square" lIns="0" tIns="0" rIns="0" bIns="0" rtlCol="0" anchor="ctr"/>
          <a:lstStyle/>
          <a:p>
            <a:pPr indent="0" marL="0">
              <a:lnSpc>
                <a:spcPct val="112000"/>
              </a:lnSpc>
              <a:buNone/>
            </a:pPr>
            <a:r>
              <a:rPr lang="en-US" sz="880" dirty="0">
                <a:solidFill>
                  <a:srgbClr val="A9BDD1"/>
                </a:solidFill>
                <a:latin typeface="Arial" pitchFamily="34" charset="0"/>
                <a:ea typeface="Arial" pitchFamily="34" charset="-122"/>
                <a:cs typeface="Arial" pitchFamily="34" charset="-120"/>
              </a:rPr>
              <a:t>18,100 aircraft on order, May 2026 — IATA. A stock of contracted demand. Not a delivery rate, not a market size.</a:t>
            </a:r>
            <a:endParaRPr lang="en-US" sz="880" dirty="0"/>
          </a:p>
        </p:txBody>
      </p:sp>
      <p:sp>
        <p:nvSpPr>
          <p:cNvPr id="8" name="Text 6"/>
          <p:cNvSpPr txBox="1"/>
          <p:nvPr/>
        </p:nvSpPr>
        <p:spPr>
          <a:xfrm>
            <a:off x="6187288" y="1682496"/>
            <a:ext cx="5108296" cy="219456"/>
          </a:xfrm>
          <a:prstGeom prst="rect">
            <a:avLst/>
          </a:prstGeom>
          <a:noFill/>
          <a:ln/>
        </p:spPr>
        <p:txBody>
          <a:bodyPr wrap="square" lIns="0" tIns="0" rIns="0" bIns="0" rtlCol="0" anchor="ctr"/>
          <a:lstStyle/>
          <a:p>
            <a:pPr indent="0" marL="0">
              <a:buNone/>
            </a:pPr>
            <a:r>
              <a:rPr lang="en-US" sz="1000" b="1" spc="160" kern="0" dirty="0">
                <a:solidFill>
                  <a:srgbClr val="6FD3FF"/>
                </a:solidFill>
                <a:latin typeface="Arial" pitchFamily="34" charset="0"/>
                <a:ea typeface="Arial" pitchFamily="34" charset="-122"/>
                <a:cs typeface="Arial" pitchFamily="34" charset="-120"/>
              </a:rPr>
              <a:t>DELIVERY SHORTFALL AGAINST PLAN</a:t>
            </a:r>
            <a:endParaRPr lang="en-US" sz="1000" dirty="0"/>
          </a:p>
        </p:txBody>
      </p:sp>
      <p:sp>
        <p:nvSpPr>
          <p:cNvPr id="9" name="Text 7"/>
          <p:cNvSpPr txBox="1"/>
          <p:nvPr/>
        </p:nvSpPr>
        <p:spPr>
          <a:xfrm>
            <a:off x="6187288" y="1956816"/>
            <a:ext cx="5062576" cy="1005840"/>
          </a:xfrm>
          <a:prstGeom prst="rect">
            <a:avLst/>
          </a:prstGeom>
          <a:noFill/>
          <a:ln/>
        </p:spPr>
        <p:txBody>
          <a:bodyPr wrap="square" lIns="0" tIns="0" rIns="0" bIns="0" rtlCol="0" anchor="ctr"/>
          <a:lstStyle/>
          <a:p>
            <a:pPr indent="0" marL="0">
              <a:lnSpc>
                <a:spcPct val="112000"/>
              </a:lnSpc>
              <a:buNone/>
            </a:pPr>
            <a:r>
              <a:rPr lang="en-US" sz="880" dirty="0">
                <a:solidFill>
                  <a:srgbClr val="A9BDD1"/>
                </a:solidFill>
                <a:latin typeface="Arial" pitchFamily="34" charset="0"/>
                <a:ea typeface="Arial" pitchFamily="34" charset="-122"/>
                <a:cs typeface="Arial" pitchFamily="34" charset="-120"/>
              </a:rPr>
              <a:t>1,631 → 1,515 forecast revision for 2026 — IATA. The industry's own forecaster revising delivery capability downward within six months.</a:t>
            </a:r>
            <a:endParaRPr lang="en-US" sz="880" dirty="0"/>
          </a:p>
        </p:txBody>
      </p:sp>
      <p:sp>
        <p:nvSpPr>
          <p:cNvPr id="10" name="Text 8"/>
          <p:cNvSpPr txBox="1"/>
          <p:nvPr/>
        </p:nvSpPr>
        <p:spPr>
          <a:xfrm>
            <a:off x="621792" y="3054096"/>
            <a:ext cx="5108296" cy="219456"/>
          </a:xfrm>
          <a:prstGeom prst="rect">
            <a:avLst/>
          </a:prstGeom>
          <a:noFill/>
          <a:ln/>
        </p:spPr>
        <p:txBody>
          <a:bodyPr wrap="square" lIns="0" tIns="0" rIns="0" bIns="0" rtlCol="0" anchor="ctr"/>
          <a:lstStyle/>
          <a:p>
            <a:pPr indent="0" marL="0">
              <a:buNone/>
            </a:pPr>
            <a:r>
              <a:rPr lang="en-US" sz="1000" b="1" spc="160" kern="0" dirty="0">
                <a:solidFill>
                  <a:srgbClr val="6FD3FF"/>
                </a:solidFill>
                <a:latin typeface="Arial" pitchFamily="34" charset="0"/>
                <a:ea typeface="Arial" pitchFamily="34" charset="-122"/>
                <a:cs typeface="Arial" pitchFamily="34" charset="-120"/>
              </a:rPr>
              <a:t>HYPOTHETICAL COUNTERFACTUAL GAP</a:t>
            </a:r>
            <a:endParaRPr lang="en-US" sz="1000" dirty="0"/>
          </a:p>
        </p:txBody>
      </p:sp>
      <p:sp>
        <p:nvSpPr>
          <p:cNvPr id="11" name="Text 9"/>
          <p:cNvSpPr txBox="1"/>
          <p:nvPr/>
        </p:nvSpPr>
        <p:spPr>
          <a:xfrm>
            <a:off x="621792" y="3328416"/>
            <a:ext cx="5062576" cy="1005840"/>
          </a:xfrm>
          <a:prstGeom prst="rect">
            <a:avLst/>
          </a:prstGeom>
          <a:noFill/>
          <a:ln/>
        </p:spPr>
        <p:txBody>
          <a:bodyPr wrap="square" lIns="0" tIns="0" rIns="0" bIns="0" rtlCol="0" anchor="ctr"/>
          <a:lstStyle/>
          <a:p>
            <a:pPr indent="0" marL="0">
              <a:lnSpc>
                <a:spcPct val="112000"/>
              </a:lnSpc>
              <a:buNone/>
            </a:pPr>
            <a:r>
              <a:rPr lang="en-US" sz="880" dirty="0">
                <a:solidFill>
                  <a:srgbClr val="A9BDD1"/>
                </a:solidFill>
                <a:latin typeface="Arial" pitchFamily="34" charset="0"/>
                <a:ea typeface="Arial" pitchFamily="34" charset="-122"/>
                <a:cs typeface="Arial" pitchFamily="34" charset="-120"/>
              </a:rPr>
              <a:t>~5,600 aircraft versus a pre-pandemic trend line — IATA's gross counterfactual. NOT USED in this deck, and never to be added to the net figure.</a:t>
            </a:r>
            <a:endParaRPr lang="en-US" sz="880" dirty="0"/>
          </a:p>
        </p:txBody>
      </p:sp>
      <p:sp>
        <p:nvSpPr>
          <p:cNvPr id="12" name="Text 10"/>
          <p:cNvSpPr txBox="1"/>
          <p:nvPr/>
        </p:nvSpPr>
        <p:spPr>
          <a:xfrm>
            <a:off x="6187288" y="3054096"/>
            <a:ext cx="5108296" cy="219456"/>
          </a:xfrm>
          <a:prstGeom prst="rect">
            <a:avLst/>
          </a:prstGeom>
          <a:noFill/>
          <a:ln/>
        </p:spPr>
        <p:txBody>
          <a:bodyPr wrap="square" lIns="0" tIns="0" rIns="0" bIns="0" rtlCol="0" anchor="ctr"/>
          <a:lstStyle/>
          <a:p>
            <a:pPr indent="0" marL="0">
              <a:buNone/>
            </a:pPr>
            <a:r>
              <a:rPr lang="en-US" sz="1000" b="1" spc="160" kern="0" dirty="0">
                <a:solidFill>
                  <a:srgbClr val="6FD3FF"/>
                </a:solidFill>
                <a:latin typeface="Arial" pitchFamily="34" charset="0"/>
                <a:ea typeface="Arial" pitchFamily="34" charset="-122"/>
                <a:cs typeface="Arial" pitchFamily="34" charset="-120"/>
              </a:rPr>
              <a:t>EFFECTIVE SHORTAGE ABSORBED</a:t>
            </a:r>
            <a:endParaRPr lang="en-US" sz="1000" dirty="0"/>
          </a:p>
        </p:txBody>
      </p:sp>
      <p:sp>
        <p:nvSpPr>
          <p:cNvPr id="13" name="Text 11"/>
          <p:cNvSpPr txBox="1"/>
          <p:nvPr/>
        </p:nvSpPr>
        <p:spPr>
          <a:xfrm>
            <a:off x="6187288" y="3328416"/>
            <a:ext cx="5062576" cy="1005840"/>
          </a:xfrm>
          <a:prstGeom prst="rect">
            <a:avLst/>
          </a:prstGeom>
          <a:noFill/>
          <a:ln/>
        </p:spPr>
        <p:txBody>
          <a:bodyPr wrap="square" lIns="0" tIns="0" rIns="0" bIns="0" rtlCol="0" anchor="ctr"/>
          <a:lstStyle/>
          <a:p>
            <a:pPr indent="0" marL="0">
              <a:lnSpc>
                <a:spcPct val="112000"/>
              </a:lnSpc>
              <a:buNone/>
            </a:pPr>
            <a:r>
              <a:rPr lang="en-US" sz="880" dirty="0">
                <a:solidFill>
                  <a:srgbClr val="A9BDD1"/>
                </a:solidFill>
                <a:latin typeface="Arial" pitchFamily="34" charset="0"/>
                <a:ea typeface="Arial" pitchFamily="34" charset="-122"/>
                <a:cs typeface="Arial" pitchFamily="34" charset="-120"/>
              </a:rPr>
              <a:t>~3,170 aircraft — the net figure after airlines absorbed roughly 2,400 aircraft of the gap through higher utilisation, delayed retirements and fuller loads. This is the figure the deck uses.</a:t>
            </a:r>
            <a:endParaRPr lang="en-US" sz="880" dirty="0"/>
          </a:p>
        </p:txBody>
      </p:sp>
      <p:sp>
        <p:nvSpPr>
          <p:cNvPr id="14" name="Shape 12"/>
          <p:cNvSpPr/>
          <p:nvPr/>
        </p:nvSpPr>
        <p:spPr>
          <a:xfrm>
            <a:off x="621792" y="4517136"/>
            <a:ext cx="10948111" cy="0"/>
          </a:xfrm>
          <a:prstGeom prst="line">
            <a:avLst/>
          </a:prstGeom>
          <a:noFill/>
          <a:ln w="9525">
            <a:solidFill>
              <a:srgbClr val="23405C"/>
            </a:solidFill>
            <a:prstDash val="solid"/>
          </a:ln>
        </p:spPr>
      </p:sp>
      <p:sp>
        <p:nvSpPr>
          <p:cNvPr id="15" name="Text 13"/>
          <p:cNvSpPr txBox="1"/>
          <p:nvPr/>
        </p:nvSpPr>
        <p:spPr>
          <a:xfrm>
            <a:off x="621792" y="4645152"/>
            <a:ext cx="10948111" cy="1554480"/>
          </a:xfrm>
          <a:prstGeom prst="rect">
            <a:avLst/>
          </a:prstGeom>
          <a:noFill/>
          <a:ln/>
        </p:spPr>
        <p:txBody>
          <a:bodyPr wrap="square" lIns="0" tIns="0" rIns="0" bIns="0" rtlCol="0" anchor="t"/>
          <a:lstStyle/>
          <a:p>
            <a:pPr algn="l" indent="0" marL="0">
              <a:lnSpc>
                <a:spcPct val="115000"/>
              </a:lnSpc>
              <a:spcAft>
                <a:spcPts val="500"/>
              </a:spcAft>
              <a:buNone/>
            </a:pPr>
            <a:r>
              <a:rPr lang="en-US" sz="850" b="1" spc="220" kern="0" dirty="0">
                <a:solidFill>
                  <a:srgbClr val="6FD3FF"/>
                </a:solidFill>
                <a:latin typeface="Arial" pitchFamily="34" charset="0"/>
                <a:ea typeface="Arial" pitchFamily="34" charset="-122"/>
                <a:cs typeface="Arial" pitchFamily="34" charset="-120"/>
              </a:rPr>
              <a:t>ATTRIBUTION DISCIPLINE</a:t>
            </a:r>
            <a:endParaRPr lang="en-US" sz="850" dirty="0"/>
          </a:p>
          <a:p>
            <a:pPr algn="l" indent="0" marL="0">
              <a:lnSpc>
                <a:spcPct val="115000"/>
              </a:lnSpc>
              <a:spcAft>
                <a:spcPts val="600"/>
              </a:spcAft>
              <a:buNone/>
            </a:pPr>
            <a:r>
              <a:rPr lang="en-US" sz="900" dirty="0">
                <a:solidFill>
                  <a:srgbClr val="A9BDD1"/>
                </a:solidFill>
                <a:latin typeface="Arial" pitchFamily="34" charset="0"/>
                <a:ea typeface="Arial" pitchFamily="34" charset="-122"/>
                <a:cs typeface="Arial" pitchFamily="34" charset="-120"/>
              </a:rPr>
              <a:t>The twelve-year backlog-clearance figure is Oliver Wyman (February 2026), not IATA — IATA said 'nearly 12 years' in December 2025 and has not restated it in 2026. The supply-chain cost figure is Walsh at the IATA 82nd AGM: 'at least $11 billion' in 2025. The components sum to $11.3bn, but IATA never states that total — so neither does Syntrex. No aggregate 2026 supply-chain cost figure exists; the $11 billion is a 2025 number and is labelled as such.</a:t>
            </a:r>
            <a:endParaRPr lang="en-US" sz="850" dirty="0"/>
          </a:p>
          <a:p>
            <a:pPr algn="l" indent="0" marL="0">
              <a:lnSpc>
                <a:spcPct val="115000"/>
              </a:lnSpc>
              <a:buNone/>
            </a:pPr>
            <a:r>
              <a:rPr lang="en-US" sz="900" i="1" dirty="0">
                <a:solidFill>
                  <a:srgbClr val="72879D"/>
                </a:solidFill>
                <a:latin typeface="Arial" pitchFamily="34" charset="0"/>
                <a:ea typeface="Arial" pitchFamily="34" charset="-122"/>
                <a:cs typeface="Arial" pitchFamily="34" charset="-120"/>
              </a:rPr>
              <a:t>Every external figure in the deck carries its source and date on the slide where it appears. The full audit — exact published wording, source, date, URL — is maintained in the blueprint's source audit table.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APPENDIX · A-8   ·   08 / 10</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APPENDIX A-8 · MARKET SIZING, BOTTOM UP</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Built from the mechanism, not from a top-down industry number.</a:t>
            </a:r>
            <a:endParaRPr lang="en-US" sz="2400" dirty="0"/>
          </a:p>
        </p:txBody>
      </p:sp>
      <p:sp>
        <p:nvSpPr>
          <p:cNvPr id="6" name="Shape 4"/>
          <p:cNvSpPr/>
          <p:nvPr/>
        </p:nvSpPr>
        <p:spPr>
          <a:xfrm>
            <a:off x="621792" y="1700784"/>
            <a:ext cx="2542032" cy="2103120"/>
          </a:xfrm>
          <a:prstGeom prst="roundRect">
            <a:avLst>
              <a:gd name="adj" fmla="val 3913"/>
            </a:avLst>
          </a:prstGeom>
          <a:solidFill>
            <a:srgbClr val="0F1E31">
              <a:alpha val="68000"/>
            </a:srgbClr>
          </a:solidFill>
          <a:ln w="9525">
            <a:solidFill>
              <a:srgbClr val="2A4A68">
                <a:alpha val="75000"/>
              </a:srgbClr>
            </a:solidFill>
            <a:prstDash val="solid"/>
          </a:ln>
          <a:effectLst>
            <a:outerShdw sx="100000" sy="100000" kx="0" ky="0" algn="bl" rotWithShape="0" blurRad="127000" dist="38100" dir="5400000">
              <a:srgbClr val="000000">
                <a:alpha val="35000"/>
              </a:srgbClr>
            </a:outerShdw>
          </a:effectLst>
        </p:spPr>
      </p:sp>
      <p:sp>
        <p:nvSpPr>
          <p:cNvPr id="7" name="Text 5"/>
          <p:cNvSpPr txBox="1"/>
          <p:nvPr/>
        </p:nvSpPr>
        <p:spPr>
          <a:xfrm>
            <a:off x="804672" y="1865376"/>
            <a:ext cx="2194560" cy="548640"/>
          </a:xfrm>
          <a:prstGeom prst="rect">
            <a:avLst/>
          </a:prstGeom>
          <a:noFill/>
          <a:ln/>
        </p:spPr>
        <p:txBody>
          <a:bodyPr wrap="square" lIns="0" tIns="0" rIns="0" bIns="0" rtlCol="0" anchor="ctr"/>
          <a:lstStyle/>
          <a:p>
            <a:pPr indent="0" marL="0">
              <a:lnSpc>
                <a:spcPct val="110000"/>
              </a:lnSpc>
              <a:buNone/>
            </a:pPr>
            <a:r>
              <a:rPr lang="en-US" sz="860" b="1" spc="80" kern="0" dirty="0">
                <a:solidFill>
                  <a:srgbClr val="EAF2FA"/>
                </a:solidFill>
                <a:latin typeface="Arial" pitchFamily="34" charset="0"/>
                <a:ea typeface="Arial" pitchFamily="34" charset="-122"/>
                <a:cs typeface="Arial" pitchFamily="34" charset="-120"/>
              </a:rPr>
              <a:t>HIGH-MIX A&amp;D SUPPLIERS</a:t>
            </a:r>
            <a:endParaRPr lang="en-US" sz="860" dirty="0"/>
          </a:p>
          <a:p>
            <a:pPr indent="0" marL="0">
              <a:lnSpc>
                <a:spcPct val="110000"/>
              </a:lnSpc>
              <a:buNone/>
            </a:pPr>
            <a:r>
              <a:rPr lang="en-US" sz="860" b="1" spc="80" kern="0" dirty="0">
                <a:solidFill>
                  <a:srgbClr val="EAF2FA"/>
                </a:solidFill>
                <a:latin typeface="Arial" pitchFamily="34" charset="0"/>
                <a:ea typeface="Arial" pitchFamily="34" charset="-122"/>
                <a:cs typeface="Arial" pitchFamily="34" charset="-120"/>
              </a:rPr>
              <a:t>IN THE TARGET PROFILE</a:t>
            </a:r>
            <a:endParaRPr lang="en-US" sz="860" dirty="0"/>
          </a:p>
        </p:txBody>
      </p:sp>
      <p:sp>
        <p:nvSpPr>
          <p:cNvPr id="8" name="Text 6"/>
          <p:cNvSpPr txBox="1"/>
          <p:nvPr/>
        </p:nvSpPr>
        <p:spPr>
          <a:xfrm>
            <a:off x="804672" y="2450592"/>
            <a:ext cx="2194560" cy="777240"/>
          </a:xfrm>
          <a:prstGeom prst="rect">
            <a:avLst/>
          </a:prstGeom>
          <a:noFill/>
          <a:ln/>
        </p:spPr>
        <p:txBody>
          <a:bodyPr wrap="square" lIns="0" tIns="0" rIns="0" bIns="0" rtlCol="0" anchor="ctr"/>
          <a:lstStyle/>
          <a:p>
            <a:pPr indent="0" marL="0">
              <a:lnSpc>
                <a:spcPct val="110000"/>
              </a:lnSpc>
              <a:buNone/>
            </a:pPr>
            <a:r>
              <a:rPr lang="en-US" sz="800" dirty="0">
                <a:solidFill>
                  <a:srgbClr val="A9BDD1"/>
                </a:solidFill>
                <a:latin typeface="Arial" pitchFamily="34" charset="0"/>
                <a:ea typeface="Arial" pitchFamily="34" charset="-122"/>
                <a:cs typeface="Arial" pitchFamily="34" charset="-120"/>
              </a:rPr>
              <a:t>Tier 2 / Tier 3, ~50–500 employees, frequent new or revised configurations</a:t>
            </a:r>
            <a:endParaRPr lang="en-US" sz="800" dirty="0"/>
          </a:p>
        </p:txBody>
      </p:sp>
      <p:sp>
        <p:nvSpPr>
          <p:cNvPr id="9" name="Text 7"/>
          <p:cNvSpPr txBox="1"/>
          <p:nvPr/>
        </p:nvSpPr>
        <p:spPr>
          <a:xfrm>
            <a:off x="804672" y="3291840"/>
            <a:ext cx="2194560" cy="457200"/>
          </a:xfrm>
          <a:prstGeom prst="rect">
            <a:avLst/>
          </a:prstGeom>
          <a:noFill/>
          <a:ln/>
        </p:spPr>
        <p:txBody>
          <a:bodyPr wrap="square" lIns="0" tIns="0" rIns="0" bIns="0" rtlCol="0" anchor="ctr"/>
          <a:lstStyle/>
          <a:p>
            <a:pPr indent="0" marL="0">
              <a:lnSpc>
                <a:spcPct val="110000"/>
              </a:lnSpc>
              <a:buNone/>
            </a:pPr>
            <a:r>
              <a:rPr lang="en-US" sz="660" b="1" spc="80" kern="0" dirty="0">
                <a:solidFill>
                  <a:srgbClr val="72879D"/>
                </a:solidFill>
                <a:latin typeface="Arial" pitchFamily="34" charset="0"/>
                <a:ea typeface="Arial" pitchFamily="34" charset="-122"/>
                <a:cs typeface="Arial" pitchFamily="34" charset="-120"/>
              </a:rPr>
              <a:t>COUNTABLE FROM PUBLIC REGISTRIES</a:t>
            </a:r>
            <a:endParaRPr lang="en-US" sz="660" dirty="0"/>
          </a:p>
        </p:txBody>
      </p:sp>
      <p:sp>
        <p:nvSpPr>
          <p:cNvPr id="10" name="Text 8"/>
          <p:cNvSpPr txBox="1"/>
          <p:nvPr/>
        </p:nvSpPr>
        <p:spPr>
          <a:xfrm>
            <a:off x="3163824" y="2514600"/>
            <a:ext cx="320040" cy="365760"/>
          </a:xfrm>
          <a:prstGeom prst="rect">
            <a:avLst/>
          </a:prstGeom>
          <a:noFill/>
          <a:ln/>
        </p:spPr>
        <p:txBody>
          <a:bodyPr wrap="square" lIns="0" tIns="0" rIns="0" bIns="0" rtlCol="0" anchor="ctr"/>
          <a:lstStyle/>
          <a:p>
            <a:pPr algn="ctr" indent="0" marL="0">
              <a:buNone/>
            </a:pPr>
            <a:r>
              <a:rPr lang="en-US" sz="1800" b="1" dirty="0">
                <a:solidFill>
                  <a:srgbClr val="72879D"/>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3483864" y="1700784"/>
            <a:ext cx="2542032" cy="2103120"/>
          </a:xfrm>
          <a:prstGeom prst="roundRect">
            <a:avLst>
              <a:gd name="adj" fmla="val 3913"/>
            </a:avLst>
          </a:prstGeom>
          <a:solidFill>
            <a:srgbClr val="0F1E31">
              <a:alpha val="68000"/>
            </a:srgbClr>
          </a:solidFill>
          <a:ln w="9525">
            <a:solidFill>
              <a:srgbClr val="2A4A68">
                <a:alpha val="75000"/>
              </a:srgbClr>
            </a:solidFill>
            <a:prstDash val="solid"/>
          </a:ln>
          <a:effectLst>
            <a:outerShdw sx="100000" sy="100000" kx="0" ky="0" algn="bl" rotWithShape="0" blurRad="127000" dist="38100" dir="5400000">
              <a:srgbClr val="000000">
                <a:alpha val="35000"/>
              </a:srgbClr>
            </a:outerShdw>
          </a:effectLst>
        </p:spPr>
      </p:sp>
      <p:sp>
        <p:nvSpPr>
          <p:cNvPr id="12" name="Text 10"/>
          <p:cNvSpPr txBox="1"/>
          <p:nvPr/>
        </p:nvSpPr>
        <p:spPr>
          <a:xfrm>
            <a:off x="3666744" y="1865376"/>
            <a:ext cx="2194560" cy="548640"/>
          </a:xfrm>
          <a:prstGeom prst="rect">
            <a:avLst/>
          </a:prstGeom>
          <a:noFill/>
          <a:ln/>
        </p:spPr>
        <p:txBody>
          <a:bodyPr wrap="square" lIns="0" tIns="0" rIns="0" bIns="0" rtlCol="0" anchor="ctr"/>
          <a:lstStyle/>
          <a:p>
            <a:pPr indent="0" marL="0">
              <a:lnSpc>
                <a:spcPct val="110000"/>
              </a:lnSpc>
              <a:buNone/>
            </a:pPr>
            <a:r>
              <a:rPr lang="en-US" sz="860" b="1" spc="80" kern="0" dirty="0">
                <a:solidFill>
                  <a:srgbClr val="EAF2FA"/>
                </a:solidFill>
                <a:latin typeface="Arial" pitchFamily="34" charset="0"/>
                <a:ea typeface="Arial" pitchFamily="34" charset="-122"/>
                <a:cs typeface="Arial" pitchFamily="34" charset="-120"/>
              </a:rPr>
              <a:t>CONFIGURATIONS INTRODUCED</a:t>
            </a:r>
            <a:endParaRPr lang="en-US" sz="860" dirty="0"/>
          </a:p>
          <a:p>
            <a:pPr indent="0" marL="0">
              <a:lnSpc>
                <a:spcPct val="110000"/>
              </a:lnSpc>
              <a:buNone/>
            </a:pPr>
            <a:r>
              <a:rPr lang="en-US" sz="860" b="1" spc="80" kern="0" dirty="0">
                <a:solidFill>
                  <a:srgbClr val="EAF2FA"/>
                </a:solidFill>
                <a:latin typeface="Arial" pitchFamily="34" charset="0"/>
                <a:ea typeface="Arial" pitchFamily="34" charset="-122"/>
                <a:cs typeface="Arial" pitchFamily="34" charset="-120"/>
              </a:rPr>
              <a:t>PER SITE PER YEAR</a:t>
            </a:r>
            <a:endParaRPr lang="en-US" sz="860" dirty="0"/>
          </a:p>
        </p:txBody>
      </p:sp>
      <p:sp>
        <p:nvSpPr>
          <p:cNvPr id="13" name="Text 11"/>
          <p:cNvSpPr txBox="1"/>
          <p:nvPr/>
        </p:nvSpPr>
        <p:spPr>
          <a:xfrm>
            <a:off x="3666744" y="2450592"/>
            <a:ext cx="2194560" cy="777240"/>
          </a:xfrm>
          <a:prstGeom prst="rect">
            <a:avLst/>
          </a:prstGeom>
          <a:noFill/>
          <a:ln/>
        </p:spPr>
        <p:txBody>
          <a:bodyPr wrap="square" lIns="0" tIns="0" rIns="0" bIns="0" rtlCol="0" anchor="ctr"/>
          <a:lstStyle/>
          <a:p>
            <a:pPr indent="0" marL="0">
              <a:lnSpc>
                <a:spcPct val="110000"/>
              </a:lnSpc>
              <a:buNone/>
            </a:pPr>
            <a:r>
              <a:rPr lang="en-US" sz="800" dirty="0">
                <a:solidFill>
                  <a:srgbClr val="A9BDD1"/>
                </a:solidFill>
                <a:latin typeface="Arial" pitchFamily="34" charset="0"/>
                <a:ea typeface="Arial" pitchFamily="34" charset="-122"/>
                <a:cs typeface="Arial" pitchFamily="34" charset="-120"/>
              </a:rPr>
              <a:t>New and revised part numbers reaching production per site</a:t>
            </a:r>
            <a:endParaRPr lang="en-US" sz="800" dirty="0"/>
          </a:p>
        </p:txBody>
      </p:sp>
      <p:sp>
        <p:nvSpPr>
          <p:cNvPr id="14" name="Text 12"/>
          <p:cNvSpPr txBox="1"/>
          <p:nvPr/>
        </p:nvSpPr>
        <p:spPr>
          <a:xfrm>
            <a:off x="3666744" y="3291840"/>
            <a:ext cx="2194560" cy="457200"/>
          </a:xfrm>
          <a:prstGeom prst="rect">
            <a:avLst/>
          </a:prstGeom>
          <a:noFill/>
          <a:ln/>
        </p:spPr>
        <p:txBody>
          <a:bodyPr wrap="square" lIns="0" tIns="0" rIns="0" bIns="0" rtlCol="0" anchor="ctr"/>
          <a:lstStyle/>
          <a:p>
            <a:pPr indent="0" marL="0">
              <a:lnSpc>
                <a:spcPct val="110000"/>
              </a:lnSpc>
              <a:buNone/>
            </a:pPr>
            <a:r>
              <a:rPr lang="en-US" sz="660" b="1" spc="80" kern="0" dirty="0">
                <a:solidFill>
                  <a:srgbClr val="72879D"/>
                </a:solidFill>
                <a:latin typeface="Arial" pitchFamily="34" charset="0"/>
                <a:ea typeface="Arial" pitchFamily="34" charset="-122"/>
                <a:cs typeface="Arial" pitchFamily="34" charset="-120"/>
              </a:rPr>
              <a:t>TO BE MEASURED WITH CUSTOMERS</a:t>
            </a:r>
            <a:endParaRPr lang="en-US" sz="660" dirty="0"/>
          </a:p>
        </p:txBody>
      </p:sp>
      <p:sp>
        <p:nvSpPr>
          <p:cNvPr id="15" name="Text 13"/>
          <p:cNvSpPr txBox="1"/>
          <p:nvPr/>
        </p:nvSpPr>
        <p:spPr>
          <a:xfrm>
            <a:off x="6025896" y="2514600"/>
            <a:ext cx="320040" cy="365760"/>
          </a:xfrm>
          <a:prstGeom prst="rect">
            <a:avLst/>
          </a:prstGeom>
          <a:noFill/>
          <a:ln/>
        </p:spPr>
        <p:txBody>
          <a:bodyPr wrap="square" lIns="0" tIns="0" rIns="0" bIns="0" rtlCol="0" anchor="ctr"/>
          <a:lstStyle/>
          <a:p>
            <a:pPr algn="ctr" indent="0" marL="0">
              <a:buNone/>
            </a:pPr>
            <a:r>
              <a:rPr lang="en-US" sz="1800" b="1" dirty="0">
                <a:solidFill>
                  <a:srgbClr val="72879D"/>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6345936" y="1700784"/>
            <a:ext cx="2542032" cy="2103120"/>
          </a:xfrm>
          <a:prstGeom prst="roundRect">
            <a:avLst>
              <a:gd name="adj" fmla="val 3913"/>
            </a:avLst>
          </a:prstGeom>
          <a:solidFill>
            <a:srgbClr val="0F1E31">
              <a:alpha val="68000"/>
            </a:srgbClr>
          </a:solidFill>
          <a:ln w="15875">
            <a:solidFill>
              <a:srgbClr val="6FD3FF">
                <a:alpha val="75000"/>
              </a:srgbClr>
            </a:solidFill>
            <a:prstDash val="solid"/>
          </a:ln>
          <a:effectLst>
            <a:outerShdw sx="100000" sy="100000" kx="0" ky="0" algn="bl" rotWithShape="0" blurRad="127000" dist="38100" dir="5400000">
              <a:srgbClr val="000000">
                <a:alpha val="35000"/>
              </a:srgbClr>
            </a:outerShdw>
          </a:effectLst>
        </p:spPr>
      </p:sp>
      <p:sp>
        <p:nvSpPr>
          <p:cNvPr id="17" name="Text 15"/>
          <p:cNvSpPr txBox="1"/>
          <p:nvPr/>
        </p:nvSpPr>
        <p:spPr>
          <a:xfrm>
            <a:off x="6528816" y="1865376"/>
            <a:ext cx="2194560" cy="548640"/>
          </a:xfrm>
          <a:prstGeom prst="rect">
            <a:avLst/>
          </a:prstGeom>
          <a:noFill/>
          <a:ln/>
        </p:spPr>
        <p:txBody>
          <a:bodyPr wrap="square" lIns="0" tIns="0" rIns="0" bIns="0" rtlCol="0" anchor="ctr"/>
          <a:lstStyle/>
          <a:p>
            <a:pPr indent="0" marL="0">
              <a:lnSpc>
                <a:spcPct val="110000"/>
              </a:lnSpc>
              <a:buNone/>
            </a:pPr>
            <a:r>
              <a:rPr lang="en-US" sz="860" b="1" spc="80" kern="0" dirty="0">
                <a:solidFill>
                  <a:srgbClr val="EAF2FA"/>
                </a:solidFill>
                <a:latin typeface="Arial" pitchFamily="34" charset="0"/>
                <a:ea typeface="Arial" pitchFamily="34" charset="-122"/>
                <a:cs typeface="Arial" pitchFamily="34" charset="-120"/>
              </a:rPr>
              <a:t>ENGINEERING HOURS</a:t>
            </a:r>
            <a:endParaRPr lang="en-US" sz="860" dirty="0"/>
          </a:p>
          <a:p>
            <a:pPr indent="0" marL="0">
              <a:lnSpc>
                <a:spcPct val="110000"/>
              </a:lnSpc>
              <a:buNone/>
            </a:pPr>
            <a:r>
              <a:rPr lang="en-US" sz="860" b="1" spc="80" kern="0" dirty="0">
                <a:solidFill>
                  <a:srgbClr val="EAF2FA"/>
                </a:solidFill>
                <a:latin typeface="Arial" pitchFamily="34" charset="0"/>
                <a:ea typeface="Arial" pitchFamily="34" charset="-122"/>
                <a:cs typeface="Arial" pitchFamily="34" charset="-120"/>
              </a:rPr>
              <a:t>PER INTRODUCTION</a:t>
            </a:r>
            <a:endParaRPr lang="en-US" sz="860" dirty="0"/>
          </a:p>
        </p:txBody>
      </p:sp>
      <p:sp>
        <p:nvSpPr>
          <p:cNvPr id="18" name="Text 16"/>
          <p:cNvSpPr txBox="1"/>
          <p:nvPr/>
        </p:nvSpPr>
        <p:spPr>
          <a:xfrm>
            <a:off x="6528816" y="2450592"/>
            <a:ext cx="2194560" cy="777240"/>
          </a:xfrm>
          <a:prstGeom prst="rect">
            <a:avLst/>
          </a:prstGeom>
          <a:noFill/>
          <a:ln/>
        </p:spPr>
        <p:txBody>
          <a:bodyPr wrap="square" lIns="0" tIns="0" rIns="0" bIns="0" rtlCol="0" anchor="ctr"/>
          <a:lstStyle/>
          <a:p>
            <a:pPr indent="0" marL="0">
              <a:lnSpc>
                <a:spcPct val="110000"/>
              </a:lnSpc>
              <a:buNone/>
            </a:pPr>
            <a:r>
              <a:rPr lang="en-US" sz="800" dirty="0">
                <a:solidFill>
                  <a:srgbClr val="A9BDD1"/>
                </a:solidFill>
                <a:latin typeface="Arial" pitchFamily="34" charset="0"/>
                <a:ea typeface="Arial" pitchFamily="34" charset="-122"/>
                <a:cs typeface="Arial" pitchFamily="34" charset="-120"/>
              </a:rPr>
              <a:t>The unmeasured term. No public benchmark exists at part-number granularity</a:t>
            </a:r>
            <a:endParaRPr lang="en-US" sz="800" dirty="0"/>
          </a:p>
        </p:txBody>
      </p:sp>
      <p:sp>
        <p:nvSpPr>
          <p:cNvPr id="19" name="Text 17"/>
          <p:cNvSpPr txBox="1"/>
          <p:nvPr/>
        </p:nvSpPr>
        <p:spPr>
          <a:xfrm>
            <a:off x="6528816" y="3291840"/>
            <a:ext cx="2194560" cy="457200"/>
          </a:xfrm>
          <a:prstGeom prst="rect">
            <a:avLst/>
          </a:prstGeom>
          <a:noFill/>
          <a:ln/>
        </p:spPr>
        <p:txBody>
          <a:bodyPr wrap="square" lIns="0" tIns="0" rIns="0" bIns="0" rtlCol="0" anchor="ctr"/>
          <a:lstStyle/>
          <a:p>
            <a:pPr indent="0" marL="0">
              <a:lnSpc>
                <a:spcPct val="110000"/>
              </a:lnSpc>
              <a:buNone/>
            </a:pPr>
            <a:r>
              <a:rPr lang="en-US" sz="660" b="1" spc="80" kern="0" dirty="0">
                <a:solidFill>
                  <a:srgbClr val="6FD3FF"/>
                </a:solidFill>
                <a:latin typeface="Arial" pitchFamily="34" charset="0"/>
                <a:ea typeface="Arial" pitchFamily="34" charset="-122"/>
                <a:cs typeface="Arial" pitchFamily="34" charset="-120"/>
              </a:rPr>
              <a:t>UNMEASURED — GATE 2 AND FIRST ENGAGEMENT MEASURE THIS</a:t>
            </a:r>
            <a:endParaRPr lang="en-US" sz="660" dirty="0"/>
          </a:p>
        </p:txBody>
      </p:sp>
      <p:sp>
        <p:nvSpPr>
          <p:cNvPr id="20" name="Text 18"/>
          <p:cNvSpPr txBox="1"/>
          <p:nvPr/>
        </p:nvSpPr>
        <p:spPr>
          <a:xfrm>
            <a:off x="8887968" y="2514600"/>
            <a:ext cx="320040" cy="365760"/>
          </a:xfrm>
          <a:prstGeom prst="rect">
            <a:avLst/>
          </a:prstGeom>
          <a:noFill/>
          <a:ln/>
        </p:spPr>
        <p:txBody>
          <a:bodyPr wrap="square" lIns="0" tIns="0" rIns="0" bIns="0" rtlCol="0" anchor="ctr"/>
          <a:lstStyle/>
          <a:p>
            <a:pPr algn="ctr" indent="0" marL="0">
              <a:buNone/>
            </a:pPr>
            <a:r>
              <a:rPr lang="en-US" sz="1800" b="1" dirty="0">
                <a:solidFill>
                  <a:srgbClr val="72879D"/>
                </a:solidFill>
                <a:latin typeface="Arial" pitchFamily="34" charset="0"/>
                <a:ea typeface="Arial" pitchFamily="34" charset="-122"/>
                <a:cs typeface="Arial" pitchFamily="34" charset="-120"/>
              </a:rPr>
              <a:t>×</a:t>
            </a:r>
            <a:endParaRPr lang="en-US" sz="1800" dirty="0"/>
          </a:p>
        </p:txBody>
      </p:sp>
      <p:sp>
        <p:nvSpPr>
          <p:cNvPr id="21" name="Shape 19"/>
          <p:cNvSpPr/>
          <p:nvPr/>
        </p:nvSpPr>
        <p:spPr>
          <a:xfrm>
            <a:off x="9208008" y="1700784"/>
            <a:ext cx="2542032" cy="2103120"/>
          </a:xfrm>
          <a:prstGeom prst="roundRect">
            <a:avLst>
              <a:gd name="adj" fmla="val 3913"/>
            </a:avLst>
          </a:prstGeom>
          <a:solidFill>
            <a:srgbClr val="0F1E31">
              <a:alpha val="68000"/>
            </a:srgbClr>
          </a:solidFill>
          <a:ln w="9525">
            <a:solidFill>
              <a:srgbClr val="2A4A68">
                <a:alpha val="75000"/>
              </a:srgbClr>
            </a:solidFill>
            <a:prstDash val="solid"/>
          </a:ln>
          <a:effectLst>
            <a:outerShdw sx="100000" sy="100000" kx="0" ky="0" algn="bl" rotWithShape="0" blurRad="127000" dist="38100" dir="5400000">
              <a:srgbClr val="000000">
                <a:alpha val="35000"/>
              </a:srgbClr>
            </a:outerShdw>
          </a:effectLst>
        </p:spPr>
      </p:sp>
      <p:sp>
        <p:nvSpPr>
          <p:cNvPr id="22" name="Text 20"/>
          <p:cNvSpPr txBox="1"/>
          <p:nvPr/>
        </p:nvSpPr>
        <p:spPr>
          <a:xfrm>
            <a:off x="9390888" y="1865376"/>
            <a:ext cx="2194560" cy="548640"/>
          </a:xfrm>
          <a:prstGeom prst="rect">
            <a:avLst/>
          </a:prstGeom>
          <a:noFill/>
          <a:ln/>
        </p:spPr>
        <p:txBody>
          <a:bodyPr wrap="square" lIns="0" tIns="0" rIns="0" bIns="0" rtlCol="0" anchor="ctr"/>
          <a:lstStyle/>
          <a:p>
            <a:pPr indent="0" marL="0">
              <a:lnSpc>
                <a:spcPct val="110000"/>
              </a:lnSpc>
              <a:buNone/>
            </a:pPr>
            <a:r>
              <a:rPr lang="en-US" sz="860" b="1" spc="80" kern="0" dirty="0">
                <a:solidFill>
                  <a:srgbClr val="EAF2FA"/>
                </a:solidFill>
                <a:latin typeface="Arial" pitchFamily="34" charset="0"/>
                <a:ea typeface="Arial" pitchFamily="34" charset="-122"/>
                <a:cs typeface="Arial" pitchFamily="34" charset="-120"/>
              </a:rPr>
              <a:t>LOADED COST</a:t>
            </a:r>
            <a:endParaRPr lang="en-US" sz="860" dirty="0"/>
          </a:p>
          <a:p>
            <a:pPr indent="0" marL="0">
              <a:lnSpc>
                <a:spcPct val="110000"/>
              </a:lnSpc>
              <a:buNone/>
            </a:pPr>
            <a:r>
              <a:rPr lang="en-US" sz="860" b="1" spc="80" kern="0" dirty="0">
                <a:solidFill>
                  <a:srgbClr val="EAF2FA"/>
                </a:solidFill>
                <a:latin typeface="Arial" pitchFamily="34" charset="0"/>
                <a:ea typeface="Arial" pitchFamily="34" charset="-122"/>
                <a:cs typeface="Arial" pitchFamily="34" charset="-120"/>
              </a:rPr>
              <a:t>PER ENGINEERING HOUR</a:t>
            </a:r>
            <a:endParaRPr lang="en-US" sz="860" dirty="0"/>
          </a:p>
        </p:txBody>
      </p:sp>
      <p:sp>
        <p:nvSpPr>
          <p:cNvPr id="23" name="Text 21"/>
          <p:cNvSpPr txBox="1"/>
          <p:nvPr/>
        </p:nvSpPr>
        <p:spPr>
          <a:xfrm>
            <a:off x="9390888" y="2450592"/>
            <a:ext cx="2194560" cy="777240"/>
          </a:xfrm>
          <a:prstGeom prst="rect">
            <a:avLst/>
          </a:prstGeom>
          <a:noFill/>
          <a:ln/>
        </p:spPr>
        <p:txBody>
          <a:bodyPr wrap="square" lIns="0" tIns="0" rIns="0" bIns="0" rtlCol="0" anchor="ctr"/>
          <a:lstStyle/>
          <a:p>
            <a:pPr indent="0" marL="0">
              <a:lnSpc>
                <a:spcPct val="110000"/>
              </a:lnSpc>
              <a:buNone/>
            </a:pPr>
            <a:r>
              <a:rPr lang="en-US" sz="800" dirty="0">
                <a:solidFill>
                  <a:srgbClr val="A9BDD1"/>
                </a:solidFill>
                <a:latin typeface="Arial" pitchFamily="34" charset="0"/>
                <a:ea typeface="Arial" pitchFamily="34" charset="-122"/>
                <a:cs typeface="Arial" pitchFamily="34" charset="-120"/>
              </a:rPr>
              <a:t>Fully loaded aerospace engineering labour cost</a:t>
            </a:r>
            <a:endParaRPr lang="en-US" sz="800" dirty="0"/>
          </a:p>
        </p:txBody>
      </p:sp>
      <p:sp>
        <p:nvSpPr>
          <p:cNvPr id="24" name="Text 22"/>
          <p:cNvSpPr txBox="1"/>
          <p:nvPr/>
        </p:nvSpPr>
        <p:spPr>
          <a:xfrm>
            <a:off x="9390888" y="3291840"/>
            <a:ext cx="2194560" cy="457200"/>
          </a:xfrm>
          <a:prstGeom prst="rect">
            <a:avLst/>
          </a:prstGeom>
          <a:noFill/>
          <a:ln/>
        </p:spPr>
        <p:txBody>
          <a:bodyPr wrap="square" lIns="0" tIns="0" rIns="0" bIns="0" rtlCol="0" anchor="ctr"/>
          <a:lstStyle/>
          <a:p>
            <a:pPr indent="0" marL="0">
              <a:lnSpc>
                <a:spcPct val="110000"/>
              </a:lnSpc>
              <a:buNone/>
            </a:pPr>
            <a:r>
              <a:rPr lang="en-US" sz="660" b="1" spc="80" kern="0" dirty="0">
                <a:solidFill>
                  <a:srgbClr val="72879D"/>
                </a:solidFill>
                <a:latin typeface="Arial" pitchFamily="34" charset="0"/>
                <a:ea typeface="Arial" pitchFamily="34" charset="-122"/>
                <a:cs typeface="Arial" pitchFamily="34" charset="-120"/>
              </a:rPr>
              <a:t>BENCHMARKABLE</a:t>
            </a:r>
            <a:endParaRPr lang="en-US" sz="660" dirty="0"/>
          </a:p>
        </p:txBody>
      </p:sp>
      <p:sp>
        <p:nvSpPr>
          <p:cNvPr id="25" name="Text 23"/>
          <p:cNvSpPr txBox="1"/>
          <p:nvPr/>
        </p:nvSpPr>
        <p:spPr>
          <a:xfrm>
            <a:off x="621792" y="4059936"/>
            <a:ext cx="10948111" cy="292608"/>
          </a:xfrm>
          <a:prstGeom prst="rect">
            <a:avLst/>
          </a:prstGeom>
          <a:noFill/>
          <a:ln/>
        </p:spPr>
        <p:txBody>
          <a:bodyPr wrap="square" lIns="0" tIns="0" rIns="0" bIns="0" rtlCol="0" anchor="ctr"/>
          <a:lstStyle/>
          <a:p>
            <a:pPr indent="0" marL="0">
              <a:buNone/>
            </a:pPr>
            <a:r>
              <a:rPr lang="en-US" sz="950" b="1" spc="120" kern="0" dirty="0">
                <a:solidFill>
                  <a:srgbClr val="72879D"/>
                </a:solidFill>
                <a:latin typeface="Arial" pitchFamily="34" charset="0"/>
                <a:ea typeface="Arial" pitchFamily="34" charset="-122"/>
                <a:cs typeface="Arial" pitchFamily="34" charset="-120"/>
              </a:rPr>
              <a:t>THIS IS A MODEL, NOT A MARKET NUMBER. THE ENGINEERING-HOURS TERM IS UNMEASURED AND IS WHAT GATE 2 AND THE FIRST CUSTOMER ENGAGEMENT ARE DESIGNED TO MEASURE.</a:t>
            </a:r>
            <a:endParaRPr lang="en-US" sz="950" dirty="0"/>
          </a:p>
        </p:txBody>
      </p:sp>
      <p:sp>
        <p:nvSpPr>
          <p:cNvPr id="26" name="Shape 24"/>
          <p:cNvSpPr/>
          <p:nvPr/>
        </p:nvSpPr>
        <p:spPr>
          <a:xfrm>
            <a:off x="621792" y="4553712"/>
            <a:ext cx="10948111" cy="0"/>
          </a:xfrm>
          <a:prstGeom prst="line">
            <a:avLst/>
          </a:prstGeom>
          <a:noFill/>
          <a:ln w="9525">
            <a:solidFill>
              <a:srgbClr val="23405C"/>
            </a:solidFill>
            <a:prstDash val="solid"/>
          </a:ln>
        </p:spPr>
      </p:sp>
      <p:sp>
        <p:nvSpPr>
          <p:cNvPr id="27" name="Text 25"/>
          <p:cNvSpPr txBox="1"/>
          <p:nvPr/>
        </p:nvSpPr>
        <p:spPr>
          <a:xfrm>
            <a:off x="621792" y="4700016"/>
            <a:ext cx="10948111" cy="1280160"/>
          </a:xfrm>
          <a:prstGeom prst="rect">
            <a:avLst/>
          </a:prstGeom>
          <a:noFill/>
          <a:ln/>
        </p:spPr>
        <p:txBody>
          <a:bodyPr wrap="square" lIns="0" tIns="0" rIns="0" bIns="0" rtlCol="0" anchor="t"/>
          <a:lstStyle/>
          <a:p>
            <a:pPr algn="l" indent="0" marL="0">
              <a:lnSpc>
                <a:spcPct val="115000"/>
              </a:lnSpc>
              <a:spcAft>
                <a:spcPts val="500"/>
              </a:spcAft>
              <a:buNone/>
            </a:pPr>
            <a:r>
              <a:rPr lang="en-US" sz="850" b="1" spc="200" kern="0" dirty="0">
                <a:solidFill>
                  <a:srgbClr val="6FD3FF"/>
                </a:solidFill>
                <a:latin typeface="Arial" pitchFamily="34" charset="0"/>
                <a:ea typeface="Arial" pitchFamily="34" charset="-122"/>
                <a:cs typeface="Arial" pitchFamily="34" charset="-120"/>
              </a:rPr>
              <a:t>WHY THERE IS NO MARKET-SIZE SLIDE IN THE MAIN DECK</a:t>
            </a:r>
            <a:endParaRPr lang="en-US" sz="850" dirty="0"/>
          </a:p>
          <a:p>
            <a:pPr algn="l" indent="0" marL="0">
              <a:lnSpc>
                <a:spcPct val="115000"/>
              </a:lnSpc>
              <a:buNone/>
            </a:pPr>
            <a:r>
              <a:rPr lang="en-US" sz="950" dirty="0">
                <a:solidFill>
                  <a:srgbClr val="A9BDD1"/>
                </a:solidFill>
                <a:latin typeface="Arial" pitchFamily="34" charset="0"/>
                <a:ea typeface="Arial" pitchFamily="34" charset="-122"/>
                <a:cs typeface="Arial" pitchFamily="34" charset="-120"/>
              </a:rPr>
              <a:t>A generic 'aerospace manufacturing is a $XXX billion market' slide would be strictly weaker than slide 2, which establishes a real, dated, structural constraint. If market size is asked for, this page is the honest answer: every assumption stated, and the decisive term deliberately left unfilled until it is measured.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APPENDIX · A-9   ·   09 / 10</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APPENDIX A-9 · CUSTOMER ENTRY HYPOTHESIS</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Initial customer hypothesis. Not validated segmentation.</a:t>
            </a:r>
            <a:endParaRPr lang="en-US" sz="2400" dirty="0"/>
          </a:p>
        </p:txBody>
      </p:sp>
      <p:sp>
        <p:nvSpPr>
          <p:cNvPr id="6" name="Text 4"/>
          <p:cNvSpPr txBox="1"/>
          <p:nvPr/>
        </p:nvSpPr>
        <p:spPr>
          <a:xfrm>
            <a:off x="621792" y="1554480"/>
            <a:ext cx="6035040" cy="4572000"/>
          </a:xfrm>
          <a:prstGeom prst="rect">
            <a:avLst/>
          </a:prstGeom>
          <a:noFill/>
          <a:ln/>
        </p:spPr>
        <p:txBody>
          <a:bodyPr wrap="square" lIns="0" tIns="0" rIns="0" bIns="0" rtlCol="0" anchor="t"/>
          <a:lstStyle/>
          <a:p>
            <a:pPr algn="l" indent="0" marL="0">
              <a:lnSpc>
                <a:spcPct val="113000"/>
              </a:lnSpc>
              <a:spcAft>
                <a:spcPts val="400"/>
              </a:spcAft>
              <a:buNone/>
            </a:pPr>
            <a:r>
              <a:rPr lang="en-US" sz="850" b="1" spc="220" kern="0" dirty="0">
                <a:solidFill>
                  <a:srgbClr val="6FD3FF"/>
                </a:solidFill>
                <a:latin typeface="Arial" pitchFamily="34" charset="0"/>
                <a:ea typeface="Arial" pitchFamily="34" charset="-122"/>
                <a:cs typeface="Arial" pitchFamily="34" charset="-120"/>
              </a:rPr>
              <a:t>PROFILE</a:t>
            </a:r>
            <a:endParaRPr lang="en-US" sz="850" dirty="0"/>
          </a:p>
          <a:p>
            <a:pPr algn="l" indent="0" marL="0">
              <a:lnSpc>
                <a:spcPct val="113000"/>
              </a:lnSpc>
              <a:spcAft>
                <a:spcPts val="700"/>
              </a:spcAft>
              <a:buNone/>
            </a:pPr>
            <a:r>
              <a:rPr lang="en-US" sz="880" dirty="0">
                <a:solidFill>
                  <a:srgbClr val="A9BDD1"/>
                </a:solidFill>
                <a:latin typeface="Arial" pitchFamily="34" charset="0"/>
                <a:ea typeface="Arial" pitchFamily="34" charset="-122"/>
                <a:cs typeface="Arial" pitchFamily="34" charset="-120"/>
              </a:rPr>
              <a:t>Tier 2 or Tier 3 aerospace and defense supplier, approximately 50 to 500 employees, high-mix environment, relatively low annual volume per part number, frequent new or revised configurations, meaningful engineering introduction burden, and enough operational flexibility to participate in early validation.</a:t>
            </a:r>
            <a:endParaRPr lang="en-US" sz="850" dirty="0"/>
          </a:p>
          <a:p>
            <a:pPr algn="l" indent="0" marL="0">
              <a:lnSpc>
                <a:spcPct val="113000"/>
              </a:lnSpc>
              <a:spcAft>
                <a:spcPts val="400"/>
              </a:spcAft>
              <a:buNone/>
            </a:pPr>
            <a:r>
              <a:rPr lang="en-US" sz="850" b="1" spc="200" kern="0" dirty="0">
                <a:solidFill>
                  <a:srgbClr val="6FD3FF"/>
                </a:solidFill>
                <a:latin typeface="Arial" pitchFamily="34" charset="0"/>
                <a:ea typeface="Arial" pitchFamily="34" charset="-122"/>
                <a:cs typeface="Arial" pitchFamily="34" charset="-120"/>
              </a:rPr>
              <a:t>THE MOMENT MAY MATTER MORE THAN THE COMPANY</a:t>
            </a:r>
            <a:endParaRPr lang="en-US" sz="850" dirty="0"/>
          </a:p>
          <a:p>
            <a:pPr algn="l" indent="0" marL="0">
              <a:lnSpc>
                <a:spcPct val="113000"/>
              </a:lnSpc>
              <a:spcAft>
                <a:spcPts val="700"/>
              </a:spcAft>
              <a:buNone/>
            </a:pPr>
            <a:r>
              <a:rPr lang="en-US" sz="880" dirty="0">
                <a:solidFill>
                  <a:srgbClr val="A9BDD1"/>
                </a:solidFill>
                <a:latin typeface="Arial" pitchFamily="34" charset="0"/>
                <a:ea typeface="Arial" pitchFamily="34" charset="-122"/>
                <a:cs typeface="Arial" pitchFamily="34" charset="-120"/>
              </a:rPr>
              <a:t>Entry points: new product introduction, early program development, producibility definition, configuration expansion, new line or new capability introduction, production ramp, and process redesign before the architecture is frozen.</a:t>
            </a:r>
            <a:endParaRPr lang="en-US" sz="850" dirty="0"/>
          </a:p>
          <a:p>
            <a:pPr algn="l" indent="0" marL="0">
              <a:lnSpc>
                <a:spcPct val="113000"/>
              </a:lnSpc>
              <a:spcAft>
                <a:spcPts val="400"/>
              </a:spcAft>
              <a:buNone/>
            </a:pPr>
            <a:r>
              <a:rPr lang="en-US" sz="850" b="1" spc="160" kern="0" dirty="0">
                <a:solidFill>
                  <a:srgbClr val="72879D"/>
                </a:solidFill>
                <a:latin typeface="Arial" pitchFamily="34" charset="0"/>
                <a:ea typeface="Arial" pitchFamily="34" charset="-122"/>
                <a:cs typeface="Arial" pitchFamily="34" charset="-120"/>
              </a:rPr>
              <a:t>SUPPORTING EXTERNAL EVIDENCE — STRENGTHENS, DOES NOT VALIDATE</a:t>
            </a:r>
            <a:endParaRPr lang="en-US" sz="850" dirty="0"/>
          </a:p>
          <a:p>
            <a:pPr algn="l" indent="0" marL="0">
              <a:lnSpc>
                <a:spcPct val="113000"/>
              </a:lnSpc>
              <a:buNone/>
            </a:pPr>
            <a:r>
              <a:rPr lang="en-US" sz="830" dirty="0">
                <a:solidFill>
                  <a:srgbClr val="A9BDD1"/>
                </a:solidFill>
                <a:latin typeface="Arial" pitchFamily="34" charset="0"/>
                <a:ea typeface="Arial" pitchFamily="34" charset="-122"/>
                <a:cs typeface="Arial" pitchFamily="34" charset="-120"/>
              </a:rPr>
              <a:t>Roland Berger, with ADS, BDLI and GIFAS, surveyed the aerospace supply chain in June 2026: ~55% of companies facing supply chain disruptions, nearly 40% reporting a lack of production capacity, one third still short of money — all-respondent figures, not disaggregated by tier. The report notes Tier 2 and Tier 3 suppliers perceive more severe disruption than OEMs and Tier 1, severity increasing almost linearly down the tiers.</a:t>
            </a:r>
            <a:endParaRPr lang="en-US" sz="850" dirty="0"/>
          </a:p>
        </p:txBody>
      </p:sp>
      <p:sp>
        <p:nvSpPr>
          <p:cNvPr id="7" name="Shape 5"/>
          <p:cNvSpPr/>
          <p:nvPr/>
        </p:nvSpPr>
        <p:spPr>
          <a:xfrm>
            <a:off x="6949440" y="1517904"/>
            <a:ext cx="4617720" cy="4023360"/>
          </a:xfrm>
          <a:prstGeom prst="roundRect">
            <a:avLst>
              <a:gd name="adj" fmla="val 2045"/>
            </a:avLst>
          </a:prstGeom>
          <a:solidFill>
            <a:srgbClr val="0F1E31">
              <a:alpha val="68000"/>
            </a:srgbClr>
          </a:solidFill>
          <a:ln w="9525">
            <a:solidFill>
              <a:srgbClr val="3D9BD8">
                <a:alpha val="75000"/>
              </a:srgbClr>
            </a:solidFill>
            <a:prstDash val="solid"/>
          </a:ln>
          <a:effectLst>
            <a:outerShdw sx="100000" sy="100000" kx="0" ky="0" algn="bl" rotWithShape="0" blurRad="127000" dist="38100" dir="5400000">
              <a:srgbClr val="000000">
                <a:alpha val="35000"/>
              </a:srgbClr>
            </a:outerShdw>
          </a:effectLst>
        </p:spPr>
      </p:sp>
      <p:sp>
        <p:nvSpPr>
          <p:cNvPr id="8" name="Text 6"/>
          <p:cNvSpPr txBox="1"/>
          <p:nvPr/>
        </p:nvSpPr>
        <p:spPr>
          <a:xfrm>
            <a:off x="7187184" y="1682496"/>
            <a:ext cx="4160520" cy="3749040"/>
          </a:xfrm>
          <a:prstGeom prst="rect">
            <a:avLst/>
          </a:prstGeom>
          <a:noFill/>
          <a:ln/>
        </p:spPr>
        <p:txBody>
          <a:bodyPr wrap="square" lIns="0" tIns="0" rIns="0" bIns="0" rtlCol="0" anchor="t"/>
          <a:lstStyle/>
          <a:p>
            <a:pPr algn="l" indent="0" marL="0">
              <a:lnSpc>
                <a:spcPct val="112000"/>
              </a:lnSpc>
              <a:spcAft>
                <a:spcPts val="300"/>
              </a:spcAft>
              <a:buNone/>
            </a:pPr>
            <a:r>
              <a:rPr lang="en-US" sz="850" b="1" spc="200" kern="0" dirty="0">
                <a:solidFill>
                  <a:srgbClr val="6FD3FF"/>
                </a:solidFill>
                <a:latin typeface="Arial" pitchFamily="34" charset="0"/>
                <a:ea typeface="Arial" pitchFamily="34" charset="-122"/>
                <a:cs typeface="Arial" pitchFamily="34" charset="-120"/>
              </a:rPr>
              <a:t>THE INTENDED FIRST ENGAGEMENT</a:t>
            </a:r>
            <a:endParaRPr lang="en-US" sz="850" dirty="0"/>
          </a:p>
          <a:p>
            <a:pPr algn="l" indent="0" marL="0">
              <a:lnSpc>
                <a:spcPct val="112000"/>
              </a:lnSpc>
              <a:spcAft>
                <a:spcPts val="600"/>
              </a:spcAft>
              <a:buNone/>
            </a:pPr>
            <a:r>
              <a:rPr lang="en-US" sz="700" b="1" spc="160" kern="0" dirty="0">
                <a:solidFill>
                  <a:srgbClr val="72879D"/>
                </a:solidFill>
                <a:latin typeface="Arial" pitchFamily="34" charset="0"/>
                <a:ea typeface="Arial" pitchFamily="34" charset="-122"/>
                <a:cs typeface="Arial" pitchFamily="34" charset="-120"/>
              </a:rPr>
              <a:t>COMMERCIAL HYPOTHESIS, NOT A PIPELINE</a:t>
            </a:r>
            <a:endParaRPr lang="en-US" sz="850" dirty="0"/>
          </a:p>
          <a:p>
            <a:pPr algn="l" indent="0" marL="0">
              <a:lnSpc>
                <a:spcPct val="112000"/>
              </a:lnSpc>
              <a:spcAft>
                <a:spcPts val="500"/>
              </a:spcAft>
              <a:buNone/>
            </a:pPr>
            <a:r>
              <a:rPr lang="en-US" sz="860" dirty="0">
                <a:solidFill>
                  <a:srgbClr val="A9BDD1"/>
                </a:solidFill>
                <a:latin typeface="Arial" pitchFamily="34" charset="0"/>
                <a:ea typeface="Arial" pitchFamily="34" charset="-122"/>
                <a:cs typeface="Arial" pitchFamily="34" charset="-120"/>
              </a:rPr>
              <a:t>A bounded validation engagement with a high-mix aerospace or defense supplier. It begins read-only beside an existing process. It measures engineering introduction burden and process performance on that customer's actual configurations. Quality scope, data rights, security requirements and integration authority are agreed in writing before anything is deployed.</a:t>
            </a:r>
            <a:endParaRPr lang="en-US" sz="850" dirty="0"/>
          </a:p>
          <a:p>
            <a:pPr algn="l" indent="0" marL="0">
              <a:lnSpc>
                <a:spcPct val="112000"/>
              </a:lnSpc>
              <a:spcAft>
                <a:spcPts val="500"/>
              </a:spcAft>
              <a:buNone/>
            </a:pPr>
            <a:r>
              <a:rPr lang="en-US" sz="860" dirty="0">
                <a:solidFill>
                  <a:srgbClr val="A9BDD1"/>
                </a:solidFill>
                <a:latin typeface="Arial" pitchFamily="34" charset="0"/>
                <a:ea typeface="Arial" pitchFamily="34" charset="-122"/>
                <a:cs typeface="Arial" pitchFamily="34" charset="-120"/>
              </a:rPr>
              <a:t>The engagement is scoped so that the customer keeps their process, their equipment and their operators unchanged — the deliverable is measurement rather than modification.</a:t>
            </a:r>
            <a:endParaRPr lang="en-US" sz="850" dirty="0"/>
          </a:p>
          <a:p>
            <a:pPr algn="l" indent="0" marL="0">
              <a:lnSpc>
                <a:spcPct val="112000"/>
              </a:lnSpc>
              <a:spcAft>
                <a:spcPts val="600"/>
              </a:spcAft>
              <a:buNone/>
            </a:pPr>
            <a:r>
              <a:rPr lang="en-US" sz="860" dirty="0">
                <a:solidFill>
                  <a:srgbClr val="A9BDD1"/>
                </a:solidFill>
                <a:latin typeface="Arial" pitchFamily="34" charset="0"/>
                <a:ea typeface="Arial" pitchFamily="34" charset="-122"/>
                <a:cs typeface="Arial" pitchFamily="34" charset="-120"/>
              </a:rPr>
              <a:t>In a defense environment, expect security review, data-rights review and IT/OT review to precede technical evaluation. Facility, personnel and cybersecurity requirements are gating items on the customer's side, and they set the calendar.</a:t>
            </a:r>
            <a:endParaRPr lang="en-US" sz="850" dirty="0"/>
          </a:p>
          <a:p>
            <a:pPr algn="l" indent="0" marL="0">
              <a:lnSpc>
                <a:spcPct val="112000"/>
              </a:lnSpc>
              <a:buNone/>
            </a:pPr>
            <a:r>
              <a:rPr lang="en-US" sz="880" b="1" i="1" dirty="0">
                <a:solidFill>
                  <a:srgbClr val="EAF2FA"/>
                </a:solidFill>
                <a:latin typeface="Arial" pitchFamily="34" charset="0"/>
                <a:ea typeface="Arial" pitchFamily="34" charset="-122"/>
                <a:cs typeface="Arial" pitchFamily="34" charset="-120"/>
              </a:rPr>
              <a:t>No such engagement exists today. No pricing has been set. Nothing here is validated go-to-market.</a:t>
            </a:r>
            <a:endParaRPr lang="en-US" sz="850" dirty="0"/>
          </a:p>
        </p:txBody>
      </p:sp>
      <p:sp>
        <p:nvSpPr>
          <p:cNvPr id="9" name="Text 7"/>
          <p:cNvSpPr txBox="1"/>
          <p:nvPr/>
        </p:nvSpPr>
        <p:spPr>
          <a:xfrm>
            <a:off x="621792" y="6126480"/>
            <a:ext cx="10948111" cy="256032"/>
          </a:xfrm>
          <a:prstGeom prst="rect">
            <a:avLst/>
          </a:prstGeom>
          <a:noFill/>
          <a:ln/>
        </p:spPr>
        <p:txBody>
          <a:bodyPr wrap="square" lIns="0" tIns="0" rIns="0" bIns="0" rtlCol="0" anchor="ctr"/>
          <a:lstStyle/>
          <a:p>
            <a:pPr indent="0" marL="0">
              <a:lnSpc>
                <a:spcPct val="105000"/>
              </a:lnSpc>
              <a:buNone/>
            </a:pPr>
            <a:r>
              <a:rPr lang="en-US" sz="650" dirty="0">
                <a:solidFill>
                  <a:srgbClr val="51667C"/>
                </a:solidFill>
                <a:latin typeface="Arial" pitchFamily="34" charset="0"/>
                <a:ea typeface="Arial" pitchFamily="34" charset="-122"/>
                <a:cs typeface="Arial" pitchFamily="34" charset="-120"/>
              </a:rPr>
              <a:t>Source: Roland Berger, The global aerospace supply chain in 2026: Ramp-up, risks and resilience, June 2026. Customer discovery methodology — conversations held, organisations, questions asked, and what changed — is reported with actual counts when presented; a small honest number beats an unstated large one.</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21792" y="6510528"/>
            <a:ext cx="4114800" cy="219456"/>
          </a:xfrm>
          <a:prstGeom prst="rect">
            <a:avLst/>
          </a:prstGeom>
          <a:noFill/>
          <a:ln/>
        </p:spPr>
        <p:txBody>
          <a:bodyPr wrap="square" lIns="0" tIns="0" rIns="0" bIns="0" rtlCol="0" anchor="ctr"/>
          <a:lstStyle/>
          <a:p>
            <a:pPr indent="0" marL="0">
              <a:buNone/>
            </a:pPr>
            <a:r>
              <a:rPr lang="en-US" sz="700" spc="240" kern="0" dirty="0">
                <a:solidFill>
                  <a:srgbClr val="51667C"/>
                </a:solidFill>
                <a:latin typeface="Arial" pitchFamily="34" charset="0"/>
                <a:ea typeface="Arial" pitchFamily="34" charset="-122"/>
                <a:cs typeface="Arial" pitchFamily="34" charset="-120"/>
              </a:rPr>
              <a:t>SYNTREX ADVANCED SYSTEMS</a:t>
            </a:r>
            <a:endParaRPr lang="en-US" sz="700" dirty="0"/>
          </a:p>
        </p:txBody>
      </p:sp>
      <p:sp>
        <p:nvSpPr>
          <p:cNvPr id="3" name="Text 1"/>
          <p:cNvSpPr txBox="1"/>
          <p:nvPr/>
        </p:nvSpPr>
        <p:spPr>
          <a:xfrm>
            <a:off x="7455103" y="6510528"/>
            <a:ext cx="4114800" cy="219456"/>
          </a:xfrm>
          <a:prstGeom prst="rect">
            <a:avLst/>
          </a:prstGeom>
          <a:noFill/>
          <a:ln/>
        </p:spPr>
        <p:txBody>
          <a:bodyPr wrap="square" lIns="0" tIns="0" rIns="0" bIns="0" rtlCol="0" anchor="ctr"/>
          <a:lstStyle/>
          <a:p>
            <a:pPr algn="r" indent="0" marL="0">
              <a:buNone/>
            </a:pPr>
            <a:r>
              <a:rPr lang="en-US" sz="700" spc="240" kern="0" dirty="0">
                <a:solidFill>
                  <a:srgbClr val="51667C"/>
                </a:solidFill>
                <a:latin typeface="Arial" pitchFamily="34" charset="0"/>
                <a:ea typeface="Arial" pitchFamily="34" charset="-122"/>
                <a:cs typeface="Arial" pitchFamily="34" charset="-120"/>
              </a:rPr>
              <a:t>APPENDIX · A-10   ·   10 / 10</a:t>
            </a:r>
            <a:endParaRPr lang="en-US" sz="700" dirty="0"/>
          </a:p>
        </p:txBody>
      </p:sp>
      <p:sp>
        <p:nvSpPr>
          <p:cNvPr id="4" name="Text 2"/>
          <p:cNvSpPr txBox="1"/>
          <p:nvPr/>
        </p:nvSpPr>
        <p:spPr>
          <a:xfrm>
            <a:off x="621792" y="457200"/>
            <a:ext cx="10948111" cy="274320"/>
          </a:xfrm>
          <a:prstGeom prst="rect">
            <a:avLst/>
          </a:prstGeom>
          <a:noFill/>
          <a:ln/>
        </p:spPr>
        <p:txBody>
          <a:bodyPr wrap="square" lIns="0" tIns="0" rIns="0" bIns="0" rtlCol="0" anchor="ctr"/>
          <a:lstStyle/>
          <a:p>
            <a:pPr indent="0" marL="0">
              <a:buNone/>
            </a:pPr>
            <a:r>
              <a:rPr lang="en-US" sz="1000" b="1" spc="360" kern="0" dirty="0">
                <a:solidFill>
                  <a:srgbClr val="6FD3FF"/>
                </a:solidFill>
                <a:latin typeface="Arial" pitchFamily="34" charset="0"/>
                <a:ea typeface="Arial" pitchFamily="34" charset="-122"/>
                <a:cs typeface="Arial" pitchFamily="34" charset="-120"/>
              </a:rPr>
              <a:t>APPENDIX A-10 · BUDGET BASIS FOR THE $3.0M RAISE</a:t>
            </a:r>
            <a:endParaRPr lang="en-US" sz="1000" dirty="0"/>
          </a:p>
        </p:txBody>
      </p:sp>
      <p:sp>
        <p:nvSpPr>
          <p:cNvPr id="5" name="Text 3"/>
          <p:cNvSpPr txBox="1"/>
          <p:nvPr/>
        </p:nvSpPr>
        <p:spPr>
          <a:xfrm>
            <a:off x="621792" y="786384"/>
            <a:ext cx="10948111" cy="914400"/>
          </a:xfrm>
          <a:prstGeom prst="rect">
            <a:avLst/>
          </a:prstGeom>
          <a:noFill/>
          <a:ln/>
        </p:spPr>
        <p:txBody>
          <a:bodyPr wrap="square" lIns="0" tIns="0" rIns="0" bIns="0" rtlCol="0" anchor="t"/>
          <a:lstStyle/>
          <a:p>
            <a:pPr indent="0" marL="0">
              <a:lnSpc>
                <a:spcPct val="102000"/>
              </a:lnSpc>
              <a:buNone/>
            </a:pPr>
            <a:r>
              <a:rPr lang="en-US" sz="2400" b="1" dirty="0">
                <a:solidFill>
                  <a:srgbClr val="EAF2FA"/>
                </a:solidFill>
                <a:latin typeface="Arial" pitchFamily="34" charset="0"/>
                <a:ea typeface="Arial" pitchFamily="34" charset="-122"/>
                <a:cs typeface="Arial" pitchFamily="34" charset="-120"/>
              </a:rPr>
              <a:t>A budget page that admits what is not yet built.</a:t>
            </a:r>
            <a:endParaRPr lang="en-US" sz="2400" dirty="0"/>
          </a:p>
        </p:txBody>
      </p:sp>
      <p:sp>
        <p:nvSpPr>
          <p:cNvPr id="6" name="Text 4"/>
          <p:cNvSpPr txBox="1"/>
          <p:nvPr/>
        </p:nvSpPr>
        <p:spPr>
          <a:xfrm>
            <a:off x="621792" y="1389888"/>
            <a:ext cx="10948111" cy="512064"/>
          </a:xfrm>
          <a:prstGeom prst="rect">
            <a:avLst/>
          </a:prstGeom>
          <a:noFill/>
          <a:ln/>
        </p:spPr>
        <p:txBody>
          <a:bodyPr wrap="square" lIns="0" tIns="0" rIns="0" bIns="0" rtlCol="0" anchor="ctr"/>
          <a:lstStyle/>
          <a:p>
            <a:pPr indent="0" marL="0">
              <a:lnSpc>
                <a:spcPct val="115000"/>
              </a:lnSpc>
              <a:buNone/>
            </a:pPr>
            <a:r>
              <a:rPr lang="en-US" sz="950" dirty="0">
                <a:solidFill>
                  <a:srgbClr val="A9BDD1"/>
                </a:solidFill>
                <a:latin typeface="Arial" pitchFamily="34" charset="0"/>
                <a:ea typeface="Arial" pitchFamily="34" charset="-122"/>
                <a:cs typeface="Arial" pitchFamily="34" charset="-120"/>
              </a:rPr>
              <a:t>Six bucket totals are management budget figures against an 18-month plan. One bucket — physical validation — is derivable from the published gate ladder. The remaining five are top-down allocations not yet rebuilt from named line items; where that is true, the row says so. Nothing on this page is invented to fill a gap.</a:t>
            </a:r>
            <a:endParaRPr lang="en-US" sz="950" dirty="0"/>
          </a:p>
        </p:txBody>
      </p:sp>
      <p:sp>
        <p:nvSpPr>
          <p:cNvPr id="7" name="Shape 5"/>
          <p:cNvSpPr/>
          <p:nvPr/>
        </p:nvSpPr>
        <p:spPr>
          <a:xfrm>
            <a:off x="621792" y="2075688"/>
            <a:ext cx="10948111" cy="0"/>
          </a:xfrm>
          <a:prstGeom prst="line">
            <a:avLst/>
          </a:prstGeom>
          <a:noFill/>
          <a:ln w="9525">
            <a:solidFill>
              <a:srgbClr val="23405C"/>
            </a:solidFill>
            <a:prstDash val="solid"/>
          </a:ln>
        </p:spPr>
      </p:sp>
      <p:sp>
        <p:nvSpPr>
          <p:cNvPr id="8" name="Text 6"/>
          <p:cNvSpPr txBox="1"/>
          <p:nvPr/>
        </p:nvSpPr>
        <p:spPr>
          <a:xfrm>
            <a:off x="621792" y="2130552"/>
            <a:ext cx="2377440" cy="512064"/>
          </a:xfrm>
          <a:prstGeom prst="rect">
            <a:avLst/>
          </a:prstGeom>
          <a:noFill/>
          <a:ln/>
        </p:spPr>
        <p:txBody>
          <a:bodyPr wrap="square" lIns="0" tIns="0" rIns="0" bIns="0" rtlCol="0" anchor="ctr"/>
          <a:lstStyle/>
          <a:p>
            <a:pPr indent="0" marL="0">
              <a:lnSpc>
                <a:spcPct val="100000"/>
              </a:lnSpc>
              <a:buNone/>
            </a:pPr>
            <a:r>
              <a:rPr lang="en-US" sz="880" b="1" dirty="0">
                <a:solidFill>
                  <a:srgbClr val="EAF2FA"/>
                </a:solidFill>
                <a:latin typeface="Arial" pitchFamily="34" charset="0"/>
                <a:ea typeface="Arial" pitchFamily="34" charset="-122"/>
                <a:cs typeface="Arial" pitchFamily="34" charset="-120"/>
              </a:rPr>
              <a:t>Engineering nucleus</a:t>
            </a:r>
            <a:endParaRPr lang="en-US" sz="880" dirty="0"/>
          </a:p>
        </p:txBody>
      </p:sp>
      <p:sp>
        <p:nvSpPr>
          <p:cNvPr id="9" name="Text 7"/>
          <p:cNvSpPr txBox="1"/>
          <p:nvPr/>
        </p:nvSpPr>
        <p:spPr>
          <a:xfrm>
            <a:off x="3090672" y="2130552"/>
            <a:ext cx="1371600" cy="512064"/>
          </a:xfrm>
          <a:prstGeom prst="rect">
            <a:avLst/>
          </a:prstGeom>
          <a:noFill/>
          <a:ln/>
        </p:spPr>
        <p:txBody>
          <a:bodyPr wrap="square" lIns="0" tIns="0" rIns="0" bIns="0" rtlCol="0" anchor="ctr"/>
          <a:lstStyle/>
          <a:p>
            <a:pPr indent="0" marL="0">
              <a:buNone/>
            </a:pPr>
            <a:r>
              <a:rPr lang="en-US" sz="860" b="1" dirty="0">
                <a:solidFill>
                  <a:srgbClr val="6FD3FF"/>
                </a:solidFill>
                <a:latin typeface="Arial" pitchFamily="34" charset="0"/>
                <a:ea typeface="Arial" pitchFamily="34" charset="-122"/>
                <a:cs typeface="Arial" pitchFamily="34" charset="-120"/>
              </a:rPr>
              <a:t>$979K · 32.6%</a:t>
            </a:r>
            <a:endParaRPr lang="en-US" sz="860" dirty="0"/>
          </a:p>
        </p:txBody>
      </p:sp>
      <p:sp>
        <p:nvSpPr>
          <p:cNvPr id="10" name="Text 8"/>
          <p:cNvSpPr txBox="1"/>
          <p:nvPr/>
        </p:nvSpPr>
        <p:spPr>
          <a:xfrm>
            <a:off x="4599432" y="2130552"/>
            <a:ext cx="6967728" cy="521208"/>
          </a:xfrm>
          <a:prstGeom prst="rect">
            <a:avLst/>
          </a:prstGeom>
          <a:noFill/>
          <a:ln/>
        </p:spPr>
        <p:txBody>
          <a:bodyPr wrap="square" lIns="0" tIns="0" rIns="0" bIns="0" rtlCol="0" anchor="ctr"/>
          <a:lstStyle/>
          <a:p>
            <a:pPr indent="0" marL="0">
              <a:lnSpc>
                <a:spcPct val="100000"/>
              </a:lnSpc>
              <a:buNone/>
            </a:pPr>
            <a:r>
              <a:rPr lang="en-US" sz="710" dirty="0">
                <a:solidFill>
                  <a:srgbClr val="A9BDD1"/>
                </a:solidFill>
                <a:latin typeface="Arial" pitchFamily="34" charset="0"/>
                <a:ea typeface="Arial" pitchFamily="34" charset="-122"/>
                <a:cs typeface="Arial" pitchFamily="34" charset="-120"/>
              </a:rPr>
              <a:t>Four roles defined; compensation bands not yet set. Implied capacity: consistent with 3–4 technical hires over 18 months only if staggered, or loaded cost near $150–175K. NOT YET BOTTOM-UP SOURCED.</a:t>
            </a:r>
            <a:endParaRPr lang="en-US" sz="710" dirty="0"/>
          </a:p>
        </p:txBody>
      </p:sp>
      <p:sp>
        <p:nvSpPr>
          <p:cNvPr id="11" name="Shape 9"/>
          <p:cNvSpPr/>
          <p:nvPr/>
        </p:nvSpPr>
        <p:spPr>
          <a:xfrm>
            <a:off x="621792" y="2642616"/>
            <a:ext cx="10948111" cy="0"/>
          </a:xfrm>
          <a:prstGeom prst="line">
            <a:avLst/>
          </a:prstGeom>
          <a:noFill/>
          <a:ln w="9525">
            <a:solidFill>
              <a:srgbClr val="23405C"/>
            </a:solidFill>
            <a:prstDash val="solid"/>
          </a:ln>
        </p:spPr>
      </p:sp>
      <p:sp>
        <p:nvSpPr>
          <p:cNvPr id="12" name="Text 10"/>
          <p:cNvSpPr txBox="1"/>
          <p:nvPr/>
        </p:nvSpPr>
        <p:spPr>
          <a:xfrm>
            <a:off x="621792" y="2697480"/>
            <a:ext cx="2377440" cy="512064"/>
          </a:xfrm>
          <a:prstGeom prst="rect">
            <a:avLst/>
          </a:prstGeom>
          <a:noFill/>
          <a:ln/>
        </p:spPr>
        <p:txBody>
          <a:bodyPr wrap="square" lIns="0" tIns="0" rIns="0" bIns="0" rtlCol="0" anchor="ctr"/>
          <a:lstStyle/>
          <a:p>
            <a:pPr indent="0" marL="0">
              <a:lnSpc>
                <a:spcPct val="100000"/>
              </a:lnSpc>
              <a:buNone/>
            </a:pPr>
            <a:r>
              <a:rPr lang="en-US" sz="880" b="1" dirty="0">
                <a:solidFill>
                  <a:srgbClr val="EAF2FA"/>
                </a:solidFill>
                <a:latin typeface="Arial" pitchFamily="34" charset="0"/>
                <a:ea typeface="Arial" pitchFamily="34" charset="-122"/>
                <a:cs typeface="Arial" pitchFamily="34" charset="-120"/>
              </a:rPr>
              <a:t>Physical validation</a:t>
            </a:r>
            <a:endParaRPr lang="en-US" sz="880" dirty="0"/>
          </a:p>
        </p:txBody>
      </p:sp>
      <p:sp>
        <p:nvSpPr>
          <p:cNvPr id="13" name="Text 11"/>
          <p:cNvSpPr txBox="1"/>
          <p:nvPr/>
        </p:nvSpPr>
        <p:spPr>
          <a:xfrm>
            <a:off x="3090672" y="2697480"/>
            <a:ext cx="1371600" cy="512064"/>
          </a:xfrm>
          <a:prstGeom prst="rect">
            <a:avLst/>
          </a:prstGeom>
          <a:noFill/>
          <a:ln/>
        </p:spPr>
        <p:txBody>
          <a:bodyPr wrap="square" lIns="0" tIns="0" rIns="0" bIns="0" rtlCol="0" anchor="ctr"/>
          <a:lstStyle/>
          <a:p>
            <a:pPr indent="0" marL="0">
              <a:buNone/>
            </a:pPr>
            <a:r>
              <a:rPr lang="en-US" sz="860" b="1" dirty="0">
                <a:solidFill>
                  <a:srgbClr val="6FD3FF"/>
                </a:solidFill>
                <a:latin typeface="Arial" pitchFamily="34" charset="0"/>
                <a:ea typeface="Arial" pitchFamily="34" charset="-122"/>
                <a:cs typeface="Arial" pitchFamily="34" charset="-120"/>
              </a:rPr>
              <a:t>$507K · 16.9%</a:t>
            </a:r>
            <a:endParaRPr lang="en-US" sz="860" dirty="0"/>
          </a:p>
        </p:txBody>
      </p:sp>
      <p:sp>
        <p:nvSpPr>
          <p:cNvPr id="14" name="Text 12"/>
          <p:cNvSpPr txBox="1"/>
          <p:nvPr/>
        </p:nvSpPr>
        <p:spPr>
          <a:xfrm>
            <a:off x="4599432" y="2697480"/>
            <a:ext cx="6967728" cy="521208"/>
          </a:xfrm>
          <a:prstGeom prst="rect">
            <a:avLst/>
          </a:prstGeom>
          <a:noFill/>
          <a:ln/>
        </p:spPr>
        <p:txBody>
          <a:bodyPr wrap="square" lIns="0" tIns="0" rIns="0" bIns="0" rtlCol="0" anchor="ctr"/>
          <a:lstStyle/>
          <a:p>
            <a:pPr indent="0" marL="0">
              <a:lnSpc>
                <a:spcPct val="100000"/>
              </a:lnSpc>
              <a:buNone/>
            </a:pPr>
            <a:r>
              <a:rPr lang="en-US" sz="710" dirty="0">
                <a:solidFill>
                  <a:srgbClr val="A9BDD1"/>
                </a:solidFill>
                <a:latin typeface="Arial" pitchFamily="34" charset="0"/>
                <a:ea typeface="Arial" pitchFamily="34" charset="-122"/>
                <a:cs typeface="Arial" pitchFamily="34" charset="-120"/>
              </a:rPr>
              <a:t>Derivable: Gate 1 ~$14K + Gate 2 ~$50K + Gate 3 $250K–$450K → ladder $314K–$514K. Residual $93K–$193K covers test articles, consumables, outside machining, metrology rental. Ceiling overage of $7K absorbed by reserve.</a:t>
            </a:r>
            <a:endParaRPr lang="en-US" sz="710" dirty="0"/>
          </a:p>
        </p:txBody>
      </p:sp>
      <p:sp>
        <p:nvSpPr>
          <p:cNvPr id="15" name="Shape 13"/>
          <p:cNvSpPr/>
          <p:nvPr/>
        </p:nvSpPr>
        <p:spPr>
          <a:xfrm>
            <a:off x="621792" y="3209544"/>
            <a:ext cx="10948111" cy="0"/>
          </a:xfrm>
          <a:prstGeom prst="line">
            <a:avLst/>
          </a:prstGeom>
          <a:noFill/>
          <a:ln w="9525">
            <a:solidFill>
              <a:srgbClr val="23405C"/>
            </a:solidFill>
            <a:prstDash val="solid"/>
          </a:ln>
        </p:spPr>
      </p:sp>
      <p:sp>
        <p:nvSpPr>
          <p:cNvPr id="16" name="Text 14"/>
          <p:cNvSpPr txBox="1"/>
          <p:nvPr/>
        </p:nvSpPr>
        <p:spPr>
          <a:xfrm>
            <a:off x="621792" y="3264408"/>
            <a:ext cx="2377440" cy="512064"/>
          </a:xfrm>
          <a:prstGeom prst="rect">
            <a:avLst/>
          </a:prstGeom>
          <a:noFill/>
          <a:ln/>
        </p:spPr>
        <p:txBody>
          <a:bodyPr wrap="square" lIns="0" tIns="0" rIns="0" bIns="0" rtlCol="0" anchor="ctr"/>
          <a:lstStyle/>
          <a:p>
            <a:pPr indent="0" marL="0">
              <a:lnSpc>
                <a:spcPct val="100000"/>
              </a:lnSpc>
              <a:buNone/>
            </a:pPr>
            <a:r>
              <a:rPr lang="en-US" sz="880" b="1" dirty="0">
                <a:solidFill>
                  <a:srgbClr val="EAF2FA"/>
                </a:solidFill>
                <a:latin typeface="Arial" pitchFamily="34" charset="0"/>
                <a:ea typeface="Arial" pitchFamily="34" charset="-122"/>
                <a:cs typeface="Arial" pitchFamily="34" charset="-120"/>
              </a:rPr>
              <a:t>Runway and infrastructure</a:t>
            </a:r>
            <a:endParaRPr lang="en-US" sz="880" dirty="0"/>
          </a:p>
        </p:txBody>
      </p:sp>
      <p:sp>
        <p:nvSpPr>
          <p:cNvPr id="17" name="Text 15"/>
          <p:cNvSpPr txBox="1"/>
          <p:nvPr/>
        </p:nvSpPr>
        <p:spPr>
          <a:xfrm>
            <a:off x="3090672" y="3264408"/>
            <a:ext cx="1371600" cy="512064"/>
          </a:xfrm>
          <a:prstGeom prst="rect">
            <a:avLst/>
          </a:prstGeom>
          <a:noFill/>
          <a:ln/>
        </p:spPr>
        <p:txBody>
          <a:bodyPr wrap="square" lIns="0" tIns="0" rIns="0" bIns="0" rtlCol="0" anchor="ctr"/>
          <a:lstStyle/>
          <a:p>
            <a:pPr indent="0" marL="0">
              <a:buNone/>
            </a:pPr>
            <a:r>
              <a:rPr lang="en-US" sz="860" b="1" dirty="0">
                <a:solidFill>
                  <a:srgbClr val="6FD3FF"/>
                </a:solidFill>
                <a:latin typeface="Arial" pitchFamily="34" charset="0"/>
                <a:ea typeface="Arial" pitchFamily="34" charset="-122"/>
                <a:cs typeface="Arial" pitchFamily="34" charset="-120"/>
              </a:rPr>
              <a:t>$699K · 23.3%</a:t>
            </a:r>
            <a:endParaRPr lang="en-US" sz="860" dirty="0"/>
          </a:p>
        </p:txBody>
      </p:sp>
      <p:sp>
        <p:nvSpPr>
          <p:cNvPr id="18" name="Text 16"/>
          <p:cNvSpPr txBox="1"/>
          <p:nvPr/>
        </p:nvSpPr>
        <p:spPr>
          <a:xfrm>
            <a:off x="4599432" y="3264408"/>
            <a:ext cx="6967728" cy="521208"/>
          </a:xfrm>
          <a:prstGeom prst="rect">
            <a:avLst/>
          </a:prstGeom>
          <a:noFill/>
          <a:ln/>
        </p:spPr>
        <p:txBody>
          <a:bodyPr wrap="square" lIns="0" tIns="0" rIns="0" bIns="0" rtlCol="0" anchor="ctr"/>
          <a:lstStyle/>
          <a:p>
            <a:pPr indent="0" marL="0">
              <a:lnSpc>
                <a:spcPct val="100000"/>
              </a:lnSpc>
              <a:buNone/>
            </a:pPr>
            <a:r>
              <a:rPr lang="en-US" sz="710" dirty="0">
                <a:solidFill>
                  <a:srgbClr val="A9BDD1"/>
                </a:solidFill>
                <a:latin typeface="Arial" pitchFamily="34" charset="0"/>
                <a:ea typeface="Arial" pitchFamily="34" charset="-122"/>
                <a:cs typeface="Arial" pitchFamily="34" charset="-120"/>
              </a:rPr>
              <a:t>Founder and operating core compensation, software and compute, facilities, insurance, accounting, travel. Implied ~$39K/month across 18 months. NOT YET BOTTOM-UP SOURCED.</a:t>
            </a:r>
            <a:endParaRPr lang="en-US" sz="710" dirty="0"/>
          </a:p>
        </p:txBody>
      </p:sp>
      <p:sp>
        <p:nvSpPr>
          <p:cNvPr id="19" name="Shape 17"/>
          <p:cNvSpPr/>
          <p:nvPr/>
        </p:nvSpPr>
        <p:spPr>
          <a:xfrm>
            <a:off x="621792" y="3776472"/>
            <a:ext cx="10948111" cy="0"/>
          </a:xfrm>
          <a:prstGeom prst="line">
            <a:avLst/>
          </a:prstGeom>
          <a:noFill/>
          <a:ln w="9525">
            <a:solidFill>
              <a:srgbClr val="23405C"/>
            </a:solidFill>
            <a:prstDash val="solid"/>
          </a:ln>
        </p:spPr>
      </p:sp>
      <p:sp>
        <p:nvSpPr>
          <p:cNvPr id="20" name="Text 18"/>
          <p:cNvSpPr txBox="1"/>
          <p:nvPr/>
        </p:nvSpPr>
        <p:spPr>
          <a:xfrm>
            <a:off x="621792" y="3831336"/>
            <a:ext cx="2377440" cy="512064"/>
          </a:xfrm>
          <a:prstGeom prst="rect">
            <a:avLst/>
          </a:prstGeom>
          <a:noFill/>
          <a:ln/>
        </p:spPr>
        <p:txBody>
          <a:bodyPr wrap="square" lIns="0" tIns="0" rIns="0" bIns="0" rtlCol="0" anchor="ctr"/>
          <a:lstStyle/>
          <a:p>
            <a:pPr indent="0" marL="0">
              <a:lnSpc>
                <a:spcPct val="100000"/>
              </a:lnSpc>
              <a:buNone/>
            </a:pPr>
            <a:r>
              <a:rPr lang="en-US" sz="880" b="1" dirty="0">
                <a:solidFill>
                  <a:srgbClr val="EAF2FA"/>
                </a:solidFill>
                <a:latin typeface="Arial" pitchFamily="34" charset="0"/>
                <a:ea typeface="Arial" pitchFamily="34" charset="-122"/>
                <a:cs typeface="Arial" pitchFamily="34" charset="-120"/>
              </a:rPr>
              <a:t>IP, legal and data rights</a:t>
            </a:r>
            <a:endParaRPr lang="en-US" sz="880" dirty="0"/>
          </a:p>
        </p:txBody>
      </p:sp>
      <p:sp>
        <p:nvSpPr>
          <p:cNvPr id="21" name="Text 19"/>
          <p:cNvSpPr txBox="1"/>
          <p:nvPr/>
        </p:nvSpPr>
        <p:spPr>
          <a:xfrm>
            <a:off x="3090672" y="3831336"/>
            <a:ext cx="1371600" cy="512064"/>
          </a:xfrm>
          <a:prstGeom prst="rect">
            <a:avLst/>
          </a:prstGeom>
          <a:noFill/>
          <a:ln/>
        </p:spPr>
        <p:txBody>
          <a:bodyPr wrap="square" lIns="0" tIns="0" rIns="0" bIns="0" rtlCol="0" anchor="ctr"/>
          <a:lstStyle/>
          <a:p>
            <a:pPr indent="0" marL="0">
              <a:buNone/>
            </a:pPr>
            <a:r>
              <a:rPr lang="en-US" sz="860" b="1" dirty="0">
                <a:solidFill>
                  <a:srgbClr val="6FD3FF"/>
                </a:solidFill>
                <a:latin typeface="Arial" pitchFamily="34" charset="0"/>
                <a:ea typeface="Arial" pitchFamily="34" charset="-122"/>
                <a:cs typeface="Arial" pitchFamily="34" charset="-120"/>
              </a:rPr>
              <a:t>$169K · 5.6%</a:t>
            </a:r>
            <a:endParaRPr lang="en-US" sz="860" dirty="0"/>
          </a:p>
        </p:txBody>
      </p:sp>
      <p:sp>
        <p:nvSpPr>
          <p:cNvPr id="22" name="Text 20"/>
          <p:cNvSpPr txBox="1"/>
          <p:nvPr/>
        </p:nvSpPr>
        <p:spPr>
          <a:xfrm>
            <a:off x="4599432" y="3831336"/>
            <a:ext cx="6967728" cy="521208"/>
          </a:xfrm>
          <a:prstGeom prst="rect">
            <a:avLst/>
          </a:prstGeom>
          <a:noFill/>
          <a:ln/>
        </p:spPr>
        <p:txBody>
          <a:bodyPr wrap="square" lIns="0" tIns="0" rIns="0" bIns="0" rtlCol="0" anchor="ctr"/>
          <a:lstStyle/>
          <a:p>
            <a:pPr indent="0" marL="0">
              <a:lnSpc>
                <a:spcPct val="100000"/>
              </a:lnSpc>
              <a:buNone/>
            </a:pPr>
            <a:r>
              <a:rPr lang="en-US" sz="710" dirty="0">
                <a:solidFill>
                  <a:srgbClr val="A9BDD1"/>
                </a:solidFill>
                <a:latin typeface="Arial" pitchFamily="34" charset="0"/>
                <a:ea typeface="Arial" pitchFamily="34" charset="-122"/>
                <a:cs typeface="Arial" pitchFamily="34" charset="-120"/>
              </a:rPr>
              <a:t>Patent drafting and filing, freedom-to-operate, customer contracting incl. data-rights and evidence-ownership terms, advisory and employment agreements, corporate and financing legal. NOT YET BOTTOM-UP SOURCED.</a:t>
            </a:r>
            <a:endParaRPr lang="en-US" sz="710" dirty="0"/>
          </a:p>
        </p:txBody>
      </p:sp>
      <p:sp>
        <p:nvSpPr>
          <p:cNvPr id="23" name="Shape 21"/>
          <p:cNvSpPr/>
          <p:nvPr/>
        </p:nvSpPr>
        <p:spPr>
          <a:xfrm>
            <a:off x="621792" y="4343400"/>
            <a:ext cx="10948111" cy="0"/>
          </a:xfrm>
          <a:prstGeom prst="line">
            <a:avLst/>
          </a:prstGeom>
          <a:noFill/>
          <a:ln w="9525">
            <a:solidFill>
              <a:srgbClr val="23405C"/>
            </a:solidFill>
            <a:prstDash val="solid"/>
          </a:ln>
        </p:spPr>
      </p:sp>
      <p:sp>
        <p:nvSpPr>
          <p:cNvPr id="24" name="Text 22"/>
          <p:cNvSpPr txBox="1"/>
          <p:nvPr/>
        </p:nvSpPr>
        <p:spPr>
          <a:xfrm>
            <a:off x="621792" y="4398264"/>
            <a:ext cx="2377440" cy="512064"/>
          </a:xfrm>
          <a:prstGeom prst="rect">
            <a:avLst/>
          </a:prstGeom>
          <a:noFill/>
          <a:ln/>
        </p:spPr>
        <p:txBody>
          <a:bodyPr wrap="square" lIns="0" tIns="0" rIns="0" bIns="0" rtlCol="0" anchor="ctr"/>
          <a:lstStyle/>
          <a:p>
            <a:pPr indent="0" marL="0">
              <a:lnSpc>
                <a:spcPct val="100000"/>
              </a:lnSpc>
              <a:buNone/>
            </a:pPr>
            <a:r>
              <a:rPr lang="en-US" sz="880" b="1" dirty="0">
                <a:solidFill>
                  <a:srgbClr val="EAF2FA"/>
                </a:solidFill>
                <a:latin typeface="Arial" pitchFamily="34" charset="0"/>
                <a:ea typeface="Arial" pitchFamily="34" charset="-122"/>
                <a:cs typeface="Arial" pitchFamily="34" charset="-120"/>
              </a:rPr>
              <a:t>Commercial and qualification</a:t>
            </a:r>
            <a:endParaRPr lang="en-US" sz="880" dirty="0"/>
          </a:p>
        </p:txBody>
      </p:sp>
      <p:sp>
        <p:nvSpPr>
          <p:cNvPr id="25" name="Text 23"/>
          <p:cNvSpPr txBox="1"/>
          <p:nvPr/>
        </p:nvSpPr>
        <p:spPr>
          <a:xfrm>
            <a:off x="3090672" y="4398264"/>
            <a:ext cx="1371600" cy="512064"/>
          </a:xfrm>
          <a:prstGeom prst="rect">
            <a:avLst/>
          </a:prstGeom>
          <a:noFill/>
          <a:ln/>
        </p:spPr>
        <p:txBody>
          <a:bodyPr wrap="square" lIns="0" tIns="0" rIns="0" bIns="0" rtlCol="0" anchor="ctr"/>
          <a:lstStyle/>
          <a:p>
            <a:pPr indent="0" marL="0">
              <a:buNone/>
            </a:pPr>
            <a:r>
              <a:rPr lang="en-US" sz="860" b="1" dirty="0">
                <a:solidFill>
                  <a:srgbClr val="6FD3FF"/>
                </a:solidFill>
                <a:latin typeface="Arial" pitchFamily="34" charset="0"/>
                <a:ea typeface="Arial" pitchFamily="34" charset="-122"/>
                <a:cs typeface="Arial" pitchFamily="34" charset="-120"/>
              </a:rPr>
              <a:t>$174K · 5.8%</a:t>
            </a:r>
            <a:endParaRPr lang="en-US" sz="860" dirty="0"/>
          </a:p>
        </p:txBody>
      </p:sp>
      <p:sp>
        <p:nvSpPr>
          <p:cNvPr id="26" name="Text 24"/>
          <p:cNvSpPr txBox="1"/>
          <p:nvPr/>
        </p:nvSpPr>
        <p:spPr>
          <a:xfrm>
            <a:off x="4599432" y="4398264"/>
            <a:ext cx="6967728" cy="521208"/>
          </a:xfrm>
          <a:prstGeom prst="rect">
            <a:avLst/>
          </a:prstGeom>
          <a:noFill/>
          <a:ln/>
        </p:spPr>
        <p:txBody>
          <a:bodyPr wrap="square" lIns="0" tIns="0" rIns="0" bIns="0" rtlCol="0" anchor="ctr"/>
          <a:lstStyle/>
          <a:p>
            <a:pPr indent="0" marL="0">
              <a:lnSpc>
                <a:spcPct val="100000"/>
              </a:lnSpc>
              <a:buNone/>
            </a:pPr>
            <a:r>
              <a:rPr lang="en-US" sz="710" dirty="0">
                <a:solidFill>
                  <a:srgbClr val="A9BDD1"/>
                </a:solidFill>
                <a:latin typeface="Arial" pitchFamily="34" charset="0"/>
                <a:ea typeface="Arial" pitchFamily="34" charset="-122"/>
                <a:cs typeface="Arial" pitchFamily="34" charset="-120"/>
              </a:rPr>
              <a:t>Qualification pathway work, outside technical services incl. independent measurement review and qualified test ownership (the authority gap named on slide 14 is funded from here), standards access, customer discovery. NOT YET BOTTOM-UP SOURCED.</a:t>
            </a:r>
            <a:endParaRPr lang="en-US" sz="710" dirty="0"/>
          </a:p>
        </p:txBody>
      </p:sp>
      <p:sp>
        <p:nvSpPr>
          <p:cNvPr id="27" name="Shape 25"/>
          <p:cNvSpPr/>
          <p:nvPr/>
        </p:nvSpPr>
        <p:spPr>
          <a:xfrm>
            <a:off x="621792" y="4910328"/>
            <a:ext cx="10948111" cy="0"/>
          </a:xfrm>
          <a:prstGeom prst="line">
            <a:avLst/>
          </a:prstGeom>
          <a:noFill/>
          <a:ln w="9525">
            <a:solidFill>
              <a:srgbClr val="23405C"/>
            </a:solidFill>
            <a:prstDash val="solid"/>
          </a:ln>
        </p:spPr>
      </p:sp>
      <p:sp>
        <p:nvSpPr>
          <p:cNvPr id="28" name="Text 26"/>
          <p:cNvSpPr txBox="1"/>
          <p:nvPr/>
        </p:nvSpPr>
        <p:spPr>
          <a:xfrm>
            <a:off x="621792" y="4965192"/>
            <a:ext cx="2377440" cy="512064"/>
          </a:xfrm>
          <a:prstGeom prst="rect">
            <a:avLst/>
          </a:prstGeom>
          <a:noFill/>
          <a:ln/>
        </p:spPr>
        <p:txBody>
          <a:bodyPr wrap="square" lIns="0" tIns="0" rIns="0" bIns="0" rtlCol="0" anchor="ctr"/>
          <a:lstStyle/>
          <a:p>
            <a:pPr indent="0" marL="0">
              <a:lnSpc>
                <a:spcPct val="100000"/>
              </a:lnSpc>
              <a:buNone/>
            </a:pPr>
            <a:r>
              <a:rPr lang="en-US" sz="880" b="1" dirty="0">
                <a:solidFill>
                  <a:srgbClr val="EAF2FA"/>
                </a:solidFill>
                <a:latin typeface="Arial" pitchFamily="34" charset="0"/>
                <a:ea typeface="Arial" pitchFamily="34" charset="-122"/>
                <a:cs typeface="Arial" pitchFamily="34" charset="-120"/>
              </a:rPr>
              <a:t>Contingency and fundraising reserve</a:t>
            </a:r>
            <a:endParaRPr lang="en-US" sz="880" dirty="0"/>
          </a:p>
        </p:txBody>
      </p:sp>
      <p:sp>
        <p:nvSpPr>
          <p:cNvPr id="29" name="Text 27"/>
          <p:cNvSpPr txBox="1"/>
          <p:nvPr/>
        </p:nvSpPr>
        <p:spPr>
          <a:xfrm>
            <a:off x="3090672" y="4965192"/>
            <a:ext cx="1371600" cy="512064"/>
          </a:xfrm>
          <a:prstGeom prst="rect">
            <a:avLst/>
          </a:prstGeom>
          <a:noFill/>
          <a:ln/>
        </p:spPr>
        <p:txBody>
          <a:bodyPr wrap="square" lIns="0" tIns="0" rIns="0" bIns="0" rtlCol="0" anchor="ctr"/>
          <a:lstStyle/>
          <a:p>
            <a:pPr indent="0" marL="0">
              <a:buNone/>
            </a:pPr>
            <a:r>
              <a:rPr lang="en-US" sz="860" b="1" dirty="0">
                <a:solidFill>
                  <a:srgbClr val="6FD3FF"/>
                </a:solidFill>
                <a:latin typeface="Arial" pitchFamily="34" charset="0"/>
                <a:ea typeface="Arial" pitchFamily="34" charset="-122"/>
                <a:cs typeface="Arial" pitchFamily="34" charset="-120"/>
              </a:rPr>
              <a:t>$472K · 15.7%</a:t>
            </a:r>
            <a:endParaRPr lang="en-US" sz="860" dirty="0"/>
          </a:p>
        </p:txBody>
      </p:sp>
      <p:sp>
        <p:nvSpPr>
          <p:cNvPr id="30" name="Text 28"/>
          <p:cNvSpPr txBox="1"/>
          <p:nvPr/>
        </p:nvSpPr>
        <p:spPr>
          <a:xfrm>
            <a:off x="4599432" y="4965192"/>
            <a:ext cx="6967728" cy="521208"/>
          </a:xfrm>
          <a:prstGeom prst="rect">
            <a:avLst/>
          </a:prstGeom>
          <a:noFill/>
          <a:ln/>
        </p:spPr>
        <p:txBody>
          <a:bodyPr wrap="square" lIns="0" tIns="0" rIns="0" bIns="0" rtlCol="0" anchor="ctr"/>
          <a:lstStyle/>
          <a:p>
            <a:pPr indent="0" marL="0">
              <a:lnSpc>
                <a:spcPct val="100000"/>
              </a:lnSpc>
              <a:buNone/>
            </a:pPr>
            <a:r>
              <a:rPr lang="en-US" sz="710" dirty="0">
                <a:solidFill>
                  <a:srgbClr val="A9BDD1"/>
                </a:solidFill>
                <a:latin typeface="Arial" pitchFamily="34" charset="0"/>
                <a:ea typeface="Arial" pitchFamily="34" charset="-122"/>
                <a:cs typeface="Arial" pitchFamily="34" charset="-120"/>
              </a:rPr>
              <a:t>18.7% of the $2,528K operating subtotal ≈ 3.4 months of average burn. Sized to absorb Gate 3 at its $450K ceiling and still leave roughly three months of runway to raise from evidence rather than urgency.</a:t>
            </a:r>
            <a:endParaRPr lang="en-US" sz="710" dirty="0"/>
          </a:p>
        </p:txBody>
      </p:sp>
      <p:sp>
        <p:nvSpPr>
          <p:cNvPr id="31" name="Text 29"/>
          <p:cNvSpPr txBox="1"/>
          <p:nvPr/>
        </p:nvSpPr>
        <p:spPr>
          <a:xfrm>
            <a:off x="621792" y="5614416"/>
            <a:ext cx="10948111" cy="640080"/>
          </a:xfrm>
          <a:prstGeom prst="rect">
            <a:avLst/>
          </a:prstGeom>
          <a:noFill/>
          <a:ln/>
        </p:spPr>
        <p:txBody>
          <a:bodyPr wrap="square" lIns="0" tIns="0" rIns="0" bIns="0" rtlCol="0" anchor="t"/>
          <a:lstStyle/>
          <a:p>
            <a:pPr algn="l" indent="0" marL="0">
              <a:lnSpc>
                <a:spcPct val="112000"/>
              </a:lnSpc>
              <a:buNone/>
            </a:pPr>
            <a:r>
              <a:rPr lang="en-US" sz="830" i="1" dirty="0">
                <a:solidFill>
                  <a:srgbClr val="72879D"/>
                </a:solidFill>
                <a:latin typeface="Arial" pitchFamily="34" charset="0"/>
                <a:ea typeface="Arial" pitchFamily="34" charset="-122"/>
                <a:cs typeface="Arial" pitchFamily="34" charset="-120"/>
              </a:rPr>
              <a:t>Plan envelope: $3,000K total · 18 months · operating subtotal excluding reserve $2,528K · implied average operating burn ~$140K/month (~$167K if the reserve is fully drawn). No actual quote is held for any gate — three written quotes for the Gate 3 demonstrator is the single highest-value diligence action available before the deck is used at scale.</a:t>
            </a:r>
            <a:endParaRPr lang="en-US" sz="8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Syntrex Advanced Systems — Appendix, September 2026</dc:title>
  <dc:subject>PptxGenJS Presentation</dc:subject>
  <dc:creator>Syntrex Advanced Systems</dc:creator>
  <cp:lastModifiedBy>Syntrex Advanced Systems</cp:lastModifiedBy>
  <cp:revision>1</cp:revision>
  <dcterms:created xsi:type="dcterms:W3CDTF">2026-09-09T00:19:23Z</dcterms:created>
  <dcterms:modified xsi:type="dcterms:W3CDTF">2026-09-09T00:19:23Z</dcterms:modified>
</cp:coreProperties>
</file>