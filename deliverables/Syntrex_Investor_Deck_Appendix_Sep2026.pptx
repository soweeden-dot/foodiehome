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177 trials: the claim is per geometry — pooling assumes away the variable under test. Trials interleaved, not blocked, so drift and operator learning are not confounded with geometry. No test has been run. No figure is a vendor quote except the component list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slide exists: the question a buyer's quality authority asks first. Showing it with its rules and evidence column intact, and the system held at 2,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A-1   ·   01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A-1 · GATE 1 — EXPERIMENTAL DESIGN AND THE STATISTICAL TREATMENT</a:t>
            </a:r>
            <a:endParaRPr lang="en-US" sz="1000" dirty="0"/>
          </a:p>
        </p:txBody>
      </p:sp>
      <p:sp>
        <p:nvSpPr>
          <p:cNvPr id="5" name="Text 3"/>
          <p:cNvSpPr txBox="1"/>
          <p:nvPr/>
        </p:nvSpPr>
        <p:spPr>
          <a:xfrm>
            <a:off x="621792" y="786384"/>
            <a:ext cx="10948111" cy="457200"/>
          </a:xfrm>
          <a:prstGeom prst="rect">
            <a:avLst/>
          </a:prstGeom>
          <a:noFill/>
          <a:ln/>
        </p:spPr>
        <p:txBody>
          <a:bodyPr wrap="square" lIns="0" tIns="0" rIns="0" bIns="0" rtlCol="0" anchor="t"/>
          <a:lstStyle/>
          <a:p>
            <a:pPr indent="0" marL="0">
              <a:lnSpc>
                <a:spcPct val="102000"/>
              </a:lnSpc>
              <a:buNone/>
            </a:pPr>
            <a:r>
              <a:rPr lang="en-US" sz="2100" b="1" dirty="0">
                <a:solidFill>
                  <a:srgbClr val="EAF2FA"/>
                </a:solidFill>
                <a:latin typeface="Arial" pitchFamily="34" charset="0"/>
                <a:ea typeface="Arial" pitchFamily="34" charset="-122"/>
                <a:cs typeface="Arial" pitchFamily="34" charset="-120"/>
              </a:rPr>
              <a:t>Every gate is designed so that failure is cheap and informative.</a:t>
            </a:r>
            <a:endParaRPr lang="en-US" sz="2100" dirty="0"/>
          </a:p>
        </p:txBody>
      </p:sp>
      <p:sp>
        <p:nvSpPr>
          <p:cNvPr id="6" name="Text 4"/>
          <p:cNvSpPr txBox="1"/>
          <p:nvPr/>
        </p:nvSpPr>
        <p:spPr>
          <a:xfrm>
            <a:off x="621792" y="1207008"/>
            <a:ext cx="10948111" cy="219456"/>
          </a:xfrm>
          <a:prstGeom prst="rect">
            <a:avLst/>
          </a:prstGeom>
          <a:noFill/>
          <a:ln/>
        </p:spPr>
        <p:txBody>
          <a:bodyPr wrap="square" lIns="0" tIns="0" rIns="0" bIns="0" rtlCol="0" anchor="ctr"/>
          <a:lstStyle/>
          <a:p>
            <a:pPr indent="0" marL="0">
              <a:buNone/>
            </a:pPr>
            <a:r>
              <a:rPr lang="en-US" sz="1000" i="1" dirty="0">
                <a:solidFill>
                  <a:srgbClr val="6FD3FF"/>
                </a:solidFill>
                <a:latin typeface="Arial" pitchFamily="34" charset="0"/>
                <a:ea typeface="Arial" pitchFamily="34" charset="-122"/>
                <a:cs typeface="Arial" pitchFamily="34" charset="-120"/>
              </a:rPr>
              <a:t>A gate that cannot fail has not been designed.</a:t>
            </a:r>
            <a:endParaRPr lang="en-US" sz="1000" dirty="0"/>
          </a:p>
        </p:txBody>
      </p:sp>
      <p:sp>
        <p:nvSpPr>
          <p:cNvPr id="7" name="Text 5"/>
          <p:cNvSpPr txBox="1"/>
          <p:nvPr/>
        </p:nvSpPr>
        <p:spPr>
          <a:xfrm>
            <a:off x="621792" y="1536192"/>
            <a:ext cx="5943600" cy="2286000"/>
          </a:xfrm>
          <a:prstGeom prst="rect">
            <a:avLst/>
          </a:prstGeom>
          <a:noFill/>
          <a:ln/>
        </p:spPr>
        <p:txBody>
          <a:bodyPr wrap="square" lIns="0" tIns="0" rIns="0" bIns="0" rtlCol="0" anchor="t"/>
          <a:lstStyle/>
          <a:p>
            <a:pPr algn="l" indent="0" marL="0">
              <a:lnSpc>
                <a:spcPct val="114000"/>
              </a:lnSpc>
              <a:spcAft>
                <a:spcPts val="300"/>
              </a:spcAft>
              <a:buNone/>
            </a:pPr>
            <a:r>
              <a:rPr lang="en-US" sz="760" b="1" spc="160" kern="0" dirty="0">
                <a:solidFill>
                  <a:srgbClr val="6FD3FF"/>
                </a:solidFill>
                <a:latin typeface="Arial" pitchFamily="34" charset="0"/>
                <a:ea typeface="Arial" pitchFamily="34" charset="-122"/>
                <a:cs typeface="Arial" pitchFamily="34" charset="-120"/>
              </a:rPr>
              <a:t>HYPOTHESIS UNDER TEST</a:t>
            </a:r>
            <a:endParaRPr lang="en-US" sz="760" dirty="0"/>
          </a:p>
          <a:p>
            <a:pPr algn="l" indent="0" marL="0">
              <a:lnSpc>
                <a:spcPct val="114000"/>
              </a:lnSpc>
              <a:spcAft>
                <a:spcPts val="600"/>
              </a:spcAft>
              <a:buNone/>
            </a:pPr>
            <a:r>
              <a:rPr lang="en-US" sz="780" dirty="0">
                <a:solidFill>
                  <a:srgbClr val="A9BDD1"/>
                </a:solidFill>
                <a:latin typeface="Arial" pitchFamily="34" charset="0"/>
                <a:ea typeface="Arial" pitchFamily="34" charset="-122"/>
                <a:cs typeface="Arial" pitchFamily="34" charset="-120"/>
              </a:rPr>
              <a:t>Closed-loop tension makes pre-terminated bundle shape determined rather than estimated, such that the bundle seats repeatably from a branch-specific cassette into channelled structure across three cross-section geometries.</a:t>
            </a:r>
            <a:endParaRPr lang="en-US" sz="760" dirty="0"/>
          </a:p>
          <a:p>
            <a:pPr algn="l" indent="0" marL="0">
              <a:lnSpc>
                <a:spcPct val="114000"/>
              </a:lnSpc>
              <a:spcAft>
                <a:spcPts val="300"/>
              </a:spcAft>
              <a:buNone/>
            </a:pPr>
            <a:r>
              <a:rPr lang="en-US" sz="760" b="1" spc="160" kern="0" dirty="0">
                <a:solidFill>
                  <a:srgbClr val="6FD3FF"/>
                </a:solidFill>
                <a:latin typeface="Arial" pitchFamily="34" charset="0"/>
                <a:ea typeface="Arial" pitchFamily="34" charset="-122"/>
                <a:cs typeface="Arial" pitchFamily="34" charset="-120"/>
              </a:rPr>
              <a:t>PRE-REGISTRATION, BEFORE THE FIRST TRIAL</a:t>
            </a:r>
            <a:endParaRPr lang="en-US" sz="760" dirty="0"/>
          </a:p>
          <a:p>
            <a:pPr algn="l" indent="0" marL="0">
              <a:lnSpc>
                <a:spcPct val="114000"/>
              </a:lnSpc>
              <a:spcAft>
                <a:spcPts val="600"/>
              </a:spcAft>
              <a:buNone/>
            </a:pPr>
            <a:r>
              <a:rPr lang="en-US" sz="760" dirty="0">
                <a:solidFill>
                  <a:srgbClr val="A9BDD1"/>
                </a:solidFill>
                <a:latin typeface="Arial" pitchFamily="34" charset="0"/>
                <a:ea typeface="Arial" pitchFamily="34" charset="-122"/>
                <a:cs typeface="Arial" pitchFamily="34" charset="-120"/>
              </a:rPr>
              <a:t>The seating definition, sample size, decision rule and thresholds, analysis plan, measurement-uncertainty budget for ±3 mm (position uncertainty ≥3–4× smaller), the calibration chain — including confirming an accredited laboratory holds force/tension calibration on its published scope, not yet done, costs nothing — and the blinding statement (tension setpoint and trial order blinded; geometry cannot be, and is declared as such). Signed by the test owner and metrology reviewer; hazard assessment signed by a machine-safety practitioner.</a:t>
            </a:r>
            <a:endParaRPr lang="en-US" sz="760" dirty="0"/>
          </a:p>
          <a:p>
            <a:pPr algn="l" indent="0" marL="0">
              <a:lnSpc>
                <a:spcPct val="114000"/>
              </a:lnSpc>
              <a:spcAft>
                <a:spcPts val="300"/>
              </a:spcAft>
              <a:buNone/>
            </a:pPr>
            <a:r>
              <a:rPr lang="en-US" sz="760" b="1" spc="160" kern="0" dirty="0">
                <a:solidFill>
                  <a:srgbClr val="6FD3FF"/>
                </a:solidFill>
                <a:latin typeface="Arial" pitchFamily="34" charset="0"/>
                <a:ea typeface="Arial" pitchFamily="34" charset="-122"/>
                <a:cs typeface="Arial" pitchFamily="34" charset="-120"/>
              </a:rPr>
              <a:t>DESIGN</a:t>
            </a:r>
            <a:endParaRPr lang="en-US" sz="760" dirty="0"/>
          </a:p>
          <a:p>
            <a:pPr algn="l" indent="0" marL="0">
              <a:lnSpc>
                <a:spcPct val="114000"/>
              </a:lnSpc>
              <a:buNone/>
            </a:pPr>
            <a:r>
              <a:rPr lang="en-US" sz="780" dirty="0">
                <a:solidFill>
                  <a:srgbClr val="A9BDD1"/>
                </a:solidFill>
                <a:latin typeface="Arial" pitchFamily="34" charset="0"/>
                <a:ea typeface="Arial" pitchFamily="34" charset="-122"/>
                <a:cs typeface="Arial" pitchFamily="34" charset="-120"/>
              </a:rPr>
              <a:t>Three channel geometries; trials interleaved one per geometry per cycle, never blocked; scale artefact and tension transducer verified per block; analysis per geometry, never pooled.</a:t>
            </a:r>
            <a:endParaRPr lang="en-US" sz="760" dirty="0"/>
          </a:p>
        </p:txBody>
      </p:sp>
      <p:sp>
        <p:nvSpPr>
          <p:cNvPr id="8" name="Shape 6"/>
          <p:cNvSpPr/>
          <p:nvPr/>
        </p:nvSpPr>
        <p:spPr>
          <a:xfrm>
            <a:off x="621792" y="3895344"/>
            <a:ext cx="5943600" cy="0"/>
          </a:xfrm>
          <a:prstGeom prst="line">
            <a:avLst/>
          </a:prstGeom>
          <a:noFill/>
          <a:ln w="9525">
            <a:solidFill>
              <a:srgbClr val="23405C"/>
            </a:solidFill>
            <a:prstDash val="solid"/>
          </a:ln>
        </p:spPr>
      </p:sp>
      <p:sp>
        <p:nvSpPr>
          <p:cNvPr id="9" name="Text 7"/>
          <p:cNvSpPr txBox="1"/>
          <p:nvPr/>
        </p:nvSpPr>
        <p:spPr>
          <a:xfrm>
            <a:off x="640080" y="3913632"/>
            <a:ext cx="2889504" cy="292608"/>
          </a:xfrm>
          <a:prstGeom prst="rect">
            <a:avLst/>
          </a:prstGeom>
          <a:noFill/>
          <a:ln/>
        </p:spPr>
        <p:txBody>
          <a:bodyPr wrap="square" lIns="0" tIns="0" rIns="0" bIns="0" rtlCol="0" anchor="t"/>
          <a:lstStyle/>
          <a:p>
            <a:pPr indent="0" marL="0">
              <a:lnSpc>
                <a:spcPct val="100000"/>
              </a:lnSpc>
              <a:buNone/>
            </a:pPr>
            <a:r>
              <a:rPr lang="en-US" sz="760" b="1" spc="100" kern="0" dirty="0">
                <a:solidFill>
                  <a:srgbClr val="72879D"/>
                </a:solidFill>
                <a:latin typeface="Arial" pitchFamily="34" charset="0"/>
                <a:ea typeface="Arial" pitchFamily="34" charset="-122"/>
                <a:cs typeface="Arial" pitchFamily="34" charset="-120"/>
              </a:rPr>
              <a:t>DESIGN</a:t>
            </a:r>
            <a:endParaRPr lang="en-US" sz="760" dirty="0"/>
          </a:p>
        </p:txBody>
      </p:sp>
      <p:sp>
        <p:nvSpPr>
          <p:cNvPr id="10" name="Text 8"/>
          <p:cNvSpPr txBox="1"/>
          <p:nvPr/>
        </p:nvSpPr>
        <p:spPr>
          <a:xfrm>
            <a:off x="3566160" y="3913632"/>
            <a:ext cx="2980944" cy="292608"/>
          </a:xfrm>
          <a:prstGeom prst="rect">
            <a:avLst/>
          </a:prstGeom>
          <a:noFill/>
          <a:ln/>
        </p:spPr>
        <p:txBody>
          <a:bodyPr wrap="square" lIns="0" tIns="0" rIns="0" bIns="0" rtlCol="0" anchor="t"/>
          <a:lstStyle/>
          <a:p>
            <a:pPr indent="0" marL="0">
              <a:lnSpc>
                <a:spcPct val="100000"/>
              </a:lnSpc>
              <a:buNone/>
            </a:pPr>
            <a:r>
              <a:rPr lang="en-US" sz="760" b="1" spc="100" kern="0" dirty="0">
                <a:solidFill>
                  <a:srgbClr val="72879D"/>
                </a:solidFill>
                <a:latin typeface="Arial" pitchFamily="34" charset="0"/>
                <a:ea typeface="Arial" pitchFamily="34" charset="-122"/>
                <a:cs typeface="Arial" pitchFamily="34" charset="-120"/>
              </a:rPr>
              <a:t>SUPPORTS AT ONE-SIDED 95%</a:t>
            </a:r>
            <a:endParaRPr lang="en-US" sz="760" dirty="0"/>
          </a:p>
        </p:txBody>
      </p:sp>
      <p:sp>
        <p:nvSpPr>
          <p:cNvPr id="11" name="Shape 9"/>
          <p:cNvSpPr/>
          <p:nvPr/>
        </p:nvSpPr>
        <p:spPr>
          <a:xfrm>
            <a:off x="621792" y="4187952"/>
            <a:ext cx="5943600" cy="0"/>
          </a:xfrm>
          <a:prstGeom prst="line">
            <a:avLst/>
          </a:prstGeom>
          <a:noFill/>
          <a:ln w="9525">
            <a:solidFill>
              <a:srgbClr val="23405C"/>
            </a:solidFill>
            <a:prstDash val="solid"/>
          </a:ln>
        </p:spPr>
      </p:sp>
      <p:sp>
        <p:nvSpPr>
          <p:cNvPr id="12" name="Text 10"/>
          <p:cNvSpPr txBox="1"/>
          <p:nvPr/>
        </p:nvSpPr>
        <p:spPr>
          <a:xfrm>
            <a:off x="640080" y="4206240"/>
            <a:ext cx="288950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n = 30 per geometry, zero failures</a:t>
            </a:r>
            <a:endParaRPr lang="en-US" sz="760" dirty="0"/>
          </a:p>
        </p:txBody>
      </p:sp>
      <p:sp>
        <p:nvSpPr>
          <p:cNvPr id="13" name="Text 11"/>
          <p:cNvSpPr txBox="1"/>
          <p:nvPr/>
        </p:nvSpPr>
        <p:spPr>
          <a:xfrm>
            <a:off x="3566160" y="4206240"/>
            <a:ext cx="298094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 90.5%</a:t>
            </a:r>
            <a:endParaRPr lang="en-US" sz="760" dirty="0"/>
          </a:p>
        </p:txBody>
      </p:sp>
      <p:sp>
        <p:nvSpPr>
          <p:cNvPr id="14" name="Shape 12"/>
          <p:cNvSpPr/>
          <p:nvPr/>
        </p:nvSpPr>
        <p:spPr>
          <a:xfrm>
            <a:off x="621792" y="4480560"/>
            <a:ext cx="5943600" cy="0"/>
          </a:xfrm>
          <a:prstGeom prst="line">
            <a:avLst/>
          </a:prstGeom>
          <a:noFill/>
          <a:ln w="9525">
            <a:solidFill>
              <a:srgbClr val="23405C"/>
            </a:solidFill>
            <a:prstDash val="solid"/>
          </a:ln>
        </p:spPr>
      </p:sp>
      <p:sp>
        <p:nvSpPr>
          <p:cNvPr id="15" name="Text 13"/>
          <p:cNvSpPr txBox="1"/>
          <p:nvPr/>
        </p:nvSpPr>
        <p:spPr>
          <a:xfrm>
            <a:off x="640080" y="4498848"/>
            <a:ext cx="288950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n = 45 per geometry, zero failures</a:t>
            </a:r>
            <a:endParaRPr lang="en-US" sz="760" dirty="0"/>
          </a:p>
        </p:txBody>
      </p:sp>
      <p:sp>
        <p:nvSpPr>
          <p:cNvPr id="16" name="Text 14"/>
          <p:cNvSpPr txBox="1"/>
          <p:nvPr/>
        </p:nvSpPr>
        <p:spPr>
          <a:xfrm>
            <a:off x="3566160" y="4498848"/>
            <a:ext cx="298094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 93.6%</a:t>
            </a:r>
            <a:endParaRPr lang="en-US" sz="760" dirty="0"/>
          </a:p>
        </p:txBody>
      </p:sp>
      <p:sp>
        <p:nvSpPr>
          <p:cNvPr id="17" name="Shape 15"/>
          <p:cNvSpPr/>
          <p:nvPr/>
        </p:nvSpPr>
        <p:spPr>
          <a:xfrm>
            <a:off x="621792" y="4773168"/>
            <a:ext cx="5943600" cy="0"/>
          </a:xfrm>
          <a:prstGeom prst="line">
            <a:avLst/>
          </a:prstGeom>
          <a:noFill/>
          <a:ln w="9525">
            <a:solidFill>
              <a:srgbClr val="23405C"/>
            </a:solidFill>
            <a:prstDash val="solid"/>
          </a:ln>
        </p:spPr>
      </p:sp>
      <p:sp>
        <p:nvSpPr>
          <p:cNvPr id="18" name="Text 16"/>
          <p:cNvSpPr txBox="1"/>
          <p:nvPr/>
        </p:nvSpPr>
        <p:spPr>
          <a:xfrm>
            <a:off x="640080" y="4791456"/>
            <a:ext cx="288950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n = 59 per geometry, zero failures</a:t>
            </a:r>
            <a:endParaRPr lang="en-US" sz="760" dirty="0"/>
          </a:p>
        </p:txBody>
      </p:sp>
      <p:sp>
        <p:nvSpPr>
          <p:cNvPr id="19" name="Text 17"/>
          <p:cNvSpPr txBox="1"/>
          <p:nvPr/>
        </p:nvSpPr>
        <p:spPr>
          <a:xfrm>
            <a:off x="3566160" y="4791456"/>
            <a:ext cx="298094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 95.0% — the programme design, 177 trials</a:t>
            </a:r>
            <a:endParaRPr lang="en-US" sz="760" dirty="0"/>
          </a:p>
        </p:txBody>
      </p:sp>
      <p:sp>
        <p:nvSpPr>
          <p:cNvPr id="20" name="Shape 18"/>
          <p:cNvSpPr/>
          <p:nvPr/>
        </p:nvSpPr>
        <p:spPr>
          <a:xfrm>
            <a:off x="621792" y="5065776"/>
            <a:ext cx="5943600" cy="0"/>
          </a:xfrm>
          <a:prstGeom prst="line">
            <a:avLst/>
          </a:prstGeom>
          <a:noFill/>
          <a:ln w="9525">
            <a:solidFill>
              <a:srgbClr val="23405C"/>
            </a:solidFill>
            <a:prstDash val="solid"/>
          </a:ln>
        </p:spPr>
      </p:sp>
      <p:sp>
        <p:nvSpPr>
          <p:cNvPr id="21" name="Text 19"/>
          <p:cNvSpPr txBox="1"/>
          <p:nvPr/>
        </p:nvSpPr>
        <p:spPr>
          <a:xfrm>
            <a:off x="640080" y="5084064"/>
            <a:ext cx="288950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n = 90 pooled across geometries</a:t>
            </a:r>
            <a:endParaRPr lang="en-US" sz="760" dirty="0"/>
          </a:p>
        </p:txBody>
      </p:sp>
      <p:sp>
        <p:nvSpPr>
          <p:cNvPr id="22" name="Text 20"/>
          <p:cNvSpPr txBox="1"/>
          <p:nvPr/>
        </p:nvSpPr>
        <p:spPr>
          <a:xfrm>
            <a:off x="3566160" y="5084064"/>
            <a:ext cx="2980944" cy="292608"/>
          </a:xfrm>
          <a:prstGeom prst="rect">
            <a:avLst/>
          </a:prstGeom>
          <a:noFill/>
          <a:ln/>
        </p:spPr>
        <p:txBody>
          <a:bodyPr wrap="square" lIns="0" tIns="0" rIns="0" bIns="0" rtlCol="0" anchor="t"/>
          <a:lstStyle/>
          <a:p>
            <a:pPr indent="0" marL="0">
              <a:lnSpc>
                <a:spcPct val="100000"/>
              </a:lnSpc>
              <a:buNone/>
            </a:pPr>
            <a:r>
              <a:rPr lang="en-US" sz="760" dirty="0">
                <a:solidFill>
                  <a:srgbClr val="A9BDD1"/>
                </a:solidFill>
                <a:latin typeface="Arial" pitchFamily="34" charset="0"/>
                <a:ea typeface="Arial" pitchFamily="34" charset="-122"/>
                <a:cs typeface="Arial" pitchFamily="34" charset="-120"/>
              </a:rPr>
              <a:t>≥ 96.7% — only if geometry is not a factor, which is what the test exists to determine</a:t>
            </a:r>
            <a:endParaRPr lang="en-US" sz="760" dirty="0"/>
          </a:p>
        </p:txBody>
      </p:sp>
      <p:sp>
        <p:nvSpPr>
          <p:cNvPr id="23" name="Text 21"/>
          <p:cNvSpPr txBox="1"/>
          <p:nvPr/>
        </p:nvSpPr>
        <p:spPr>
          <a:xfrm>
            <a:off x="621792" y="5559552"/>
            <a:ext cx="5943600" cy="777240"/>
          </a:xfrm>
          <a:prstGeom prst="rect">
            <a:avLst/>
          </a:prstGeom>
          <a:noFill/>
          <a:ln/>
        </p:spPr>
        <p:txBody>
          <a:bodyPr wrap="square" lIns="0" tIns="0" rIns="0" bIns="0" rtlCol="0" anchor="t"/>
          <a:lstStyle/>
          <a:p>
            <a:pPr algn="l" indent="0" marL="0">
              <a:lnSpc>
                <a:spcPct val="110000"/>
              </a:lnSpc>
              <a:spcAft>
                <a:spcPts val="500"/>
              </a:spcAft>
              <a:buNone/>
            </a:pPr>
            <a:r>
              <a:rPr lang="en-US" sz="740" dirty="0">
                <a:solidFill>
                  <a:srgbClr val="A9BDD1"/>
                </a:solidFill>
                <a:latin typeface="Arial" pitchFamily="34" charset="0"/>
                <a:ea typeface="Arial" pitchFamily="34" charset="-122"/>
                <a:cs typeface="Arial" pitchFamily="34" charset="-120"/>
              </a:rPr>
              <a:t>Decision rule: PASS — the one-sided 95% lower confidence bound meets the declared threshold, scatter ≤±3mm, no abrasion. CONDITIONAL — bound between kill and pass. KILL — below kill threshold, or any insulation damage. At n=59/geometry, 95% pass/85% kill: 59/59→PASS; 55–58/59 (93.2–98.3% observed)→CONDITIONAL; ≤54/59→KILL. The published 75–80% state of the art returns KILL.</a:t>
            </a:r>
            <a:endParaRPr lang="en-US" sz="740" dirty="0"/>
          </a:p>
          <a:p>
            <a:pPr algn="l" indent="0" marL="0">
              <a:lnSpc>
                <a:spcPct val="110000"/>
              </a:lnSpc>
              <a:buNone/>
            </a:pPr>
            <a:r>
              <a:rPr lang="en-US" sz="740" i="1" dirty="0">
                <a:solidFill>
                  <a:srgbClr val="72879D"/>
                </a:solidFill>
                <a:latin typeface="Arial" pitchFamily="34" charset="0"/>
                <a:ea typeface="Arial" pitchFamily="34" charset="-122"/>
                <a:cs typeface="Arial" pitchFamily="34" charset="-120"/>
              </a:rPr>
              <a:t>Why the rule changed: the previous rule fired PASS on a raw observed proportion — at n=30, 29/30 (96.7% observed) would have passed while its lower bound sits below the 90.5% a zero-failure run supports.</a:t>
            </a:r>
            <a:endParaRPr lang="en-US" sz="740" dirty="0"/>
          </a:p>
        </p:txBody>
      </p:sp>
      <p:sp>
        <p:nvSpPr>
          <p:cNvPr id="24" name="Shape 22"/>
          <p:cNvSpPr/>
          <p:nvPr/>
        </p:nvSpPr>
        <p:spPr>
          <a:xfrm>
            <a:off x="6400800" y="1536192"/>
            <a:ext cx="5166360" cy="4480560"/>
          </a:xfrm>
          <a:prstGeom prst="roundRect">
            <a:avLst>
              <a:gd name="adj" fmla="val 1837"/>
            </a:avLst>
          </a:prstGeom>
          <a:solidFill>
            <a:srgbClr val="0F1E31">
              <a:alpha val="68000"/>
            </a:srgbClr>
          </a:solidFill>
          <a:ln w="9525">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25" name="Text 23"/>
          <p:cNvSpPr txBox="1"/>
          <p:nvPr/>
        </p:nvSpPr>
        <p:spPr>
          <a:xfrm>
            <a:off x="6620256" y="1700784"/>
            <a:ext cx="4754880" cy="4206240"/>
          </a:xfrm>
          <a:prstGeom prst="rect">
            <a:avLst/>
          </a:prstGeom>
          <a:noFill/>
          <a:ln/>
        </p:spPr>
        <p:txBody>
          <a:bodyPr wrap="square" lIns="0" tIns="0" rIns="0" bIns="0" rtlCol="0" anchor="t"/>
          <a:lstStyle/>
          <a:p>
            <a:pPr algn="l" indent="0" marL="0">
              <a:lnSpc>
                <a:spcPct val="110000"/>
              </a:lnSpc>
              <a:spcAft>
                <a:spcPts val="300"/>
              </a:spcAft>
              <a:buNone/>
            </a:pPr>
            <a:r>
              <a:rPr lang="en-US" sz="760" b="1" spc="120" kern="0" dirty="0">
                <a:solidFill>
                  <a:srgbClr val="6FD3FF"/>
                </a:solidFill>
                <a:latin typeface="Arial" pitchFamily="34" charset="0"/>
                <a:ea typeface="Arial" pitchFamily="34" charset="-122"/>
                <a:cs typeface="Arial" pitchFamily="34" charset="-120"/>
              </a:rPr>
              <a:t>MAPS TO A REAL ACCEPTANCE STANDARD</a:t>
            </a:r>
            <a:endParaRPr lang="en-US" sz="760" dirty="0"/>
          </a:p>
          <a:p>
            <a:pPr algn="l" indent="0" marL="0">
              <a:lnSpc>
                <a:spcPct val="110000"/>
              </a:lnSpc>
              <a:spcAft>
                <a:spcPts val="600"/>
              </a:spcAft>
              <a:buNone/>
            </a:pPr>
            <a:r>
              <a:rPr lang="en-US" sz="760" dirty="0">
                <a:solidFill>
                  <a:srgbClr val="A9BDD1"/>
                </a:solidFill>
                <a:latin typeface="Arial" pitchFamily="34" charset="0"/>
                <a:ea typeface="Arial" pitchFamily="34" charset="-122"/>
                <a:cs typeface="Arial" pitchFamily="34" charset="-120"/>
              </a:rPr>
              <a:t>Insulation damage and bend radius (FAA AC 25.1701-1: minimum bend radius 10× OD; two re-terminations without wire replacement; identification at ≤15 in). The ±3mm criterion is the programme's own.</a:t>
            </a:r>
            <a:endParaRPr lang="en-US" sz="760" dirty="0"/>
          </a:p>
          <a:p>
            <a:pPr algn="l" indent="0" marL="0">
              <a:lnSpc>
                <a:spcPct val="110000"/>
              </a:lnSpc>
              <a:spcAft>
                <a:spcPts val="300"/>
              </a:spcAft>
              <a:buNone/>
            </a:pPr>
            <a:r>
              <a:rPr lang="en-US" sz="760" b="1" spc="120" kern="0" dirty="0">
                <a:solidFill>
                  <a:srgbClr val="6FD3FF"/>
                </a:solidFill>
                <a:latin typeface="Arial" pitchFamily="34" charset="0"/>
                <a:ea typeface="Arial" pitchFamily="34" charset="-122"/>
                <a:cs typeface="Arial" pitchFamily="34" charset="-120"/>
              </a:rPr>
              <a:t>EXPECTATION</a:t>
            </a:r>
            <a:endParaRPr lang="en-US" sz="760" dirty="0"/>
          </a:p>
          <a:p>
            <a:pPr algn="l" indent="0" marL="0">
              <a:lnSpc>
                <a:spcPct val="110000"/>
              </a:lnSpc>
              <a:spcAft>
                <a:spcPts val="600"/>
              </a:spcAft>
              <a:buNone/>
            </a:pPr>
            <a:r>
              <a:rPr lang="en-US" sz="760" dirty="0">
                <a:solidFill>
                  <a:srgbClr val="A9BDD1"/>
                </a:solidFill>
                <a:latin typeface="Arial" pitchFamily="34" charset="0"/>
                <a:ea typeface="Arial" pitchFamily="34" charset="-122"/>
                <a:cs typeface="Arial" pitchFamily="34" charset="-120"/>
              </a:rPr>
              <a:t>Nearest published laboratory result: 75–80%, on a simpler problem, ran slower than manual. Under this rule that result is a KILL — deliberately set above the state of the art. Geometry-dependent results would be the most informative outcome of all.</a:t>
            </a:r>
            <a:endParaRPr lang="en-US" sz="760" dirty="0"/>
          </a:p>
          <a:p>
            <a:pPr algn="l" indent="0" marL="0">
              <a:lnSpc>
                <a:spcPct val="110000"/>
              </a:lnSpc>
              <a:spcAft>
                <a:spcPts val="300"/>
              </a:spcAft>
              <a:buNone/>
            </a:pPr>
            <a:r>
              <a:rPr lang="en-US" sz="760" b="1" spc="120" kern="0" dirty="0">
                <a:solidFill>
                  <a:srgbClr val="6FD3FF"/>
                </a:solidFill>
                <a:latin typeface="Arial" pitchFamily="34" charset="0"/>
                <a:ea typeface="Arial" pitchFamily="34" charset="-122"/>
                <a:cs typeface="Arial" pitchFamily="34" charset="-120"/>
              </a:rPr>
              <a:t>RIG DEFECTS FOUND IN ADVERSARIAL REVIEW, FIXED IN THE PLAN</a:t>
            </a:r>
            <a:endParaRPr lang="en-US" sz="760" dirty="0"/>
          </a:p>
          <a:p>
            <a:pPr algn="l" indent="0" marL="0">
              <a:lnSpc>
                <a:spcPct val="110000"/>
              </a:lnSpc>
              <a:spcAft>
                <a:spcPts val="600"/>
              </a:spcAft>
              <a:buNone/>
            </a:pPr>
            <a:r>
              <a:rPr lang="en-US" sz="760" dirty="0">
                <a:solidFill>
                  <a:srgbClr val="A9BDD1"/>
                </a:solidFill>
                <a:latin typeface="Arial" pitchFamily="34" charset="0"/>
                <a:ea typeface="Arial" pitchFamily="34" charset="-122"/>
                <a:cs typeface="Arial" pitchFamily="34" charset="-120"/>
              </a:rPr>
              <a:t>No motion controller or closed loop; silent stepper stall on the very event the test detects; a 200 kg load cell whose ±0.39N fixed error is a large fraction of single-digit-newton tension (lower-range cell specified); no uncertainty budget for ±3mm.</a:t>
            </a:r>
            <a:endParaRPr lang="en-US" sz="760" dirty="0"/>
          </a:p>
          <a:p>
            <a:pPr algn="l" indent="0" marL="0">
              <a:lnSpc>
                <a:spcPct val="110000"/>
              </a:lnSpc>
              <a:spcAft>
                <a:spcPts val="300"/>
              </a:spcAft>
              <a:buNone/>
            </a:pPr>
            <a:r>
              <a:rPr lang="en-US" sz="760" b="1" spc="120" kern="0" dirty="0">
                <a:solidFill>
                  <a:srgbClr val="6FD3FF"/>
                </a:solidFill>
                <a:latin typeface="Arial" pitchFamily="34" charset="0"/>
                <a:ea typeface="Arial" pitchFamily="34" charset="-122"/>
                <a:cs typeface="Arial" pitchFamily="34" charset="-120"/>
              </a:rPr>
              <a:t>BACKUP EXPERIMENT</a:t>
            </a:r>
            <a:endParaRPr lang="en-US" sz="760" dirty="0"/>
          </a:p>
          <a:p>
            <a:pPr algn="l" indent="0" marL="0">
              <a:lnSpc>
                <a:spcPct val="110000"/>
              </a:lnSpc>
              <a:spcAft>
                <a:spcPts val="600"/>
              </a:spcAft>
              <a:buNone/>
            </a:pPr>
            <a:r>
              <a:rPr lang="en-US" sz="760" dirty="0">
                <a:solidFill>
                  <a:srgbClr val="A9BDD1"/>
                </a:solidFill>
                <a:latin typeface="Arial" pitchFamily="34" charset="0"/>
                <a:ea typeface="Arial" pitchFamily="34" charset="-122"/>
                <a:cs typeface="Arial" pitchFamily="34" charset="-120"/>
              </a:rPr>
              <a:t>A passive constant-force feed with the same instrumentation — distinguishes 'we cannot control tension' from 'controlled tension does not determine shape.'</a:t>
            </a:r>
            <a:endParaRPr lang="en-US" sz="760" dirty="0"/>
          </a:p>
          <a:p>
            <a:pPr algn="l" indent="0" marL="0">
              <a:lnSpc>
                <a:spcPct val="110000"/>
              </a:lnSpc>
              <a:spcAft>
                <a:spcPts val="300"/>
              </a:spcAft>
              <a:buNone/>
            </a:pPr>
            <a:r>
              <a:rPr lang="en-US" sz="760" b="1" spc="120" kern="0" dirty="0">
                <a:solidFill>
                  <a:srgbClr val="6FD3FF"/>
                </a:solidFill>
                <a:latin typeface="Arial" pitchFamily="34" charset="0"/>
                <a:ea typeface="Arial" pitchFamily="34" charset="-122"/>
                <a:cs typeface="Arial" pitchFamily="34" charset="-120"/>
              </a:rPr>
              <a:t>COST &amp; SCHEDULE</a:t>
            </a:r>
            <a:endParaRPr lang="en-US" sz="760" dirty="0"/>
          </a:p>
          <a:p>
            <a:pPr algn="l" indent="0" marL="0">
              <a:lnSpc>
                <a:spcPct val="110000"/>
              </a:lnSpc>
              <a:buNone/>
            </a:pPr>
            <a:r>
              <a:rPr lang="en-US" sz="760" dirty="0">
                <a:solidFill>
                  <a:srgbClr val="A9BDD1"/>
                </a:solidFill>
                <a:latin typeface="Arial" pitchFamily="34" charset="0"/>
                <a:ea typeface="Arial" pitchFamily="34" charset="-122"/>
                <a:cs typeface="Arial" pitchFamily="34" charset="-120"/>
              </a:rPr>
              <a:t>Apparatus core $2,293 published ($2,848 with calibrated scale artefact; motion controller unpriced). E0.3 under $4,000 with no equipment on hand; E0.1–E0.3 block under $4,500. Funded programme ~$22,000 incl. two redesign-and-rerun cycles. Schedule ~11–14 weeks, ~4 waiting for machined panels, ordered at M0.</a:t>
            </a:r>
            <a:endParaRPr lang="en-US" sz="7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A-2   ·   02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A-2 · SUBSYSTEM READINESS — TRL, MRL AND AD²</a:t>
            </a:r>
            <a:endParaRPr lang="en-US" sz="1000" dirty="0"/>
          </a:p>
        </p:txBody>
      </p:sp>
      <p:sp>
        <p:nvSpPr>
          <p:cNvPr id="5" name="Text 3"/>
          <p:cNvSpPr txBox="1"/>
          <p:nvPr/>
        </p:nvSpPr>
        <p:spPr>
          <a:xfrm>
            <a:off x="621792" y="786384"/>
            <a:ext cx="10948111" cy="384048"/>
          </a:xfrm>
          <a:prstGeom prst="rect">
            <a:avLst/>
          </a:prstGeom>
          <a:noFill/>
          <a:ln/>
        </p:spPr>
        <p:txBody>
          <a:bodyPr wrap="square" lIns="0" tIns="0" rIns="0" bIns="0" rtlCol="0" anchor="t"/>
          <a:lstStyle/>
          <a:p>
            <a:pPr indent="0" marL="0">
              <a:lnSpc>
                <a:spcPct val="102000"/>
              </a:lnSpc>
              <a:buNone/>
            </a:pPr>
            <a:r>
              <a:rPr lang="en-US" sz="1800" b="1" dirty="0">
                <a:solidFill>
                  <a:srgbClr val="EAF2FA"/>
                </a:solidFill>
                <a:latin typeface="Arial" pitchFamily="34" charset="0"/>
                <a:ea typeface="Arial" pitchFamily="34" charset="-122"/>
                <a:cs typeface="Arial" pitchFamily="34" charset="-120"/>
              </a:rPr>
              <a:t>The twenty-element assessment, and the three rules that stop it inflating.</a:t>
            </a:r>
            <a:endParaRPr lang="en-US" sz="1800" dirty="0"/>
          </a:p>
        </p:txBody>
      </p:sp>
      <p:sp>
        <p:nvSpPr>
          <p:cNvPr id="6" name="Text 4"/>
          <p:cNvSpPr txBox="1"/>
          <p:nvPr/>
        </p:nvSpPr>
        <p:spPr>
          <a:xfrm>
            <a:off x="621792" y="1170432"/>
            <a:ext cx="10948111" cy="457200"/>
          </a:xfrm>
          <a:prstGeom prst="rect">
            <a:avLst/>
          </a:prstGeom>
          <a:noFill/>
          <a:ln/>
        </p:spPr>
        <p:txBody>
          <a:bodyPr wrap="square" lIns="0" tIns="0" rIns="0" bIns="0" rtlCol="0" anchor="t"/>
          <a:lstStyle/>
          <a:p>
            <a:pPr algn="l" indent="0" marL="0">
              <a:lnSpc>
                <a:spcPct val="110000"/>
              </a:lnSpc>
              <a:buNone/>
            </a:pPr>
            <a:r>
              <a:rPr lang="en-US" sz="720" dirty="0">
                <a:solidFill>
                  <a:srgbClr val="A9BDD1"/>
                </a:solidFill>
                <a:latin typeface="Arial" pitchFamily="34" charset="0"/>
                <a:ea typeface="Arial" pitchFamily="34" charset="-122"/>
                <a:cs typeface="Arial" pitchFamily="34" charset="-120"/>
              </a:rPr>
              <a:t>(1) Application specificity — a commodity arm, camera, load cell or industrial PC is TRL 9 in its own market and TRL 2–3 for authorized aerospace manufacturing under this architecture until validated doing this job. (2) No physical validation has occurred, so no element requiring it exceeds TRL 3. (3) System TRL is the minimum over the functions without which the system does not do its job — never an average.</a:t>
            </a:r>
            <a:endParaRPr lang="en-US" sz="720" dirty="0"/>
          </a:p>
        </p:txBody>
      </p:sp>
      <p:sp>
        <p:nvSpPr>
          <p:cNvPr id="7" name="Shape 5"/>
          <p:cNvSpPr/>
          <p:nvPr/>
        </p:nvSpPr>
        <p:spPr>
          <a:xfrm>
            <a:off x="621792" y="1700784"/>
            <a:ext cx="9738360" cy="0"/>
          </a:xfrm>
          <a:prstGeom prst="line">
            <a:avLst/>
          </a:prstGeom>
          <a:noFill/>
          <a:ln w="9525">
            <a:solidFill>
              <a:srgbClr val="23405C"/>
            </a:solidFill>
            <a:prstDash val="solid"/>
          </a:ln>
        </p:spPr>
      </p:sp>
      <p:sp>
        <p:nvSpPr>
          <p:cNvPr id="8" name="Text 6"/>
          <p:cNvSpPr txBox="1"/>
          <p:nvPr/>
        </p:nvSpPr>
        <p:spPr>
          <a:xfrm>
            <a:off x="640080" y="1719072"/>
            <a:ext cx="3209544" cy="187452"/>
          </a:xfrm>
          <a:prstGeom prst="rect">
            <a:avLst/>
          </a:prstGeom>
          <a:noFill/>
          <a:ln/>
        </p:spPr>
        <p:txBody>
          <a:bodyPr wrap="square" lIns="0" tIns="0" rIns="0" bIns="0" rtlCol="0" anchor="t"/>
          <a:lstStyle/>
          <a:p>
            <a:pPr indent="0" marL="0">
              <a:lnSpc>
                <a:spcPct val="100000"/>
              </a:lnSpc>
              <a:buNone/>
            </a:pPr>
            <a:r>
              <a:rPr lang="en-US" sz="610" b="1" spc="100" kern="0" dirty="0">
                <a:solidFill>
                  <a:srgbClr val="72879D"/>
                </a:solidFill>
                <a:latin typeface="Arial" pitchFamily="34" charset="0"/>
                <a:ea typeface="Arial" pitchFamily="34" charset="-122"/>
                <a:cs typeface="Arial" pitchFamily="34" charset="-120"/>
              </a:rPr>
              <a:t>ELEMENT</a:t>
            </a:r>
            <a:endParaRPr lang="en-US" sz="610" dirty="0"/>
          </a:p>
        </p:txBody>
      </p:sp>
      <p:sp>
        <p:nvSpPr>
          <p:cNvPr id="9" name="Text 7"/>
          <p:cNvSpPr txBox="1"/>
          <p:nvPr/>
        </p:nvSpPr>
        <p:spPr>
          <a:xfrm>
            <a:off x="3886200" y="1719072"/>
            <a:ext cx="740664" cy="187452"/>
          </a:xfrm>
          <a:prstGeom prst="rect">
            <a:avLst/>
          </a:prstGeom>
          <a:noFill/>
          <a:ln/>
        </p:spPr>
        <p:txBody>
          <a:bodyPr wrap="square" lIns="0" tIns="0" rIns="0" bIns="0" rtlCol="0" anchor="t"/>
          <a:lstStyle/>
          <a:p>
            <a:pPr indent="0" marL="0">
              <a:lnSpc>
                <a:spcPct val="100000"/>
              </a:lnSpc>
              <a:buNone/>
            </a:pPr>
            <a:r>
              <a:rPr lang="en-US" sz="610" b="1" spc="100" kern="0" dirty="0">
                <a:solidFill>
                  <a:srgbClr val="72879D"/>
                </a:solidFill>
                <a:latin typeface="Arial" pitchFamily="34" charset="0"/>
                <a:ea typeface="Arial" pitchFamily="34" charset="-122"/>
                <a:cs typeface="Arial" pitchFamily="34" charset="-120"/>
              </a:rPr>
              <a:t>NOW</a:t>
            </a:r>
            <a:endParaRPr lang="en-US" sz="610" dirty="0"/>
          </a:p>
        </p:txBody>
      </p:sp>
      <p:sp>
        <p:nvSpPr>
          <p:cNvPr id="10" name="Text 8"/>
          <p:cNvSpPr txBox="1"/>
          <p:nvPr/>
        </p:nvSpPr>
        <p:spPr>
          <a:xfrm>
            <a:off x="4663440" y="1719072"/>
            <a:ext cx="832104" cy="187452"/>
          </a:xfrm>
          <a:prstGeom prst="rect">
            <a:avLst/>
          </a:prstGeom>
          <a:noFill/>
          <a:ln/>
        </p:spPr>
        <p:txBody>
          <a:bodyPr wrap="square" lIns="0" tIns="0" rIns="0" bIns="0" rtlCol="0" anchor="t"/>
          <a:lstStyle/>
          <a:p>
            <a:pPr indent="0" marL="0">
              <a:lnSpc>
                <a:spcPct val="100000"/>
              </a:lnSpc>
              <a:buNone/>
            </a:pPr>
            <a:r>
              <a:rPr lang="en-US" sz="610" b="1" spc="100" kern="0" dirty="0">
                <a:solidFill>
                  <a:srgbClr val="72879D"/>
                </a:solidFill>
                <a:latin typeface="Arial" pitchFamily="34" charset="0"/>
                <a:ea typeface="Arial" pitchFamily="34" charset="-122"/>
                <a:cs typeface="Arial" pitchFamily="34" charset="-120"/>
              </a:rPr>
              <a:t>AFTER G1</a:t>
            </a:r>
            <a:endParaRPr lang="en-US" sz="610" dirty="0"/>
          </a:p>
        </p:txBody>
      </p:sp>
      <p:sp>
        <p:nvSpPr>
          <p:cNvPr id="11" name="Text 9"/>
          <p:cNvSpPr txBox="1"/>
          <p:nvPr/>
        </p:nvSpPr>
        <p:spPr>
          <a:xfrm>
            <a:off x="5532120" y="1719072"/>
            <a:ext cx="832104" cy="187452"/>
          </a:xfrm>
          <a:prstGeom prst="rect">
            <a:avLst/>
          </a:prstGeom>
          <a:noFill/>
          <a:ln/>
        </p:spPr>
        <p:txBody>
          <a:bodyPr wrap="square" lIns="0" tIns="0" rIns="0" bIns="0" rtlCol="0" anchor="t"/>
          <a:lstStyle/>
          <a:p>
            <a:pPr indent="0" marL="0">
              <a:lnSpc>
                <a:spcPct val="100000"/>
              </a:lnSpc>
              <a:buNone/>
            </a:pPr>
            <a:r>
              <a:rPr lang="en-US" sz="610" b="1" spc="100" kern="0" dirty="0">
                <a:solidFill>
                  <a:srgbClr val="72879D"/>
                </a:solidFill>
                <a:latin typeface="Arial" pitchFamily="34" charset="0"/>
                <a:ea typeface="Arial" pitchFamily="34" charset="-122"/>
                <a:cs typeface="Arial" pitchFamily="34" charset="-120"/>
              </a:rPr>
              <a:t>AFTER G2</a:t>
            </a:r>
            <a:endParaRPr lang="en-US" sz="610" dirty="0"/>
          </a:p>
        </p:txBody>
      </p:sp>
      <p:sp>
        <p:nvSpPr>
          <p:cNvPr id="12" name="Text 10"/>
          <p:cNvSpPr txBox="1"/>
          <p:nvPr/>
        </p:nvSpPr>
        <p:spPr>
          <a:xfrm>
            <a:off x="6400800" y="1719072"/>
            <a:ext cx="832104" cy="187452"/>
          </a:xfrm>
          <a:prstGeom prst="rect">
            <a:avLst/>
          </a:prstGeom>
          <a:noFill/>
          <a:ln/>
        </p:spPr>
        <p:txBody>
          <a:bodyPr wrap="square" lIns="0" tIns="0" rIns="0" bIns="0" rtlCol="0" anchor="t"/>
          <a:lstStyle/>
          <a:p>
            <a:pPr indent="0" marL="0">
              <a:lnSpc>
                <a:spcPct val="100000"/>
              </a:lnSpc>
              <a:buNone/>
            </a:pPr>
            <a:r>
              <a:rPr lang="en-US" sz="610" b="1" spc="100" kern="0" dirty="0">
                <a:solidFill>
                  <a:srgbClr val="72879D"/>
                </a:solidFill>
                <a:latin typeface="Arial" pitchFamily="34" charset="0"/>
                <a:ea typeface="Arial" pitchFamily="34" charset="-122"/>
                <a:cs typeface="Arial" pitchFamily="34" charset="-120"/>
              </a:rPr>
              <a:t>AFTER G3</a:t>
            </a:r>
            <a:endParaRPr lang="en-US" sz="610" dirty="0"/>
          </a:p>
        </p:txBody>
      </p:sp>
      <p:sp>
        <p:nvSpPr>
          <p:cNvPr id="13" name="Text 11"/>
          <p:cNvSpPr txBox="1"/>
          <p:nvPr/>
        </p:nvSpPr>
        <p:spPr>
          <a:xfrm>
            <a:off x="7269480" y="1719072"/>
            <a:ext cx="3072384" cy="187452"/>
          </a:xfrm>
          <a:prstGeom prst="rect">
            <a:avLst/>
          </a:prstGeom>
          <a:noFill/>
          <a:ln/>
        </p:spPr>
        <p:txBody>
          <a:bodyPr wrap="square" lIns="0" tIns="0" rIns="0" bIns="0" rtlCol="0" anchor="t"/>
          <a:lstStyle/>
          <a:p>
            <a:pPr indent="0" marL="0">
              <a:lnSpc>
                <a:spcPct val="100000"/>
              </a:lnSpc>
              <a:buNone/>
            </a:pPr>
            <a:r>
              <a:rPr lang="en-US" sz="610" b="1" spc="100" kern="0" dirty="0">
                <a:solidFill>
                  <a:srgbClr val="72879D"/>
                </a:solidFill>
                <a:latin typeface="Arial" pitchFamily="34" charset="0"/>
                <a:ea typeface="Arial" pitchFamily="34" charset="-122"/>
                <a:cs typeface="Arial" pitchFamily="34" charset="-120"/>
              </a:rPr>
              <a:t>CUSTOMER-RELEVANT</a:t>
            </a:r>
            <a:endParaRPr lang="en-US" sz="610" dirty="0"/>
          </a:p>
        </p:txBody>
      </p:sp>
      <p:sp>
        <p:nvSpPr>
          <p:cNvPr id="14" name="Shape 12"/>
          <p:cNvSpPr/>
          <p:nvPr/>
        </p:nvSpPr>
        <p:spPr>
          <a:xfrm>
            <a:off x="621792" y="1888236"/>
            <a:ext cx="9738360" cy="0"/>
          </a:xfrm>
          <a:prstGeom prst="line">
            <a:avLst/>
          </a:prstGeom>
          <a:noFill/>
          <a:ln w="9525">
            <a:solidFill>
              <a:srgbClr val="23405C"/>
            </a:solidFill>
            <a:prstDash val="solid"/>
          </a:ln>
        </p:spPr>
      </p:sp>
      <p:sp>
        <p:nvSpPr>
          <p:cNvPr id="15" name="Text 13"/>
          <p:cNvSpPr txBox="1"/>
          <p:nvPr/>
        </p:nvSpPr>
        <p:spPr>
          <a:xfrm>
            <a:off x="640080" y="1906524"/>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Authorization kernel</a:t>
            </a:r>
            <a:endParaRPr lang="en-US" sz="610" dirty="0"/>
          </a:p>
        </p:txBody>
      </p:sp>
      <p:sp>
        <p:nvSpPr>
          <p:cNvPr id="16" name="Text 14"/>
          <p:cNvSpPr txBox="1"/>
          <p:nvPr/>
        </p:nvSpPr>
        <p:spPr>
          <a:xfrm>
            <a:off x="3886200" y="1906524"/>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17" name="Text 15"/>
          <p:cNvSpPr txBox="1"/>
          <p:nvPr/>
        </p:nvSpPr>
        <p:spPr>
          <a:xfrm>
            <a:off x="4663440" y="190652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18" name="Text 16"/>
          <p:cNvSpPr txBox="1"/>
          <p:nvPr/>
        </p:nvSpPr>
        <p:spPr>
          <a:xfrm>
            <a:off x="5532120" y="190652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19" name="Text 17"/>
          <p:cNvSpPr txBox="1"/>
          <p:nvPr/>
        </p:nvSpPr>
        <p:spPr>
          <a:xfrm>
            <a:off x="6400800" y="190652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20" name="Text 18"/>
          <p:cNvSpPr txBox="1"/>
          <p:nvPr/>
        </p:nvSpPr>
        <p:spPr>
          <a:xfrm>
            <a:off x="7269480" y="1906524"/>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6</a:t>
            </a:r>
            <a:endParaRPr lang="en-US" sz="610" dirty="0"/>
          </a:p>
        </p:txBody>
      </p:sp>
      <p:sp>
        <p:nvSpPr>
          <p:cNvPr id="21" name="Shape 19"/>
          <p:cNvSpPr/>
          <p:nvPr/>
        </p:nvSpPr>
        <p:spPr>
          <a:xfrm>
            <a:off x="621792" y="2075688"/>
            <a:ext cx="9738360" cy="0"/>
          </a:xfrm>
          <a:prstGeom prst="line">
            <a:avLst/>
          </a:prstGeom>
          <a:noFill/>
          <a:ln w="9525">
            <a:solidFill>
              <a:srgbClr val="23405C"/>
            </a:solidFill>
            <a:prstDash val="solid"/>
          </a:ln>
        </p:spPr>
      </p:sp>
      <p:sp>
        <p:nvSpPr>
          <p:cNvPr id="22" name="Text 20"/>
          <p:cNvSpPr txBox="1"/>
          <p:nvPr/>
        </p:nvSpPr>
        <p:spPr>
          <a:xfrm>
            <a:off x="640080" y="2093976"/>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Decision rule (k, combination, guard band)</a:t>
            </a:r>
            <a:endParaRPr lang="en-US" sz="610" dirty="0"/>
          </a:p>
        </p:txBody>
      </p:sp>
      <p:sp>
        <p:nvSpPr>
          <p:cNvPr id="23" name="Text 21"/>
          <p:cNvSpPr txBox="1"/>
          <p:nvPr/>
        </p:nvSpPr>
        <p:spPr>
          <a:xfrm>
            <a:off x="3886200" y="2093976"/>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24" name="Text 22"/>
          <p:cNvSpPr txBox="1"/>
          <p:nvPr/>
        </p:nvSpPr>
        <p:spPr>
          <a:xfrm>
            <a:off x="4663440" y="209397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25" name="Text 23"/>
          <p:cNvSpPr txBox="1"/>
          <p:nvPr/>
        </p:nvSpPr>
        <p:spPr>
          <a:xfrm>
            <a:off x="5532120" y="209397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26" name="Text 24"/>
          <p:cNvSpPr txBox="1"/>
          <p:nvPr/>
        </p:nvSpPr>
        <p:spPr>
          <a:xfrm>
            <a:off x="6400800" y="209397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27" name="Text 25"/>
          <p:cNvSpPr txBox="1"/>
          <p:nvPr/>
        </p:nvSpPr>
        <p:spPr>
          <a:xfrm>
            <a:off x="7269480" y="2093976"/>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6</a:t>
            </a:r>
            <a:endParaRPr lang="en-US" sz="610" dirty="0"/>
          </a:p>
        </p:txBody>
      </p:sp>
      <p:sp>
        <p:nvSpPr>
          <p:cNvPr id="28" name="Shape 26"/>
          <p:cNvSpPr/>
          <p:nvPr/>
        </p:nvSpPr>
        <p:spPr>
          <a:xfrm>
            <a:off x="621792" y="2263140"/>
            <a:ext cx="9738360" cy="0"/>
          </a:xfrm>
          <a:prstGeom prst="line">
            <a:avLst/>
          </a:prstGeom>
          <a:noFill/>
          <a:ln w="9525">
            <a:solidFill>
              <a:srgbClr val="23405C"/>
            </a:solidFill>
            <a:prstDash val="solid"/>
          </a:ln>
        </p:spPr>
      </p:sp>
      <p:sp>
        <p:nvSpPr>
          <p:cNvPr id="29" name="Text 27"/>
          <p:cNvSpPr txBox="1"/>
          <p:nvPr/>
        </p:nvSpPr>
        <p:spPr>
          <a:xfrm>
            <a:off x="640080" y="2281428"/>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Uncertainty representation &amp; propagation</a:t>
            </a:r>
            <a:endParaRPr lang="en-US" sz="610" dirty="0"/>
          </a:p>
        </p:txBody>
      </p:sp>
      <p:sp>
        <p:nvSpPr>
          <p:cNvPr id="30" name="Text 28"/>
          <p:cNvSpPr txBox="1"/>
          <p:nvPr/>
        </p:nvSpPr>
        <p:spPr>
          <a:xfrm>
            <a:off x="3886200" y="2281428"/>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31" name="Text 29"/>
          <p:cNvSpPr txBox="1"/>
          <p:nvPr/>
        </p:nvSpPr>
        <p:spPr>
          <a:xfrm>
            <a:off x="4663440" y="228142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32" name="Text 30"/>
          <p:cNvSpPr txBox="1"/>
          <p:nvPr/>
        </p:nvSpPr>
        <p:spPr>
          <a:xfrm>
            <a:off x="5532120" y="228142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33" name="Text 31"/>
          <p:cNvSpPr txBox="1"/>
          <p:nvPr/>
        </p:nvSpPr>
        <p:spPr>
          <a:xfrm>
            <a:off x="6400800" y="228142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34" name="Text 32"/>
          <p:cNvSpPr txBox="1"/>
          <p:nvPr/>
        </p:nvSpPr>
        <p:spPr>
          <a:xfrm>
            <a:off x="7269480" y="2281428"/>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5–6</a:t>
            </a:r>
            <a:endParaRPr lang="en-US" sz="610" dirty="0"/>
          </a:p>
        </p:txBody>
      </p:sp>
      <p:sp>
        <p:nvSpPr>
          <p:cNvPr id="35" name="Shape 33"/>
          <p:cNvSpPr/>
          <p:nvPr/>
        </p:nvSpPr>
        <p:spPr>
          <a:xfrm>
            <a:off x="621792" y="2450592"/>
            <a:ext cx="9738360" cy="0"/>
          </a:xfrm>
          <a:prstGeom prst="line">
            <a:avLst/>
          </a:prstGeom>
          <a:noFill/>
          <a:ln w="9525">
            <a:solidFill>
              <a:srgbClr val="23405C"/>
            </a:solidFill>
            <a:prstDash val="solid"/>
          </a:ln>
        </p:spPr>
      </p:sp>
      <p:sp>
        <p:nvSpPr>
          <p:cNvPr id="36" name="Text 34"/>
          <p:cNvSpPr txBox="1"/>
          <p:nvPr/>
        </p:nvSpPr>
        <p:spPr>
          <a:xfrm>
            <a:off x="640080" y="2468880"/>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Article state estimation</a:t>
            </a:r>
            <a:endParaRPr lang="en-US" sz="610" dirty="0"/>
          </a:p>
        </p:txBody>
      </p:sp>
      <p:sp>
        <p:nvSpPr>
          <p:cNvPr id="37" name="Text 35"/>
          <p:cNvSpPr txBox="1"/>
          <p:nvPr/>
        </p:nvSpPr>
        <p:spPr>
          <a:xfrm>
            <a:off x="3886200" y="2468880"/>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2–3</a:t>
            </a:r>
            <a:endParaRPr lang="en-US" sz="610" dirty="0"/>
          </a:p>
        </p:txBody>
      </p:sp>
      <p:sp>
        <p:nvSpPr>
          <p:cNvPr id="38" name="Text 36"/>
          <p:cNvSpPr txBox="1"/>
          <p:nvPr/>
        </p:nvSpPr>
        <p:spPr>
          <a:xfrm>
            <a:off x="4663440" y="246888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39" name="Text 37"/>
          <p:cNvSpPr txBox="1"/>
          <p:nvPr/>
        </p:nvSpPr>
        <p:spPr>
          <a:xfrm>
            <a:off x="5532120" y="246888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40" name="Text 38"/>
          <p:cNvSpPr txBox="1"/>
          <p:nvPr/>
        </p:nvSpPr>
        <p:spPr>
          <a:xfrm>
            <a:off x="6400800" y="246888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41" name="Text 39"/>
          <p:cNvSpPr txBox="1"/>
          <p:nvPr/>
        </p:nvSpPr>
        <p:spPr>
          <a:xfrm>
            <a:off x="7269480" y="2468880"/>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6</a:t>
            </a:r>
            <a:endParaRPr lang="en-US" sz="610" dirty="0"/>
          </a:p>
        </p:txBody>
      </p:sp>
      <p:sp>
        <p:nvSpPr>
          <p:cNvPr id="42" name="Shape 40"/>
          <p:cNvSpPr/>
          <p:nvPr/>
        </p:nvSpPr>
        <p:spPr>
          <a:xfrm>
            <a:off x="621792" y="2638044"/>
            <a:ext cx="9738360" cy="0"/>
          </a:xfrm>
          <a:prstGeom prst="line">
            <a:avLst/>
          </a:prstGeom>
          <a:noFill/>
          <a:ln w="9525">
            <a:solidFill>
              <a:srgbClr val="23405C"/>
            </a:solidFill>
            <a:prstDash val="solid"/>
          </a:ln>
        </p:spPr>
      </p:sp>
      <p:sp>
        <p:nvSpPr>
          <p:cNvPr id="43" name="Text 41"/>
          <p:cNvSpPr txBox="1"/>
          <p:nvPr/>
        </p:nvSpPr>
        <p:spPr>
          <a:xfrm>
            <a:off x="640080" y="2656332"/>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Capability state estimation</a:t>
            </a:r>
            <a:endParaRPr lang="en-US" sz="610" dirty="0"/>
          </a:p>
        </p:txBody>
      </p:sp>
      <p:sp>
        <p:nvSpPr>
          <p:cNvPr id="44" name="Text 42"/>
          <p:cNvSpPr txBox="1"/>
          <p:nvPr/>
        </p:nvSpPr>
        <p:spPr>
          <a:xfrm>
            <a:off x="3886200" y="2656332"/>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1–2</a:t>
            </a:r>
            <a:endParaRPr lang="en-US" sz="610" dirty="0"/>
          </a:p>
        </p:txBody>
      </p:sp>
      <p:sp>
        <p:nvSpPr>
          <p:cNvPr id="45" name="Text 43"/>
          <p:cNvSpPr txBox="1"/>
          <p:nvPr/>
        </p:nvSpPr>
        <p:spPr>
          <a:xfrm>
            <a:off x="4663440" y="265633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46" name="Text 44"/>
          <p:cNvSpPr txBox="1"/>
          <p:nvPr/>
        </p:nvSpPr>
        <p:spPr>
          <a:xfrm>
            <a:off x="5532120" y="265633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3–4</a:t>
            </a:r>
            <a:endParaRPr lang="en-US" sz="610" dirty="0"/>
          </a:p>
        </p:txBody>
      </p:sp>
      <p:sp>
        <p:nvSpPr>
          <p:cNvPr id="47" name="Text 45"/>
          <p:cNvSpPr txBox="1"/>
          <p:nvPr/>
        </p:nvSpPr>
        <p:spPr>
          <a:xfrm>
            <a:off x="6400800" y="265633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4–5</a:t>
            </a:r>
            <a:endParaRPr lang="en-US" sz="610" dirty="0"/>
          </a:p>
        </p:txBody>
      </p:sp>
      <p:sp>
        <p:nvSpPr>
          <p:cNvPr id="48" name="Text 46"/>
          <p:cNvSpPr txBox="1"/>
          <p:nvPr/>
        </p:nvSpPr>
        <p:spPr>
          <a:xfrm>
            <a:off x="7269480" y="2656332"/>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 — interrogated against Ppk</a:t>
            </a:r>
            <a:endParaRPr lang="en-US" sz="610" dirty="0"/>
          </a:p>
        </p:txBody>
      </p:sp>
      <p:sp>
        <p:nvSpPr>
          <p:cNvPr id="49" name="Shape 47"/>
          <p:cNvSpPr/>
          <p:nvPr/>
        </p:nvSpPr>
        <p:spPr>
          <a:xfrm>
            <a:off x="621792" y="2825496"/>
            <a:ext cx="9738360" cy="0"/>
          </a:xfrm>
          <a:prstGeom prst="line">
            <a:avLst/>
          </a:prstGeom>
          <a:noFill/>
          <a:ln w="9525">
            <a:solidFill>
              <a:srgbClr val="23405C"/>
            </a:solidFill>
            <a:prstDash val="solid"/>
          </a:ln>
        </p:spPr>
      </p:sp>
      <p:sp>
        <p:nvSpPr>
          <p:cNvPr id="50" name="Text 48"/>
          <p:cNvSpPr txBox="1"/>
          <p:nvPr/>
        </p:nvSpPr>
        <p:spPr>
          <a:xfrm>
            <a:off x="640080" y="2843784"/>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2D vision</a:t>
            </a:r>
            <a:endParaRPr lang="en-US" sz="610" dirty="0"/>
          </a:p>
        </p:txBody>
      </p:sp>
      <p:sp>
        <p:nvSpPr>
          <p:cNvPr id="51" name="Text 49"/>
          <p:cNvSpPr txBox="1"/>
          <p:nvPr/>
        </p:nvSpPr>
        <p:spPr>
          <a:xfrm>
            <a:off x="3886200" y="2843784"/>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52" name="Text 50"/>
          <p:cNvSpPr txBox="1"/>
          <p:nvPr/>
        </p:nvSpPr>
        <p:spPr>
          <a:xfrm>
            <a:off x="4663440" y="284378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53" name="Text 51"/>
          <p:cNvSpPr txBox="1"/>
          <p:nvPr/>
        </p:nvSpPr>
        <p:spPr>
          <a:xfrm>
            <a:off x="5532120" y="284378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54" name="Text 52"/>
          <p:cNvSpPr txBox="1"/>
          <p:nvPr/>
        </p:nvSpPr>
        <p:spPr>
          <a:xfrm>
            <a:off x="6400800" y="284378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55" name="Text 53"/>
          <p:cNvSpPr txBox="1"/>
          <p:nvPr/>
        </p:nvSpPr>
        <p:spPr>
          <a:xfrm>
            <a:off x="7269480" y="2843784"/>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6</a:t>
            </a:r>
            <a:endParaRPr lang="en-US" sz="610" dirty="0"/>
          </a:p>
        </p:txBody>
      </p:sp>
      <p:sp>
        <p:nvSpPr>
          <p:cNvPr id="56" name="Shape 54"/>
          <p:cNvSpPr/>
          <p:nvPr/>
        </p:nvSpPr>
        <p:spPr>
          <a:xfrm>
            <a:off x="621792" y="3012948"/>
            <a:ext cx="9738360" cy="0"/>
          </a:xfrm>
          <a:prstGeom prst="line">
            <a:avLst/>
          </a:prstGeom>
          <a:noFill/>
          <a:ln w="9525">
            <a:solidFill>
              <a:srgbClr val="23405C"/>
            </a:solidFill>
            <a:prstDash val="solid"/>
          </a:ln>
        </p:spPr>
      </p:sp>
      <p:sp>
        <p:nvSpPr>
          <p:cNvPr id="57" name="Text 55"/>
          <p:cNvSpPr txBox="1"/>
          <p:nvPr/>
        </p:nvSpPr>
        <p:spPr>
          <a:xfrm>
            <a:off x="640080" y="3031236"/>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3D metrology, specular aluminium (E0.4)</a:t>
            </a:r>
            <a:endParaRPr lang="en-US" sz="610" dirty="0"/>
          </a:p>
        </p:txBody>
      </p:sp>
      <p:sp>
        <p:nvSpPr>
          <p:cNvPr id="58" name="Text 56"/>
          <p:cNvSpPr txBox="1"/>
          <p:nvPr/>
        </p:nvSpPr>
        <p:spPr>
          <a:xfrm>
            <a:off x="3886200" y="3031236"/>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59" name="Text 57"/>
          <p:cNvSpPr txBox="1"/>
          <p:nvPr/>
        </p:nvSpPr>
        <p:spPr>
          <a:xfrm>
            <a:off x="4663440" y="303123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60" name="Text 58"/>
          <p:cNvSpPr txBox="1"/>
          <p:nvPr/>
        </p:nvSpPr>
        <p:spPr>
          <a:xfrm>
            <a:off x="5532120" y="303123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61" name="Text 59"/>
          <p:cNvSpPr txBox="1"/>
          <p:nvPr/>
        </p:nvSpPr>
        <p:spPr>
          <a:xfrm>
            <a:off x="6400800" y="303123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62" name="Text 60"/>
          <p:cNvSpPr txBox="1"/>
          <p:nvPr/>
        </p:nvSpPr>
        <p:spPr>
          <a:xfrm>
            <a:off x="7269480" y="3031236"/>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5–6</a:t>
            </a:r>
            <a:endParaRPr lang="en-US" sz="610" dirty="0"/>
          </a:p>
        </p:txBody>
      </p:sp>
      <p:sp>
        <p:nvSpPr>
          <p:cNvPr id="63" name="Shape 61"/>
          <p:cNvSpPr/>
          <p:nvPr/>
        </p:nvSpPr>
        <p:spPr>
          <a:xfrm>
            <a:off x="621792" y="3200400"/>
            <a:ext cx="9738360" cy="0"/>
          </a:xfrm>
          <a:prstGeom prst="line">
            <a:avLst/>
          </a:prstGeom>
          <a:noFill/>
          <a:ln w="9525">
            <a:solidFill>
              <a:srgbClr val="23405C"/>
            </a:solidFill>
            <a:prstDash val="solid"/>
          </a:ln>
        </p:spPr>
      </p:sp>
      <p:sp>
        <p:nvSpPr>
          <p:cNvPr id="64" name="Text 62"/>
          <p:cNvSpPr txBox="1"/>
          <p:nvPr/>
        </p:nvSpPr>
        <p:spPr>
          <a:xfrm>
            <a:off x="640080" y="3218688"/>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Force / tension sensing</a:t>
            </a:r>
            <a:endParaRPr lang="en-US" sz="610" dirty="0"/>
          </a:p>
        </p:txBody>
      </p:sp>
      <p:sp>
        <p:nvSpPr>
          <p:cNvPr id="65" name="Text 63"/>
          <p:cNvSpPr txBox="1"/>
          <p:nvPr/>
        </p:nvSpPr>
        <p:spPr>
          <a:xfrm>
            <a:off x="3886200" y="3218688"/>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66" name="Text 64"/>
          <p:cNvSpPr txBox="1"/>
          <p:nvPr/>
        </p:nvSpPr>
        <p:spPr>
          <a:xfrm>
            <a:off x="4663440" y="321868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67" name="Text 65"/>
          <p:cNvSpPr txBox="1"/>
          <p:nvPr/>
        </p:nvSpPr>
        <p:spPr>
          <a:xfrm>
            <a:off x="5532120" y="321868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68" name="Text 66"/>
          <p:cNvSpPr txBox="1"/>
          <p:nvPr/>
        </p:nvSpPr>
        <p:spPr>
          <a:xfrm>
            <a:off x="6400800" y="321868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69" name="Text 67"/>
          <p:cNvSpPr txBox="1"/>
          <p:nvPr/>
        </p:nvSpPr>
        <p:spPr>
          <a:xfrm>
            <a:off x="7269480" y="3218688"/>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70" name="Shape 68"/>
          <p:cNvSpPr/>
          <p:nvPr/>
        </p:nvSpPr>
        <p:spPr>
          <a:xfrm>
            <a:off x="621792" y="3387852"/>
            <a:ext cx="9738360" cy="0"/>
          </a:xfrm>
          <a:prstGeom prst="line">
            <a:avLst/>
          </a:prstGeom>
          <a:noFill/>
          <a:ln w="9525">
            <a:solidFill>
              <a:srgbClr val="23405C"/>
            </a:solidFill>
            <a:prstDash val="solid"/>
          </a:ln>
        </p:spPr>
      </p:sp>
      <p:sp>
        <p:nvSpPr>
          <p:cNvPr id="71" name="Text 69"/>
          <p:cNvSpPr txBox="1"/>
          <p:nvPr/>
        </p:nvSpPr>
        <p:spPr>
          <a:xfrm>
            <a:off x="640080" y="3406140"/>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Calibration chain</a:t>
            </a:r>
            <a:endParaRPr lang="en-US" sz="610" dirty="0"/>
          </a:p>
        </p:txBody>
      </p:sp>
      <p:sp>
        <p:nvSpPr>
          <p:cNvPr id="72" name="Text 70"/>
          <p:cNvSpPr txBox="1"/>
          <p:nvPr/>
        </p:nvSpPr>
        <p:spPr>
          <a:xfrm>
            <a:off x="3886200" y="3406140"/>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1–2</a:t>
            </a:r>
            <a:endParaRPr lang="en-US" sz="610" dirty="0"/>
          </a:p>
        </p:txBody>
      </p:sp>
      <p:sp>
        <p:nvSpPr>
          <p:cNvPr id="73" name="Text 71"/>
          <p:cNvSpPr txBox="1"/>
          <p:nvPr/>
        </p:nvSpPr>
        <p:spPr>
          <a:xfrm>
            <a:off x="4663440" y="340614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74" name="Text 72"/>
          <p:cNvSpPr txBox="1"/>
          <p:nvPr/>
        </p:nvSpPr>
        <p:spPr>
          <a:xfrm>
            <a:off x="5532120" y="340614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75" name="Text 73"/>
          <p:cNvSpPr txBox="1"/>
          <p:nvPr/>
        </p:nvSpPr>
        <p:spPr>
          <a:xfrm>
            <a:off x="6400800" y="340614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76" name="Text 74"/>
          <p:cNvSpPr txBox="1"/>
          <p:nvPr/>
        </p:nvSpPr>
        <p:spPr>
          <a:xfrm>
            <a:off x="7269480" y="3406140"/>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6</a:t>
            </a:r>
            <a:endParaRPr lang="en-US" sz="610" dirty="0"/>
          </a:p>
        </p:txBody>
      </p:sp>
      <p:sp>
        <p:nvSpPr>
          <p:cNvPr id="77" name="Shape 75"/>
          <p:cNvSpPr/>
          <p:nvPr/>
        </p:nvSpPr>
        <p:spPr>
          <a:xfrm>
            <a:off x="621792" y="3575304"/>
            <a:ext cx="9738360" cy="0"/>
          </a:xfrm>
          <a:prstGeom prst="line">
            <a:avLst/>
          </a:prstGeom>
          <a:noFill/>
          <a:ln w="9525">
            <a:solidFill>
              <a:srgbClr val="23405C"/>
            </a:solidFill>
            <a:prstDash val="solid"/>
          </a:ln>
        </p:spPr>
      </p:sp>
      <p:sp>
        <p:nvSpPr>
          <p:cNvPr id="78" name="Text 76"/>
          <p:cNvSpPr txBox="1"/>
          <p:nvPr/>
        </p:nvSpPr>
        <p:spPr>
          <a:xfrm>
            <a:off x="640080" y="3593592"/>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Evidence store &amp; record integrity</a:t>
            </a:r>
            <a:endParaRPr lang="en-US" sz="610" dirty="0"/>
          </a:p>
        </p:txBody>
      </p:sp>
      <p:sp>
        <p:nvSpPr>
          <p:cNvPr id="79" name="Text 77"/>
          <p:cNvSpPr txBox="1"/>
          <p:nvPr/>
        </p:nvSpPr>
        <p:spPr>
          <a:xfrm>
            <a:off x="3886200" y="3593592"/>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80" name="Text 78"/>
          <p:cNvSpPr txBox="1"/>
          <p:nvPr/>
        </p:nvSpPr>
        <p:spPr>
          <a:xfrm>
            <a:off x="4663440" y="359359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81" name="Text 79"/>
          <p:cNvSpPr txBox="1"/>
          <p:nvPr/>
        </p:nvSpPr>
        <p:spPr>
          <a:xfrm>
            <a:off x="5532120" y="359359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82" name="Text 80"/>
          <p:cNvSpPr txBox="1"/>
          <p:nvPr/>
        </p:nvSpPr>
        <p:spPr>
          <a:xfrm>
            <a:off x="6400800" y="359359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83" name="Text 81"/>
          <p:cNvSpPr txBox="1"/>
          <p:nvPr/>
        </p:nvSpPr>
        <p:spPr>
          <a:xfrm>
            <a:off x="7269480" y="3593592"/>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6</a:t>
            </a:r>
            <a:endParaRPr lang="en-US" sz="610" dirty="0"/>
          </a:p>
        </p:txBody>
      </p:sp>
      <p:sp>
        <p:nvSpPr>
          <p:cNvPr id="84" name="Shape 82"/>
          <p:cNvSpPr/>
          <p:nvPr/>
        </p:nvSpPr>
        <p:spPr>
          <a:xfrm>
            <a:off x="621792" y="3762756"/>
            <a:ext cx="9738360" cy="0"/>
          </a:xfrm>
          <a:prstGeom prst="line">
            <a:avLst/>
          </a:prstGeom>
          <a:noFill/>
          <a:ln w="9525">
            <a:solidFill>
              <a:srgbClr val="23405C"/>
            </a:solidFill>
            <a:prstDash val="solid"/>
          </a:ln>
        </p:spPr>
      </p:sp>
      <p:sp>
        <p:nvSpPr>
          <p:cNvPr id="85" name="Text 83"/>
          <p:cNvSpPr txBox="1"/>
          <p:nvPr/>
        </p:nvSpPr>
        <p:spPr>
          <a:xfrm>
            <a:off x="640080" y="3781044"/>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Interfaces I1–I9</a:t>
            </a:r>
            <a:endParaRPr lang="en-US" sz="610" dirty="0"/>
          </a:p>
        </p:txBody>
      </p:sp>
      <p:sp>
        <p:nvSpPr>
          <p:cNvPr id="86" name="Text 84"/>
          <p:cNvSpPr txBox="1"/>
          <p:nvPr/>
        </p:nvSpPr>
        <p:spPr>
          <a:xfrm>
            <a:off x="3886200" y="3781044"/>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87" name="Text 85"/>
          <p:cNvSpPr txBox="1"/>
          <p:nvPr/>
        </p:nvSpPr>
        <p:spPr>
          <a:xfrm>
            <a:off x="4663440" y="378104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88" name="Text 86"/>
          <p:cNvSpPr txBox="1"/>
          <p:nvPr/>
        </p:nvSpPr>
        <p:spPr>
          <a:xfrm>
            <a:off x="5532120" y="378104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89" name="Text 87"/>
          <p:cNvSpPr txBox="1"/>
          <p:nvPr/>
        </p:nvSpPr>
        <p:spPr>
          <a:xfrm>
            <a:off x="6400800" y="378104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90" name="Text 88"/>
          <p:cNvSpPr txBox="1"/>
          <p:nvPr/>
        </p:nvSpPr>
        <p:spPr>
          <a:xfrm>
            <a:off x="7269480" y="3781044"/>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91" name="Shape 89"/>
          <p:cNvSpPr/>
          <p:nvPr/>
        </p:nvSpPr>
        <p:spPr>
          <a:xfrm>
            <a:off x="621792" y="3950208"/>
            <a:ext cx="9738360" cy="0"/>
          </a:xfrm>
          <a:prstGeom prst="line">
            <a:avLst/>
          </a:prstGeom>
          <a:noFill/>
          <a:ln w="9525">
            <a:solidFill>
              <a:srgbClr val="23405C"/>
            </a:solidFill>
            <a:prstDash val="solid"/>
          </a:ln>
        </p:spPr>
      </p:sp>
      <p:sp>
        <p:nvSpPr>
          <p:cNvPr id="92" name="Text 90"/>
          <p:cNvSpPr txBox="1"/>
          <p:nvPr/>
        </p:nvSpPr>
        <p:spPr>
          <a:xfrm>
            <a:off x="640080" y="3968496"/>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Execution-feasibility assurance layer</a:t>
            </a:r>
            <a:endParaRPr lang="en-US" sz="610" dirty="0"/>
          </a:p>
        </p:txBody>
      </p:sp>
      <p:sp>
        <p:nvSpPr>
          <p:cNvPr id="93" name="Text 91"/>
          <p:cNvSpPr txBox="1"/>
          <p:nvPr/>
        </p:nvSpPr>
        <p:spPr>
          <a:xfrm>
            <a:off x="3886200" y="3968496"/>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1</a:t>
            </a:r>
            <a:endParaRPr lang="en-US" sz="610" dirty="0"/>
          </a:p>
        </p:txBody>
      </p:sp>
      <p:sp>
        <p:nvSpPr>
          <p:cNvPr id="94" name="Text 92"/>
          <p:cNvSpPr txBox="1"/>
          <p:nvPr/>
        </p:nvSpPr>
        <p:spPr>
          <a:xfrm>
            <a:off x="4663440" y="396849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1</a:t>
            </a:r>
            <a:endParaRPr lang="en-US" sz="610" dirty="0"/>
          </a:p>
        </p:txBody>
      </p:sp>
      <p:sp>
        <p:nvSpPr>
          <p:cNvPr id="95" name="Text 93"/>
          <p:cNvSpPr txBox="1"/>
          <p:nvPr/>
        </p:nvSpPr>
        <p:spPr>
          <a:xfrm>
            <a:off x="5532120" y="396849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96" name="Text 94"/>
          <p:cNvSpPr txBox="1"/>
          <p:nvPr/>
        </p:nvSpPr>
        <p:spPr>
          <a:xfrm>
            <a:off x="6400800" y="396849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3–4</a:t>
            </a:r>
            <a:endParaRPr lang="en-US" sz="610" dirty="0"/>
          </a:p>
        </p:txBody>
      </p:sp>
      <p:sp>
        <p:nvSpPr>
          <p:cNvPr id="97" name="Text 95"/>
          <p:cNvSpPr txBox="1"/>
          <p:nvPr/>
        </p:nvSpPr>
        <p:spPr>
          <a:xfrm>
            <a:off x="7269480" y="3968496"/>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98" name="Shape 96"/>
          <p:cNvSpPr/>
          <p:nvPr/>
        </p:nvSpPr>
        <p:spPr>
          <a:xfrm>
            <a:off x="621792" y="4137660"/>
            <a:ext cx="9738360" cy="0"/>
          </a:xfrm>
          <a:prstGeom prst="line">
            <a:avLst/>
          </a:prstGeom>
          <a:noFill/>
          <a:ln w="9525">
            <a:solidFill>
              <a:srgbClr val="23405C"/>
            </a:solidFill>
            <a:prstDash val="solid"/>
          </a:ln>
        </p:spPr>
      </p:sp>
      <p:sp>
        <p:nvSpPr>
          <p:cNvPr id="99" name="Text 97"/>
          <p:cNvSpPr txBox="1"/>
          <p:nvPr/>
        </p:nvSpPr>
        <p:spPr>
          <a:xfrm>
            <a:off x="640080" y="4155948"/>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Safety layer &amp; recovery function</a:t>
            </a:r>
            <a:endParaRPr lang="en-US" sz="610" dirty="0"/>
          </a:p>
        </p:txBody>
      </p:sp>
      <p:sp>
        <p:nvSpPr>
          <p:cNvPr id="100" name="Text 98"/>
          <p:cNvSpPr txBox="1"/>
          <p:nvPr/>
        </p:nvSpPr>
        <p:spPr>
          <a:xfrm>
            <a:off x="3886200" y="4155948"/>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1</a:t>
            </a:r>
            <a:endParaRPr lang="en-US" sz="610" dirty="0"/>
          </a:p>
        </p:txBody>
      </p:sp>
      <p:sp>
        <p:nvSpPr>
          <p:cNvPr id="101" name="Text 99"/>
          <p:cNvSpPr txBox="1"/>
          <p:nvPr/>
        </p:nvSpPr>
        <p:spPr>
          <a:xfrm>
            <a:off x="4663440" y="415594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02" name="Text 100"/>
          <p:cNvSpPr txBox="1"/>
          <p:nvPr/>
        </p:nvSpPr>
        <p:spPr>
          <a:xfrm>
            <a:off x="5532120" y="415594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03" name="Text 101"/>
          <p:cNvSpPr txBox="1"/>
          <p:nvPr/>
        </p:nvSpPr>
        <p:spPr>
          <a:xfrm>
            <a:off x="6400800" y="415594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3–4</a:t>
            </a:r>
            <a:endParaRPr lang="en-US" sz="610" dirty="0"/>
          </a:p>
        </p:txBody>
      </p:sp>
      <p:sp>
        <p:nvSpPr>
          <p:cNvPr id="104" name="Text 102"/>
          <p:cNvSpPr txBox="1"/>
          <p:nvPr/>
        </p:nvSpPr>
        <p:spPr>
          <a:xfrm>
            <a:off x="7269480" y="4155948"/>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 — must reach req'd PL pre-PERFORM</a:t>
            </a:r>
            <a:endParaRPr lang="en-US" sz="610" dirty="0"/>
          </a:p>
        </p:txBody>
      </p:sp>
      <p:sp>
        <p:nvSpPr>
          <p:cNvPr id="105" name="Shape 103"/>
          <p:cNvSpPr/>
          <p:nvPr/>
        </p:nvSpPr>
        <p:spPr>
          <a:xfrm>
            <a:off x="621792" y="4325112"/>
            <a:ext cx="9738360" cy="0"/>
          </a:xfrm>
          <a:prstGeom prst="line">
            <a:avLst/>
          </a:prstGeom>
          <a:noFill/>
          <a:ln w="9525">
            <a:solidFill>
              <a:srgbClr val="23405C"/>
            </a:solidFill>
            <a:prstDash val="solid"/>
          </a:ln>
        </p:spPr>
      </p:sp>
      <p:sp>
        <p:nvSpPr>
          <p:cNvPr id="106" name="Text 104"/>
          <p:cNvSpPr txBox="1"/>
          <p:nvPr/>
        </p:nvSpPr>
        <p:spPr>
          <a:xfrm>
            <a:off x="640080" y="4343400"/>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Human release and HMI</a:t>
            </a:r>
            <a:endParaRPr lang="en-US" sz="610" dirty="0"/>
          </a:p>
        </p:txBody>
      </p:sp>
      <p:sp>
        <p:nvSpPr>
          <p:cNvPr id="107" name="Text 105"/>
          <p:cNvSpPr txBox="1"/>
          <p:nvPr/>
        </p:nvSpPr>
        <p:spPr>
          <a:xfrm>
            <a:off x="3886200" y="4343400"/>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08" name="Text 106"/>
          <p:cNvSpPr txBox="1"/>
          <p:nvPr/>
        </p:nvSpPr>
        <p:spPr>
          <a:xfrm>
            <a:off x="4663440" y="434340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09" name="Text 107"/>
          <p:cNvSpPr txBox="1"/>
          <p:nvPr/>
        </p:nvSpPr>
        <p:spPr>
          <a:xfrm>
            <a:off x="5532120" y="434340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3–4</a:t>
            </a:r>
            <a:endParaRPr lang="en-US" sz="610" dirty="0"/>
          </a:p>
        </p:txBody>
      </p:sp>
      <p:sp>
        <p:nvSpPr>
          <p:cNvPr id="110" name="Text 108"/>
          <p:cNvSpPr txBox="1"/>
          <p:nvPr/>
        </p:nvSpPr>
        <p:spPr>
          <a:xfrm>
            <a:off x="6400800" y="434340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111" name="Text 109"/>
          <p:cNvSpPr txBox="1"/>
          <p:nvPr/>
        </p:nvSpPr>
        <p:spPr>
          <a:xfrm>
            <a:off x="7269480" y="4343400"/>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112" name="Shape 110"/>
          <p:cNvSpPr/>
          <p:nvPr/>
        </p:nvSpPr>
        <p:spPr>
          <a:xfrm>
            <a:off x="621792" y="4512564"/>
            <a:ext cx="9738360" cy="0"/>
          </a:xfrm>
          <a:prstGeom prst="line">
            <a:avLst/>
          </a:prstGeom>
          <a:noFill/>
          <a:ln w="9525">
            <a:solidFill>
              <a:srgbClr val="23405C"/>
            </a:solidFill>
            <a:prstDash val="solid"/>
          </a:ln>
        </p:spPr>
      </p:sp>
      <p:sp>
        <p:nvSpPr>
          <p:cNvPr id="113" name="Text 111"/>
          <p:cNvSpPr txBox="1"/>
          <p:nvPr/>
        </p:nvSpPr>
        <p:spPr>
          <a:xfrm>
            <a:off x="640080" y="4530852"/>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Fixturing &amp; sparse datums</a:t>
            </a:r>
            <a:endParaRPr lang="en-US" sz="610" dirty="0"/>
          </a:p>
        </p:txBody>
      </p:sp>
      <p:sp>
        <p:nvSpPr>
          <p:cNvPr id="114" name="Text 112"/>
          <p:cNvSpPr txBox="1"/>
          <p:nvPr/>
        </p:nvSpPr>
        <p:spPr>
          <a:xfrm>
            <a:off x="3886200" y="4530852"/>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15" name="Text 113"/>
          <p:cNvSpPr txBox="1"/>
          <p:nvPr/>
        </p:nvSpPr>
        <p:spPr>
          <a:xfrm>
            <a:off x="4663440" y="453085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116" name="Text 114"/>
          <p:cNvSpPr txBox="1"/>
          <p:nvPr/>
        </p:nvSpPr>
        <p:spPr>
          <a:xfrm>
            <a:off x="5532120" y="453085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117" name="Text 115"/>
          <p:cNvSpPr txBox="1"/>
          <p:nvPr/>
        </p:nvSpPr>
        <p:spPr>
          <a:xfrm>
            <a:off x="6400800" y="453085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118" name="Text 116"/>
          <p:cNvSpPr txBox="1"/>
          <p:nvPr/>
        </p:nvSpPr>
        <p:spPr>
          <a:xfrm>
            <a:off x="7269480" y="4530852"/>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119" name="Shape 117"/>
          <p:cNvSpPr/>
          <p:nvPr/>
        </p:nvSpPr>
        <p:spPr>
          <a:xfrm>
            <a:off x="621792" y="4700016"/>
            <a:ext cx="9738360" cy="0"/>
          </a:xfrm>
          <a:prstGeom prst="line">
            <a:avLst/>
          </a:prstGeom>
          <a:noFill/>
          <a:ln w="9525">
            <a:solidFill>
              <a:srgbClr val="23405C"/>
            </a:solidFill>
            <a:prstDash val="solid"/>
          </a:ln>
        </p:spPr>
      </p:sp>
      <p:sp>
        <p:nvSpPr>
          <p:cNvPr id="120" name="Text 118"/>
          <p:cNvSpPr txBox="1"/>
          <p:nvPr/>
        </p:nvSpPr>
        <p:spPr>
          <a:xfrm>
            <a:off x="640080" y="4718304"/>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Cassette bundle feed (harness class)</a:t>
            </a:r>
            <a:endParaRPr lang="en-US" sz="610" dirty="0"/>
          </a:p>
        </p:txBody>
      </p:sp>
      <p:sp>
        <p:nvSpPr>
          <p:cNvPr id="121" name="Text 119"/>
          <p:cNvSpPr txBox="1"/>
          <p:nvPr/>
        </p:nvSpPr>
        <p:spPr>
          <a:xfrm>
            <a:off x="3886200" y="4718304"/>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22" name="Text 120"/>
          <p:cNvSpPr txBox="1"/>
          <p:nvPr/>
        </p:nvSpPr>
        <p:spPr>
          <a:xfrm>
            <a:off x="4663440" y="471830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 or KILL</a:t>
            </a:r>
            <a:endParaRPr lang="en-US" sz="610" dirty="0"/>
          </a:p>
        </p:txBody>
      </p:sp>
      <p:sp>
        <p:nvSpPr>
          <p:cNvPr id="123" name="Text 121"/>
          <p:cNvSpPr txBox="1"/>
          <p:nvPr/>
        </p:nvSpPr>
        <p:spPr>
          <a:xfrm>
            <a:off x="5532120" y="471830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124" name="Text 122"/>
          <p:cNvSpPr txBox="1"/>
          <p:nvPr/>
        </p:nvSpPr>
        <p:spPr>
          <a:xfrm>
            <a:off x="6400800" y="4718304"/>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a:t>
            </a:r>
            <a:endParaRPr lang="en-US" sz="610" dirty="0"/>
          </a:p>
        </p:txBody>
      </p:sp>
      <p:sp>
        <p:nvSpPr>
          <p:cNvPr id="125" name="Text 123"/>
          <p:cNvSpPr txBox="1"/>
          <p:nvPr/>
        </p:nvSpPr>
        <p:spPr>
          <a:xfrm>
            <a:off x="7269480" y="4718304"/>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class-dependent</a:t>
            </a:r>
            <a:endParaRPr lang="en-US" sz="610" dirty="0"/>
          </a:p>
        </p:txBody>
      </p:sp>
      <p:sp>
        <p:nvSpPr>
          <p:cNvPr id="126" name="Shape 124"/>
          <p:cNvSpPr/>
          <p:nvPr/>
        </p:nvSpPr>
        <p:spPr>
          <a:xfrm>
            <a:off x="621792" y="4887468"/>
            <a:ext cx="9738360" cy="0"/>
          </a:xfrm>
          <a:prstGeom prst="line">
            <a:avLst/>
          </a:prstGeom>
          <a:noFill/>
          <a:ln w="9525">
            <a:solidFill>
              <a:srgbClr val="23405C"/>
            </a:solidFill>
            <a:prstDash val="solid"/>
          </a:ln>
        </p:spPr>
      </p:sp>
      <p:sp>
        <p:nvSpPr>
          <p:cNvPr id="127" name="Text 125"/>
          <p:cNvSpPr txBox="1"/>
          <p:nvPr/>
        </p:nvSpPr>
        <p:spPr>
          <a:xfrm>
            <a:off x="640080" y="4905756"/>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Customer integration (MTConnect, OPC UA, QIF, AP242)</a:t>
            </a:r>
            <a:endParaRPr lang="en-US" sz="610" dirty="0"/>
          </a:p>
        </p:txBody>
      </p:sp>
      <p:sp>
        <p:nvSpPr>
          <p:cNvPr id="128" name="Text 126"/>
          <p:cNvSpPr txBox="1"/>
          <p:nvPr/>
        </p:nvSpPr>
        <p:spPr>
          <a:xfrm>
            <a:off x="3886200" y="4905756"/>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29" name="Text 127"/>
          <p:cNvSpPr txBox="1"/>
          <p:nvPr/>
        </p:nvSpPr>
        <p:spPr>
          <a:xfrm>
            <a:off x="4663440" y="490575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30" name="Text 128"/>
          <p:cNvSpPr txBox="1"/>
          <p:nvPr/>
        </p:nvSpPr>
        <p:spPr>
          <a:xfrm>
            <a:off x="5532120" y="490575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131" name="Text 129"/>
          <p:cNvSpPr txBox="1"/>
          <p:nvPr/>
        </p:nvSpPr>
        <p:spPr>
          <a:xfrm>
            <a:off x="6400800" y="4905756"/>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132" name="Text 130"/>
          <p:cNvSpPr txBox="1"/>
          <p:nvPr/>
        </p:nvSpPr>
        <p:spPr>
          <a:xfrm>
            <a:off x="7269480" y="4905756"/>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5–6 at first OBSERVE</a:t>
            </a:r>
            <a:endParaRPr lang="en-US" sz="610" dirty="0"/>
          </a:p>
        </p:txBody>
      </p:sp>
      <p:sp>
        <p:nvSpPr>
          <p:cNvPr id="133" name="Shape 131"/>
          <p:cNvSpPr/>
          <p:nvPr/>
        </p:nvSpPr>
        <p:spPr>
          <a:xfrm>
            <a:off x="621792" y="5074920"/>
            <a:ext cx="9738360" cy="0"/>
          </a:xfrm>
          <a:prstGeom prst="line">
            <a:avLst/>
          </a:prstGeom>
          <a:noFill/>
          <a:ln w="9525">
            <a:solidFill>
              <a:srgbClr val="23405C"/>
            </a:solidFill>
            <a:prstDash val="solid"/>
          </a:ln>
        </p:spPr>
      </p:sp>
      <p:sp>
        <p:nvSpPr>
          <p:cNvPr id="134" name="Text 132"/>
          <p:cNvSpPr txBox="1"/>
          <p:nvPr/>
        </p:nvSpPr>
        <p:spPr>
          <a:xfrm>
            <a:off x="640080" y="5093208"/>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Manufacturing &amp; evidence workflow</a:t>
            </a:r>
            <a:endParaRPr lang="en-US" sz="610" dirty="0"/>
          </a:p>
        </p:txBody>
      </p:sp>
      <p:sp>
        <p:nvSpPr>
          <p:cNvPr id="135" name="Text 133"/>
          <p:cNvSpPr txBox="1"/>
          <p:nvPr/>
        </p:nvSpPr>
        <p:spPr>
          <a:xfrm>
            <a:off x="3886200" y="5093208"/>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1–2</a:t>
            </a:r>
            <a:endParaRPr lang="en-US" sz="610" dirty="0"/>
          </a:p>
        </p:txBody>
      </p:sp>
      <p:sp>
        <p:nvSpPr>
          <p:cNvPr id="136" name="Text 134"/>
          <p:cNvSpPr txBox="1"/>
          <p:nvPr/>
        </p:nvSpPr>
        <p:spPr>
          <a:xfrm>
            <a:off x="4663440" y="509320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37" name="Text 135"/>
          <p:cNvSpPr txBox="1"/>
          <p:nvPr/>
        </p:nvSpPr>
        <p:spPr>
          <a:xfrm>
            <a:off x="5532120" y="509320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138" name="Text 136"/>
          <p:cNvSpPr txBox="1"/>
          <p:nvPr/>
        </p:nvSpPr>
        <p:spPr>
          <a:xfrm>
            <a:off x="6400800" y="5093208"/>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a:t>
            </a:r>
            <a:endParaRPr lang="en-US" sz="610" dirty="0"/>
          </a:p>
        </p:txBody>
      </p:sp>
      <p:sp>
        <p:nvSpPr>
          <p:cNvPr id="139" name="Text 137"/>
          <p:cNvSpPr txBox="1"/>
          <p:nvPr/>
        </p:nvSpPr>
        <p:spPr>
          <a:xfrm>
            <a:off x="7269480" y="5093208"/>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5 at first QA acceptance</a:t>
            </a:r>
            <a:endParaRPr lang="en-US" sz="610" dirty="0"/>
          </a:p>
        </p:txBody>
      </p:sp>
      <p:sp>
        <p:nvSpPr>
          <p:cNvPr id="140" name="Shape 138"/>
          <p:cNvSpPr/>
          <p:nvPr/>
        </p:nvSpPr>
        <p:spPr>
          <a:xfrm>
            <a:off x="621792" y="5262372"/>
            <a:ext cx="9738360" cy="0"/>
          </a:xfrm>
          <a:prstGeom prst="line">
            <a:avLst/>
          </a:prstGeom>
          <a:noFill/>
          <a:ln w="9525">
            <a:solidFill>
              <a:srgbClr val="23405C"/>
            </a:solidFill>
            <a:prstDash val="solid"/>
          </a:ln>
        </p:spPr>
      </p:sp>
      <p:sp>
        <p:nvSpPr>
          <p:cNvPr id="141" name="Text 139"/>
          <p:cNvSpPr txBox="1"/>
          <p:nvPr/>
        </p:nvSpPr>
        <p:spPr>
          <a:xfrm>
            <a:off x="640080" y="5280660"/>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Cybersecurity posture (IEC 62443)</a:t>
            </a:r>
            <a:endParaRPr lang="en-US" sz="610" dirty="0"/>
          </a:p>
        </p:txBody>
      </p:sp>
      <p:sp>
        <p:nvSpPr>
          <p:cNvPr id="142" name="Text 140"/>
          <p:cNvSpPr txBox="1"/>
          <p:nvPr/>
        </p:nvSpPr>
        <p:spPr>
          <a:xfrm>
            <a:off x="3886200" y="5280660"/>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1–2</a:t>
            </a:r>
            <a:endParaRPr lang="en-US" sz="610" dirty="0"/>
          </a:p>
        </p:txBody>
      </p:sp>
      <p:sp>
        <p:nvSpPr>
          <p:cNvPr id="143" name="Text 141"/>
          <p:cNvSpPr txBox="1"/>
          <p:nvPr/>
        </p:nvSpPr>
        <p:spPr>
          <a:xfrm>
            <a:off x="4663440" y="528066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44" name="Text 142"/>
          <p:cNvSpPr txBox="1"/>
          <p:nvPr/>
        </p:nvSpPr>
        <p:spPr>
          <a:xfrm>
            <a:off x="5532120" y="528066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45" name="Text 143"/>
          <p:cNvSpPr txBox="1"/>
          <p:nvPr/>
        </p:nvSpPr>
        <p:spPr>
          <a:xfrm>
            <a:off x="6400800" y="5280660"/>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a:t>
            </a:r>
            <a:endParaRPr lang="en-US" sz="610" dirty="0"/>
          </a:p>
        </p:txBody>
      </p:sp>
      <p:sp>
        <p:nvSpPr>
          <p:cNvPr id="146" name="Text 144"/>
          <p:cNvSpPr txBox="1"/>
          <p:nvPr/>
        </p:nvSpPr>
        <p:spPr>
          <a:xfrm>
            <a:off x="7269480" y="5280660"/>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 at first security review</a:t>
            </a:r>
            <a:endParaRPr lang="en-US" sz="610" dirty="0"/>
          </a:p>
        </p:txBody>
      </p:sp>
      <p:sp>
        <p:nvSpPr>
          <p:cNvPr id="147" name="Shape 145"/>
          <p:cNvSpPr/>
          <p:nvPr/>
        </p:nvSpPr>
        <p:spPr>
          <a:xfrm>
            <a:off x="621792" y="5449824"/>
            <a:ext cx="9738360" cy="0"/>
          </a:xfrm>
          <a:prstGeom prst="line">
            <a:avLst/>
          </a:prstGeom>
          <a:noFill/>
          <a:ln w="9525">
            <a:solidFill>
              <a:srgbClr val="23405C"/>
            </a:solidFill>
            <a:prstDash val="solid"/>
          </a:ln>
        </p:spPr>
      </p:sp>
      <p:sp>
        <p:nvSpPr>
          <p:cNvPr id="148" name="Text 146"/>
          <p:cNvSpPr txBox="1"/>
          <p:nvPr/>
        </p:nvSpPr>
        <p:spPr>
          <a:xfrm>
            <a:off x="640080" y="5468112"/>
            <a:ext cx="320954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SYSTEM (minimum over required functions)</a:t>
            </a:r>
            <a:endParaRPr lang="en-US" sz="610" dirty="0"/>
          </a:p>
        </p:txBody>
      </p:sp>
      <p:sp>
        <p:nvSpPr>
          <p:cNvPr id="149" name="Text 147"/>
          <p:cNvSpPr txBox="1"/>
          <p:nvPr/>
        </p:nvSpPr>
        <p:spPr>
          <a:xfrm>
            <a:off x="3886200" y="5468112"/>
            <a:ext cx="74066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50" name="Text 148"/>
          <p:cNvSpPr txBox="1"/>
          <p:nvPr/>
        </p:nvSpPr>
        <p:spPr>
          <a:xfrm>
            <a:off x="4663440" y="546811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51" name="Text 149"/>
          <p:cNvSpPr txBox="1"/>
          <p:nvPr/>
        </p:nvSpPr>
        <p:spPr>
          <a:xfrm>
            <a:off x="5532120" y="546811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2</a:t>
            </a:r>
            <a:endParaRPr lang="en-US" sz="610" dirty="0"/>
          </a:p>
        </p:txBody>
      </p:sp>
      <p:sp>
        <p:nvSpPr>
          <p:cNvPr id="152" name="Text 150"/>
          <p:cNvSpPr txBox="1"/>
          <p:nvPr/>
        </p:nvSpPr>
        <p:spPr>
          <a:xfrm>
            <a:off x="6400800" y="5468112"/>
            <a:ext cx="83210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3–4</a:t>
            </a:r>
            <a:endParaRPr lang="en-US" sz="610" dirty="0"/>
          </a:p>
        </p:txBody>
      </p:sp>
      <p:sp>
        <p:nvSpPr>
          <p:cNvPr id="153" name="Text 151"/>
          <p:cNvSpPr txBox="1"/>
          <p:nvPr/>
        </p:nvSpPr>
        <p:spPr>
          <a:xfrm>
            <a:off x="7269480" y="5468112"/>
            <a:ext cx="3072384" cy="187452"/>
          </a:xfrm>
          <a:prstGeom prst="rect">
            <a:avLst/>
          </a:prstGeom>
          <a:noFill/>
          <a:ln/>
        </p:spPr>
        <p:txBody>
          <a:bodyPr wrap="square" lIns="0" tIns="0" rIns="0" bIns="0" rtlCol="0" anchor="t"/>
          <a:lstStyle/>
          <a:p>
            <a:pPr indent="0" marL="0">
              <a:lnSpc>
                <a:spcPct val="100000"/>
              </a:lnSpc>
              <a:buNone/>
            </a:pPr>
            <a:r>
              <a:rPr lang="en-US" sz="610" dirty="0">
                <a:solidFill>
                  <a:srgbClr val="A9BDD1"/>
                </a:solidFill>
                <a:latin typeface="Arial" pitchFamily="34" charset="0"/>
                <a:ea typeface="Arial" pitchFamily="34" charset="-122"/>
                <a:cs typeface="Arial" pitchFamily="34" charset="-120"/>
              </a:rPr>
              <a:t>4–5</a:t>
            </a:r>
            <a:endParaRPr lang="en-US" sz="610" dirty="0"/>
          </a:p>
        </p:txBody>
      </p:sp>
      <p:sp>
        <p:nvSpPr>
          <p:cNvPr id="154" name="Text 152"/>
          <p:cNvSpPr txBox="1"/>
          <p:nvPr/>
        </p:nvSpPr>
        <p:spPr>
          <a:xfrm>
            <a:off x="621792" y="5705856"/>
            <a:ext cx="10948111" cy="585216"/>
          </a:xfrm>
          <a:prstGeom prst="rect">
            <a:avLst/>
          </a:prstGeom>
          <a:noFill/>
          <a:ln/>
        </p:spPr>
        <p:txBody>
          <a:bodyPr wrap="square" lIns="0" tIns="0" rIns="0" bIns="0" rtlCol="0" anchor="t"/>
          <a:lstStyle/>
          <a:p>
            <a:pPr algn="l" indent="0" marL="0">
              <a:lnSpc>
                <a:spcPct val="110000"/>
              </a:lnSpc>
              <a:buNone/>
            </a:pPr>
            <a:r>
              <a:rPr lang="en-US" sz="660" dirty="0">
                <a:solidFill>
                  <a:srgbClr val="72879D"/>
                </a:solidFill>
                <a:latin typeface="Arial" pitchFamily="34" charset="0"/>
                <a:ea typeface="Arial" pitchFamily="34" charset="-122"/>
                <a:cs typeface="Arial" pitchFamily="34" charset="-120"/>
              </a:rPr>
              <a:t>A safety authority will want: performance level is a separate determination under ISO 13849-1 (category, MTTFd, DCavg, CCF), not implied by any TRL. No hazard analysis exists today; bench hazard assessment funded at $4K, the E2 ISO 12100 risk assessment and PL determination at $40K — both gate every PERFORM stage.  MRL: 1–2 now · 2–3 after Gate 2 · 3–4 after Gate 3 · 4 at first engagement · 5–6 only at a Syntrex-operated or customer-hosted cell.  AD²: three elements carry 6+ — capability-state estimation (8), cassette feed (7), specular metrology &amp; recoverable region (6). The safety layer is TRL 1, AD² 3: low readiness, routine advancement.</a:t>
            </a:r>
            <a:endParaRPr lang="en-US" sz="660" dirty="0"/>
          </a:p>
        </p:txBody>
      </p:sp>
      <p:sp>
        <p:nvSpPr>
          <p:cNvPr id="155" name="Text 153"/>
          <p:cNvSpPr txBox="1"/>
          <p:nvPr/>
        </p:nvSpPr>
        <p:spPr>
          <a:xfrm>
            <a:off x="621792" y="6309360"/>
            <a:ext cx="10948111" cy="164592"/>
          </a:xfrm>
          <a:prstGeom prst="rect">
            <a:avLst/>
          </a:prstGeom>
          <a:noFill/>
          <a:ln/>
        </p:spPr>
        <p:txBody>
          <a:bodyPr wrap="square" lIns="0" tIns="0" rIns="0" bIns="0" rtlCol="0" anchor="ctr"/>
          <a:lstStyle/>
          <a:p>
            <a:pPr indent="0" marL="0">
              <a:buNone/>
            </a:pPr>
            <a:r>
              <a:rPr lang="en-US" sz="600" dirty="0">
                <a:solidFill>
                  <a:srgbClr val="51667C"/>
                </a:solidFill>
                <a:latin typeface="Arial" pitchFamily="34" charset="0"/>
                <a:ea typeface="Arial" pitchFamily="34" charset="-122"/>
                <a:cs typeface="Arial" pitchFamily="34" charset="-120"/>
              </a:rPr>
              <a:t>Sources: NASA SP-2016-6105 Rev 2; DoD TRA Guidance; DoD MRL Deskbook; Mankins, AD². Rev 2.1 §0.7A. No individual is named on this slide in any externally shown version.</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A-3   ·   03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A-3 · ARCHITECTURE, AUTHORITY AND RUNTIME ASSURANCE — DETAIL</a:t>
            </a:r>
            <a:endParaRPr lang="en-US" sz="1000" dirty="0"/>
          </a:p>
        </p:txBody>
      </p:sp>
      <p:sp>
        <p:nvSpPr>
          <p:cNvPr id="5" name="Text 3"/>
          <p:cNvSpPr txBox="1"/>
          <p:nvPr/>
        </p:nvSpPr>
        <p:spPr>
          <a:xfrm>
            <a:off x="621792" y="786384"/>
            <a:ext cx="10948111" cy="402336"/>
          </a:xfrm>
          <a:prstGeom prst="rect">
            <a:avLst/>
          </a:prstGeom>
          <a:noFill/>
          <a:ln/>
        </p:spPr>
        <p:txBody>
          <a:bodyPr wrap="square" lIns="0" tIns="0" rIns="0" bIns="0" rtlCol="0" anchor="t"/>
          <a:lstStyle/>
          <a:p>
            <a:pPr indent="0" marL="0">
              <a:lnSpc>
                <a:spcPct val="102000"/>
              </a:lnSpc>
              <a:buNone/>
            </a:pPr>
            <a:r>
              <a:rPr lang="en-US" sz="2000" b="1" dirty="0">
                <a:solidFill>
                  <a:srgbClr val="EAF2FA"/>
                </a:solidFill>
                <a:latin typeface="Arial" pitchFamily="34" charset="0"/>
                <a:ea typeface="Arial" pitchFamily="34" charset="-122"/>
                <a:cs typeface="Arial" pitchFamily="34" charset="-120"/>
              </a:rPr>
              <a:t>The admissibility test, in investor-readable form.</a:t>
            </a:r>
            <a:endParaRPr lang="en-US" sz="2000" dirty="0"/>
          </a:p>
        </p:txBody>
      </p:sp>
      <p:sp>
        <p:nvSpPr>
          <p:cNvPr id="6" name="Text 4"/>
          <p:cNvSpPr txBox="1"/>
          <p:nvPr/>
        </p:nvSpPr>
        <p:spPr>
          <a:xfrm>
            <a:off x="621792" y="1188720"/>
            <a:ext cx="10948111" cy="1371600"/>
          </a:xfrm>
          <a:prstGeom prst="rect">
            <a:avLst/>
          </a:prstGeom>
          <a:noFill/>
          <a:ln/>
        </p:spPr>
        <p:txBody>
          <a:bodyPr wrap="square" lIns="0" tIns="0" rIns="0" bIns="0" rtlCol="0" anchor="t"/>
          <a:lstStyle/>
          <a:p>
            <a:pPr algn="l" indent="0" marL="0">
              <a:lnSpc>
                <a:spcPct val="116000"/>
              </a:lnSpc>
              <a:spcAft>
                <a:spcPts val="600"/>
              </a:spcAft>
              <a:buNone/>
            </a:pPr>
            <a:r>
              <a:rPr lang="en-US" sz="800" dirty="0">
                <a:solidFill>
                  <a:srgbClr val="EAF2FA"/>
                </a:solidFill>
                <a:latin typeface="Arial" pitchFamily="34" charset="0"/>
                <a:ea typeface="Arial" pitchFamily="34" charset="-122"/>
                <a:cs typeface="Arial" pitchFamily="34" charset="-120"/>
              </a:rPr>
              <a:t>An action is admissible only if the system is READY (calibration valid, approved authority model satisfied, execution feasibility asserted by the independent layer, software/parameter versions matching approved configuration), the action lies inside the approved operating limits, and the margin between the proposed action and those limits exceeds a declared multiple k of the combined uncertainty of the measured article and capability states. k is declared and frozen by a metrology reviewer — not yet declared, and on the Gate 2 critical path.</a:t>
            </a:r>
            <a:endParaRPr lang="en-US" sz="800" dirty="0"/>
          </a:p>
          <a:p>
            <a:pPr algn="l" indent="0" marL="0">
              <a:lnSpc>
                <a:spcPct val="116000"/>
              </a:lnSpc>
              <a:buNone/>
            </a:pPr>
            <a:r>
              <a:rPr lang="en-US" sz="800" dirty="0">
                <a:solidFill>
                  <a:srgbClr val="A9BDD1"/>
                </a:solidFill>
                <a:latin typeface="Arial" pitchFamily="34" charset="0"/>
                <a:ea typeface="Arial" pitchFamily="34" charset="-122"/>
                <a:cs typeface="Arial" pitchFamily="34" charset="-120"/>
              </a:rPr>
              <a:t>Three distinguishable refusals: uncertainty about the article → acquire information. Uncertainty about the machine or process → characterise it. The action outside limits → reject — not a measurement problem. A decision record is produced always; a token only if admissible.</a:t>
            </a:r>
            <a:endParaRPr lang="en-US" sz="800" dirty="0"/>
          </a:p>
        </p:txBody>
      </p:sp>
      <p:sp>
        <p:nvSpPr>
          <p:cNvPr id="7" name="Shape 5"/>
          <p:cNvSpPr/>
          <p:nvPr/>
        </p:nvSpPr>
        <p:spPr>
          <a:xfrm>
            <a:off x="621792" y="2670048"/>
            <a:ext cx="10881360" cy="0"/>
          </a:xfrm>
          <a:prstGeom prst="line">
            <a:avLst/>
          </a:prstGeom>
          <a:noFill/>
          <a:ln w="9525">
            <a:solidFill>
              <a:srgbClr val="23405C"/>
            </a:solidFill>
            <a:prstDash val="solid"/>
          </a:ln>
        </p:spPr>
      </p:sp>
      <p:sp>
        <p:nvSpPr>
          <p:cNvPr id="8" name="Text 6"/>
          <p:cNvSpPr txBox="1"/>
          <p:nvPr/>
        </p:nvSpPr>
        <p:spPr>
          <a:xfrm>
            <a:off x="640080" y="2688336"/>
            <a:ext cx="2980944" cy="384048"/>
          </a:xfrm>
          <a:prstGeom prst="rect">
            <a:avLst/>
          </a:prstGeom>
          <a:noFill/>
          <a:ln/>
        </p:spPr>
        <p:txBody>
          <a:bodyPr wrap="square" lIns="0" tIns="0" rIns="0" bIns="0" rtlCol="0" anchor="t"/>
          <a:lstStyle/>
          <a:p>
            <a:pPr indent="0" marL="0">
              <a:lnSpc>
                <a:spcPct val="100000"/>
              </a:lnSpc>
              <a:buNone/>
            </a:pPr>
            <a:r>
              <a:rPr lang="en-US" sz="740" b="1" spc="100" kern="0" dirty="0">
                <a:solidFill>
                  <a:srgbClr val="72879D"/>
                </a:solidFill>
                <a:latin typeface="Arial" pitchFamily="34" charset="0"/>
                <a:ea typeface="Arial" pitchFamily="34" charset="-122"/>
                <a:cs typeface="Arial" pitchFamily="34" charset="-120"/>
              </a:rPr>
              <a:t>AUTHORITY</a:t>
            </a:r>
            <a:endParaRPr lang="en-US" sz="740" dirty="0"/>
          </a:p>
        </p:txBody>
      </p:sp>
      <p:sp>
        <p:nvSpPr>
          <p:cNvPr id="9" name="Text 7"/>
          <p:cNvSpPr txBox="1"/>
          <p:nvPr/>
        </p:nvSpPr>
        <p:spPr>
          <a:xfrm>
            <a:off x="3657600" y="2688336"/>
            <a:ext cx="2340864" cy="384048"/>
          </a:xfrm>
          <a:prstGeom prst="rect">
            <a:avLst/>
          </a:prstGeom>
          <a:noFill/>
          <a:ln/>
        </p:spPr>
        <p:txBody>
          <a:bodyPr wrap="square" lIns="0" tIns="0" rIns="0" bIns="0" rtlCol="0" anchor="t"/>
          <a:lstStyle/>
          <a:p>
            <a:pPr indent="0" marL="0">
              <a:lnSpc>
                <a:spcPct val="100000"/>
              </a:lnSpc>
              <a:buNone/>
            </a:pPr>
            <a:r>
              <a:rPr lang="en-US" sz="740" b="1" spc="100" kern="0" dirty="0">
                <a:solidFill>
                  <a:srgbClr val="72879D"/>
                </a:solidFill>
                <a:latin typeface="Arial" pitchFamily="34" charset="0"/>
                <a:ea typeface="Arial" pitchFamily="34" charset="-122"/>
                <a:cs typeface="Arial" pitchFamily="34" charset="-120"/>
              </a:rPr>
              <a:t>GRANTS</a:t>
            </a:r>
            <a:endParaRPr lang="en-US" sz="740" dirty="0"/>
          </a:p>
        </p:txBody>
      </p:sp>
      <p:sp>
        <p:nvSpPr>
          <p:cNvPr id="10" name="Text 8"/>
          <p:cNvSpPr txBox="1"/>
          <p:nvPr/>
        </p:nvSpPr>
        <p:spPr>
          <a:xfrm>
            <a:off x="6035040" y="2688336"/>
            <a:ext cx="3163824" cy="384048"/>
          </a:xfrm>
          <a:prstGeom prst="rect">
            <a:avLst/>
          </a:prstGeom>
          <a:noFill/>
          <a:ln/>
        </p:spPr>
        <p:txBody>
          <a:bodyPr wrap="square" lIns="0" tIns="0" rIns="0" bIns="0" rtlCol="0" anchor="t"/>
          <a:lstStyle/>
          <a:p>
            <a:pPr indent="0" marL="0">
              <a:lnSpc>
                <a:spcPct val="100000"/>
              </a:lnSpc>
              <a:buNone/>
            </a:pPr>
            <a:r>
              <a:rPr lang="en-US" sz="740" b="1" spc="100" kern="0" dirty="0">
                <a:solidFill>
                  <a:srgbClr val="72879D"/>
                </a:solidFill>
                <a:latin typeface="Arial" pitchFamily="34" charset="0"/>
                <a:ea typeface="Arial" pitchFamily="34" charset="-122"/>
                <a:cs typeface="Arial" pitchFamily="34" charset="-120"/>
              </a:rPr>
              <a:t>VETOES</a:t>
            </a:r>
            <a:endParaRPr lang="en-US" sz="740" dirty="0"/>
          </a:p>
        </p:txBody>
      </p:sp>
      <p:sp>
        <p:nvSpPr>
          <p:cNvPr id="11" name="Text 9"/>
          <p:cNvSpPr txBox="1"/>
          <p:nvPr/>
        </p:nvSpPr>
        <p:spPr>
          <a:xfrm>
            <a:off x="9235440" y="2688336"/>
            <a:ext cx="2249424" cy="384048"/>
          </a:xfrm>
          <a:prstGeom prst="rect">
            <a:avLst/>
          </a:prstGeom>
          <a:noFill/>
          <a:ln/>
        </p:spPr>
        <p:txBody>
          <a:bodyPr wrap="square" lIns="0" tIns="0" rIns="0" bIns="0" rtlCol="0" anchor="t"/>
          <a:lstStyle/>
          <a:p>
            <a:pPr indent="0" marL="0">
              <a:lnSpc>
                <a:spcPct val="100000"/>
              </a:lnSpc>
              <a:buNone/>
            </a:pPr>
            <a:r>
              <a:rPr lang="en-US" sz="740" b="1" spc="100" kern="0" dirty="0">
                <a:solidFill>
                  <a:srgbClr val="72879D"/>
                </a:solidFill>
                <a:latin typeface="Arial" pitchFamily="34" charset="0"/>
                <a:ea typeface="Arial" pitchFamily="34" charset="-122"/>
                <a:cs typeface="Arial" pitchFamily="34" charset="-120"/>
              </a:rPr>
              <a:t>OVERRIDABLE BY DECISION LAYER?</a:t>
            </a:r>
            <a:endParaRPr lang="en-US" sz="740" dirty="0"/>
          </a:p>
        </p:txBody>
      </p:sp>
      <p:sp>
        <p:nvSpPr>
          <p:cNvPr id="12" name="Shape 10"/>
          <p:cNvSpPr/>
          <p:nvPr/>
        </p:nvSpPr>
        <p:spPr>
          <a:xfrm>
            <a:off x="621792" y="3054096"/>
            <a:ext cx="10881360" cy="0"/>
          </a:xfrm>
          <a:prstGeom prst="line">
            <a:avLst/>
          </a:prstGeom>
          <a:noFill/>
          <a:ln w="9525">
            <a:solidFill>
              <a:srgbClr val="23405C"/>
            </a:solidFill>
            <a:prstDash val="solid"/>
          </a:ln>
        </p:spPr>
      </p:sp>
      <p:sp>
        <p:nvSpPr>
          <p:cNvPr id="13" name="Text 11"/>
          <p:cNvSpPr txBox="1"/>
          <p:nvPr/>
        </p:nvSpPr>
        <p:spPr>
          <a:xfrm>
            <a:off x="640080" y="3072384"/>
            <a:ext cx="298094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Authorization kernel (deterministic)</a:t>
            </a:r>
            <a:endParaRPr lang="en-US" sz="740" dirty="0"/>
          </a:p>
        </p:txBody>
      </p:sp>
      <p:sp>
        <p:nvSpPr>
          <p:cNvPr id="14" name="Text 12"/>
          <p:cNvSpPr txBox="1"/>
          <p:nvPr/>
        </p:nvSpPr>
        <p:spPr>
          <a:xfrm>
            <a:off x="3657600" y="3072384"/>
            <a:ext cx="234086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Manufacturing authorization</a:t>
            </a:r>
            <a:endParaRPr lang="en-US" sz="740" dirty="0"/>
          </a:p>
        </p:txBody>
      </p:sp>
      <p:sp>
        <p:nvSpPr>
          <p:cNvPr id="15" name="Text 13"/>
          <p:cNvSpPr txBox="1"/>
          <p:nvPr/>
        </p:nvSpPr>
        <p:spPr>
          <a:xfrm>
            <a:off x="6035040" y="3072384"/>
            <a:ext cx="31638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By withholding</a:t>
            </a:r>
            <a:endParaRPr lang="en-US" sz="740" dirty="0"/>
          </a:p>
        </p:txBody>
      </p:sp>
      <p:sp>
        <p:nvSpPr>
          <p:cNvPr id="16" name="Text 14"/>
          <p:cNvSpPr txBox="1"/>
          <p:nvPr/>
        </p:nvSpPr>
        <p:spPr>
          <a:xfrm>
            <a:off x="9235440" y="3072384"/>
            <a:ext cx="22494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a:t>
            </a:r>
            <a:endParaRPr lang="en-US" sz="740" dirty="0"/>
          </a:p>
        </p:txBody>
      </p:sp>
      <p:sp>
        <p:nvSpPr>
          <p:cNvPr id="17" name="Shape 15"/>
          <p:cNvSpPr/>
          <p:nvPr/>
        </p:nvSpPr>
        <p:spPr>
          <a:xfrm>
            <a:off x="621792" y="3438144"/>
            <a:ext cx="10881360" cy="0"/>
          </a:xfrm>
          <a:prstGeom prst="line">
            <a:avLst/>
          </a:prstGeom>
          <a:noFill/>
          <a:ln w="9525">
            <a:solidFill>
              <a:srgbClr val="23405C"/>
            </a:solidFill>
            <a:prstDash val="solid"/>
          </a:ln>
        </p:spPr>
      </p:sp>
      <p:sp>
        <p:nvSpPr>
          <p:cNvPr id="18" name="Text 16"/>
          <p:cNvSpPr txBox="1"/>
          <p:nvPr/>
        </p:nvSpPr>
        <p:spPr>
          <a:xfrm>
            <a:off x="640080" y="3456432"/>
            <a:ext cx="298094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Machine-safety layer (conventional, independent)</a:t>
            </a:r>
            <a:endParaRPr lang="en-US" sz="740" dirty="0"/>
          </a:p>
        </p:txBody>
      </p:sp>
      <p:sp>
        <p:nvSpPr>
          <p:cNvPr id="19" name="Text 17"/>
          <p:cNvSpPr txBox="1"/>
          <p:nvPr/>
        </p:nvSpPr>
        <p:spPr>
          <a:xfrm>
            <a:off x="3657600" y="3456432"/>
            <a:ext cx="234086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Nothing — permissive only</a:t>
            </a:r>
            <a:endParaRPr lang="en-US" sz="740" dirty="0"/>
          </a:p>
        </p:txBody>
      </p:sp>
      <p:sp>
        <p:nvSpPr>
          <p:cNvPr id="20" name="Text 18"/>
          <p:cNvSpPr txBox="1"/>
          <p:nvPr/>
        </p:nvSpPr>
        <p:spPr>
          <a:xfrm>
            <a:off x="6035040" y="3456432"/>
            <a:ext cx="31638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Yes, at any time; path does not traverse the kernel or depend on kernel liveness</a:t>
            </a:r>
            <a:endParaRPr lang="en-US" sz="740" dirty="0"/>
          </a:p>
        </p:txBody>
      </p:sp>
      <p:sp>
        <p:nvSpPr>
          <p:cNvPr id="21" name="Text 19"/>
          <p:cNvSpPr txBox="1"/>
          <p:nvPr/>
        </p:nvSpPr>
        <p:spPr>
          <a:xfrm>
            <a:off x="9235440" y="3456432"/>
            <a:ext cx="22494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Never</a:t>
            </a:r>
            <a:endParaRPr lang="en-US" sz="740" dirty="0"/>
          </a:p>
        </p:txBody>
      </p:sp>
      <p:sp>
        <p:nvSpPr>
          <p:cNvPr id="22" name="Shape 20"/>
          <p:cNvSpPr/>
          <p:nvPr/>
        </p:nvSpPr>
        <p:spPr>
          <a:xfrm>
            <a:off x="621792" y="3822192"/>
            <a:ext cx="10881360" cy="0"/>
          </a:xfrm>
          <a:prstGeom prst="line">
            <a:avLst/>
          </a:prstGeom>
          <a:noFill/>
          <a:ln w="9525">
            <a:solidFill>
              <a:srgbClr val="23405C"/>
            </a:solidFill>
            <a:prstDash val="solid"/>
          </a:ln>
        </p:spPr>
      </p:sp>
      <p:sp>
        <p:nvSpPr>
          <p:cNvPr id="23" name="Text 21"/>
          <p:cNvSpPr txBox="1"/>
          <p:nvPr/>
        </p:nvSpPr>
        <p:spPr>
          <a:xfrm>
            <a:off x="640080" y="3840480"/>
            <a:ext cx="298094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Runtime assurance (execution feasibility)</a:t>
            </a:r>
            <a:endParaRPr lang="en-US" sz="740" dirty="0"/>
          </a:p>
        </p:txBody>
      </p:sp>
      <p:sp>
        <p:nvSpPr>
          <p:cNvPr id="24" name="Text 22"/>
          <p:cNvSpPr txBox="1"/>
          <p:nvPr/>
        </p:nvSpPr>
        <p:spPr>
          <a:xfrm>
            <a:off x="3657600" y="3840480"/>
            <a:ext cx="234086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Feasibility assertion</a:t>
            </a:r>
            <a:endParaRPr lang="en-US" sz="740" dirty="0"/>
          </a:p>
        </p:txBody>
      </p:sp>
      <p:sp>
        <p:nvSpPr>
          <p:cNvPr id="25" name="Text 23"/>
          <p:cNvSpPr txBox="1"/>
          <p:nvPr/>
        </p:nvSpPr>
        <p:spPr>
          <a:xfrm>
            <a:off x="6035040" y="3840480"/>
            <a:ext cx="31638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By withdrawal</a:t>
            </a:r>
            <a:endParaRPr lang="en-US" sz="740" dirty="0"/>
          </a:p>
        </p:txBody>
      </p:sp>
      <p:sp>
        <p:nvSpPr>
          <p:cNvPr id="26" name="Text 24"/>
          <p:cNvSpPr txBox="1"/>
          <p:nvPr/>
        </p:nvSpPr>
        <p:spPr>
          <a:xfrm>
            <a:off x="9235440" y="3840480"/>
            <a:ext cx="22494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Never</a:t>
            </a:r>
            <a:endParaRPr lang="en-US" sz="740" dirty="0"/>
          </a:p>
        </p:txBody>
      </p:sp>
      <p:sp>
        <p:nvSpPr>
          <p:cNvPr id="27" name="Shape 25"/>
          <p:cNvSpPr/>
          <p:nvPr/>
        </p:nvSpPr>
        <p:spPr>
          <a:xfrm>
            <a:off x="621792" y="4206240"/>
            <a:ext cx="10881360" cy="0"/>
          </a:xfrm>
          <a:prstGeom prst="line">
            <a:avLst/>
          </a:prstGeom>
          <a:noFill/>
          <a:ln w="9525">
            <a:solidFill>
              <a:srgbClr val="23405C"/>
            </a:solidFill>
            <a:prstDash val="solid"/>
          </a:ln>
        </p:spPr>
      </p:sp>
      <p:sp>
        <p:nvSpPr>
          <p:cNvPr id="28" name="Text 26"/>
          <p:cNvSpPr txBox="1"/>
          <p:nvPr/>
        </p:nvSpPr>
        <p:spPr>
          <a:xfrm>
            <a:off x="640080" y="4224528"/>
            <a:ext cx="298094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Human release (per approved authority model)</a:t>
            </a:r>
            <a:endParaRPr lang="en-US" sz="740" dirty="0"/>
          </a:p>
        </p:txBody>
      </p:sp>
      <p:sp>
        <p:nvSpPr>
          <p:cNvPr id="29" name="Text 27"/>
          <p:cNvSpPr txBox="1"/>
          <p:nvPr/>
        </p:nvSpPr>
        <p:spPr>
          <a:xfrm>
            <a:off x="3657600" y="4224528"/>
            <a:ext cx="234086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Release of one specific token</a:t>
            </a:r>
            <a:endParaRPr lang="en-US" sz="740" dirty="0"/>
          </a:p>
        </p:txBody>
      </p:sp>
      <p:sp>
        <p:nvSpPr>
          <p:cNvPr id="30" name="Text 28"/>
          <p:cNvSpPr txBox="1"/>
          <p:nvPr/>
        </p:nvSpPr>
        <p:spPr>
          <a:xfrm>
            <a:off x="6035040" y="4224528"/>
            <a:ext cx="31638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By withholding</a:t>
            </a:r>
            <a:endParaRPr lang="en-US" sz="740" dirty="0"/>
          </a:p>
        </p:txBody>
      </p:sp>
      <p:sp>
        <p:nvSpPr>
          <p:cNvPr id="31" name="Text 29"/>
          <p:cNvSpPr txBox="1"/>
          <p:nvPr/>
        </p:nvSpPr>
        <p:spPr>
          <a:xfrm>
            <a:off x="9235440" y="4224528"/>
            <a:ext cx="22494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Never</a:t>
            </a:r>
            <a:endParaRPr lang="en-US" sz="740" dirty="0"/>
          </a:p>
        </p:txBody>
      </p:sp>
      <p:sp>
        <p:nvSpPr>
          <p:cNvPr id="32" name="Shape 30"/>
          <p:cNvSpPr/>
          <p:nvPr/>
        </p:nvSpPr>
        <p:spPr>
          <a:xfrm>
            <a:off x="621792" y="4590288"/>
            <a:ext cx="10881360" cy="0"/>
          </a:xfrm>
          <a:prstGeom prst="line">
            <a:avLst/>
          </a:prstGeom>
          <a:noFill/>
          <a:ln w="9525">
            <a:solidFill>
              <a:srgbClr val="23405C"/>
            </a:solidFill>
            <a:prstDash val="solid"/>
          </a:ln>
        </p:spPr>
      </p:sp>
      <p:sp>
        <p:nvSpPr>
          <p:cNvPr id="33" name="Text 31"/>
          <p:cNvSpPr txBox="1"/>
          <p:nvPr/>
        </p:nvSpPr>
        <p:spPr>
          <a:xfrm>
            <a:off x="640080" y="4608576"/>
            <a:ext cx="298094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Machine controller</a:t>
            </a:r>
            <a:endParaRPr lang="en-US" sz="740" dirty="0"/>
          </a:p>
        </p:txBody>
      </p:sp>
      <p:sp>
        <p:nvSpPr>
          <p:cNvPr id="34" name="Text 32"/>
          <p:cNvSpPr txBox="1"/>
          <p:nvPr/>
        </p:nvSpPr>
        <p:spPr>
          <a:xfrm>
            <a:off x="3657600" y="4608576"/>
            <a:ext cx="234086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a:t>
            </a:r>
            <a:endParaRPr lang="en-US" sz="740" dirty="0"/>
          </a:p>
        </p:txBody>
      </p:sp>
      <p:sp>
        <p:nvSpPr>
          <p:cNvPr id="35" name="Text 33"/>
          <p:cNvSpPr txBox="1"/>
          <p:nvPr/>
        </p:nvSpPr>
        <p:spPr>
          <a:xfrm>
            <a:off x="6035040" y="4608576"/>
            <a:ext cx="31638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Revalidates the token before motion</a:t>
            </a:r>
            <a:endParaRPr lang="en-US" sz="740" dirty="0"/>
          </a:p>
        </p:txBody>
      </p:sp>
      <p:sp>
        <p:nvSpPr>
          <p:cNvPr id="36" name="Text 34"/>
          <p:cNvSpPr txBox="1"/>
          <p:nvPr/>
        </p:nvSpPr>
        <p:spPr>
          <a:xfrm>
            <a:off x="9235440" y="4608576"/>
            <a:ext cx="2249424" cy="384048"/>
          </a:xfrm>
          <a:prstGeom prst="rect">
            <a:avLst/>
          </a:prstGeom>
          <a:noFill/>
          <a:ln/>
        </p:spPr>
        <p:txBody>
          <a:bodyPr wrap="square" lIns="0" tIns="0" rIns="0" bIns="0" rtlCol="0" anchor="t"/>
          <a:lstStyle/>
          <a:p>
            <a:pPr indent="0" marL="0">
              <a:lnSpc>
                <a:spcPct val="100000"/>
              </a:lnSpc>
              <a:buNone/>
            </a:pPr>
            <a:r>
              <a:rPr lang="en-US" sz="740" dirty="0">
                <a:solidFill>
                  <a:srgbClr val="A9BDD1"/>
                </a:solidFill>
                <a:latin typeface="Arial" pitchFamily="34" charset="0"/>
                <a:ea typeface="Arial" pitchFamily="34" charset="-122"/>
                <a:cs typeface="Arial" pitchFamily="34" charset="-120"/>
              </a:rPr>
              <a:t>Never</a:t>
            </a:r>
            <a:endParaRPr lang="en-US" sz="740" dirty="0"/>
          </a:p>
        </p:txBody>
      </p:sp>
      <p:sp>
        <p:nvSpPr>
          <p:cNvPr id="37" name="Text 35"/>
          <p:cNvSpPr txBox="1"/>
          <p:nvPr/>
        </p:nvSpPr>
        <p:spPr>
          <a:xfrm>
            <a:off x="621792" y="4937760"/>
            <a:ext cx="10948111" cy="1371600"/>
          </a:xfrm>
          <a:prstGeom prst="rect">
            <a:avLst/>
          </a:prstGeom>
          <a:noFill/>
          <a:ln/>
        </p:spPr>
        <p:txBody>
          <a:bodyPr wrap="square" lIns="0" tIns="0" rIns="0" bIns="0" rtlCol="0" anchor="t"/>
          <a:lstStyle/>
          <a:p>
            <a:pPr algn="l" indent="0" marL="0">
              <a:lnSpc>
                <a:spcPct val="113000"/>
              </a:lnSpc>
              <a:spcAft>
                <a:spcPts val="300"/>
              </a:spcAft>
              <a:buNone/>
            </a:pPr>
            <a:r>
              <a:rPr lang="en-US" sz="800" b="1" spc="140" kern="0" dirty="0">
                <a:solidFill>
                  <a:srgbClr val="6FD3FF"/>
                </a:solidFill>
                <a:latin typeface="Arial" pitchFamily="34" charset="0"/>
                <a:ea typeface="Arial" pitchFamily="34" charset="-122"/>
                <a:cs typeface="Arial" pitchFamily="34" charset="-120"/>
              </a:rPr>
              <a:t>THE RUNTIME-ASSURANCE FRAMING</a:t>
            </a:r>
            <a:endParaRPr lang="en-US" sz="800" dirty="0"/>
          </a:p>
          <a:p>
            <a:pPr algn="l" indent="0" marL="0">
              <a:lnSpc>
                <a:spcPct val="113000"/>
              </a:lnSpc>
              <a:spcAft>
                <a:spcPts val="600"/>
              </a:spcAft>
              <a:buNone/>
            </a:pPr>
            <a:r>
              <a:rPr lang="en-US" sz="800" dirty="0">
                <a:solidFill>
                  <a:srgbClr val="A9BDD1"/>
                </a:solidFill>
                <a:latin typeface="Arial" pitchFamily="34" charset="0"/>
                <a:ea typeface="Arial" pitchFamily="34" charset="-122"/>
                <a:cs typeface="Arial" pitchFamily="34" charset="-120"/>
              </a:rPr>
              <a:t>AutoForge instantiates the run-time assurance pattern — a complex function that may propose, a deterministic monitor that authorizes or refuses, and a recovery function. Standard vocabulary exists (ASTM F3269; Simplex-type architectures). What has not yet been defined is the recoverable region for a manufacturing cell — the set of article and process states in which withholding authorization is always safe. Until it exists, this framing is a proposed design, not a current architecture.</a:t>
            </a:r>
            <a:endParaRPr lang="en-US" sz="800" dirty="0"/>
          </a:p>
          <a:p>
            <a:pPr algn="l" indent="0" marL="0">
              <a:lnSpc>
                <a:spcPct val="113000"/>
              </a:lnSpc>
              <a:spcAft>
                <a:spcPts val="600"/>
              </a:spcAft>
              <a:buNone/>
            </a:pPr>
            <a:r>
              <a:rPr lang="en-US" sz="800" b="1" dirty="0">
                <a:solidFill>
                  <a:srgbClr val="EAF2FA"/>
                </a:solidFill>
                <a:latin typeface="Arial" pitchFamily="34" charset="0"/>
                <a:ea typeface="Arial" pitchFamily="34" charset="-122"/>
                <a:cs typeface="Arial" pitchFamily="34" charset="-120"/>
              </a:rPr>
              <a:t>Machine learning is not permitted in the binding authorization path. Learned components may perceive, estimate, diagnose and propose.</a:t>
            </a:r>
            <a:endParaRPr lang="en-US" sz="800" dirty="0"/>
          </a:p>
          <a:p>
            <a:pPr algn="l" indent="0" marL="0">
              <a:lnSpc>
                <a:spcPct val="113000"/>
              </a:lnSpc>
              <a:buNone/>
            </a:pPr>
            <a:r>
              <a:rPr lang="en-US" sz="800" dirty="0">
                <a:solidFill>
                  <a:srgbClr val="A9BDD1"/>
                </a:solidFill>
                <a:latin typeface="Arial" pitchFamily="34" charset="0"/>
                <a:ea typeface="Arial" pitchFamily="34" charset="-122"/>
                <a:cs typeface="Arial" pitchFamily="34" charset="-120"/>
              </a:rPr>
              <a:t>Deliberately unfrozen, and the freeze order: uncertainty budget → decision rule and k → envelope representation → sensing modality → manipulator → integration. Hardware is selected in month 9, after Gate 2 — selecting it earlier would freeze around a guess.</a:t>
            </a:r>
            <a:endParaRPr lang="en-US" sz="800" dirty="0"/>
          </a:p>
        </p:txBody>
      </p:sp>
      <p:sp>
        <p:nvSpPr>
          <p:cNvPr id="38" name="Text 36"/>
          <p:cNvSpPr txBox="1"/>
          <p:nvPr/>
        </p:nvSpPr>
        <p:spPr>
          <a:xfrm>
            <a:off x="621792" y="6400800"/>
            <a:ext cx="10948111" cy="219456"/>
          </a:xfrm>
          <a:prstGeom prst="rect">
            <a:avLst/>
          </a:prstGeom>
          <a:noFill/>
          <a:ln/>
        </p:spPr>
        <p:txBody>
          <a:bodyPr wrap="square" lIns="0" tIns="0" rIns="0" bIns="0" rtlCol="0" anchor="ctr"/>
          <a:lstStyle/>
          <a:p>
            <a:pPr indent="0" marL="0">
              <a:buNone/>
            </a:pPr>
            <a:r>
              <a:rPr lang="en-US" sz="800" b="1" i="1" dirty="0">
                <a:solidFill>
                  <a:srgbClr val="72879D"/>
                </a:solidFill>
                <a:latin typeface="Arial" pitchFamily="34" charset="0"/>
                <a:ea typeface="Arial" pitchFamily="34" charset="-122"/>
                <a:cs typeface="Arial" pitchFamily="34" charset="-120"/>
              </a:rPr>
              <a:t>Boundary: everything on this slide is design intent. Nothing is implemented on hardware.</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A-4   ·   04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A-4 · VALIDATION ROADMAP — GATE 2, GATE 3 AND THE TWELVE-MONTH MODEL</a:t>
            </a:r>
            <a:endParaRPr lang="en-US" sz="1000" dirty="0"/>
          </a:p>
        </p:txBody>
      </p:sp>
      <p:sp>
        <p:nvSpPr>
          <p:cNvPr id="5" name="Text 3"/>
          <p:cNvSpPr txBox="1"/>
          <p:nvPr/>
        </p:nvSpPr>
        <p:spPr>
          <a:xfrm>
            <a:off x="621792" y="786384"/>
            <a:ext cx="10948111" cy="402336"/>
          </a:xfrm>
          <a:prstGeom prst="rect">
            <a:avLst/>
          </a:prstGeom>
          <a:noFill/>
          <a:ln/>
        </p:spPr>
        <p:txBody>
          <a:bodyPr wrap="square" lIns="0" tIns="0" rIns="0" bIns="0" rtlCol="0" anchor="t"/>
          <a:lstStyle/>
          <a:p>
            <a:pPr indent="0" marL="0">
              <a:lnSpc>
                <a:spcPct val="102000"/>
              </a:lnSpc>
              <a:buNone/>
            </a:pPr>
            <a:r>
              <a:rPr lang="en-US" sz="1900" b="1" dirty="0">
                <a:solidFill>
                  <a:srgbClr val="EAF2FA"/>
                </a:solidFill>
                <a:latin typeface="Arial" pitchFamily="34" charset="0"/>
                <a:ea typeface="Arial" pitchFamily="34" charset="-122"/>
                <a:cs typeface="Arial" pitchFamily="34" charset="-120"/>
              </a:rPr>
              <a:t>What each gate must produce, and what its failure protects.</a:t>
            </a:r>
            <a:endParaRPr lang="en-US" sz="1900" dirty="0"/>
          </a:p>
        </p:txBody>
      </p:sp>
      <p:sp>
        <p:nvSpPr>
          <p:cNvPr id="6" name="Shape 4"/>
          <p:cNvSpPr/>
          <p:nvPr/>
        </p:nvSpPr>
        <p:spPr>
          <a:xfrm>
            <a:off x="621792" y="1188720"/>
            <a:ext cx="10948111" cy="1737360"/>
          </a:xfrm>
          <a:prstGeom prst="roundRect">
            <a:avLst>
              <a:gd name="adj" fmla="val 4737"/>
            </a:avLst>
          </a:prstGeom>
          <a:solidFill>
            <a:srgbClr val="0F1E31">
              <a:alpha val="68000"/>
            </a:srgbClr>
          </a:solidFill>
          <a:ln w="9525">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7" name="Text 5"/>
          <p:cNvSpPr txBox="1"/>
          <p:nvPr/>
        </p:nvSpPr>
        <p:spPr>
          <a:xfrm>
            <a:off x="841248" y="1335024"/>
            <a:ext cx="10509199" cy="1508760"/>
          </a:xfrm>
          <a:prstGeom prst="rect">
            <a:avLst/>
          </a:prstGeom>
          <a:noFill/>
          <a:ln/>
        </p:spPr>
        <p:txBody>
          <a:bodyPr wrap="square" lIns="0" tIns="0" rIns="0" bIns="0" rtlCol="0" anchor="t"/>
          <a:lstStyle/>
          <a:p>
            <a:pPr algn="l" indent="0" marL="0">
              <a:lnSpc>
                <a:spcPct val="110000"/>
              </a:lnSpc>
              <a:spcAft>
                <a:spcPts val="400"/>
              </a:spcAft>
              <a:buNone/>
            </a:pPr>
            <a:r>
              <a:rPr lang="en-US" sz="780" b="1" spc="60" kern="0" dirty="0">
                <a:solidFill>
                  <a:srgbClr val="6FD3FF"/>
                </a:solidFill>
                <a:latin typeface="Arial" pitchFamily="34" charset="0"/>
                <a:ea typeface="Arial" pitchFamily="34" charset="-122"/>
                <a:cs typeface="Arial" pitchFamily="34" charset="-120"/>
              </a:rPr>
              <a:t>GATE 2 — FOUNDATIONAL VALIDATION — ~$65,000 INCL. ONE FULL RERUN, MONTH 6–9</a:t>
            </a:r>
            <a:endParaRPr lang="en-US" sz="780" dirty="0"/>
          </a:p>
          <a:p>
            <a:pPr algn="l" indent="0" marL="0">
              <a:lnSpc>
                <a:spcPct val="110000"/>
              </a:lnSpc>
              <a:spcAft>
                <a:spcPts val="400"/>
              </a:spcAft>
              <a:buNone/>
            </a:pPr>
            <a:r>
              <a:rPr lang="en-US" sz="730" dirty="0">
                <a:solidFill>
                  <a:srgbClr val="A9BDD1"/>
                </a:solidFill>
                <a:latin typeface="Arial" pitchFamily="34" charset="0"/>
                <a:ea typeface="Arial" pitchFamily="34" charset="-122"/>
                <a:cs typeface="Arial" pitchFamily="34" charset="-120"/>
              </a:rPr>
              <a:t>Must produce: a measurement systems analysis per characteristic class (gauge R&amp;R, bias, linearity, stability against AIAG MSA, RM13003, ISO 22514-7); a calibration traceability chain instrument-by-instrument to an accredited laboratory; a measured uncertainty budget with six declarations frozen; a demonstrated adequacy interlock (an expired MSA blocks READY); a capability state with a thermal timestamp and validity horizon; an auditable decision-record set including refusals. No qualification, customer acceptance, or second-class statement. No robot required.</a:t>
            </a:r>
            <a:endParaRPr lang="en-US" sz="780" dirty="0"/>
          </a:p>
          <a:p>
            <a:pPr algn="l" indent="0" marL="0">
              <a:lnSpc>
                <a:spcPct val="110000"/>
              </a:lnSpc>
              <a:buNone/>
            </a:pPr>
            <a:r>
              <a:rPr lang="en-US" sz="730" i="1" dirty="0">
                <a:solidFill>
                  <a:srgbClr val="72879D"/>
                </a:solidFill>
                <a:latin typeface="Arial" pitchFamily="34" charset="0"/>
                <a:ea typeface="Arial" pitchFamily="34" charset="-122"/>
                <a:cs typeface="Arial" pitchFamily="34" charset="-120"/>
              </a:rPr>
              <a:t>Fail condition: combined measurement uncertainty not ≥3–4× smaller than the tolerance the decision rule must protect, or any of six exit conditions unmet, or the adequacy interlock does not demonstrably block READY. On a fail, the decision rule cannot be declared and hardware selection does not proceed.</a:t>
            </a:r>
            <a:endParaRPr lang="en-US" sz="780" dirty="0"/>
          </a:p>
        </p:txBody>
      </p:sp>
      <p:sp>
        <p:nvSpPr>
          <p:cNvPr id="8" name="Shape 6"/>
          <p:cNvSpPr/>
          <p:nvPr/>
        </p:nvSpPr>
        <p:spPr>
          <a:xfrm>
            <a:off x="621792" y="3072384"/>
            <a:ext cx="10948111" cy="1828800"/>
          </a:xfrm>
          <a:prstGeom prst="roundRect">
            <a:avLst>
              <a:gd name="adj" fmla="val 4500"/>
            </a:avLst>
          </a:prstGeom>
          <a:solidFill>
            <a:srgbClr val="0F1E31">
              <a:alpha val="68000"/>
            </a:srgbClr>
          </a:solidFill>
          <a:ln w="9525">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9" name="Text 7"/>
          <p:cNvSpPr txBox="1"/>
          <p:nvPr/>
        </p:nvSpPr>
        <p:spPr>
          <a:xfrm>
            <a:off x="841248" y="3218688"/>
            <a:ext cx="10509199" cy="1627632"/>
          </a:xfrm>
          <a:prstGeom prst="rect">
            <a:avLst/>
          </a:prstGeom>
          <a:noFill/>
          <a:ln/>
        </p:spPr>
        <p:txBody>
          <a:bodyPr wrap="square" lIns="0" tIns="0" rIns="0" bIns="0" rtlCol="0" anchor="t"/>
          <a:lstStyle/>
          <a:p>
            <a:pPr algn="l" indent="0" marL="0">
              <a:lnSpc>
                <a:spcPct val="106000"/>
              </a:lnSpc>
              <a:spcAft>
                <a:spcPts val="400"/>
              </a:spcAft>
              <a:buNone/>
            </a:pPr>
            <a:r>
              <a:rPr lang="en-US" sz="780" b="1" spc="40" kern="0" dirty="0">
                <a:solidFill>
                  <a:srgbClr val="6FD3FF"/>
                </a:solidFill>
                <a:latin typeface="Arial" pitchFamily="34" charset="0"/>
                <a:ea typeface="Arial" pitchFamily="34" charset="-122"/>
                <a:cs typeface="Arial" pitchFamily="34" charset="-120"/>
              </a:rPr>
              <a:t>GATE 3 — INTEGRATED DEMONSTRATOR — $350,000 BASE + $50,000 IN-BUCKET CONTINGENCY, RANGE $250K–$450K, MONTH 9–14</a:t>
            </a:r>
            <a:endParaRPr lang="en-US" sz="780" dirty="0"/>
          </a:p>
          <a:p>
            <a:pPr algn="l" indent="0" marL="0">
              <a:lnSpc>
                <a:spcPct val="106000"/>
              </a:lnSpc>
              <a:spcAft>
                <a:spcPts val="400"/>
              </a:spcAft>
              <a:buNone/>
            </a:pPr>
            <a:r>
              <a:rPr lang="en-US" sz="730" dirty="0">
                <a:solidFill>
                  <a:srgbClr val="A9BDD1"/>
                </a:solidFill>
                <a:latin typeface="Arial" pitchFamily="34" charset="0"/>
                <a:ea typeface="Arial" pitchFamily="34" charset="-122"/>
                <a:cs typeface="Arial" pitchFamily="34" charset="-120"/>
              </a:rPr>
              <a:t>Proves four things: the authorization layer refuses correctly under deliberately marginal conditions; verification is genuinely independent of the estimate that authorized the action; the evidence record survives review; the capability estimate holds across a working session. Additionally scoped so the platform layer is demonstrated class-agnostic against a machining observation dataset.</a:t>
            </a:r>
            <a:endParaRPr lang="en-US" sz="780" dirty="0"/>
          </a:p>
          <a:p>
            <a:pPr algn="l" indent="0" marL="0">
              <a:lnSpc>
                <a:spcPct val="106000"/>
              </a:lnSpc>
              <a:buNone/>
            </a:pPr>
            <a:r>
              <a:rPr lang="en-US" sz="710" dirty="0">
                <a:solidFill>
                  <a:srgbClr val="72879D"/>
                </a:solidFill>
                <a:latin typeface="Arial" pitchFamily="34" charset="0"/>
                <a:ea typeface="Arial" pitchFamily="34" charset="-122"/>
                <a:cs typeface="Arial" pitchFamily="34" charset="-120"/>
              </a:rPr>
              <a:t>Fail condition: scored against those four criteria on a pre-registered set of marginal / out-of-limit conditions, with a named external quality practitioner reviewing the evidence record. Covered: one arm 10–20 kg class, one closed-loop measurement channel, end effector and fixturing for a bench-scale article family, guarding/controls for a supervised research cell, rented reference metrology, one funded redesign loop. Not covered: facility build-out, tracker/CMM purchase, a second station, qualified production equipment, a retained integrator. At a fully outsourced $700,000 outcome the physical-validation bucket is $300,000 short and the 12% contingency is consumed; the survival reserve is not touched.</a:t>
            </a:r>
            <a:endParaRPr lang="en-US" sz="780" dirty="0"/>
          </a:p>
        </p:txBody>
      </p:sp>
      <p:sp>
        <p:nvSpPr>
          <p:cNvPr id="10" name="Text 8"/>
          <p:cNvSpPr txBox="1"/>
          <p:nvPr/>
        </p:nvSpPr>
        <p:spPr>
          <a:xfrm>
            <a:off x="621792" y="5029200"/>
            <a:ext cx="10948111" cy="1508760"/>
          </a:xfrm>
          <a:prstGeom prst="rect">
            <a:avLst/>
          </a:prstGeom>
          <a:noFill/>
          <a:ln/>
        </p:spPr>
        <p:txBody>
          <a:bodyPr wrap="square" lIns="0" tIns="0" rIns="0" bIns="0" rtlCol="0" anchor="t"/>
          <a:lstStyle/>
          <a:p>
            <a:pPr algn="l" indent="0" marL="0">
              <a:lnSpc>
                <a:spcPct val="108000"/>
              </a:lnSpc>
              <a:spcAft>
                <a:spcPts val="500"/>
              </a:spcAft>
              <a:buNone/>
            </a:pPr>
            <a:r>
              <a:rPr lang="en-US" sz="800" i="1" dirty="0">
                <a:solidFill>
                  <a:srgbClr val="EAF2FA"/>
                </a:solidFill>
                <a:latin typeface="Arial" pitchFamily="34" charset="0"/>
                <a:ea typeface="Arial" pitchFamily="34" charset="-122"/>
                <a:cs typeface="Arial" pitchFamily="34" charset="-120"/>
              </a:rPr>
              <a:t>Gate 3 does not establish production readiness, customer qualification, reliability at scale, or the thesis as a whole. The failure mode most to be avoided is building an expensive machine that answers a question nobody needed answered.</a:t>
            </a:r>
            <a:endParaRPr lang="en-US" sz="800" dirty="0"/>
          </a:p>
          <a:p>
            <a:pPr algn="l" indent="0" marL="0">
              <a:lnSpc>
                <a:spcPct val="108000"/>
              </a:lnSpc>
              <a:spcAft>
                <a:spcPts val="300"/>
              </a:spcAft>
              <a:buNone/>
            </a:pPr>
            <a:r>
              <a:rPr lang="en-US" sz="760" b="1" spc="120" kern="0" dirty="0">
                <a:solidFill>
                  <a:srgbClr val="6FD3FF"/>
                </a:solidFill>
                <a:latin typeface="Arial" pitchFamily="34" charset="0"/>
                <a:ea typeface="Arial" pitchFamily="34" charset="-122"/>
                <a:cs typeface="Arial" pitchFamily="34" charset="-120"/>
              </a:rPr>
              <a:t>TWELVE-MONTH MODEL, CRITICAL PATH</a:t>
            </a:r>
            <a:endParaRPr lang="en-US" sz="800" dirty="0"/>
          </a:p>
          <a:p>
            <a:pPr algn="l" indent="0" marL="0">
              <a:lnSpc>
                <a:spcPct val="108000"/>
              </a:lnSpc>
              <a:spcAft>
                <a:spcPts val="600"/>
              </a:spcAft>
              <a:buNone/>
            </a:pPr>
            <a:r>
              <a:rPr lang="en-US" sz="710" dirty="0">
                <a:solidFill>
                  <a:srgbClr val="A9BDD1"/>
                </a:solidFill>
                <a:latin typeface="Arial" pitchFamily="34" charset="0"/>
                <a:ea typeface="Arial" pitchFamily="34" charset="-122"/>
                <a:cs typeface="Arial" pitchFamily="34" charset="-120"/>
              </a:rPr>
              <a:t>Chief Engineer in seat → controls engineer in seat → rig design frozen → hazard assessment signed → E0.1/E0.2 measured → Gate 1 pre-registered (M3) → 177 trials (M4–5) → classification (M5) → Gate 2 uncertainty budget (M6–8) → six declarations &amp; envelope frozen (M8) → hardware selected (M9) → lead time → Gate 3 run (M13–14). Slip table: Gate 1 CONDITIONAL+rerun or 16-week manipulator lead time → Gate 3 M15–16; Gate 1 KILL → backup experiment, Gate 2 on the measurement chain, hiring frozen at four, ~26 months of reduced operation on reserve.</a:t>
            </a:r>
            <a:endParaRPr lang="en-US" sz="800" dirty="0"/>
          </a:p>
          <a:p>
            <a:pPr algn="l" indent="0" marL="0">
              <a:lnSpc>
                <a:spcPct val="108000"/>
              </a:lnSpc>
              <a:spcAft>
                <a:spcPts val="300"/>
              </a:spcAft>
              <a:buNone/>
            </a:pPr>
            <a:r>
              <a:rPr lang="en-US" sz="760" b="1" spc="120" kern="0" dirty="0">
                <a:solidFill>
                  <a:srgbClr val="6FD3FF"/>
                </a:solidFill>
                <a:latin typeface="Arial" pitchFamily="34" charset="0"/>
                <a:ea typeface="Arial" pitchFamily="34" charset="-122"/>
                <a:cs typeface="Arial" pitchFamily="34" charset="-120"/>
              </a:rPr>
              <a:t>TOP TRACKED UNKNOWNS, EACH WITH THE GATE THAT RESOLVES IT</a:t>
            </a:r>
            <a:endParaRPr lang="en-US" sz="800" dirty="0"/>
          </a:p>
          <a:p>
            <a:pPr algn="l" indent="0" marL="0">
              <a:lnSpc>
                <a:spcPct val="108000"/>
              </a:lnSpc>
              <a:buNone/>
            </a:pPr>
            <a:r>
              <a:rPr lang="en-US" sz="710" dirty="0">
                <a:solidFill>
                  <a:srgbClr val="A9BDD1"/>
                </a:solidFill>
                <a:latin typeface="Arial" pitchFamily="34" charset="0"/>
                <a:ea typeface="Arial" pitchFamily="34" charset="-122"/>
                <a:cs typeface="Arial" pitchFamily="34" charset="-120"/>
              </a:rPr>
              <a:t>Whether a customer quality system accepts read-only third-party evidence without change control (interviews, engagement); planning-vs-debug ratio in introduction burden, which can invert the thesis (interviews); article/capability uncertainty correlation (E0.1); datum stiffness and drift, ~41% of the uncertainty budget (E0.2); specular-surface sensing modality (E0.4); capability-state-to-Ppk mapping (Gate 2); who owns dimensional metrology for acceptance (hire); the recoverable region (E2 safety concept). Two entries already closed by withdrawing a claim are listed alongside — a register with no closed entries is not a register.</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A-5   ·   05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A-5 · QUALIFICATION, QUALITY AND FAI — THE FRAMEWORK, AND SYNTREX'S OWN</a:t>
            </a:r>
            <a:endParaRPr lang="en-US" sz="1000" dirty="0"/>
          </a:p>
        </p:txBody>
      </p:sp>
      <p:sp>
        <p:nvSpPr>
          <p:cNvPr id="5" name="Text 3"/>
          <p:cNvSpPr txBox="1"/>
          <p:nvPr/>
        </p:nvSpPr>
        <p:spPr>
          <a:xfrm>
            <a:off x="621792" y="786384"/>
            <a:ext cx="10948111" cy="457200"/>
          </a:xfrm>
          <a:prstGeom prst="rect">
            <a:avLst/>
          </a:prstGeom>
          <a:noFill/>
          <a:ln/>
        </p:spPr>
        <p:txBody>
          <a:bodyPr wrap="square" lIns="0" tIns="0" rIns="0" bIns="0" rtlCol="0" anchor="t"/>
          <a:lstStyle/>
          <a:p>
            <a:pPr indent="0" marL="0">
              <a:lnSpc>
                <a:spcPct val="102000"/>
              </a:lnSpc>
              <a:buNone/>
            </a:pPr>
            <a:r>
              <a:rPr lang="en-US" sz="2100" b="1" dirty="0">
                <a:solidFill>
                  <a:srgbClr val="EAF2FA"/>
                </a:solidFill>
                <a:latin typeface="Arial" pitchFamily="34" charset="0"/>
                <a:ea typeface="Arial" pitchFamily="34" charset="-122"/>
                <a:cs typeface="Arial" pitchFamily="34" charset="-120"/>
              </a:rPr>
              <a:t>The standards position, cited by name and requirement.</a:t>
            </a:r>
            <a:endParaRPr lang="en-US" sz="2100" dirty="0"/>
          </a:p>
        </p:txBody>
      </p:sp>
      <p:sp>
        <p:nvSpPr>
          <p:cNvPr id="6" name="Text 4"/>
          <p:cNvSpPr txBox="1"/>
          <p:nvPr/>
        </p:nvSpPr>
        <p:spPr>
          <a:xfrm>
            <a:off x="621792" y="1225296"/>
            <a:ext cx="5623560" cy="4297680"/>
          </a:xfrm>
          <a:prstGeom prst="rect">
            <a:avLst/>
          </a:prstGeom>
          <a:noFill/>
          <a:ln/>
        </p:spPr>
        <p:txBody>
          <a:bodyPr wrap="square" lIns="0" tIns="0" rIns="0" bIns="0" rtlCol="0" anchor="t"/>
          <a:lstStyle/>
          <a:p>
            <a:pPr algn="l" indent="0" marL="0">
              <a:lnSpc>
                <a:spcPct val="113000"/>
              </a:lnSpc>
              <a:spcAft>
                <a:spcPts val="300"/>
              </a:spcAft>
              <a:buNone/>
            </a:pPr>
            <a:r>
              <a:rPr lang="en-US" sz="780" b="1" spc="140" kern="0" dirty="0">
                <a:solidFill>
                  <a:srgbClr val="6FD3FF"/>
                </a:solidFill>
                <a:latin typeface="Arial" pitchFamily="34" charset="0"/>
                <a:ea typeface="Arial" pitchFamily="34" charset="-122"/>
                <a:cs typeface="Arial" pitchFamily="34" charset="-120"/>
              </a:rPr>
              <a:t>THE CUSTOMER'S OBLIGATIONS</a:t>
            </a:r>
            <a:endParaRPr lang="en-US" sz="780" dirty="0"/>
          </a:p>
          <a:p>
            <a:pPr algn="l" indent="0" marL="0">
              <a:lnSpc>
                <a:spcPct val="113000"/>
              </a:lnSpc>
              <a:spcAft>
                <a:spcPts val="600"/>
              </a:spcAft>
              <a:buNone/>
            </a:pPr>
            <a:r>
              <a:rPr lang="en-US" sz="760" dirty="0">
                <a:solidFill>
                  <a:srgbClr val="A9BDD1"/>
                </a:solidFill>
                <a:latin typeface="Arial" pitchFamily="34" charset="0"/>
                <a:ea typeface="Arial" pitchFamily="34" charset="-122"/>
                <a:cs typeface="Arial" pitchFamily="34" charset="-120"/>
              </a:rPr>
              <a:t>AS9102C (28 June 2023, current, no Rev D): a new part number requires a full FAI; a partial FAI is permitted only against a valid prior FAI and covers only the characteristics affected. Triggers include a new configuration, a design change, a change of manufacturing source/process/inspection method/location/tooling/material/NC program, and a two-year lapse. AS9102 is complementary to customer and regulatory requirements; primes routinely require more.</a:t>
            </a:r>
            <a:endParaRPr lang="en-US" sz="780" dirty="0"/>
          </a:p>
          <a:p>
            <a:pPr algn="l" indent="0" marL="0">
              <a:lnSpc>
                <a:spcPct val="113000"/>
              </a:lnSpc>
              <a:spcAft>
                <a:spcPts val="300"/>
              </a:spcAft>
              <a:buNone/>
            </a:pPr>
            <a:r>
              <a:rPr lang="en-US" sz="780" b="1" spc="140" kern="0" dirty="0">
                <a:solidFill>
                  <a:srgbClr val="6FD3FF"/>
                </a:solidFill>
                <a:latin typeface="Arial" pitchFamily="34" charset="0"/>
                <a:ea typeface="Arial" pitchFamily="34" charset="-122"/>
                <a:cs typeface="Arial" pitchFamily="34" charset="-120"/>
              </a:rPr>
              <a:t>THE POSITION STATEMENT</a:t>
            </a:r>
            <a:endParaRPr lang="en-US" sz="780" dirty="0"/>
          </a:p>
          <a:p>
            <a:pPr algn="l" indent="0" marL="0">
              <a:lnSpc>
                <a:spcPct val="113000"/>
              </a:lnSpc>
              <a:spcAft>
                <a:spcPts val="600"/>
              </a:spcAft>
              <a:buNone/>
            </a:pPr>
            <a:r>
              <a:rPr lang="en-US" sz="760" dirty="0">
                <a:solidFill>
                  <a:srgbClr val="A9BDD1"/>
                </a:solidFill>
                <a:latin typeface="Arial" pitchFamily="34" charset="0"/>
                <a:ea typeface="Arial" pitchFamily="34" charset="-122"/>
                <a:cs typeface="Arial" pitchFamily="34" charset="-120"/>
              </a:rPr>
              <a:t>First article inspection is a part-specific verification gate and remains so. Syntrex targets the engineering burden required to reach that gate, not the gate itself. Demonstrated process capability does not replace an FAI. What it can do, subject to customer approval, is reduce ongoing verification burden: AS13002 alternate inspection frequency plans; AS9138 statistical product acceptance; AS9103B shifting Key Characteristic verification toward SPC. None removes the initial part-level FAI and none is a supplier's unilateral decision.</a:t>
            </a:r>
            <a:endParaRPr lang="en-US" sz="780" dirty="0"/>
          </a:p>
          <a:p>
            <a:pPr algn="l" indent="0" marL="0">
              <a:lnSpc>
                <a:spcPct val="113000"/>
              </a:lnSpc>
              <a:spcAft>
                <a:spcPts val="300"/>
              </a:spcAft>
              <a:buNone/>
            </a:pPr>
            <a:r>
              <a:rPr lang="en-US" sz="780" b="1" spc="140" kern="0" dirty="0">
                <a:solidFill>
                  <a:srgbClr val="6FD3FF"/>
                </a:solidFill>
                <a:latin typeface="Arial" pitchFamily="34" charset="0"/>
                <a:ea typeface="Arial" pitchFamily="34" charset="-122"/>
                <a:cs typeface="Arial" pitchFamily="34" charset="-120"/>
              </a:rPr>
              <a:t>STANDARDS CURRENCY</a:t>
            </a:r>
            <a:endParaRPr lang="en-US" sz="780" dirty="0"/>
          </a:p>
          <a:p>
            <a:pPr algn="l" indent="0" marL="0">
              <a:lnSpc>
                <a:spcPct val="113000"/>
              </a:lnSpc>
              <a:buNone/>
            </a:pPr>
            <a:r>
              <a:rPr lang="en-US" sz="760" dirty="0">
                <a:solidFill>
                  <a:srgbClr val="A9BDD1"/>
                </a:solidFill>
                <a:latin typeface="Arial" pitchFamily="34" charset="0"/>
                <a:ea typeface="Arial" pitchFamily="34" charset="-122"/>
                <a:cs typeface="Arial" pitchFamily="34" charset="-120"/>
              </a:rPr>
              <a:t>AS9100D (2016) current, no Rev E; successor IA9100 not yet published, no date stated. ISO 9001 sixth edition final draft approved 7 Aug 2026, under publication. AS13100 Rev A (14 Apr 2025) moved the aero-engine supply chain from Cpk to Ppk — scope is the engine supply chain, cited as such. ISO 10218-2:2025 for robot cells with ISO/TS 15066 folded in; ISO 12100 for risk assessment; performance level under ISO 13849-1. Voluntary consensus standards in the US carrying evidentiary and liability weight rather than direct legal force.</a:t>
            </a:r>
            <a:endParaRPr lang="en-US" sz="780" dirty="0"/>
          </a:p>
        </p:txBody>
      </p:sp>
      <p:sp>
        <p:nvSpPr>
          <p:cNvPr id="7" name="Shape 5"/>
          <p:cNvSpPr/>
          <p:nvPr/>
        </p:nvSpPr>
        <p:spPr>
          <a:xfrm>
            <a:off x="6400800" y="1225296"/>
            <a:ext cx="5166360" cy="4315968"/>
          </a:xfrm>
          <a:prstGeom prst="roundRect">
            <a:avLst>
              <a:gd name="adj" fmla="val 1907"/>
            </a:avLst>
          </a:prstGeom>
          <a:solidFill>
            <a:srgbClr val="0F1E31">
              <a:alpha val="68000"/>
            </a:srgbClr>
          </a:solidFill>
          <a:ln w="9525">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8" name="Text 6"/>
          <p:cNvSpPr txBox="1"/>
          <p:nvPr/>
        </p:nvSpPr>
        <p:spPr>
          <a:xfrm>
            <a:off x="6620256" y="1353312"/>
            <a:ext cx="4754880" cy="201168"/>
          </a:xfrm>
          <a:prstGeom prst="rect">
            <a:avLst/>
          </a:prstGeom>
          <a:noFill/>
          <a:ln/>
        </p:spPr>
        <p:txBody>
          <a:bodyPr wrap="square" lIns="0" tIns="0" rIns="0" bIns="0" rtlCol="0" anchor="ctr"/>
          <a:lstStyle/>
          <a:p>
            <a:pPr indent="0" marL="0">
              <a:buNone/>
            </a:pPr>
            <a:r>
              <a:rPr lang="en-US" sz="760" b="1" spc="120" kern="0" dirty="0">
                <a:solidFill>
                  <a:srgbClr val="6FD3FF"/>
                </a:solidFill>
                <a:latin typeface="Arial" pitchFamily="34" charset="0"/>
                <a:ea typeface="Arial" pitchFamily="34" charset="-122"/>
                <a:cs typeface="Arial" pitchFamily="34" charset="-120"/>
              </a:rPr>
              <a:t>WHAT BINDS WHOM — THE FOUR-WAY SPLIT</a:t>
            </a:r>
            <a:endParaRPr lang="en-US" sz="760" dirty="0"/>
          </a:p>
        </p:txBody>
      </p:sp>
      <p:sp>
        <p:nvSpPr>
          <p:cNvPr id="9" name="Shape 7"/>
          <p:cNvSpPr/>
          <p:nvPr/>
        </p:nvSpPr>
        <p:spPr>
          <a:xfrm>
            <a:off x="6620256" y="1572768"/>
            <a:ext cx="4754880" cy="0"/>
          </a:xfrm>
          <a:prstGeom prst="line">
            <a:avLst/>
          </a:prstGeom>
          <a:noFill/>
          <a:ln w="9525">
            <a:solidFill>
              <a:srgbClr val="23405C"/>
            </a:solidFill>
            <a:prstDash val="solid"/>
          </a:ln>
        </p:spPr>
      </p:sp>
      <p:sp>
        <p:nvSpPr>
          <p:cNvPr id="10" name="Text 8"/>
          <p:cNvSpPr txBox="1"/>
          <p:nvPr/>
        </p:nvSpPr>
        <p:spPr>
          <a:xfrm>
            <a:off x="6620256" y="1627632"/>
            <a:ext cx="4754880" cy="219456"/>
          </a:xfrm>
          <a:prstGeom prst="rect">
            <a:avLst/>
          </a:prstGeom>
          <a:noFill/>
          <a:ln/>
        </p:spPr>
        <p:txBody>
          <a:bodyPr wrap="square" lIns="0" tIns="0" rIns="0" bIns="0" rtlCol="0" anchor="ctr"/>
          <a:lstStyle/>
          <a:p>
            <a:pPr indent="0" marL="0">
              <a:buNone/>
            </a:pPr>
            <a:r>
              <a:rPr lang="en-US" sz="720" b="1" spc="30" kern="0" dirty="0">
                <a:solidFill>
                  <a:srgbClr val="EAF2FA"/>
                </a:solidFill>
                <a:latin typeface="Arial" pitchFamily="34" charset="0"/>
                <a:ea typeface="Arial" pitchFamily="34" charset="-122"/>
                <a:cs typeface="Arial" pitchFamily="34" charset="-120"/>
              </a:rPr>
              <a:t>APPLIES TO SYNTREX AS AN ORGANISATION</a:t>
            </a:r>
            <a:endParaRPr lang="en-US" sz="720" dirty="0"/>
          </a:p>
        </p:txBody>
      </p:sp>
      <p:sp>
        <p:nvSpPr>
          <p:cNvPr id="11" name="Text 9"/>
          <p:cNvSpPr txBox="1"/>
          <p:nvPr/>
        </p:nvSpPr>
        <p:spPr>
          <a:xfrm>
            <a:off x="6620256" y="1847088"/>
            <a:ext cx="4754880" cy="640080"/>
          </a:xfrm>
          <a:prstGeom prst="rect">
            <a:avLst/>
          </a:prstGeom>
          <a:noFill/>
          <a:ln/>
        </p:spPr>
        <p:txBody>
          <a:bodyPr wrap="square" lIns="0" tIns="0" rIns="0" bIns="0" rtlCol="0" anchor="ctr"/>
          <a:lstStyle/>
          <a:p>
            <a:pPr indent="0" marL="0">
              <a:lnSpc>
                <a:spcPct val="106000"/>
              </a:lnSpc>
              <a:buNone/>
            </a:pPr>
            <a:r>
              <a:rPr lang="en-US" sz="720" dirty="0">
                <a:solidFill>
                  <a:srgbClr val="A9BDD1"/>
                </a:solidFill>
                <a:latin typeface="Arial" pitchFamily="34" charset="0"/>
                <a:ea typeface="Arial" pitchFamily="34" charset="-122"/>
                <a:cs typeface="Arial" pitchFamily="34" charset="-120"/>
              </a:rPr>
              <a:t>Configuration management; document control; evidence record built to AS9100 7.5/8.5.1 as a production record; IEC 62443-2-4 posture; export classification &amp; Tech Control Plan; DFARS data-rights clause families (7013, 7014, 7018 SBIR)</a:t>
            </a:r>
            <a:endParaRPr lang="en-US" sz="720" dirty="0"/>
          </a:p>
        </p:txBody>
      </p:sp>
      <p:sp>
        <p:nvSpPr>
          <p:cNvPr id="12" name="Shape 10"/>
          <p:cNvSpPr/>
          <p:nvPr/>
        </p:nvSpPr>
        <p:spPr>
          <a:xfrm>
            <a:off x="6620256" y="2468880"/>
            <a:ext cx="4754880" cy="0"/>
          </a:xfrm>
          <a:prstGeom prst="line">
            <a:avLst/>
          </a:prstGeom>
          <a:noFill/>
          <a:ln w="9525">
            <a:solidFill>
              <a:srgbClr val="23405C"/>
            </a:solidFill>
            <a:prstDash val="solid"/>
          </a:ln>
        </p:spPr>
      </p:sp>
      <p:sp>
        <p:nvSpPr>
          <p:cNvPr id="13" name="Text 11"/>
          <p:cNvSpPr txBox="1"/>
          <p:nvPr/>
        </p:nvSpPr>
        <p:spPr>
          <a:xfrm>
            <a:off x="6620256" y="2523744"/>
            <a:ext cx="4754880" cy="219456"/>
          </a:xfrm>
          <a:prstGeom prst="rect">
            <a:avLst/>
          </a:prstGeom>
          <a:noFill/>
          <a:ln/>
        </p:spPr>
        <p:txBody>
          <a:bodyPr wrap="square" lIns="0" tIns="0" rIns="0" bIns="0" rtlCol="0" anchor="ctr"/>
          <a:lstStyle/>
          <a:p>
            <a:pPr indent="0" marL="0">
              <a:buNone/>
            </a:pPr>
            <a:r>
              <a:rPr lang="en-US" sz="720" b="1" spc="30" kern="0" dirty="0">
                <a:solidFill>
                  <a:srgbClr val="EAF2FA"/>
                </a:solidFill>
                <a:latin typeface="Arial" pitchFamily="34" charset="0"/>
                <a:ea typeface="Arial" pitchFamily="34" charset="-122"/>
                <a:cs typeface="Arial" pitchFamily="34" charset="-120"/>
              </a:rPr>
              <a:t>APPLIES TO THE SYNTREX PRODUCT</a:t>
            </a:r>
            <a:endParaRPr lang="en-US" sz="720" dirty="0"/>
          </a:p>
        </p:txBody>
      </p:sp>
      <p:sp>
        <p:nvSpPr>
          <p:cNvPr id="14" name="Text 12"/>
          <p:cNvSpPr txBox="1"/>
          <p:nvPr/>
        </p:nvSpPr>
        <p:spPr>
          <a:xfrm>
            <a:off x="6620256" y="2743200"/>
            <a:ext cx="4754880" cy="640080"/>
          </a:xfrm>
          <a:prstGeom prst="rect">
            <a:avLst/>
          </a:prstGeom>
          <a:noFill/>
          <a:ln/>
        </p:spPr>
        <p:txBody>
          <a:bodyPr wrap="square" lIns="0" tIns="0" rIns="0" bIns="0" rtlCol="0" anchor="ctr"/>
          <a:lstStyle/>
          <a:p>
            <a:pPr indent="0" marL="0">
              <a:lnSpc>
                <a:spcPct val="106000"/>
              </a:lnSpc>
              <a:buNone/>
            </a:pPr>
            <a:r>
              <a:rPr lang="en-US" sz="720" dirty="0">
                <a:solidFill>
                  <a:srgbClr val="A9BDD1"/>
                </a:solidFill>
                <a:latin typeface="Arial" pitchFamily="34" charset="0"/>
                <a:ea typeface="Arial" pitchFamily="34" charset="-122"/>
                <a:cs typeface="Arial" pitchFamily="34" charset="-120"/>
              </a:rPr>
              <a:t>Measurement adequacy (ISO 14253-1 guarded acceptance; GUM/JCGM 101 uncertainty); MSA per characteristic class; cybersecurity under 62443-4-1/4-2; SBOM</a:t>
            </a:r>
            <a:endParaRPr lang="en-US" sz="720" dirty="0"/>
          </a:p>
        </p:txBody>
      </p:sp>
      <p:sp>
        <p:nvSpPr>
          <p:cNvPr id="15" name="Shape 13"/>
          <p:cNvSpPr/>
          <p:nvPr/>
        </p:nvSpPr>
        <p:spPr>
          <a:xfrm>
            <a:off x="6620256" y="3364992"/>
            <a:ext cx="4754880" cy="0"/>
          </a:xfrm>
          <a:prstGeom prst="line">
            <a:avLst/>
          </a:prstGeom>
          <a:noFill/>
          <a:ln w="9525">
            <a:solidFill>
              <a:srgbClr val="23405C"/>
            </a:solidFill>
            <a:prstDash val="solid"/>
          </a:ln>
        </p:spPr>
      </p:sp>
      <p:sp>
        <p:nvSpPr>
          <p:cNvPr id="16" name="Text 14"/>
          <p:cNvSpPr txBox="1"/>
          <p:nvPr/>
        </p:nvSpPr>
        <p:spPr>
          <a:xfrm>
            <a:off x="6620256" y="3419856"/>
            <a:ext cx="4754880" cy="219456"/>
          </a:xfrm>
          <a:prstGeom prst="rect">
            <a:avLst/>
          </a:prstGeom>
          <a:noFill/>
          <a:ln/>
        </p:spPr>
        <p:txBody>
          <a:bodyPr wrap="square" lIns="0" tIns="0" rIns="0" bIns="0" rtlCol="0" anchor="ctr"/>
          <a:lstStyle/>
          <a:p>
            <a:pPr indent="0" marL="0">
              <a:buNone/>
            </a:pPr>
            <a:r>
              <a:rPr lang="en-US" sz="720" b="1" spc="30" kern="0" dirty="0">
                <a:solidFill>
                  <a:srgbClr val="EAF2FA"/>
                </a:solidFill>
                <a:latin typeface="Arial" pitchFamily="34" charset="0"/>
                <a:ea typeface="Arial" pitchFamily="34" charset="-122"/>
                <a:cs typeface="Arial" pitchFamily="34" charset="-120"/>
              </a:rPr>
              <a:t>APPLIES TO THE CUSTOMER'S PROCESS (SYNTREX NEEDS COMPATIBILITY)</a:t>
            </a:r>
            <a:endParaRPr lang="en-US" sz="720" dirty="0"/>
          </a:p>
        </p:txBody>
      </p:sp>
      <p:sp>
        <p:nvSpPr>
          <p:cNvPr id="17" name="Text 15"/>
          <p:cNvSpPr txBox="1"/>
          <p:nvPr/>
        </p:nvSpPr>
        <p:spPr>
          <a:xfrm>
            <a:off x="6620256" y="3639312"/>
            <a:ext cx="4754880" cy="640080"/>
          </a:xfrm>
          <a:prstGeom prst="rect">
            <a:avLst/>
          </a:prstGeom>
          <a:noFill/>
          <a:ln/>
        </p:spPr>
        <p:txBody>
          <a:bodyPr wrap="square" lIns="0" tIns="0" rIns="0" bIns="0" rtlCol="0" anchor="ctr"/>
          <a:lstStyle/>
          <a:p>
            <a:pPr indent="0" marL="0">
              <a:lnSpc>
                <a:spcPct val="106000"/>
              </a:lnSpc>
              <a:buNone/>
            </a:pPr>
            <a:r>
              <a:rPr lang="en-US" sz="720" dirty="0">
                <a:solidFill>
                  <a:srgbClr val="A9BDD1"/>
                </a:solidFill>
                <a:latin typeface="Arial" pitchFamily="34" charset="0"/>
                <a:ea typeface="Arial" pitchFamily="34" charset="-122"/>
                <a:cs typeface="Arial" pitchFamily="34" charset="-120"/>
              </a:rPr>
              <a:t>AS9100/IA9100 certification; AS9102 FAI; AS9103 Key Characteristics; ISO 22514 process capability as Ppk; change control; CMMC posture where applicable</a:t>
            </a:r>
            <a:endParaRPr lang="en-US" sz="720" dirty="0"/>
          </a:p>
        </p:txBody>
      </p:sp>
      <p:sp>
        <p:nvSpPr>
          <p:cNvPr id="18" name="Shape 16"/>
          <p:cNvSpPr/>
          <p:nvPr/>
        </p:nvSpPr>
        <p:spPr>
          <a:xfrm>
            <a:off x="6620256" y="4261104"/>
            <a:ext cx="4754880" cy="0"/>
          </a:xfrm>
          <a:prstGeom prst="line">
            <a:avLst/>
          </a:prstGeom>
          <a:noFill/>
          <a:ln w="9525">
            <a:solidFill>
              <a:srgbClr val="23405C"/>
            </a:solidFill>
            <a:prstDash val="solid"/>
          </a:ln>
        </p:spPr>
      </p:sp>
      <p:sp>
        <p:nvSpPr>
          <p:cNvPr id="19" name="Text 17"/>
          <p:cNvSpPr txBox="1"/>
          <p:nvPr/>
        </p:nvSpPr>
        <p:spPr>
          <a:xfrm>
            <a:off x="6620256" y="4315968"/>
            <a:ext cx="4754880" cy="219456"/>
          </a:xfrm>
          <a:prstGeom prst="rect">
            <a:avLst/>
          </a:prstGeom>
          <a:noFill/>
          <a:ln/>
        </p:spPr>
        <p:txBody>
          <a:bodyPr wrap="square" lIns="0" tIns="0" rIns="0" bIns="0" rtlCol="0" anchor="ctr"/>
          <a:lstStyle/>
          <a:p>
            <a:pPr indent="0" marL="0">
              <a:buNone/>
            </a:pPr>
            <a:r>
              <a:rPr lang="en-US" sz="720" b="1" spc="30" kern="0" dirty="0">
                <a:solidFill>
                  <a:srgbClr val="EAF2FA"/>
                </a:solidFill>
                <a:latin typeface="Arial" pitchFamily="34" charset="0"/>
                <a:ea typeface="Arial" pitchFamily="34" charset="-122"/>
                <a:cs typeface="Arial" pitchFamily="34" charset="-120"/>
              </a:rPr>
              <a:t>APPLIES ONLY IF SYNTREX MANUFACTURES PARTS</a:t>
            </a:r>
            <a:endParaRPr lang="en-US" sz="720" dirty="0"/>
          </a:p>
        </p:txBody>
      </p:sp>
      <p:sp>
        <p:nvSpPr>
          <p:cNvPr id="20" name="Text 18"/>
          <p:cNvSpPr txBox="1"/>
          <p:nvPr/>
        </p:nvSpPr>
        <p:spPr>
          <a:xfrm>
            <a:off x="6620256" y="4535424"/>
            <a:ext cx="4754880" cy="640080"/>
          </a:xfrm>
          <a:prstGeom prst="rect">
            <a:avLst/>
          </a:prstGeom>
          <a:noFill/>
          <a:ln/>
        </p:spPr>
        <p:txBody>
          <a:bodyPr wrap="square" lIns="0" tIns="0" rIns="0" bIns="0" rtlCol="0" anchor="ctr"/>
          <a:lstStyle/>
          <a:p>
            <a:pPr indent="0" marL="0">
              <a:lnSpc>
                <a:spcPct val="106000"/>
              </a:lnSpc>
              <a:buNone/>
            </a:pPr>
            <a:r>
              <a:rPr lang="en-US" sz="720" dirty="0">
                <a:solidFill>
                  <a:srgbClr val="A9BDD1"/>
                </a:solidFill>
                <a:latin typeface="Arial" pitchFamily="34" charset="0"/>
                <a:ea typeface="Arial" pitchFamily="34" charset="-122"/>
                <a:cs typeface="Arial" pitchFamily="34" charset="-120"/>
              </a:rPr>
              <a:t>Syntrex's own AS9100; Nadcap for any special process; AS9102 FAI under Syntrex's name; supplier-of-record source approval</a:t>
            </a:r>
            <a:endParaRPr lang="en-US" sz="720" dirty="0"/>
          </a:p>
        </p:txBody>
      </p:sp>
      <p:sp>
        <p:nvSpPr>
          <p:cNvPr id="21" name="Text 19"/>
          <p:cNvSpPr txBox="1"/>
          <p:nvPr/>
        </p:nvSpPr>
        <p:spPr>
          <a:xfrm>
            <a:off x="6620256" y="5175504"/>
            <a:ext cx="4754880" cy="329184"/>
          </a:xfrm>
          <a:prstGeom prst="rect">
            <a:avLst/>
          </a:prstGeom>
          <a:noFill/>
          <a:ln/>
        </p:spPr>
        <p:txBody>
          <a:bodyPr wrap="square" lIns="0" tIns="0" rIns="0" bIns="0" rtlCol="0" anchor="ctr"/>
          <a:lstStyle/>
          <a:p>
            <a:pPr indent="0" marL="0">
              <a:lnSpc>
                <a:spcPct val="108000"/>
              </a:lnSpc>
              <a:buNone/>
            </a:pPr>
            <a:r>
              <a:rPr lang="en-US" sz="660" i="1" dirty="0">
                <a:solidFill>
                  <a:srgbClr val="72879D"/>
                </a:solidFill>
                <a:latin typeface="Arial" pitchFamily="34" charset="0"/>
                <a:ea typeface="Arial" pitchFamily="34" charset="-122"/>
                <a:cs typeface="Arial" pitchFamily="34" charset="-120"/>
              </a:rPr>
              <a:t>Syntrex's own certification roadmap: none is held, none is implied, none is planned on a date. Own AS9100 is a rung-four obligation (slide 17). What exists now is the practice — document control, configuration management, a hashed configuration baseline from the first gate record.</a:t>
            </a:r>
            <a:endParaRPr lang="en-US" sz="660" dirty="0"/>
          </a:p>
        </p:txBody>
      </p:sp>
      <p:sp>
        <p:nvSpPr>
          <p:cNvPr id="22" name="Text 20"/>
          <p:cNvSpPr txBox="1"/>
          <p:nvPr/>
        </p:nvSpPr>
        <p:spPr>
          <a:xfrm>
            <a:off x="621792" y="6309360"/>
            <a:ext cx="10948111" cy="274320"/>
          </a:xfrm>
          <a:prstGeom prst="rect">
            <a:avLst/>
          </a:prstGeom>
          <a:noFill/>
          <a:ln/>
        </p:spPr>
        <p:txBody>
          <a:bodyPr wrap="square" lIns="0" tIns="0" rIns="0" bIns="0" rtlCol="0" anchor="ctr"/>
          <a:lstStyle/>
          <a:p>
            <a:pPr indent="0" marL="0">
              <a:buNone/>
            </a:pPr>
            <a:r>
              <a:rPr lang="en-US" sz="750" i="1" dirty="0">
                <a:solidFill>
                  <a:srgbClr val="72879D"/>
                </a:solidFill>
                <a:latin typeface="Arial" pitchFamily="34" charset="0"/>
                <a:ea typeface="Arial" pitchFamily="34" charset="-122"/>
                <a:cs typeface="Arial" pitchFamily="34" charset="-120"/>
              </a:rPr>
              <a:t>Why this slide exists: it is the answer to the aerospace quality leader in the room — the difference between a founder who has read the standard and one who has heard of it.</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A-6   ·   06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A-6 · COMPETITIVE DEEP DIVE</a:t>
            </a:r>
            <a:endParaRPr lang="en-US" sz="1000" dirty="0"/>
          </a:p>
        </p:txBody>
      </p:sp>
      <p:sp>
        <p:nvSpPr>
          <p:cNvPr id="5" name="Text 3"/>
          <p:cNvSpPr txBox="1"/>
          <p:nvPr/>
        </p:nvSpPr>
        <p:spPr>
          <a:xfrm>
            <a:off x="621792" y="786384"/>
            <a:ext cx="10948111" cy="420624"/>
          </a:xfrm>
          <a:prstGeom prst="rect">
            <a:avLst/>
          </a:prstGeom>
          <a:noFill/>
          <a:ln/>
        </p:spPr>
        <p:txBody>
          <a:bodyPr wrap="square" lIns="0" tIns="0" rIns="0" bIns="0" rtlCol="0" anchor="t"/>
          <a:lstStyle/>
          <a:p>
            <a:pPr indent="0" marL="0">
              <a:lnSpc>
                <a:spcPct val="102000"/>
              </a:lnSpc>
              <a:buNone/>
            </a:pPr>
            <a:r>
              <a:rPr lang="en-US" sz="2000" b="1" dirty="0">
                <a:solidFill>
                  <a:srgbClr val="EAF2FA"/>
                </a:solidFill>
                <a:latin typeface="Arial" pitchFamily="34" charset="0"/>
                <a:ea typeface="Arial" pitchFamily="34" charset="-122"/>
                <a:cs typeface="Arial" pitchFamily="34" charset="-120"/>
              </a:rPr>
              <a:t>Per company, with dates. The precedent set and the funding context.</a:t>
            </a:r>
            <a:endParaRPr lang="en-US" sz="2000" dirty="0"/>
          </a:p>
        </p:txBody>
      </p:sp>
      <p:sp>
        <p:nvSpPr>
          <p:cNvPr id="6" name="Shape 4"/>
          <p:cNvSpPr/>
          <p:nvPr/>
        </p:nvSpPr>
        <p:spPr>
          <a:xfrm>
            <a:off x="621792" y="1453896"/>
            <a:ext cx="10948111" cy="0"/>
          </a:xfrm>
          <a:prstGeom prst="line">
            <a:avLst/>
          </a:prstGeom>
          <a:noFill/>
          <a:ln w="9525">
            <a:solidFill>
              <a:srgbClr val="23405C"/>
            </a:solidFill>
            <a:prstDash val="solid"/>
          </a:ln>
        </p:spPr>
      </p:sp>
      <p:sp>
        <p:nvSpPr>
          <p:cNvPr id="7" name="Text 5"/>
          <p:cNvSpPr txBox="1"/>
          <p:nvPr/>
        </p:nvSpPr>
        <p:spPr>
          <a:xfrm>
            <a:off x="621792" y="1499616"/>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Electroimpact</a:t>
            </a:r>
            <a:endParaRPr lang="en-US" sz="740" dirty="0"/>
          </a:p>
        </p:txBody>
      </p:sp>
      <p:sp>
        <p:nvSpPr>
          <p:cNvPr id="8" name="Text 6"/>
          <p:cNvSpPr txBox="1"/>
          <p:nvPr/>
        </p:nvSpPr>
        <p:spPr>
          <a:xfrm>
            <a:off x="2542032" y="1499616"/>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Accurate Robot Technology: secondary encoders per axis + high-order kinematic model; ±0.08mm at three sigma over 64 holes vs ±0.45mm standard; Flex Track normality ±0.03°; vision-based datum location. A400M, A380, A350, 787, 737 flaps. Current: AFP on 777X spar-class structures (Aug 2026); 2026 FANUC/Luebbering drilling-cell partnership.</a:t>
            </a:r>
            <a:endParaRPr lang="en-US" sz="630" dirty="0"/>
          </a:p>
        </p:txBody>
      </p:sp>
      <p:sp>
        <p:nvSpPr>
          <p:cNvPr id="9" name="Text 7"/>
          <p:cNvSpPr txBox="1"/>
          <p:nvPr/>
        </p:nvSpPr>
        <p:spPr>
          <a:xfrm>
            <a:off x="10314432" y="1499616"/>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2013; 2026</a:t>
            </a:r>
            <a:endParaRPr lang="en-US" sz="620" dirty="0"/>
          </a:p>
        </p:txBody>
      </p:sp>
      <p:sp>
        <p:nvSpPr>
          <p:cNvPr id="10" name="Shape 8"/>
          <p:cNvSpPr/>
          <p:nvPr/>
        </p:nvSpPr>
        <p:spPr>
          <a:xfrm>
            <a:off x="621792" y="1856232"/>
            <a:ext cx="10948111" cy="0"/>
          </a:xfrm>
          <a:prstGeom prst="line">
            <a:avLst/>
          </a:prstGeom>
          <a:noFill/>
          <a:ln w="9525">
            <a:solidFill>
              <a:srgbClr val="23405C"/>
            </a:solidFill>
            <a:prstDash val="solid"/>
          </a:ln>
        </p:spPr>
      </p:sp>
      <p:sp>
        <p:nvSpPr>
          <p:cNvPr id="11" name="Text 9"/>
          <p:cNvSpPr txBox="1"/>
          <p:nvPr/>
        </p:nvSpPr>
        <p:spPr>
          <a:xfrm>
            <a:off x="621792" y="1901952"/>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Hadrian</a:t>
            </a:r>
            <a:endParaRPr lang="en-US" sz="740" dirty="0"/>
          </a:p>
        </p:txBody>
      </p:sp>
      <p:sp>
        <p:nvSpPr>
          <p:cNvPr id="12" name="Text 10"/>
          <p:cNvSpPr txBox="1"/>
          <p:nvPr/>
        </p:nvSpPr>
        <p:spPr>
          <a:xfrm>
            <a:off x="2542032" y="1901952"/>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$1.37B Series D at $7.87B post-money; four sites, ~3M sq ft; Precision Components, MaaS and FaaS tiers incl. cells at customer sites; Lockheed Martin MOU 8 Dec 2025; process expansion is welding, casting, additive — no assembly capability evidenced. Trajectory: $9.5M seed (2021) → $90M Series A (Mar 2022).</a:t>
            </a:r>
            <a:endParaRPr lang="en-US" sz="630" dirty="0"/>
          </a:p>
        </p:txBody>
      </p:sp>
      <p:sp>
        <p:nvSpPr>
          <p:cNvPr id="13" name="Text 11"/>
          <p:cNvSpPr txBox="1"/>
          <p:nvPr/>
        </p:nvSpPr>
        <p:spPr>
          <a:xfrm>
            <a:off x="10314432" y="1901952"/>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Aug 2026</a:t>
            </a:r>
            <a:endParaRPr lang="en-US" sz="620" dirty="0"/>
          </a:p>
        </p:txBody>
      </p:sp>
      <p:sp>
        <p:nvSpPr>
          <p:cNvPr id="14" name="Shape 12"/>
          <p:cNvSpPr/>
          <p:nvPr/>
        </p:nvSpPr>
        <p:spPr>
          <a:xfrm>
            <a:off x="621792" y="2258568"/>
            <a:ext cx="10948111" cy="0"/>
          </a:xfrm>
          <a:prstGeom prst="line">
            <a:avLst/>
          </a:prstGeom>
          <a:noFill/>
          <a:ln w="9525">
            <a:solidFill>
              <a:srgbClr val="23405C"/>
            </a:solidFill>
            <a:prstDash val="solid"/>
          </a:ln>
        </p:spPr>
      </p:sp>
      <p:sp>
        <p:nvSpPr>
          <p:cNvPr id="15" name="Text 13"/>
          <p:cNvSpPr txBox="1"/>
          <p:nvPr/>
        </p:nvSpPr>
        <p:spPr>
          <a:xfrm>
            <a:off x="621792" y="2304288"/>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Divergent</a:t>
            </a:r>
            <a:endParaRPr lang="en-US" sz="740" dirty="0"/>
          </a:p>
        </p:txBody>
      </p:sp>
      <p:sp>
        <p:nvSpPr>
          <p:cNvPr id="16" name="Text 14"/>
          <p:cNvSpPr txBox="1"/>
          <p:nvPr/>
        </p:nvSpPr>
        <p:spPr>
          <a:xfrm>
            <a:off x="2542032" y="2304288"/>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$290M Series E at $2.3B; Monolith One printer; second 430,000 sq ft factory; Nadcap AC7131; Saab demonstrator fuselage of 26 printed parts passed proof loading — a flight-test demonstrator, not a production programme; USAF EWAAC IDIQ.</a:t>
            </a:r>
            <a:endParaRPr lang="en-US" sz="630" dirty="0"/>
          </a:p>
        </p:txBody>
      </p:sp>
      <p:sp>
        <p:nvSpPr>
          <p:cNvPr id="17" name="Text 15"/>
          <p:cNvSpPr txBox="1"/>
          <p:nvPr/>
        </p:nvSpPr>
        <p:spPr>
          <a:xfrm>
            <a:off x="10314432" y="2304288"/>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2024–2026</a:t>
            </a:r>
            <a:endParaRPr lang="en-US" sz="620" dirty="0"/>
          </a:p>
        </p:txBody>
      </p:sp>
      <p:sp>
        <p:nvSpPr>
          <p:cNvPr id="18" name="Shape 16"/>
          <p:cNvSpPr/>
          <p:nvPr/>
        </p:nvSpPr>
        <p:spPr>
          <a:xfrm>
            <a:off x="621792" y="2660904"/>
            <a:ext cx="10948111" cy="0"/>
          </a:xfrm>
          <a:prstGeom prst="line">
            <a:avLst/>
          </a:prstGeom>
          <a:noFill/>
          <a:ln w="9525">
            <a:solidFill>
              <a:srgbClr val="23405C"/>
            </a:solidFill>
            <a:prstDash val="solid"/>
          </a:ln>
        </p:spPr>
      </p:sp>
      <p:sp>
        <p:nvSpPr>
          <p:cNvPr id="19" name="Text 17"/>
          <p:cNvSpPr txBox="1"/>
          <p:nvPr/>
        </p:nvSpPr>
        <p:spPr>
          <a:xfrm>
            <a:off x="621792" y="2706624"/>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Machina Labs</a:t>
            </a:r>
            <a:endParaRPr lang="en-US" sz="740" dirty="0"/>
          </a:p>
        </p:txBody>
      </p:sp>
      <p:sp>
        <p:nvSpPr>
          <p:cNvPr id="20" name="Text 18"/>
          <p:cNvSpPr txBox="1"/>
          <p:nvPr/>
        </p:nvSpPr>
        <p:spPr>
          <a:xfrm>
            <a:off x="2542032" y="2706624"/>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$124M Series C (Woven Capital, Lockheed Martin Ventures); qualification contract from Lockheed Martin in support of JASSM — entered qualification, not qualified, not in production. Trajectory: $14M Series A (Nov 2021) → $32M Series B (Oct 2023).</a:t>
            </a:r>
            <a:endParaRPr lang="en-US" sz="630" dirty="0"/>
          </a:p>
        </p:txBody>
      </p:sp>
      <p:sp>
        <p:nvSpPr>
          <p:cNvPr id="21" name="Text 19"/>
          <p:cNvSpPr txBox="1"/>
          <p:nvPr/>
        </p:nvSpPr>
        <p:spPr>
          <a:xfrm>
            <a:off x="10314432" y="2706624"/>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Feb, Jul 2026</a:t>
            </a:r>
            <a:endParaRPr lang="en-US" sz="620" dirty="0"/>
          </a:p>
        </p:txBody>
      </p:sp>
      <p:sp>
        <p:nvSpPr>
          <p:cNvPr id="22" name="Shape 20"/>
          <p:cNvSpPr/>
          <p:nvPr/>
        </p:nvSpPr>
        <p:spPr>
          <a:xfrm>
            <a:off x="621792" y="3063240"/>
            <a:ext cx="10948111" cy="0"/>
          </a:xfrm>
          <a:prstGeom prst="line">
            <a:avLst/>
          </a:prstGeom>
          <a:noFill/>
          <a:ln w="9525">
            <a:solidFill>
              <a:srgbClr val="23405C"/>
            </a:solidFill>
            <a:prstDash val="solid"/>
          </a:ln>
        </p:spPr>
      </p:sp>
      <p:sp>
        <p:nvSpPr>
          <p:cNvPr id="23" name="Text 21"/>
          <p:cNvSpPr txBox="1"/>
          <p:nvPr/>
        </p:nvSpPr>
        <p:spPr>
          <a:xfrm>
            <a:off x="621792" y="3108960"/>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CloudNC</a:t>
            </a:r>
            <a:endParaRPr lang="en-US" sz="740" dirty="0"/>
          </a:p>
        </p:txBody>
      </p:sp>
      <p:sp>
        <p:nvSpPr>
          <p:cNvPr id="24" name="Text 22"/>
          <p:cNvSpPr txBox="1"/>
          <p:nvPr/>
        </p:nvSpPr>
        <p:spPr>
          <a:xfrm>
            <a:off x="2542032" y="3108960"/>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CAM Assist up to 80% of a CAM program; 1,000+ factories; embedded in Mastercam, Fusion 360, NX, GibbsCAM, SolidCAM; three-axis and 3+2 only; $20M Series B extension 8 Sep 2026 with Nimble Ventures and Lockheed Martin's fund; quoting agent launched.</a:t>
            </a:r>
            <a:endParaRPr lang="en-US" sz="630" dirty="0"/>
          </a:p>
        </p:txBody>
      </p:sp>
      <p:sp>
        <p:nvSpPr>
          <p:cNvPr id="25" name="Text 23"/>
          <p:cNvSpPr txBox="1"/>
          <p:nvPr/>
        </p:nvSpPr>
        <p:spPr>
          <a:xfrm>
            <a:off x="10314432" y="3108960"/>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Sep 2026</a:t>
            </a:r>
            <a:endParaRPr lang="en-US" sz="620" dirty="0"/>
          </a:p>
        </p:txBody>
      </p:sp>
      <p:sp>
        <p:nvSpPr>
          <p:cNvPr id="26" name="Shape 24"/>
          <p:cNvSpPr/>
          <p:nvPr/>
        </p:nvSpPr>
        <p:spPr>
          <a:xfrm>
            <a:off x="621792" y="3465576"/>
            <a:ext cx="10948111" cy="0"/>
          </a:xfrm>
          <a:prstGeom prst="line">
            <a:avLst/>
          </a:prstGeom>
          <a:noFill/>
          <a:ln w="9525">
            <a:solidFill>
              <a:srgbClr val="23405C"/>
            </a:solidFill>
            <a:prstDash val="solid"/>
          </a:ln>
        </p:spPr>
      </p:sp>
      <p:sp>
        <p:nvSpPr>
          <p:cNvPr id="27" name="Text 25"/>
          <p:cNvSpPr txBox="1"/>
          <p:nvPr/>
        </p:nvSpPr>
        <p:spPr>
          <a:xfrm>
            <a:off x="621792" y="3511296"/>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Q5D Technologies</a:t>
            </a:r>
            <a:endParaRPr lang="en-US" sz="740" dirty="0"/>
          </a:p>
        </p:txBody>
      </p:sp>
      <p:sp>
        <p:nvSpPr>
          <p:cNvPr id="28" name="Text 26"/>
          <p:cNvSpPr txBox="1"/>
          <p:nvPr/>
        </p:nvSpPr>
        <p:spPr>
          <a:xfrm>
            <a:off x="2542032" y="3511296"/>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Robotic cells for harness manufacture and installation onto 3D structures; ~$13.5M Series A co-led by Lockheed Martin Ventures (Jun 2025); cells delivered to the US Army 2026 (SkyFoundry; Tobyhanna Army Depot, with Molrix). Trajectory: $2.5M seed (Feb 2022) → $13.5M Series A (Jun 2025).</a:t>
            </a:r>
            <a:endParaRPr lang="en-US" sz="630" dirty="0"/>
          </a:p>
        </p:txBody>
      </p:sp>
      <p:sp>
        <p:nvSpPr>
          <p:cNvPr id="29" name="Text 27"/>
          <p:cNvSpPr txBox="1"/>
          <p:nvPr/>
        </p:nvSpPr>
        <p:spPr>
          <a:xfrm>
            <a:off x="10314432" y="3511296"/>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2025–2026</a:t>
            </a:r>
            <a:endParaRPr lang="en-US" sz="620" dirty="0"/>
          </a:p>
        </p:txBody>
      </p:sp>
      <p:sp>
        <p:nvSpPr>
          <p:cNvPr id="30" name="Shape 28"/>
          <p:cNvSpPr/>
          <p:nvPr/>
        </p:nvSpPr>
        <p:spPr>
          <a:xfrm>
            <a:off x="621792" y="3867912"/>
            <a:ext cx="10948111" cy="0"/>
          </a:xfrm>
          <a:prstGeom prst="line">
            <a:avLst/>
          </a:prstGeom>
          <a:noFill/>
          <a:ln w="9525">
            <a:solidFill>
              <a:srgbClr val="23405C"/>
            </a:solidFill>
            <a:prstDash val="solid"/>
          </a:ln>
        </p:spPr>
      </p:sp>
      <p:sp>
        <p:nvSpPr>
          <p:cNvPr id="31" name="Text 29"/>
          <p:cNvSpPr txBox="1"/>
          <p:nvPr/>
        </p:nvSpPr>
        <p:spPr>
          <a:xfrm>
            <a:off x="621792" y="3913632"/>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Senra Systems</a:t>
            </a:r>
            <a:endParaRPr lang="en-US" sz="740" dirty="0"/>
          </a:p>
        </p:txBody>
      </p:sp>
      <p:sp>
        <p:nvSpPr>
          <p:cNvPr id="32" name="Text 30"/>
          <p:cNvSpPr txBox="1"/>
          <p:nvPr/>
        </p:nvSpPr>
        <p:spPr>
          <a:xfrm>
            <a:off x="2542032" y="3913632"/>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Founded 2023 by former SpaceX engineers; $65M Series B (Jul 2026); ~1,000 harnesses/month across two factories, third planned; software-led — standardised work instructions and digital twins for human technicians, on the stated reasoning that robots find wire manipulation a challenge and training data is scarce.</a:t>
            </a:r>
            <a:endParaRPr lang="en-US" sz="630" dirty="0"/>
          </a:p>
        </p:txBody>
      </p:sp>
      <p:sp>
        <p:nvSpPr>
          <p:cNvPr id="33" name="Text 31"/>
          <p:cNvSpPr txBox="1"/>
          <p:nvPr/>
        </p:nvSpPr>
        <p:spPr>
          <a:xfrm>
            <a:off x="10314432" y="3913632"/>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Jul 2026</a:t>
            </a:r>
            <a:endParaRPr lang="en-US" sz="620" dirty="0"/>
          </a:p>
        </p:txBody>
      </p:sp>
      <p:sp>
        <p:nvSpPr>
          <p:cNvPr id="34" name="Shape 32"/>
          <p:cNvSpPr/>
          <p:nvPr/>
        </p:nvSpPr>
        <p:spPr>
          <a:xfrm>
            <a:off x="621792" y="4270248"/>
            <a:ext cx="10948111" cy="0"/>
          </a:xfrm>
          <a:prstGeom prst="line">
            <a:avLst/>
          </a:prstGeom>
          <a:noFill/>
          <a:ln w="9525">
            <a:solidFill>
              <a:srgbClr val="23405C"/>
            </a:solidFill>
            <a:prstDash val="solid"/>
          </a:ln>
        </p:spPr>
      </p:sp>
      <p:sp>
        <p:nvSpPr>
          <p:cNvPr id="35" name="Text 33"/>
          <p:cNvSpPr txBox="1"/>
          <p:nvPr/>
        </p:nvSpPr>
        <p:spPr>
          <a:xfrm>
            <a:off x="621792" y="4315968"/>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Path Robotics · GrayMatter</a:t>
            </a:r>
            <a:endParaRPr lang="en-US" sz="740" dirty="0"/>
          </a:p>
        </p:txBody>
      </p:sp>
      <p:sp>
        <p:nvSpPr>
          <p:cNvPr id="36" name="Text 34"/>
          <p:cNvSpPr txBox="1"/>
          <p:nvPr/>
        </p:nvSpPr>
        <p:spPr>
          <a:xfrm>
            <a:off x="2542032" y="4315968"/>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HII performance-based production agreements up to $900M over seven years, milestone-contingent, split undisclosed; GrayMatter self-programs for high-mix, high-variability environments. GrayMatter trajectory: $4.1M seed (Sep 2021) → $20M Series A (Aug 2022) with a paying-customer testimonial and a 3M partnership at seed.</a:t>
            </a:r>
            <a:endParaRPr lang="en-US" sz="630" dirty="0"/>
          </a:p>
        </p:txBody>
      </p:sp>
      <p:sp>
        <p:nvSpPr>
          <p:cNvPr id="37" name="Text 35"/>
          <p:cNvSpPr txBox="1"/>
          <p:nvPr/>
        </p:nvSpPr>
        <p:spPr>
          <a:xfrm>
            <a:off x="10314432" y="4315968"/>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6 Aug 2026</a:t>
            </a:r>
            <a:endParaRPr lang="en-US" sz="620" dirty="0"/>
          </a:p>
        </p:txBody>
      </p:sp>
      <p:sp>
        <p:nvSpPr>
          <p:cNvPr id="38" name="Shape 36"/>
          <p:cNvSpPr/>
          <p:nvPr/>
        </p:nvSpPr>
        <p:spPr>
          <a:xfrm>
            <a:off x="621792" y="4672584"/>
            <a:ext cx="10948111" cy="0"/>
          </a:xfrm>
          <a:prstGeom prst="line">
            <a:avLst/>
          </a:prstGeom>
          <a:noFill/>
          <a:ln w="9525">
            <a:solidFill>
              <a:srgbClr val="23405C"/>
            </a:solidFill>
            <a:prstDash val="solid"/>
          </a:ln>
        </p:spPr>
      </p:sp>
      <p:sp>
        <p:nvSpPr>
          <p:cNvPr id="39" name="Text 37"/>
          <p:cNvSpPr txBox="1"/>
          <p:nvPr/>
        </p:nvSpPr>
        <p:spPr>
          <a:xfrm>
            <a:off x="621792" y="4718304"/>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Augmentus</a:t>
            </a:r>
            <a:endParaRPr lang="en-US" sz="740" dirty="0"/>
          </a:p>
        </p:txBody>
      </p:sp>
      <p:sp>
        <p:nvSpPr>
          <p:cNvPr id="40" name="Text 38"/>
          <p:cNvSpPr txBox="1"/>
          <p:nvPr/>
        </p:nvSpPr>
        <p:spPr>
          <a:xfrm>
            <a:off x="2542032" y="4718304"/>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$11M Series A plus Applied Ventures; scan-to-toolpath robot programming with adaptive motion, explicitly targeting high-mix and aerospace.</a:t>
            </a:r>
            <a:endParaRPr lang="en-US" sz="630" dirty="0"/>
          </a:p>
        </p:txBody>
      </p:sp>
      <p:sp>
        <p:nvSpPr>
          <p:cNvPr id="41" name="Text 39"/>
          <p:cNvSpPr txBox="1"/>
          <p:nvPr/>
        </p:nvSpPr>
        <p:spPr>
          <a:xfrm>
            <a:off x="10314432" y="4718304"/>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2025</a:t>
            </a:r>
            <a:endParaRPr lang="en-US" sz="620" dirty="0"/>
          </a:p>
        </p:txBody>
      </p:sp>
      <p:sp>
        <p:nvSpPr>
          <p:cNvPr id="42" name="Shape 40"/>
          <p:cNvSpPr/>
          <p:nvPr/>
        </p:nvSpPr>
        <p:spPr>
          <a:xfrm>
            <a:off x="621792" y="5074920"/>
            <a:ext cx="10948111" cy="0"/>
          </a:xfrm>
          <a:prstGeom prst="line">
            <a:avLst/>
          </a:prstGeom>
          <a:noFill/>
          <a:ln w="9525">
            <a:solidFill>
              <a:srgbClr val="23405C"/>
            </a:solidFill>
            <a:prstDash val="solid"/>
          </a:ln>
        </p:spPr>
      </p:sp>
      <p:sp>
        <p:nvSpPr>
          <p:cNvPr id="43" name="Text 41"/>
          <p:cNvSpPr txBox="1"/>
          <p:nvPr/>
        </p:nvSpPr>
        <p:spPr>
          <a:xfrm>
            <a:off x="621792" y="5120640"/>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Anduril (precedent, not competitor)</a:t>
            </a:r>
            <a:endParaRPr lang="en-US" sz="740" dirty="0"/>
          </a:p>
        </p:txBody>
      </p:sp>
      <p:sp>
        <p:nvSpPr>
          <p:cNvPr id="44" name="Text 42"/>
          <p:cNvSpPr txBox="1"/>
          <p:nvPr/>
        </p:nvSpPr>
        <p:spPr>
          <a:xfrm>
            <a:off x="2542032" y="5120640"/>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$5B Series H at $61B post-money (May 2026); ArsenalOS; Arsenal-1 began YFQ-44A production March 2026.</a:t>
            </a:r>
            <a:endParaRPr lang="en-US" sz="630" dirty="0"/>
          </a:p>
        </p:txBody>
      </p:sp>
      <p:sp>
        <p:nvSpPr>
          <p:cNvPr id="45" name="Text 43"/>
          <p:cNvSpPr txBox="1"/>
          <p:nvPr/>
        </p:nvSpPr>
        <p:spPr>
          <a:xfrm>
            <a:off x="10314432" y="5120640"/>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2026</a:t>
            </a:r>
            <a:endParaRPr lang="en-US" sz="620" dirty="0"/>
          </a:p>
        </p:txBody>
      </p:sp>
      <p:sp>
        <p:nvSpPr>
          <p:cNvPr id="46" name="Shape 44"/>
          <p:cNvSpPr/>
          <p:nvPr/>
        </p:nvSpPr>
        <p:spPr>
          <a:xfrm>
            <a:off x="621792" y="5477256"/>
            <a:ext cx="10948111" cy="0"/>
          </a:xfrm>
          <a:prstGeom prst="line">
            <a:avLst/>
          </a:prstGeom>
          <a:noFill/>
          <a:ln w="9525">
            <a:solidFill>
              <a:srgbClr val="23405C"/>
            </a:solidFill>
            <a:prstDash val="solid"/>
          </a:ln>
        </p:spPr>
      </p:sp>
      <p:sp>
        <p:nvSpPr>
          <p:cNvPr id="47" name="Text 45"/>
          <p:cNvSpPr txBox="1"/>
          <p:nvPr/>
        </p:nvSpPr>
        <p:spPr>
          <a:xfrm>
            <a:off x="621792" y="5522976"/>
            <a:ext cx="1783080" cy="356616"/>
          </a:xfrm>
          <a:prstGeom prst="rect">
            <a:avLst/>
          </a:prstGeom>
          <a:noFill/>
          <a:ln/>
        </p:spPr>
        <p:txBody>
          <a:bodyPr wrap="square" lIns="0" tIns="0" rIns="0" bIns="0" rtlCol="0" anchor="ctr"/>
          <a:lstStyle/>
          <a:p>
            <a:pPr indent="0" marL="0">
              <a:lnSpc>
                <a:spcPct val="100000"/>
              </a:lnSpc>
              <a:buNone/>
            </a:pPr>
            <a:r>
              <a:rPr lang="en-US" sz="740" b="1" dirty="0">
                <a:solidFill>
                  <a:srgbClr val="EAF2FA"/>
                </a:solidFill>
                <a:latin typeface="Arial" pitchFamily="34" charset="0"/>
                <a:ea typeface="Arial" pitchFamily="34" charset="-122"/>
                <a:cs typeface="Arial" pitchFamily="34" charset="-120"/>
              </a:rPr>
              <a:t>Also tracked</a:t>
            </a:r>
            <a:endParaRPr lang="en-US" sz="740" dirty="0"/>
          </a:p>
        </p:txBody>
      </p:sp>
      <p:sp>
        <p:nvSpPr>
          <p:cNvPr id="48" name="Text 46"/>
          <p:cNvSpPr txBox="1"/>
          <p:nvPr/>
        </p:nvSpPr>
        <p:spPr>
          <a:xfrm>
            <a:off x="2542032" y="5522976"/>
            <a:ext cx="7635240" cy="365760"/>
          </a:xfrm>
          <a:prstGeom prst="rect">
            <a:avLst/>
          </a:prstGeom>
          <a:noFill/>
          <a:ln/>
        </p:spPr>
        <p:txBody>
          <a:bodyPr wrap="square" lIns="0" tIns="0" rIns="0" bIns="0" rtlCol="0" anchor="ctr"/>
          <a:lstStyle/>
          <a:p>
            <a:pPr indent="0" marL="0">
              <a:lnSpc>
                <a:spcPct val="100000"/>
              </a:lnSpc>
              <a:buNone/>
            </a:pPr>
            <a:r>
              <a:rPr lang="en-US" sz="630" dirty="0">
                <a:solidFill>
                  <a:srgbClr val="A9BDD1"/>
                </a:solidFill>
                <a:latin typeface="Arial" pitchFamily="34" charset="0"/>
                <a:ea typeface="Arial" pitchFamily="34" charset="-122"/>
                <a:cs typeface="Arial" pitchFamily="34" charset="-120"/>
              </a:rPr>
              <a:t>Wilder Systems, LimitlessCNC, Toolpath, Lambda Function AI with NobleTek, Bright Machines, Broetje-Automation, MTorres, AIT, Loop Technology; Boeing's $2B St. Louis Advanced Combat Air Facility.</a:t>
            </a:r>
            <a:endParaRPr lang="en-US" sz="630" dirty="0"/>
          </a:p>
        </p:txBody>
      </p:sp>
      <p:sp>
        <p:nvSpPr>
          <p:cNvPr id="49" name="Text 47"/>
          <p:cNvSpPr txBox="1"/>
          <p:nvPr/>
        </p:nvSpPr>
        <p:spPr>
          <a:xfrm>
            <a:off x="10314432" y="5522976"/>
            <a:ext cx="1280160" cy="356616"/>
          </a:xfrm>
          <a:prstGeom prst="rect">
            <a:avLst/>
          </a:prstGeom>
          <a:noFill/>
          <a:ln/>
        </p:spPr>
        <p:txBody>
          <a:bodyPr wrap="square" lIns="0" tIns="0" rIns="0" bIns="0" rtlCol="0" anchor="ctr"/>
          <a:lstStyle/>
          <a:p>
            <a:pPr indent="0" marL="0">
              <a:lnSpc>
                <a:spcPct val="100000"/>
              </a:lnSpc>
              <a:buNone/>
            </a:pPr>
            <a:r>
              <a:rPr lang="en-US" sz="620" dirty="0">
                <a:solidFill>
                  <a:srgbClr val="72879D"/>
                </a:solidFill>
                <a:latin typeface="Arial" pitchFamily="34" charset="0"/>
                <a:ea typeface="Arial" pitchFamily="34" charset="-122"/>
                <a:cs typeface="Arial" pitchFamily="34" charset="-120"/>
              </a:rPr>
              <a:t>—</a:t>
            </a:r>
            <a:endParaRPr lang="en-US" sz="620" dirty="0"/>
          </a:p>
        </p:txBody>
      </p:sp>
      <p:sp>
        <p:nvSpPr>
          <p:cNvPr id="50" name="Text 48"/>
          <p:cNvSpPr txBox="1"/>
          <p:nvPr/>
        </p:nvSpPr>
        <p:spPr>
          <a:xfrm>
            <a:off x="621792" y="5980176"/>
            <a:ext cx="10948111" cy="512064"/>
          </a:xfrm>
          <a:prstGeom prst="rect">
            <a:avLst/>
          </a:prstGeom>
          <a:noFill/>
          <a:ln/>
        </p:spPr>
        <p:txBody>
          <a:bodyPr wrap="square" lIns="0" tIns="0" rIns="0" bIns="0" rtlCol="0" anchor="t"/>
          <a:lstStyle/>
          <a:p>
            <a:pPr algn="l" indent="0" marL="0">
              <a:lnSpc>
                <a:spcPct val="110000"/>
              </a:lnSpc>
              <a:spcAft>
                <a:spcPts val="300"/>
              </a:spcAft>
              <a:buNone/>
            </a:pPr>
            <a:r>
              <a:rPr lang="en-US" sz="660" dirty="0">
                <a:solidFill>
                  <a:srgbClr val="A9BDD1"/>
                </a:solidFill>
                <a:latin typeface="Arial" pitchFamily="34" charset="0"/>
                <a:ea typeface="Arial" pitchFamily="34" charset="-122"/>
                <a:cs typeface="Arial" pitchFamily="34" charset="-120"/>
              </a:rPr>
              <a:t>The literature finding: a September 2026 search found active runtime-assurance work in flight and autonomy and no published application to a manufacturing cell; no company found selling a manufacturing decision, authorization and evidence layer as such. Scoped to the search.</a:t>
            </a:r>
            <a:endParaRPr lang="en-US" sz="660" dirty="0"/>
          </a:p>
          <a:p>
            <a:pPr algn="l" indent="0" marL="0">
              <a:lnSpc>
                <a:spcPct val="110000"/>
              </a:lnSpc>
              <a:buNone/>
            </a:pPr>
            <a:r>
              <a:rPr lang="en-US" sz="660" i="1" dirty="0">
                <a:solidFill>
                  <a:srgbClr val="72879D"/>
                </a:solidFill>
                <a:latin typeface="Arial" pitchFamily="34" charset="0"/>
                <a:ea typeface="Arial" pitchFamily="34" charset="-122"/>
                <a:cs typeface="Arial" pitchFamily="34" charset="-120"/>
              </a:rPr>
              <a:t>Funding context: physical AI and robotics venture funding $47.4bn across 521 deals in H1 2026.  Monitoring triggers: any Hadrian announcement referencing fastening, joining, harness, integration or a named assembly programme; any CloudNC announcement beyond 3+2, lathes or mill-turn.</a:t>
            </a:r>
            <a:endParaRPr lang="en-US" sz="6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A-7   ·   07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A-7 · COMMERCIAL WEDGE RANKING AND THE OPERATION-CLASS PORTFOLIO</a:t>
            </a:r>
            <a:endParaRPr lang="en-US" sz="1000" dirty="0"/>
          </a:p>
        </p:txBody>
      </p:sp>
      <p:sp>
        <p:nvSpPr>
          <p:cNvPr id="5" name="Text 3"/>
          <p:cNvSpPr txBox="1"/>
          <p:nvPr/>
        </p:nvSpPr>
        <p:spPr>
          <a:xfrm>
            <a:off x="621792" y="786384"/>
            <a:ext cx="10948111" cy="457200"/>
          </a:xfrm>
          <a:prstGeom prst="rect">
            <a:avLst/>
          </a:prstGeom>
          <a:noFill/>
          <a:ln/>
        </p:spPr>
        <p:txBody>
          <a:bodyPr wrap="square" lIns="0" tIns="0" rIns="0" bIns="0" rtlCol="0" anchor="t"/>
          <a:lstStyle/>
          <a:p>
            <a:pPr indent="0" marL="0">
              <a:lnSpc>
                <a:spcPct val="102000"/>
              </a:lnSpc>
              <a:buNone/>
            </a:pPr>
            <a:r>
              <a:rPr lang="en-US" sz="2100" b="1" dirty="0">
                <a:solidFill>
                  <a:srgbClr val="EAF2FA"/>
                </a:solidFill>
                <a:latin typeface="Arial" pitchFamily="34" charset="0"/>
                <a:ea typeface="Arial" pitchFamily="34" charset="-122"/>
                <a:cs typeface="Arial" pitchFamily="34" charset="-120"/>
              </a:rPr>
              <a:t>The eleven-criterion ranking, with its assumptions marked.</a:t>
            </a:r>
            <a:endParaRPr lang="en-US" sz="2100" dirty="0"/>
          </a:p>
        </p:txBody>
      </p:sp>
      <p:sp>
        <p:nvSpPr>
          <p:cNvPr id="6" name="Text 4"/>
          <p:cNvSpPr txBox="1"/>
          <p:nvPr/>
        </p:nvSpPr>
        <p:spPr>
          <a:xfrm>
            <a:off x="621792" y="1207008"/>
            <a:ext cx="10948111" cy="457200"/>
          </a:xfrm>
          <a:prstGeom prst="rect">
            <a:avLst/>
          </a:prstGeom>
          <a:noFill/>
          <a:ln/>
        </p:spPr>
        <p:txBody>
          <a:bodyPr wrap="square" lIns="0" tIns="0" rIns="0" bIns="0" rtlCol="0" anchor="ctr"/>
          <a:lstStyle/>
          <a:p>
            <a:pPr indent="0" marL="0">
              <a:lnSpc>
                <a:spcPct val="115000"/>
              </a:lnSpc>
              <a:buNone/>
            </a:pPr>
            <a:r>
              <a:rPr lang="en-US" sz="800" dirty="0">
                <a:solidFill>
                  <a:srgbClr val="A9BDD1"/>
                </a:solidFill>
                <a:latin typeface="Arial" pitchFamily="34" charset="0"/>
                <a:ea typeface="Arial" pitchFamily="34" charset="-122"/>
                <a:cs typeface="Arial" pitchFamily="34" charset="-120"/>
              </a:rPr>
              <a:t>Criteria (scored 1–5, 5 favours Syntrex): customer urgency · introduction/reset burden · technical tractability · qualification burden · capital requirement · competition · repeatability · platform reuse · time to revenue · strategic importance · fit with Syntrex-owned manufacturing later. Time to revenue and capital are scored for a first read-only OBSERVE/VERIFY engagement.</a:t>
            </a:r>
            <a:endParaRPr lang="en-US" sz="800" dirty="0"/>
          </a:p>
        </p:txBody>
      </p:sp>
      <p:sp>
        <p:nvSpPr>
          <p:cNvPr id="7" name="Shape 5"/>
          <p:cNvSpPr/>
          <p:nvPr/>
        </p:nvSpPr>
        <p:spPr>
          <a:xfrm>
            <a:off x="621792" y="1755648"/>
            <a:ext cx="10927080" cy="0"/>
          </a:xfrm>
          <a:prstGeom prst="line">
            <a:avLst/>
          </a:prstGeom>
          <a:noFill/>
          <a:ln w="9525">
            <a:solidFill>
              <a:srgbClr val="23405C"/>
            </a:solidFill>
            <a:prstDash val="solid"/>
          </a:ln>
        </p:spPr>
      </p:sp>
      <p:sp>
        <p:nvSpPr>
          <p:cNvPr id="8" name="Text 6"/>
          <p:cNvSpPr txBox="1"/>
          <p:nvPr/>
        </p:nvSpPr>
        <p:spPr>
          <a:xfrm>
            <a:off x="640080" y="1773936"/>
            <a:ext cx="4078224" cy="320040"/>
          </a:xfrm>
          <a:prstGeom prst="rect">
            <a:avLst/>
          </a:prstGeom>
          <a:noFill/>
          <a:ln/>
        </p:spPr>
        <p:txBody>
          <a:bodyPr wrap="square" lIns="0" tIns="0" rIns="0" bIns="0" rtlCol="0" anchor="t"/>
          <a:lstStyle/>
          <a:p>
            <a:pPr indent="0" marL="0">
              <a:lnSpc>
                <a:spcPct val="100000"/>
              </a:lnSpc>
              <a:buNone/>
            </a:pPr>
            <a:r>
              <a:rPr lang="en-US" sz="730" b="1" spc="100" kern="0" dirty="0">
                <a:solidFill>
                  <a:srgbClr val="72879D"/>
                </a:solidFill>
                <a:latin typeface="Arial" pitchFamily="34" charset="0"/>
                <a:ea typeface="Arial" pitchFamily="34" charset="-122"/>
                <a:cs typeface="Arial" pitchFamily="34" charset="-120"/>
              </a:rPr>
              <a:t>OPERATION CLASS</a:t>
            </a:r>
            <a:endParaRPr lang="en-US" sz="730" dirty="0"/>
          </a:p>
        </p:txBody>
      </p:sp>
      <p:sp>
        <p:nvSpPr>
          <p:cNvPr id="9" name="Text 7"/>
          <p:cNvSpPr txBox="1"/>
          <p:nvPr/>
        </p:nvSpPr>
        <p:spPr>
          <a:xfrm>
            <a:off x="4754880" y="1773936"/>
            <a:ext cx="649224" cy="320040"/>
          </a:xfrm>
          <a:prstGeom prst="rect">
            <a:avLst/>
          </a:prstGeom>
          <a:noFill/>
          <a:ln/>
        </p:spPr>
        <p:txBody>
          <a:bodyPr wrap="square" lIns="0" tIns="0" rIns="0" bIns="0" rtlCol="0" anchor="t"/>
          <a:lstStyle/>
          <a:p>
            <a:pPr indent="0" marL="0">
              <a:lnSpc>
                <a:spcPct val="100000"/>
              </a:lnSpc>
              <a:buNone/>
            </a:pPr>
            <a:r>
              <a:rPr lang="en-US" sz="730" b="1" spc="100" kern="0" dirty="0">
                <a:solidFill>
                  <a:srgbClr val="72879D"/>
                </a:solidFill>
                <a:latin typeface="Arial" pitchFamily="34" charset="0"/>
                <a:ea typeface="Arial" pitchFamily="34" charset="-122"/>
                <a:cs typeface="Arial" pitchFamily="34" charset="-120"/>
              </a:rPr>
              <a:t>TOTAL</a:t>
            </a:r>
            <a:endParaRPr lang="en-US" sz="730" dirty="0"/>
          </a:p>
        </p:txBody>
      </p:sp>
      <p:sp>
        <p:nvSpPr>
          <p:cNvPr id="10" name="Text 8"/>
          <p:cNvSpPr txBox="1"/>
          <p:nvPr/>
        </p:nvSpPr>
        <p:spPr>
          <a:xfrm>
            <a:off x="5440680" y="1773936"/>
            <a:ext cx="6089904" cy="320040"/>
          </a:xfrm>
          <a:prstGeom prst="rect">
            <a:avLst/>
          </a:prstGeom>
          <a:noFill/>
          <a:ln/>
        </p:spPr>
        <p:txBody>
          <a:bodyPr wrap="square" lIns="0" tIns="0" rIns="0" bIns="0" rtlCol="0" anchor="t"/>
          <a:lstStyle/>
          <a:p>
            <a:pPr indent="0" marL="0">
              <a:lnSpc>
                <a:spcPct val="100000"/>
              </a:lnSpc>
              <a:buNone/>
            </a:pPr>
            <a:r>
              <a:rPr lang="en-US" sz="730" b="1" spc="100" kern="0" dirty="0">
                <a:solidFill>
                  <a:srgbClr val="72879D"/>
                </a:solidFill>
                <a:latin typeface="Arial" pitchFamily="34" charset="0"/>
                <a:ea typeface="Arial" pitchFamily="34" charset="-122"/>
                <a:cs typeface="Arial" pitchFamily="34" charset="-120"/>
              </a:rPr>
              <a:t>NOTE</a:t>
            </a:r>
            <a:endParaRPr lang="en-US" sz="730" dirty="0"/>
          </a:p>
        </p:txBody>
      </p:sp>
      <p:sp>
        <p:nvSpPr>
          <p:cNvPr id="11" name="Shape 9"/>
          <p:cNvSpPr/>
          <p:nvPr/>
        </p:nvSpPr>
        <p:spPr>
          <a:xfrm>
            <a:off x="621792" y="2075688"/>
            <a:ext cx="10927080" cy="0"/>
          </a:xfrm>
          <a:prstGeom prst="line">
            <a:avLst/>
          </a:prstGeom>
          <a:noFill/>
          <a:ln w="9525">
            <a:solidFill>
              <a:srgbClr val="23405C"/>
            </a:solidFill>
            <a:prstDash val="solid"/>
          </a:ln>
        </p:spPr>
      </p:sp>
      <p:sp>
        <p:nvSpPr>
          <p:cNvPr id="12" name="Text 10"/>
          <p:cNvSpPr txBox="1"/>
          <p:nvPr/>
        </p:nvSpPr>
        <p:spPr>
          <a:xfrm>
            <a:off x="640080" y="209397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High-mix CNC machining — setup, introduction, in-process verification</a:t>
            </a:r>
            <a:endParaRPr lang="en-US" sz="730" dirty="0"/>
          </a:p>
        </p:txBody>
      </p:sp>
      <p:sp>
        <p:nvSpPr>
          <p:cNvPr id="13" name="Text 11"/>
          <p:cNvSpPr txBox="1"/>
          <p:nvPr/>
        </p:nvSpPr>
        <p:spPr>
          <a:xfrm>
            <a:off x="4754880" y="209397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46</a:t>
            </a:r>
            <a:endParaRPr lang="en-US" sz="730" dirty="0"/>
          </a:p>
        </p:txBody>
      </p:sp>
      <p:sp>
        <p:nvSpPr>
          <p:cNvPr id="14" name="Text 12"/>
          <p:cNvSpPr txBox="1"/>
          <p:nvPr/>
        </p:nvSpPr>
        <p:spPr>
          <a:xfrm>
            <a:off x="5440680" y="209397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Two scores are assumptions the interviews test (qualification burden; time to revenue); on conservative scores the gap to harness is ten points</a:t>
            </a:r>
            <a:endParaRPr lang="en-US" sz="730" dirty="0"/>
          </a:p>
        </p:txBody>
      </p:sp>
      <p:sp>
        <p:nvSpPr>
          <p:cNvPr id="15" name="Shape 13"/>
          <p:cNvSpPr/>
          <p:nvPr/>
        </p:nvSpPr>
        <p:spPr>
          <a:xfrm>
            <a:off x="621792" y="2395728"/>
            <a:ext cx="10927080" cy="0"/>
          </a:xfrm>
          <a:prstGeom prst="line">
            <a:avLst/>
          </a:prstGeom>
          <a:noFill/>
          <a:ln w="9525">
            <a:solidFill>
              <a:srgbClr val="23405C"/>
            </a:solidFill>
            <a:prstDash val="solid"/>
          </a:ln>
        </p:spPr>
      </p:sp>
      <p:sp>
        <p:nvSpPr>
          <p:cNvPr id="16" name="Text 14"/>
          <p:cNvSpPr txBox="1"/>
          <p:nvPr/>
        </p:nvSpPr>
        <p:spPr>
          <a:xfrm>
            <a:off x="640080" y="241401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Sub-assembly join, shimming, gap management</a:t>
            </a:r>
            <a:endParaRPr lang="en-US" sz="730" dirty="0"/>
          </a:p>
        </p:txBody>
      </p:sp>
      <p:sp>
        <p:nvSpPr>
          <p:cNvPr id="17" name="Text 15"/>
          <p:cNvSpPr txBox="1"/>
          <p:nvPr/>
        </p:nvSpPr>
        <p:spPr>
          <a:xfrm>
            <a:off x="4754880" y="241401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39</a:t>
            </a:r>
            <a:endParaRPr lang="en-US" sz="730" dirty="0"/>
          </a:p>
        </p:txBody>
      </p:sp>
      <p:sp>
        <p:nvSpPr>
          <p:cNvPr id="18" name="Text 16"/>
          <p:cNvSpPr txBox="1"/>
          <p:nvPr/>
        </p:nvSpPr>
        <p:spPr>
          <a:xfrm>
            <a:off x="5440680" y="241401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Strongest documented precedent (787 predictive shimming); structural qualification burden</a:t>
            </a:r>
            <a:endParaRPr lang="en-US" sz="730" dirty="0"/>
          </a:p>
        </p:txBody>
      </p:sp>
      <p:sp>
        <p:nvSpPr>
          <p:cNvPr id="19" name="Shape 17"/>
          <p:cNvSpPr/>
          <p:nvPr/>
        </p:nvSpPr>
        <p:spPr>
          <a:xfrm>
            <a:off x="621792" y="2715768"/>
            <a:ext cx="10927080" cy="0"/>
          </a:xfrm>
          <a:prstGeom prst="line">
            <a:avLst/>
          </a:prstGeom>
          <a:noFill/>
          <a:ln w="9525">
            <a:solidFill>
              <a:srgbClr val="23405C"/>
            </a:solidFill>
            <a:prstDash val="solid"/>
          </a:ln>
        </p:spPr>
      </p:sp>
      <p:sp>
        <p:nvSpPr>
          <p:cNvPr id="20" name="Text 18"/>
          <p:cNvSpPr txBox="1"/>
          <p:nvPr/>
        </p:nvSpPr>
        <p:spPr>
          <a:xfrm>
            <a:off x="640080" y="273405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Sealant and adhesive application</a:t>
            </a:r>
            <a:endParaRPr lang="en-US" sz="730" dirty="0"/>
          </a:p>
        </p:txBody>
      </p:sp>
      <p:sp>
        <p:nvSpPr>
          <p:cNvPr id="21" name="Text 19"/>
          <p:cNvSpPr txBox="1"/>
          <p:nvPr/>
        </p:nvSpPr>
        <p:spPr>
          <a:xfrm>
            <a:off x="4754880" y="273405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35</a:t>
            </a:r>
            <a:endParaRPr lang="en-US" sz="730" dirty="0"/>
          </a:p>
        </p:txBody>
      </p:sp>
      <p:sp>
        <p:nvSpPr>
          <p:cNvPr id="22" name="Text 20"/>
          <p:cNvSpPr txBox="1"/>
          <p:nvPr/>
        </p:nvSpPr>
        <p:spPr>
          <a:xfrm>
            <a:off x="5440680" y="273405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Bond-critical</a:t>
            </a:r>
            <a:endParaRPr lang="en-US" sz="730" dirty="0"/>
          </a:p>
        </p:txBody>
      </p:sp>
      <p:sp>
        <p:nvSpPr>
          <p:cNvPr id="23" name="Shape 21"/>
          <p:cNvSpPr/>
          <p:nvPr/>
        </p:nvSpPr>
        <p:spPr>
          <a:xfrm>
            <a:off x="621792" y="3035808"/>
            <a:ext cx="10927080" cy="0"/>
          </a:xfrm>
          <a:prstGeom prst="line">
            <a:avLst/>
          </a:prstGeom>
          <a:noFill/>
          <a:ln w="9525">
            <a:solidFill>
              <a:srgbClr val="23405C"/>
            </a:solidFill>
            <a:prstDash val="solid"/>
          </a:ln>
        </p:spPr>
      </p:sp>
      <p:sp>
        <p:nvSpPr>
          <p:cNvPr id="24" name="Text 22"/>
          <p:cNvSpPr txBox="1"/>
          <p:nvPr/>
        </p:nvSpPr>
        <p:spPr>
          <a:xfrm>
            <a:off x="640080" y="305409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Dimensional inspection and FAI data capture</a:t>
            </a:r>
            <a:endParaRPr lang="en-US" sz="730" dirty="0"/>
          </a:p>
        </p:txBody>
      </p:sp>
      <p:sp>
        <p:nvSpPr>
          <p:cNvPr id="25" name="Text 23"/>
          <p:cNvSpPr txBox="1"/>
          <p:nvPr/>
        </p:nvSpPr>
        <p:spPr>
          <a:xfrm>
            <a:off x="4754880" y="305409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35</a:t>
            </a:r>
            <a:endParaRPr lang="en-US" sz="730" dirty="0"/>
          </a:p>
        </p:txBody>
      </p:sp>
      <p:sp>
        <p:nvSpPr>
          <p:cNvPr id="26" name="Text 24"/>
          <p:cNvSpPr txBox="1"/>
          <p:nvPr/>
        </p:nvSpPr>
        <p:spPr>
          <a:xfrm>
            <a:off x="5440680" y="305409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Documentation layer commoditised; the gap is judgement</a:t>
            </a:r>
            <a:endParaRPr lang="en-US" sz="730" dirty="0"/>
          </a:p>
        </p:txBody>
      </p:sp>
      <p:sp>
        <p:nvSpPr>
          <p:cNvPr id="27" name="Shape 25"/>
          <p:cNvSpPr/>
          <p:nvPr/>
        </p:nvSpPr>
        <p:spPr>
          <a:xfrm>
            <a:off x="621792" y="3355848"/>
            <a:ext cx="10927080" cy="0"/>
          </a:xfrm>
          <a:prstGeom prst="line">
            <a:avLst/>
          </a:prstGeom>
          <a:noFill/>
          <a:ln w="9525">
            <a:solidFill>
              <a:srgbClr val="23405C"/>
            </a:solidFill>
            <a:prstDash val="solid"/>
          </a:ln>
        </p:spPr>
      </p:sp>
      <p:sp>
        <p:nvSpPr>
          <p:cNvPr id="28" name="Text 26"/>
          <p:cNvSpPr txBox="1"/>
          <p:nvPr/>
        </p:nvSpPr>
        <p:spPr>
          <a:xfrm>
            <a:off x="640080" y="337413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Wire harness routing and installation</a:t>
            </a:r>
            <a:endParaRPr lang="en-US" sz="730" dirty="0"/>
          </a:p>
        </p:txBody>
      </p:sp>
      <p:sp>
        <p:nvSpPr>
          <p:cNvPr id="29" name="Text 27"/>
          <p:cNvSpPr txBox="1"/>
          <p:nvPr/>
        </p:nvSpPr>
        <p:spPr>
          <a:xfrm>
            <a:off x="4754880" y="337413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33</a:t>
            </a:r>
            <a:endParaRPr lang="en-US" sz="730" dirty="0"/>
          </a:p>
        </p:txBody>
      </p:sp>
      <p:sp>
        <p:nvSpPr>
          <p:cNvPr id="30" name="Text 28"/>
          <p:cNvSpPr txBox="1"/>
          <p:nvPr/>
        </p:nvSpPr>
        <p:spPr>
          <a:xfrm>
            <a:off x="5440680" y="337413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Cheapest hard falsification test; commercially contested by Q5D and Senra</a:t>
            </a:r>
            <a:endParaRPr lang="en-US" sz="730" dirty="0"/>
          </a:p>
        </p:txBody>
      </p:sp>
      <p:sp>
        <p:nvSpPr>
          <p:cNvPr id="31" name="Shape 29"/>
          <p:cNvSpPr/>
          <p:nvPr/>
        </p:nvSpPr>
        <p:spPr>
          <a:xfrm>
            <a:off x="621792" y="3675888"/>
            <a:ext cx="10927080" cy="0"/>
          </a:xfrm>
          <a:prstGeom prst="line">
            <a:avLst/>
          </a:prstGeom>
          <a:noFill/>
          <a:ln w="9525">
            <a:solidFill>
              <a:srgbClr val="23405C"/>
            </a:solidFill>
            <a:prstDash val="solid"/>
          </a:ln>
        </p:spPr>
      </p:sp>
      <p:sp>
        <p:nvSpPr>
          <p:cNvPr id="32" name="Text 30"/>
          <p:cNvSpPr txBox="1"/>
          <p:nvPr/>
        </p:nvSpPr>
        <p:spPr>
          <a:xfrm>
            <a:off x="640080" y="369417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Sanding, surface preparation, finishing</a:t>
            </a:r>
            <a:endParaRPr lang="en-US" sz="730" dirty="0"/>
          </a:p>
        </p:txBody>
      </p:sp>
      <p:sp>
        <p:nvSpPr>
          <p:cNvPr id="33" name="Text 31"/>
          <p:cNvSpPr txBox="1"/>
          <p:nvPr/>
        </p:nvSpPr>
        <p:spPr>
          <a:xfrm>
            <a:off x="4754880" y="369417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29</a:t>
            </a:r>
            <a:endParaRPr lang="en-US" sz="730" dirty="0"/>
          </a:p>
        </p:txBody>
      </p:sp>
      <p:sp>
        <p:nvSpPr>
          <p:cNvPr id="34" name="Text 32"/>
          <p:cNvSpPr txBox="1"/>
          <p:nvPr/>
        </p:nvSpPr>
        <p:spPr>
          <a:xfrm>
            <a:off x="5440680" y="369417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GrayMatter commercially ahead</a:t>
            </a:r>
            <a:endParaRPr lang="en-US" sz="730" dirty="0"/>
          </a:p>
        </p:txBody>
      </p:sp>
      <p:sp>
        <p:nvSpPr>
          <p:cNvPr id="35" name="Shape 33"/>
          <p:cNvSpPr/>
          <p:nvPr/>
        </p:nvSpPr>
        <p:spPr>
          <a:xfrm>
            <a:off x="621792" y="3995928"/>
            <a:ext cx="10927080" cy="0"/>
          </a:xfrm>
          <a:prstGeom prst="line">
            <a:avLst/>
          </a:prstGeom>
          <a:noFill/>
          <a:ln w="9525">
            <a:solidFill>
              <a:srgbClr val="23405C"/>
            </a:solidFill>
            <a:prstDash val="solid"/>
          </a:ln>
        </p:spPr>
      </p:sp>
      <p:sp>
        <p:nvSpPr>
          <p:cNvPr id="36" name="Text 34"/>
          <p:cNvSpPr txBox="1"/>
          <p:nvPr/>
        </p:nvSpPr>
        <p:spPr>
          <a:xfrm>
            <a:off x="640080" y="401421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Deburring and edge break</a:t>
            </a:r>
            <a:endParaRPr lang="en-US" sz="730" dirty="0"/>
          </a:p>
        </p:txBody>
      </p:sp>
      <p:sp>
        <p:nvSpPr>
          <p:cNvPr id="37" name="Text 35"/>
          <p:cNvSpPr txBox="1"/>
          <p:nvPr/>
        </p:nvSpPr>
        <p:spPr>
          <a:xfrm>
            <a:off x="4754880" y="401421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29</a:t>
            </a:r>
            <a:endParaRPr lang="en-US" sz="730" dirty="0"/>
          </a:p>
        </p:txBody>
      </p:sp>
      <p:sp>
        <p:nvSpPr>
          <p:cNvPr id="38" name="Text 36"/>
          <p:cNvSpPr txBox="1"/>
          <p:nvPr/>
        </p:nvSpPr>
        <p:spPr>
          <a:xfrm>
            <a:off x="5440680" y="4014216"/>
            <a:ext cx="6089904" cy="320040"/>
          </a:xfrm>
          <a:prstGeom prst="rect">
            <a:avLst/>
          </a:prstGeom>
          <a:noFill/>
          <a:ln/>
        </p:spPr>
        <p:txBody>
          <a:bodyPr wrap="square" lIns="0" tIns="0" rIns="0" bIns="0" rtlCol="0" anchor="t"/>
          <a:lstStyle/>
          <a:p>
            <a:pPr indent="0" marL="0">
              <a:lnSpc>
                <a:spcPct val="100000"/>
              </a:lnSpc>
              <a:buNone/>
            </a:pPr>
            <a:endParaRPr lang="en-US" sz="730" dirty="0"/>
          </a:p>
        </p:txBody>
      </p:sp>
      <p:sp>
        <p:nvSpPr>
          <p:cNvPr id="39" name="Shape 37"/>
          <p:cNvSpPr/>
          <p:nvPr/>
        </p:nvSpPr>
        <p:spPr>
          <a:xfrm>
            <a:off x="621792" y="4315968"/>
            <a:ext cx="10927080" cy="0"/>
          </a:xfrm>
          <a:prstGeom prst="line">
            <a:avLst/>
          </a:prstGeom>
          <a:noFill/>
          <a:ln w="9525">
            <a:solidFill>
              <a:srgbClr val="23405C"/>
            </a:solidFill>
            <a:prstDash val="solid"/>
          </a:ln>
        </p:spPr>
      </p:sp>
      <p:sp>
        <p:nvSpPr>
          <p:cNvPr id="40" name="Text 38"/>
          <p:cNvSpPr txBox="1"/>
          <p:nvPr/>
        </p:nvSpPr>
        <p:spPr>
          <a:xfrm>
            <a:off x="640080" y="433425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Drilling and fastening</a:t>
            </a:r>
            <a:endParaRPr lang="en-US" sz="730" dirty="0"/>
          </a:p>
        </p:txBody>
      </p:sp>
      <p:sp>
        <p:nvSpPr>
          <p:cNvPr id="41" name="Text 39"/>
          <p:cNvSpPr txBox="1"/>
          <p:nvPr/>
        </p:nvSpPr>
        <p:spPr>
          <a:xfrm>
            <a:off x="4754880" y="433425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28</a:t>
            </a:r>
            <a:endParaRPr lang="en-US" sz="730" dirty="0"/>
          </a:p>
        </p:txBody>
      </p:sp>
      <p:sp>
        <p:nvSpPr>
          <p:cNvPr id="42" name="Text 40"/>
          <p:cNvSpPr txBox="1"/>
          <p:nvPr/>
        </p:nvSpPr>
        <p:spPr>
          <a:xfrm>
            <a:off x="5440680" y="433425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Saturated; being standardised further</a:t>
            </a:r>
            <a:endParaRPr lang="en-US" sz="730" dirty="0"/>
          </a:p>
        </p:txBody>
      </p:sp>
      <p:sp>
        <p:nvSpPr>
          <p:cNvPr id="43" name="Shape 41"/>
          <p:cNvSpPr/>
          <p:nvPr/>
        </p:nvSpPr>
        <p:spPr>
          <a:xfrm>
            <a:off x="621792" y="4636008"/>
            <a:ext cx="10927080" cy="0"/>
          </a:xfrm>
          <a:prstGeom prst="line">
            <a:avLst/>
          </a:prstGeom>
          <a:noFill/>
          <a:ln w="9525">
            <a:solidFill>
              <a:srgbClr val="23405C"/>
            </a:solidFill>
            <a:prstDash val="solid"/>
          </a:ln>
        </p:spPr>
      </p:sp>
      <p:sp>
        <p:nvSpPr>
          <p:cNvPr id="44" name="Text 42"/>
          <p:cNvSpPr txBox="1"/>
          <p:nvPr/>
        </p:nvSpPr>
        <p:spPr>
          <a:xfrm>
            <a:off x="640080" y="465429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Composite layup</a:t>
            </a:r>
            <a:endParaRPr lang="en-US" sz="730" dirty="0"/>
          </a:p>
        </p:txBody>
      </p:sp>
      <p:sp>
        <p:nvSpPr>
          <p:cNvPr id="45" name="Text 43"/>
          <p:cNvSpPr txBox="1"/>
          <p:nvPr/>
        </p:nvSpPr>
        <p:spPr>
          <a:xfrm>
            <a:off x="4754880" y="465429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25</a:t>
            </a:r>
            <a:endParaRPr lang="en-US" sz="730" dirty="0"/>
          </a:p>
        </p:txBody>
      </p:sp>
      <p:sp>
        <p:nvSpPr>
          <p:cNvPr id="46" name="Text 44"/>
          <p:cNvSpPr txBox="1"/>
          <p:nvPr/>
        </p:nvSpPr>
        <p:spPr>
          <a:xfrm>
            <a:off x="5440680" y="4654296"/>
            <a:ext cx="6089904" cy="320040"/>
          </a:xfrm>
          <a:prstGeom prst="rect">
            <a:avLst/>
          </a:prstGeom>
          <a:noFill/>
          <a:ln/>
        </p:spPr>
        <p:txBody>
          <a:bodyPr wrap="square" lIns="0" tIns="0" rIns="0" bIns="0" rtlCol="0" anchor="t"/>
          <a:lstStyle/>
          <a:p>
            <a:pPr indent="0" marL="0">
              <a:lnSpc>
                <a:spcPct val="100000"/>
              </a:lnSpc>
              <a:buNone/>
            </a:pPr>
            <a:endParaRPr lang="en-US" sz="730" dirty="0"/>
          </a:p>
        </p:txBody>
      </p:sp>
      <p:sp>
        <p:nvSpPr>
          <p:cNvPr id="47" name="Shape 45"/>
          <p:cNvSpPr/>
          <p:nvPr/>
        </p:nvSpPr>
        <p:spPr>
          <a:xfrm>
            <a:off x="621792" y="4956048"/>
            <a:ext cx="10927080" cy="0"/>
          </a:xfrm>
          <a:prstGeom prst="line">
            <a:avLst/>
          </a:prstGeom>
          <a:noFill/>
          <a:ln w="9525">
            <a:solidFill>
              <a:srgbClr val="23405C"/>
            </a:solidFill>
            <a:prstDash val="solid"/>
          </a:ln>
        </p:spPr>
      </p:sp>
      <p:sp>
        <p:nvSpPr>
          <p:cNvPr id="48" name="Text 46"/>
          <p:cNvSpPr txBox="1"/>
          <p:nvPr/>
        </p:nvSpPr>
        <p:spPr>
          <a:xfrm>
            <a:off x="640080" y="4974336"/>
            <a:ext cx="4078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NDT</a:t>
            </a:r>
            <a:endParaRPr lang="en-US" sz="730" dirty="0"/>
          </a:p>
        </p:txBody>
      </p:sp>
      <p:sp>
        <p:nvSpPr>
          <p:cNvPr id="49" name="Text 47"/>
          <p:cNvSpPr txBox="1"/>
          <p:nvPr/>
        </p:nvSpPr>
        <p:spPr>
          <a:xfrm>
            <a:off x="4754880" y="4974336"/>
            <a:ext cx="64922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23</a:t>
            </a:r>
            <a:endParaRPr lang="en-US" sz="730" dirty="0"/>
          </a:p>
        </p:txBody>
      </p:sp>
      <p:sp>
        <p:nvSpPr>
          <p:cNvPr id="50" name="Text 48"/>
          <p:cNvSpPr txBox="1"/>
          <p:nvPr/>
        </p:nvSpPr>
        <p:spPr>
          <a:xfrm>
            <a:off x="5440680" y="4974336"/>
            <a:ext cx="6089904" cy="320040"/>
          </a:xfrm>
          <a:prstGeom prst="rect">
            <a:avLst/>
          </a:prstGeom>
          <a:noFill/>
          <a:ln/>
        </p:spPr>
        <p:txBody>
          <a:bodyPr wrap="square" lIns="0" tIns="0" rIns="0" bIns="0" rtlCol="0" anchor="t"/>
          <a:lstStyle/>
          <a:p>
            <a:pPr indent="0" marL="0">
              <a:lnSpc>
                <a:spcPct val="100000"/>
              </a:lnSpc>
              <a:buNone/>
            </a:pPr>
            <a:r>
              <a:rPr lang="en-US" sz="730" dirty="0">
                <a:solidFill>
                  <a:srgbClr val="A9BDD1"/>
                </a:solidFill>
                <a:latin typeface="Arial" pitchFamily="34" charset="0"/>
                <a:ea typeface="Arial" pitchFamily="34" charset="-122"/>
                <a:cs typeface="Arial" pitchFamily="34" charset="-120"/>
              </a:rPr>
              <a:t>Personnel certification regime</a:t>
            </a:r>
            <a:endParaRPr lang="en-US" sz="730" dirty="0"/>
          </a:p>
        </p:txBody>
      </p:sp>
      <p:sp>
        <p:nvSpPr>
          <p:cNvPr id="51" name="Text 49"/>
          <p:cNvSpPr txBox="1"/>
          <p:nvPr/>
        </p:nvSpPr>
        <p:spPr>
          <a:xfrm>
            <a:off x="621792" y="5376672"/>
            <a:ext cx="10948111" cy="822960"/>
          </a:xfrm>
          <a:prstGeom prst="rect">
            <a:avLst/>
          </a:prstGeom>
          <a:noFill/>
          <a:ln/>
        </p:spPr>
        <p:txBody>
          <a:bodyPr wrap="square" lIns="0" tIns="0" rIns="0" bIns="0" rtlCol="0" anchor="t"/>
          <a:lstStyle/>
          <a:p>
            <a:pPr algn="l" indent="0" marL="0">
              <a:lnSpc>
                <a:spcPct val="108000"/>
              </a:lnSpc>
              <a:spcAft>
                <a:spcPts val="400"/>
              </a:spcAft>
              <a:buNone/>
            </a:pPr>
            <a:r>
              <a:rPr lang="en-US" sz="690" dirty="0">
                <a:solidFill>
                  <a:srgbClr val="A9BDD1"/>
                </a:solidFill>
                <a:latin typeface="Arial" pitchFamily="34" charset="0"/>
                <a:ea typeface="Arial" pitchFamily="34" charset="-122"/>
                <a:cs typeface="Arial" pitchFamily="34" charset="-120"/>
              </a:rPr>
              <a:t>What has to be true for the machining recommendation to survive: machine shops experience introduction burden as a named cost and can say whether it lands in planning or debug; a read-only observation is acceptable to their quality organisation without a change-control action; a supplier will let a third party observe given warranty and controller constraints; the burden is measurable on their floor at all.</a:t>
            </a:r>
            <a:endParaRPr lang="en-US" sz="690" dirty="0"/>
          </a:p>
          <a:p>
            <a:pPr algn="l" indent="0" marL="0">
              <a:lnSpc>
                <a:spcPct val="108000"/>
              </a:lnSpc>
              <a:spcAft>
                <a:spcPts val="400"/>
              </a:spcAft>
              <a:buNone/>
            </a:pPr>
            <a:r>
              <a:rPr lang="en-US" sz="690" dirty="0">
                <a:solidFill>
                  <a:srgbClr val="EAF2FA"/>
                </a:solidFill>
                <a:latin typeface="Arial" pitchFamily="34" charset="0"/>
                <a:ea typeface="Arial" pitchFamily="34" charset="-122"/>
                <a:cs typeface="Arial" pitchFamily="34" charset="-120"/>
              </a:rPr>
              <a:t>Kill criteria: three of ten machine-shop interviews name debug rather than planning as the dominant burden; two quality authorities say read-only third-party evidence requires change control; no shop in the set will host observation. Any one reopens the table.</a:t>
            </a:r>
            <a:endParaRPr lang="en-US" sz="690" dirty="0"/>
          </a:p>
          <a:p>
            <a:pPr algn="l" indent="0" marL="0">
              <a:lnSpc>
                <a:spcPct val="108000"/>
              </a:lnSpc>
              <a:buNone/>
            </a:pPr>
            <a:r>
              <a:rPr lang="en-US" sz="690" dirty="0">
                <a:solidFill>
                  <a:srgbClr val="A9BDD1"/>
                </a:solidFill>
                <a:latin typeface="Arial" pitchFamily="34" charset="0"/>
                <a:ea typeface="Arial" pitchFamily="34" charset="-122"/>
                <a:cs typeface="Arial" pitchFamily="34" charset="-120"/>
              </a:rPr>
              <a:t>What this does not decide: the second physical operation class for PERFORM. Gate 3's physical rig remains harness-specific; its platform layer is required to be demonstrated class-agnostic against a machining observation dataset.</a:t>
            </a:r>
            <a:endParaRPr lang="en-US" sz="690" dirty="0"/>
          </a:p>
        </p:txBody>
      </p:sp>
      <p:sp>
        <p:nvSpPr>
          <p:cNvPr id="52" name="Text 50"/>
          <p:cNvSpPr txBox="1"/>
          <p:nvPr/>
        </p:nvSpPr>
        <p:spPr>
          <a:xfrm>
            <a:off x="621792" y="6272784"/>
            <a:ext cx="10948111" cy="201168"/>
          </a:xfrm>
          <a:prstGeom prst="rect">
            <a:avLst/>
          </a:prstGeom>
          <a:noFill/>
          <a:ln/>
        </p:spPr>
        <p:txBody>
          <a:bodyPr wrap="square" lIns="0" tIns="0" rIns="0" bIns="0" rtlCol="0" anchor="ctr"/>
          <a:lstStyle/>
          <a:p>
            <a:pPr indent="0" marL="0">
              <a:buNone/>
            </a:pPr>
            <a:r>
              <a:rPr lang="en-US" sz="700" i="1" dirty="0">
                <a:solidFill>
                  <a:srgbClr val="72879D"/>
                </a:solidFill>
                <a:latin typeface="Arial" pitchFamily="34" charset="0"/>
                <a:ea typeface="Arial" pitchFamily="34" charset="-122"/>
                <a:cs typeface="Arial" pitchFamily="34" charset="-120"/>
              </a:rPr>
              <a:t>Why this slide exists: so that 'why machining, and why not the thing you're testing?' has a scored, falsifiable answer rather than a preference.</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A-8   ·   08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A-8 · EVIDENCE-TRIGGERED FINANCING AND THE COMPARABLE TRAJECTORIES</a:t>
            </a:r>
            <a:endParaRPr lang="en-US" sz="1000" dirty="0"/>
          </a:p>
        </p:txBody>
      </p:sp>
      <p:sp>
        <p:nvSpPr>
          <p:cNvPr id="5" name="Text 3"/>
          <p:cNvSpPr txBox="1"/>
          <p:nvPr/>
        </p:nvSpPr>
        <p:spPr>
          <a:xfrm>
            <a:off x="621792" y="786384"/>
            <a:ext cx="10948111" cy="384048"/>
          </a:xfrm>
          <a:prstGeom prst="rect">
            <a:avLst/>
          </a:prstGeom>
          <a:noFill/>
          <a:ln/>
        </p:spPr>
        <p:txBody>
          <a:bodyPr wrap="square" lIns="0" tIns="0" rIns="0" bIns="0" rtlCol="0" anchor="t"/>
          <a:lstStyle/>
          <a:p>
            <a:pPr indent="0" marL="0">
              <a:lnSpc>
                <a:spcPct val="102000"/>
              </a:lnSpc>
              <a:buNone/>
            </a:pPr>
            <a:r>
              <a:rPr lang="en-US" sz="1700" b="1" dirty="0">
                <a:solidFill>
                  <a:srgbClr val="EAF2FA"/>
                </a:solidFill>
                <a:latin typeface="Arial" pitchFamily="34" charset="0"/>
                <a:ea typeface="Arial" pitchFamily="34" charset="-122"/>
                <a:cs typeface="Arial" pitchFamily="34" charset="-120"/>
              </a:rPr>
              <a:t>Financing is triggered by evidence states, not by calendar or the names of rounds.</a:t>
            </a:r>
            <a:endParaRPr lang="en-US" sz="1700" dirty="0"/>
          </a:p>
        </p:txBody>
      </p:sp>
      <p:sp>
        <p:nvSpPr>
          <p:cNvPr id="6" name="Text 4"/>
          <p:cNvSpPr txBox="1"/>
          <p:nvPr/>
        </p:nvSpPr>
        <p:spPr>
          <a:xfrm>
            <a:off x="621792" y="1133856"/>
            <a:ext cx="10948111" cy="219456"/>
          </a:xfrm>
          <a:prstGeom prst="rect">
            <a:avLst/>
          </a:prstGeom>
          <a:noFill/>
          <a:ln/>
        </p:spPr>
        <p:txBody>
          <a:bodyPr wrap="square" lIns="0" tIns="0" rIns="0" bIns="0" rtlCol="0" anchor="ctr"/>
          <a:lstStyle/>
          <a:p>
            <a:pPr indent="0" marL="0">
              <a:buNone/>
            </a:pPr>
            <a:r>
              <a:rPr lang="en-US" sz="740" b="1" i="1" dirty="0">
                <a:solidFill>
                  <a:srgbClr val="72879D"/>
                </a:solidFill>
                <a:latin typeface="Arial" pitchFamily="34" charset="0"/>
                <a:ea typeface="Arial" pitchFamily="34" charset="-122"/>
                <a:cs typeface="Arial" pitchFamily="34" charset="-120"/>
              </a:rPr>
              <a:t>Every figure below is an internal planning scenario, labelled CURRENT FINANCING STRATEGY — NOT OFFER TERMS. Nothing here is a forecast or a commitment; shown only on request.</a:t>
            </a:r>
            <a:endParaRPr lang="en-US" sz="740" dirty="0"/>
          </a:p>
        </p:txBody>
      </p:sp>
      <p:sp>
        <p:nvSpPr>
          <p:cNvPr id="7" name="Shape 5"/>
          <p:cNvSpPr/>
          <p:nvPr/>
        </p:nvSpPr>
        <p:spPr>
          <a:xfrm>
            <a:off x="621792" y="1353312"/>
            <a:ext cx="10927080" cy="0"/>
          </a:xfrm>
          <a:prstGeom prst="line">
            <a:avLst/>
          </a:prstGeom>
          <a:noFill/>
          <a:ln w="9525">
            <a:solidFill>
              <a:srgbClr val="23405C"/>
            </a:solidFill>
            <a:prstDash val="solid"/>
          </a:ln>
        </p:spPr>
      </p:sp>
      <p:sp>
        <p:nvSpPr>
          <p:cNvPr id="8" name="Text 6"/>
          <p:cNvSpPr txBox="1"/>
          <p:nvPr/>
        </p:nvSpPr>
        <p:spPr>
          <a:xfrm>
            <a:off x="640080" y="1371600"/>
            <a:ext cx="1380744" cy="274320"/>
          </a:xfrm>
          <a:prstGeom prst="rect">
            <a:avLst/>
          </a:prstGeom>
          <a:noFill/>
          <a:ln/>
        </p:spPr>
        <p:txBody>
          <a:bodyPr wrap="square" lIns="0" tIns="0" rIns="0" bIns="0" rtlCol="0" anchor="t"/>
          <a:lstStyle/>
          <a:p>
            <a:pPr indent="0" marL="0">
              <a:lnSpc>
                <a:spcPct val="100000"/>
              </a:lnSpc>
              <a:buNone/>
            </a:pPr>
            <a:r>
              <a:rPr lang="en-US" sz="660" b="1" spc="100" kern="0" dirty="0">
                <a:solidFill>
                  <a:srgbClr val="72879D"/>
                </a:solidFill>
                <a:latin typeface="Arial" pitchFamily="34" charset="0"/>
                <a:ea typeface="Arial" pitchFamily="34" charset="-122"/>
                <a:cs typeface="Arial" pitchFamily="34" charset="-120"/>
              </a:rPr>
              <a:t>COMPANY</a:t>
            </a:r>
            <a:endParaRPr lang="en-US" sz="660" dirty="0"/>
          </a:p>
        </p:txBody>
      </p:sp>
      <p:sp>
        <p:nvSpPr>
          <p:cNvPr id="9" name="Text 7"/>
          <p:cNvSpPr txBox="1"/>
          <p:nvPr/>
        </p:nvSpPr>
        <p:spPr>
          <a:xfrm>
            <a:off x="2057400" y="1371600"/>
            <a:ext cx="2112264" cy="274320"/>
          </a:xfrm>
          <a:prstGeom prst="rect">
            <a:avLst/>
          </a:prstGeom>
          <a:noFill/>
          <a:ln/>
        </p:spPr>
        <p:txBody>
          <a:bodyPr wrap="square" lIns="0" tIns="0" rIns="0" bIns="0" rtlCol="0" anchor="t"/>
          <a:lstStyle/>
          <a:p>
            <a:pPr indent="0" marL="0">
              <a:lnSpc>
                <a:spcPct val="100000"/>
              </a:lnSpc>
              <a:buNone/>
            </a:pPr>
            <a:r>
              <a:rPr lang="en-US" sz="660" b="1" spc="100" kern="0" dirty="0">
                <a:solidFill>
                  <a:srgbClr val="72879D"/>
                </a:solidFill>
                <a:latin typeface="Arial" pitchFamily="34" charset="0"/>
                <a:ea typeface="Arial" pitchFamily="34" charset="-122"/>
                <a:cs typeface="Arial" pitchFamily="34" charset="-120"/>
              </a:rPr>
              <a:t>1ST INSTITUTIONAL</a:t>
            </a:r>
            <a:endParaRPr lang="en-US" sz="660" dirty="0"/>
          </a:p>
        </p:txBody>
      </p:sp>
      <p:sp>
        <p:nvSpPr>
          <p:cNvPr id="10" name="Text 8"/>
          <p:cNvSpPr txBox="1"/>
          <p:nvPr/>
        </p:nvSpPr>
        <p:spPr>
          <a:xfrm>
            <a:off x="4206240" y="1371600"/>
            <a:ext cx="2112264" cy="274320"/>
          </a:xfrm>
          <a:prstGeom prst="rect">
            <a:avLst/>
          </a:prstGeom>
          <a:noFill/>
          <a:ln/>
        </p:spPr>
        <p:txBody>
          <a:bodyPr wrap="square" lIns="0" tIns="0" rIns="0" bIns="0" rtlCol="0" anchor="t"/>
          <a:lstStyle/>
          <a:p>
            <a:pPr indent="0" marL="0">
              <a:lnSpc>
                <a:spcPct val="100000"/>
              </a:lnSpc>
              <a:buNone/>
            </a:pPr>
            <a:r>
              <a:rPr lang="en-US" sz="660" b="1" spc="100" kern="0" dirty="0">
                <a:solidFill>
                  <a:srgbClr val="72879D"/>
                </a:solidFill>
                <a:latin typeface="Arial" pitchFamily="34" charset="0"/>
                <a:ea typeface="Arial" pitchFamily="34" charset="-122"/>
                <a:cs typeface="Arial" pitchFamily="34" charset="-120"/>
              </a:rPr>
              <a:t>NEXT MAJOR</a:t>
            </a:r>
            <a:endParaRPr lang="en-US" sz="660" dirty="0"/>
          </a:p>
        </p:txBody>
      </p:sp>
      <p:sp>
        <p:nvSpPr>
          <p:cNvPr id="11" name="Text 9"/>
          <p:cNvSpPr txBox="1"/>
          <p:nvPr/>
        </p:nvSpPr>
        <p:spPr>
          <a:xfrm>
            <a:off x="6355080" y="1371600"/>
            <a:ext cx="649224" cy="274320"/>
          </a:xfrm>
          <a:prstGeom prst="rect">
            <a:avLst/>
          </a:prstGeom>
          <a:noFill/>
          <a:ln/>
        </p:spPr>
        <p:txBody>
          <a:bodyPr wrap="square" lIns="0" tIns="0" rIns="0" bIns="0" rtlCol="0" anchor="t"/>
          <a:lstStyle/>
          <a:p>
            <a:pPr indent="0" marL="0">
              <a:lnSpc>
                <a:spcPct val="100000"/>
              </a:lnSpc>
              <a:buNone/>
            </a:pPr>
            <a:r>
              <a:rPr lang="en-US" sz="660" b="1" spc="100" kern="0" dirty="0">
                <a:solidFill>
                  <a:srgbClr val="72879D"/>
                </a:solidFill>
                <a:latin typeface="Arial" pitchFamily="34" charset="0"/>
                <a:ea typeface="Arial" pitchFamily="34" charset="-122"/>
                <a:cs typeface="Arial" pitchFamily="34" charset="-120"/>
              </a:rPr>
              <a:t>INTERVAL</a:t>
            </a:r>
            <a:endParaRPr lang="en-US" sz="660" dirty="0"/>
          </a:p>
        </p:txBody>
      </p:sp>
      <p:sp>
        <p:nvSpPr>
          <p:cNvPr id="12" name="Text 10"/>
          <p:cNvSpPr txBox="1"/>
          <p:nvPr/>
        </p:nvSpPr>
        <p:spPr>
          <a:xfrm>
            <a:off x="7040880" y="1371600"/>
            <a:ext cx="4489704" cy="274320"/>
          </a:xfrm>
          <a:prstGeom prst="rect">
            <a:avLst/>
          </a:prstGeom>
          <a:noFill/>
          <a:ln/>
        </p:spPr>
        <p:txBody>
          <a:bodyPr wrap="square" lIns="0" tIns="0" rIns="0" bIns="0" rtlCol="0" anchor="t"/>
          <a:lstStyle/>
          <a:p>
            <a:pPr indent="0" marL="0">
              <a:lnSpc>
                <a:spcPct val="100000"/>
              </a:lnSpc>
              <a:buNone/>
            </a:pPr>
            <a:r>
              <a:rPr lang="en-US" sz="660" b="1" spc="100" kern="0" dirty="0">
                <a:solidFill>
                  <a:srgbClr val="72879D"/>
                </a:solidFill>
                <a:latin typeface="Arial" pitchFamily="34" charset="0"/>
                <a:ea typeface="Arial" pitchFamily="34" charset="-122"/>
                <a:cs typeface="Arial" pitchFamily="34" charset="-120"/>
              </a:rPr>
              <a:t>AT THE SECOND ROUND</a:t>
            </a:r>
            <a:endParaRPr lang="en-US" sz="660" dirty="0"/>
          </a:p>
        </p:txBody>
      </p:sp>
      <p:sp>
        <p:nvSpPr>
          <p:cNvPr id="13" name="Shape 11"/>
          <p:cNvSpPr/>
          <p:nvPr/>
        </p:nvSpPr>
        <p:spPr>
          <a:xfrm>
            <a:off x="621792" y="1627632"/>
            <a:ext cx="10927080" cy="0"/>
          </a:xfrm>
          <a:prstGeom prst="line">
            <a:avLst/>
          </a:prstGeom>
          <a:noFill/>
          <a:ln w="9525">
            <a:solidFill>
              <a:srgbClr val="23405C"/>
            </a:solidFill>
            <a:prstDash val="solid"/>
          </a:ln>
        </p:spPr>
      </p:sp>
      <p:sp>
        <p:nvSpPr>
          <p:cNvPr id="14" name="Text 12"/>
          <p:cNvSpPr txBox="1"/>
          <p:nvPr/>
        </p:nvSpPr>
        <p:spPr>
          <a:xfrm>
            <a:off x="640080" y="164592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Saronic</a:t>
            </a:r>
            <a:endParaRPr lang="en-US" sz="660" dirty="0"/>
          </a:p>
        </p:txBody>
      </p:sp>
      <p:sp>
        <p:nvSpPr>
          <p:cNvPr id="15" name="Text 13"/>
          <p:cNvSpPr txBox="1"/>
          <p:nvPr/>
        </p:nvSpPr>
        <p:spPr>
          <a:xfrm>
            <a:off x="2057400" y="164592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Seed $15M, Feb 2023</a:t>
            </a:r>
            <a:endParaRPr lang="en-US" sz="660" dirty="0"/>
          </a:p>
        </p:txBody>
      </p:sp>
      <p:sp>
        <p:nvSpPr>
          <p:cNvPr id="16" name="Text 14"/>
          <p:cNvSpPr txBox="1"/>
          <p:nvPr/>
        </p:nvSpPr>
        <p:spPr>
          <a:xfrm>
            <a:off x="4206240" y="164592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$55M, Oct 2023</a:t>
            </a:r>
            <a:endParaRPr lang="en-US" sz="660" dirty="0"/>
          </a:p>
        </p:txBody>
      </p:sp>
      <p:sp>
        <p:nvSpPr>
          <p:cNvPr id="17" name="Text 15"/>
          <p:cNvSpPr txBox="1"/>
          <p:nvPr/>
        </p:nvSpPr>
        <p:spPr>
          <a:xfrm>
            <a:off x="6355080" y="164592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8 mo</a:t>
            </a:r>
            <a:endParaRPr lang="en-US" sz="660" dirty="0"/>
          </a:p>
        </p:txBody>
      </p:sp>
      <p:sp>
        <p:nvSpPr>
          <p:cNvPr id="18" name="Text 16"/>
          <p:cNvSpPr txBox="1"/>
          <p:nvPr/>
        </p:nvSpPr>
        <p:spPr>
          <a:xfrm>
            <a:off x="7040880" y="164592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Two prototype vessels on the water; gov't contracts within 90 days of founding</a:t>
            </a:r>
            <a:endParaRPr lang="en-US" sz="660" dirty="0"/>
          </a:p>
        </p:txBody>
      </p:sp>
      <p:sp>
        <p:nvSpPr>
          <p:cNvPr id="19" name="Shape 17"/>
          <p:cNvSpPr/>
          <p:nvPr/>
        </p:nvSpPr>
        <p:spPr>
          <a:xfrm>
            <a:off x="621792" y="1901952"/>
            <a:ext cx="10927080" cy="0"/>
          </a:xfrm>
          <a:prstGeom prst="line">
            <a:avLst/>
          </a:prstGeom>
          <a:noFill/>
          <a:ln w="9525">
            <a:solidFill>
              <a:srgbClr val="23405C"/>
            </a:solidFill>
            <a:prstDash val="solid"/>
          </a:ln>
        </p:spPr>
      </p:sp>
      <p:sp>
        <p:nvSpPr>
          <p:cNvPr id="20" name="Text 18"/>
          <p:cNvSpPr txBox="1"/>
          <p:nvPr/>
        </p:nvSpPr>
        <p:spPr>
          <a:xfrm>
            <a:off x="640080" y="192024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Castelion</a:t>
            </a:r>
            <a:endParaRPr lang="en-US" sz="660" dirty="0"/>
          </a:p>
        </p:txBody>
      </p:sp>
      <p:sp>
        <p:nvSpPr>
          <p:cNvPr id="21" name="Text 19"/>
          <p:cNvSpPr txBox="1"/>
          <p:nvPr/>
        </p:nvSpPr>
        <p:spPr>
          <a:xfrm>
            <a:off x="2057400" y="192024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Pre-seed $14.2M, Oct 2023</a:t>
            </a:r>
            <a:endParaRPr lang="en-US" sz="660" dirty="0"/>
          </a:p>
        </p:txBody>
      </p:sp>
      <p:sp>
        <p:nvSpPr>
          <p:cNvPr id="22" name="Text 20"/>
          <p:cNvSpPr txBox="1"/>
          <p:nvPr/>
        </p:nvSpPr>
        <p:spPr>
          <a:xfrm>
            <a:off x="4206240" y="192024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$100M, Jan 2025</a:t>
            </a:r>
            <a:endParaRPr lang="en-US" sz="660" dirty="0"/>
          </a:p>
        </p:txBody>
      </p:sp>
      <p:sp>
        <p:nvSpPr>
          <p:cNvPr id="23" name="Text 21"/>
          <p:cNvSpPr txBox="1"/>
          <p:nvPr/>
        </p:nvSpPr>
        <p:spPr>
          <a:xfrm>
            <a:off x="6355080" y="192024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15 mo</a:t>
            </a:r>
            <a:endParaRPr lang="en-US" sz="660" dirty="0"/>
          </a:p>
        </p:txBody>
      </p:sp>
      <p:sp>
        <p:nvSpPr>
          <p:cNvPr id="24" name="Text 22"/>
          <p:cNvSpPr txBox="1"/>
          <p:nvPr/>
        </p:nvSpPr>
        <p:spPr>
          <a:xfrm>
            <a:off x="7040880" y="192024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Three flight tests in under a month; in-house motors/avionics; service-branch contracts</a:t>
            </a:r>
            <a:endParaRPr lang="en-US" sz="660" dirty="0"/>
          </a:p>
        </p:txBody>
      </p:sp>
      <p:sp>
        <p:nvSpPr>
          <p:cNvPr id="25" name="Shape 23"/>
          <p:cNvSpPr/>
          <p:nvPr/>
        </p:nvSpPr>
        <p:spPr>
          <a:xfrm>
            <a:off x="621792" y="2176272"/>
            <a:ext cx="10927080" cy="0"/>
          </a:xfrm>
          <a:prstGeom prst="line">
            <a:avLst/>
          </a:prstGeom>
          <a:noFill/>
          <a:ln w="9525">
            <a:solidFill>
              <a:srgbClr val="23405C"/>
            </a:solidFill>
            <a:prstDash val="solid"/>
          </a:ln>
        </p:spPr>
      </p:sp>
      <p:sp>
        <p:nvSpPr>
          <p:cNvPr id="26" name="Text 24"/>
          <p:cNvSpPr txBox="1"/>
          <p:nvPr/>
        </p:nvSpPr>
        <p:spPr>
          <a:xfrm>
            <a:off x="640080" y="219456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Hadrian</a:t>
            </a:r>
            <a:endParaRPr lang="en-US" sz="660" dirty="0"/>
          </a:p>
        </p:txBody>
      </p:sp>
      <p:sp>
        <p:nvSpPr>
          <p:cNvPr id="27" name="Text 25"/>
          <p:cNvSpPr txBox="1"/>
          <p:nvPr/>
        </p:nvSpPr>
        <p:spPr>
          <a:xfrm>
            <a:off x="2057400" y="219456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Seed $9.5M, 2021</a:t>
            </a:r>
            <a:endParaRPr lang="en-US" sz="660" dirty="0"/>
          </a:p>
        </p:txBody>
      </p:sp>
      <p:sp>
        <p:nvSpPr>
          <p:cNvPr id="28" name="Text 26"/>
          <p:cNvSpPr txBox="1"/>
          <p:nvPr/>
        </p:nvSpPr>
        <p:spPr>
          <a:xfrm>
            <a:off x="4206240" y="219456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$90M, Mar 2022</a:t>
            </a:r>
            <a:endParaRPr lang="en-US" sz="660" dirty="0"/>
          </a:p>
        </p:txBody>
      </p:sp>
      <p:sp>
        <p:nvSpPr>
          <p:cNvPr id="29" name="Text 27"/>
          <p:cNvSpPr txBox="1"/>
          <p:nvPr/>
        </p:nvSpPr>
        <p:spPr>
          <a:xfrm>
            <a:off x="6355080" y="219456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~12 mo</a:t>
            </a:r>
            <a:endParaRPr lang="en-US" sz="660" dirty="0"/>
          </a:p>
        </p:txBody>
      </p:sp>
      <p:sp>
        <p:nvSpPr>
          <p:cNvPr id="30" name="Text 28"/>
          <p:cNvSpPr txBox="1"/>
          <p:nvPr/>
        </p:nvSpPr>
        <p:spPr>
          <a:xfrm>
            <a:off x="7040880" y="219456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Operating facility; no hardware evidence located in reporting — the one unresolved exception</a:t>
            </a:r>
            <a:endParaRPr lang="en-US" sz="660" dirty="0"/>
          </a:p>
        </p:txBody>
      </p:sp>
      <p:sp>
        <p:nvSpPr>
          <p:cNvPr id="31" name="Shape 29"/>
          <p:cNvSpPr/>
          <p:nvPr/>
        </p:nvSpPr>
        <p:spPr>
          <a:xfrm>
            <a:off x="621792" y="2450592"/>
            <a:ext cx="10927080" cy="0"/>
          </a:xfrm>
          <a:prstGeom prst="line">
            <a:avLst/>
          </a:prstGeom>
          <a:noFill/>
          <a:ln w="9525">
            <a:solidFill>
              <a:srgbClr val="23405C"/>
            </a:solidFill>
            <a:prstDash val="solid"/>
          </a:ln>
        </p:spPr>
      </p:sp>
      <p:sp>
        <p:nvSpPr>
          <p:cNvPr id="32" name="Text 30"/>
          <p:cNvSpPr txBox="1"/>
          <p:nvPr/>
        </p:nvSpPr>
        <p:spPr>
          <a:xfrm>
            <a:off x="640080" y="246888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Firestorm Labs</a:t>
            </a:r>
            <a:endParaRPr lang="en-US" sz="660" dirty="0"/>
          </a:p>
        </p:txBody>
      </p:sp>
      <p:sp>
        <p:nvSpPr>
          <p:cNvPr id="33" name="Text 31"/>
          <p:cNvSpPr txBox="1"/>
          <p:nvPr/>
        </p:nvSpPr>
        <p:spPr>
          <a:xfrm>
            <a:off x="2057400" y="246888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Seed $12.5M, Mar 2024</a:t>
            </a:r>
            <a:endParaRPr lang="en-US" sz="660" dirty="0"/>
          </a:p>
        </p:txBody>
      </p:sp>
      <p:sp>
        <p:nvSpPr>
          <p:cNvPr id="34" name="Text 32"/>
          <p:cNvSpPr txBox="1"/>
          <p:nvPr/>
        </p:nvSpPr>
        <p:spPr>
          <a:xfrm>
            <a:off x="4206240" y="246888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$47M, Jul 2025</a:t>
            </a:r>
            <a:endParaRPr lang="en-US" sz="660" dirty="0"/>
          </a:p>
        </p:txBody>
      </p:sp>
      <p:sp>
        <p:nvSpPr>
          <p:cNvPr id="35" name="Text 33"/>
          <p:cNvSpPr txBox="1"/>
          <p:nvPr/>
        </p:nvSpPr>
        <p:spPr>
          <a:xfrm>
            <a:off x="6355080" y="246888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16 mo</a:t>
            </a:r>
            <a:endParaRPr lang="en-US" sz="660" dirty="0"/>
          </a:p>
        </p:txBody>
      </p:sp>
      <p:sp>
        <p:nvSpPr>
          <p:cNvPr id="36" name="Text 34"/>
          <p:cNvSpPr txBox="1"/>
          <p:nvPr/>
        </p:nvSpPr>
        <p:spPr>
          <a:xfrm>
            <a:off x="7040880" y="246888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DoD contracts; a field-deployable additive cell</a:t>
            </a:r>
            <a:endParaRPr lang="en-US" sz="660" dirty="0"/>
          </a:p>
        </p:txBody>
      </p:sp>
      <p:sp>
        <p:nvSpPr>
          <p:cNvPr id="37" name="Shape 35"/>
          <p:cNvSpPr/>
          <p:nvPr/>
        </p:nvSpPr>
        <p:spPr>
          <a:xfrm>
            <a:off x="621792" y="2724912"/>
            <a:ext cx="10927080" cy="0"/>
          </a:xfrm>
          <a:prstGeom prst="line">
            <a:avLst/>
          </a:prstGeom>
          <a:noFill/>
          <a:ln w="9525">
            <a:solidFill>
              <a:srgbClr val="23405C"/>
            </a:solidFill>
            <a:prstDash val="solid"/>
          </a:ln>
        </p:spPr>
      </p:sp>
      <p:sp>
        <p:nvSpPr>
          <p:cNvPr id="38" name="Text 36"/>
          <p:cNvSpPr txBox="1"/>
          <p:nvPr/>
        </p:nvSpPr>
        <p:spPr>
          <a:xfrm>
            <a:off x="640080" y="274320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Machina Labs</a:t>
            </a:r>
            <a:endParaRPr lang="en-US" sz="660" dirty="0"/>
          </a:p>
        </p:txBody>
      </p:sp>
      <p:sp>
        <p:nvSpPr>
          <p:cNvPr id="39" name="Text 37"/>
          <p:cNvSpPr txBox="1"/>
          <p:nvPr/>
        </p:nvSpPr>
        <p:spPr>
          <a:xfrm>
            <a:off x="2057400" y="274320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$14M, Nov 2021</a:t>
            </a:r>
            <a:endParaRPr lang="en-US" sz="660" dirty="0"/>
          </a:p>
        </p:txBody>
      </p:sp>
      <p:sp>
        <p:nvSpPr>
          <p:cNvPr id="40" name="Text 38"/>
          <p:cNvSpPr txBox="1"/>
          <p:nvPr/>
        </p:nvSpPr>
        <p:spPr>
          <a:xfrm>
            <a:off x="4206240" y="274320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B $32M, Oct 2023</a:t>
            </a:r>
            <a:endParaRPr lang="en-US" sz="660" dirty="0"/>
          </a:p>
        </p:txBody>
      </p:sp>
      <p:sp>
        <p:nvSpPr>
          <p:cNvPr id="41" name="Text 39"/>
          <p:cNvSpPr txBox="1"/>
          <p:nvPr/>
        </p:nvSpPr>
        <p:spPr>
          <a:xfrm>
            <a:off x="6355080" y="274320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23 mo</a:t>
            </a:r>
            <a:endParaRPr lang="en-US" sz="660" dirty="0"/>
          </a:p>
        </p:txBody>
      </p:sp>
      <p:sp>
        <p:nvSpPr>
          <p:cNvPr id="42" name="Text 40"/>
          <p:cNvSpPr txBox="1"/>
          <p:nvPr/>
        </p:nvSpPr>
        <p:spPr>
          <a:xfrm>
            <a:off x="7040880" y="274320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Robotic forming demonstrated; NASA, Air Force, DOE pilots</a:t>
            </a:r>
            <a:endParaRPr lang="en-US" sz="660" dirty="0"/>
          </a:p>
        </p:txBody>
      </p:sp>
      <p:sp>
        <p:nvSpPr>
          <p:cNvPr id="43" name="Shape 41"/>
          <p:cNvSpPr/>
          <p:nvPr/>
        </p:nvSpPr>
        <p:spPr>
          <a:xfrm>
            <a:off x="621792" y="2999232"/>
            <a:ext cx="10927080" cy="0"/>
          </a:xfrm>
          <a:prstGeom prst="line">
            <a:avLst/>
          </a:prstGeom>
          <a:noFill/>
          <a:ln w="9525">
            <a:solidFill>
              <a:srgbClr val="23405C"/>
            </a:solidFill>
            <a:prstDash val="solid"/>
          </a:ln>
        </p:spPr>
      </p:sp>
      <p:sp>
        <p:nvSpPr>
          <p:cNvPr id="44" name="Text 42"/>
          <p:cNvSpPr txBox="1"/>
          <p:nvPr/>
        </p:nvSpPr>
        <p:spPr>
          <a:xfrm>
            <a:off x="640080" y="301752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GrayMatter</a:t>
            </a:r>
            <a:endParaRPr lang="en-US" sz="660" dirty="0"/>
          </a:p>
        </p:txBody>
      </p:sp>
      <p:sp>
        <p:nvSpPr>
          <p:cNvPr id="45" name="Text 43"/>
          <p:cNvSpPr txBox="1"/>
          <p:nvPr/>
        </p:nvSpPr>
        <p:spPr>
          <a:xfrm>
            <a:off x="2057400" y="301752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Seed $4.1M, Sep 2021</a:t>
            </a:r>
            <a:endParaRPr lang="en-US" sz="660" dirty="0"/>
          </a:p>
        </p:txBody>
      </p:sp>
      <p:sp>
        <p:nvSpPr>
          <p:cNvPr id="46" name="Text 44"/>
          <p:cNvSpPr txBox="1"/>
          <p:nvPr/>
        </p:nvSpPr>
        <p:spPr>
          <a:xfrm>
            <a:off x="4206240" y="301752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$20M, Aug 2022</a:t>
            </a:r>
            <a:endParaRPr lang="en-US" sz="660" dirty="0"/>
          </a:p>
        </p:txBody>
      </p:sp>
      <p:sp>
        <p:nvSpPr>
          <p:cNvPr id="47" name="Text 45"/>
          <p:cNvSpPr txBox="1"/>
          <p:nvPr/>
        </p:nvSpPr>
        <p:spPr>
          <a:xfrm>
            <a:off x="6355080" y="301752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11 mo</a:t>
            </a:r>
            <a:endParaRPr lang="en-US" sz="660" dirty="0"/>
          </a:p>
        </p:txBody>
      </p:sp>
      <p:sp>
        <p:nvSpPr>
          <p:cNvPr id="48" name="Text 46"/>
          <p:cNvSpPr txBox="1"/>
          <p:nvPr/>
        </p:nvSpPr>
        <p:spPr>
          <a:xfrm>
            <a:off x="7040880" y="301752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Paying-customer evidence and a 3M partnership at seed</a:t>
            </a:r>
            <a:endParaRPr lang="en-US" sz="660" dirty="0"/>
          </a:p>
        </p:txBody>
      </p:sp>
      <p:sp>
        <p:nvSpPr>
          <p:cNvPr id="49" name="Shape 47"/>
          <p:cNvSpPr/>
          <p:nvPr/>
        </p:nvSpPr>
        <p:spPr>
          <a:xfrm>
            <a:off x="621792" y="3273552"/>
            <a:ext cx="10927080" cy="0"/>
          </a:xfrm>
          <a:prstGeom prst="line">
            <a:avLst/>
          </a:prstGeom>
          <a:noFill/>
          <a:ln w="9525">
            <a:solidFill>
              <a:srgbClr val="23405C"/>
            </a:solidFill>
            <a:prstDash val="solid"/>
          </a:ln>
        </p:spPr>
      </p:sp>
      <p:sp>
        <p:nvSpPr>
          <p:cNvPr id="50" name="Text 48"/>
          <p:cNvSpPr txBox="1"/>
          <p:nvPr/>
        </p:nvSpPr>
        <p:spPr>
          <a:xfrm>
            <a:off x="640080" y="329184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Q5D</a:t>
            </a:r>
            <a:endParaRPr lang="en-US" sz="660" dirty="0"/>
          </a:p>
        </p:txBody>
      </p:sp>
      <p:sp>
        <p:nvSpPr>
          <p:cNvPr id="51" name="Text 49"/>
          <p:cNvSpPr txBox="1"/>
          <p:nvPr/>
        </p:nvSpPr>
        <p:spPr>
          <a:xfrm>
            <a:off x="2057400" y="329184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Seed $2.5M, Feb 2022</a:t>
            </a:r>
            <a:endParaRPr lang="en-US" sz="660" dirty="0"/>
          </a:p>
        </p:txBody>
      </p:sp>
      <p:sp>
        <p:nvSpPr>
          <p:cNvPr id="52" name="Text 50"/>
          <p:cNvSpPr txBox="1"/>
          <p:nvPr/>
        </p:nvSpPr>
        <p:spPr>
          <a:xfrm>
            <a:off x="4206240" y="329184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$13.5M, Jun 2025</a:t>
            </a:r>
            <a:endParaRPr lang="en-US" sz="660" dirty="0"/>
          </a:p>
        </p:txBody>
      </p:sp>
      <p:sp>
        <p:nvSpPr>
          <p:cNvPr id="53" name="Text 51"/>
          <p:cNvSpPr txBox="1"/>
          <p:nvPr/>
        </p:nvSpPr>
        <p:spPr>
          <a:xfrm>
            <a:off x="6355080" y="329184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40 mo</a:t>
            </a:r>
            <a:endParaRPr lang="en-US" sz="660" dirty="0"/>
          </a:p>
        </p:txBody>
      </p:sp>
      <p:sp>
        <p:nvSpPr>
          <p:cNvPr id="54" name="Text 52"/>
          <p:cNvSpPr txBox="1"/>
          <p:nvPr/>
        </p:nvSpPr>
        <p:spPr>
          <a:xfrm>
            <a:off x="7040880" y="329184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Assessment centre operating; tier-1 collaborations; Lockheed Martin Ventures lead</a:t>
            </a:r>
            <a:endParaRPr lang="en-US" sz="660" dirty="0"/>
          </a:p>
        </p:txBody>
      </p:sp>
      <p:sp>
        <p:nvSpPr>
          <p:cNvPr id="55" name="Shape 53"/>
          <p:cNvSpPr/>
          <p:nvPr/>
        </p:nvSpPr>
        <p:spPr>
          <a:xfrm>
            <a:off x="621792" y="3547872"/>
            <a:ext cx="10927080" cy="0"/>
          </a:xfrm>
          <a:prstGeom prst="line">
            <a:avLst/>
          </a:prstGeom>
          <a:noFill/>
          <a:ln w="9525">
            <a:solidFill>
              <a:srgbClr val="23405C"/>
            </a:solidFill>
            <a:prstDash val="solid"/>
          </a:ln>
        </p:spPr>
      </p:sp>
      <p:sp>
        <p:nvSpPr>
          <p:cNvPr id="56" name="Text 54"/>
          <p:cNvSpPr txBox="1"/>
          <p:nvPr/>
        </p:nvSpPr>
        <p:spPr>
          <a:xfrm>
            <a:off x="640080" y="356616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Senra</a:t>
            </a:r>
            <a:endParaRPr lang="en-US" sz="660" dirty="0"/>
          </a:p>
        </p:txBody>
      </p:sp>
      <p:sp>
        <p:nvSpPr>
          <p:cNvPr id="57" name="Text 55"/>
          <p:cNvSpPr txBox="1"/>
          <p:nvPr/>
        </p:nvSpPr>
        <p:spPr>
          <a:xfrm>
            <a:off x="2057400" y="356616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$25M, Jun 2025</a:t>
            </a:r>
            <a:endParaRPr lang="en-US" sz="660" dirty="0"/>
          </a:p>
        </p:txBody>
      </p:sp>
      <p:sp>
        <p:nvSpPr>
          <p:cNvPr id="58" name="Text 56"/>
          <p:cNvSpPr txBox="1"/>
          <p:nvPr/>
        </p:nvSpPr>
        <p:spPr>
          <a:xfrm>
            <a:off x="4206240" y="356616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B $65M, Jul 2026</a:t>
            </a:r>
            <a:endParaRPr lang="en-US" sz="660" dirty="0"/>
          </a:p>
        </p:txBody>
      </p:sp>
      <p:sp>
        <p:nvSpPr>
          <p:cNvPr id="59" name="Text 57"/>
          <p:cNvSpPr txBox="1"/>
          <p:nvPr/>
        </p:nvSpPr>
        <p:spPr>
          <a:xfrm>
            <a:off x="6355080" y="356616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~13 mo</a:t>
            </a:r>
            <a:endParaRPr lang="en-US" sz="660" dirty="0"/>
          </a:p>
        </p:txBody>
      </p:sp>
      <p:sp>
        <p:nvSpPr>
          <p:cNvPr id="60" name="Text 58"/>
          <p:cNvSpPr txBox="1"/>
          <p:nvPr/>
        </p:nvSpPr>
        <p:spPr>
          <a:xfrm>
            <a:off x="7040880" y="356616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Two factories; 1,000 harnesses a month</a:t>
            </a:r>
            <a:endParaRPr lang="en-US" sz="660" dirty="0"/>
          </a:p>
        </p:txBody>
      </p:sp>
      <p:sp>
        <p:nvSpPr>
          <p:cNvPr id="61" name="Shape 59"/>
          <p:cNvSpPr/>
          <p:nvPr/>
        </p:nvSpPr>
        <p:spPr>
          <a:xfrm>
            <a:off x="621792" y="3822192"/>
            <a:ext cx="10927080" cy="0"/>
          </a:xfrm>
          <a:prstGeom prst="line">
            <a:avLst/>
          </a:prstGeom>
          <a:noFill/>
          <a:ln w="9525">
            <a:solidFill>
              <a:srgbClr val="23405C"/>
            </a:solidFill>
            <a:prstDash val="solid"/>
          </a:ln>
        </p:spPr>
      </p:sp>
      <p:sp>
        <p:nvSpPr>
          <p:cNvPr id="62" name="Text 60"/>
          <p:cNvSpPr txBox="1"/>
          <p:nvPr/>
        </p:nvSpPr>
        <p:spPr>
          <a:xfrm>
            <a:off x="640080" y="384048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Anduril (secondary)</a:t>
            </a:r>
            <a:endParaRPr lang="en-US" sz="660" dirty="0"/>
          </a:p>
        </p:txBody>
      </p:sp>
      <p:sp>
        <p:nvSpPr>
          <p:cNvPr id="63" name="Text 61"/>
          <p:cNvSpPr txBox="1"/>
          <p:nvPr/>
        </p:nvSpPr>
        <p:spPr>
          <a:xfrm>
            <a:off x="2057400" y="384048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Seed $17.5M, Aug 2017</a:t>
            </a:r>
            <a:endParaRPr lang="en-US" sz="660" dirty="0"/>
          </a:p>
        </p:txBody>
      </p:sp>
      <p:sp>
        <p:nvSpPr>
          <p:cNvPr id="64" name="Text 62"/>
          <p:cNvSpPr txBox="1"/>
          <p:nvPr/>
        </p:nvSpPr>
        <p:spPr>
          <a:xfrm>
            <a:off x="4206240" y="384048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A $41M, Jun 2018</a:t>
            </a:r>
            <a:endParaRPr lang="en-US" sz="660" dirty="0"/>
          </a:p>
        </p:txBody>
      </p:sp>
      <p:sp>
        <p:nvSpPr>
          <p:cNvPr id="65" name="Text 63"/>
          <p:cNvSpPr txBox="1"/>
          <p:nvPr/>
        </p:nvSpPr>
        <p:spPr>
          <a:xfrm>
            <a:off x="6355080" y="384048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10 mo</a:t>
            </a:r>
            <a:endParaRPr lang="en-US" sz="660" dirty="0"/>
          </a:p>
        </p:txBody>
      </p:sp>
      <p:sp>
        <p:nvSpPr>
          <p:cNvPr id="66" name="Text 64"/>
          <p:cNvSpPr txBox="1"/>
          <p:nvPr/>
        </p:nvSpPr>
        <p:spPr>
          <a:xfrm>
            <a:off x="7040880" y="384048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Sentry towers piloted with CBP</a:t>
            </a:r>
            <a:endParaRPr lang="en-US" sz="660" dirty="0"/>
          </a:p>
        </p:txBody>
      </p:sp>
      <p:sp>
        <p:nvSpPr>
          <p:cNvPr id="67" name="Shape 65"/>
          <p:cNvSpPr/>
          <p:nvPr/>
        </p:nvSpPr>
        <p:spPr>
          <a:xfrm>
            <a:off x="621792" y="4096512"/>
            <a:ext cx="10927080" cy="0"/>
          </a:xfrm>
          <a:prstGeom prst="line">
            <a:avLst/>
          </a:prstGeom>
          <a:noFill/>
          <a:ln w="9525">
            <a:solidFill>
              <a:srgbClr val="23405C"/>
            </a:solidFill>
            <a:prstDash val="solid"/>
          </a:ln>
        </p:spPr>
      </p:sp>
      <p:sp>
        <p:nvSpPr>
          <p:cNvPr id="68" name="Text 66"/>
          <p:cNvSpPr txBox="1"/>
          <p:nvPr/>
        </p:nvSpPr>
        <p:spPr>
          <a:xfrm>
            <a:off x="640080" y="4114800"/>
            <a:ext cx="138074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ICEYE</a:t>
            </a:r>
            <a:endParaRPr lang="en-US" sz="660" dirty="0"/>
          </a:p>
        </p:txBody>
      </p:sp>
      <p:sp>
        <p:nvSpPr>
          <p:cNvPr id="69" name="Text 67"/>
          <p:cNvSpPr txBox="1"/>
          <p:nvPr/>
        </p:nvSpPr>
        <p:spPr>
          <a:xfrm>
            <a:off x="2057400" y="411480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Seed $13M, 2017</a:t>
            </a:r>
            <a:endParaRPr lang="en-US" sz="660" dirty="0"/>
          </a:p>
        </p:txBody>
      </p:sp>
      <p:sp>
        <p:nvSpPr>
          <p:cNvPr id="70" name="Text 68"/>
          <p:cNvSpPr txBox="1"/>
          <p:nvPr/>
        </p:nvSpPr>
        <p:spPr>
          <a:xfrm>
            <a:off x="4206240" y="4114800"/>
            <a:ext cx="211226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Series B $34M, May 2018</a:t>
            </a:r>
            <a:endParaRPr lang="en-US" sz="660" dirty="0"/>
          </a:p>
        </p:txBody>
      </p:sp>
      <p:sp>
        <p:nvSpPr>
          <p:cNvPr id="71" name="Text 69"/>
          <p:cNvSpPr txBox="1"/>
          <p:nvPr/>
        </p:nvSpPr>
        <p:spPr>
          <a:xfrm>
            <a:off x="6355080" y="4114800"/>
            <a:ext cx="64922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~12 mo</a:t>
            </a:r>
            <a:endParaRPr lang="en-US" sz="660" dirty="0"/>
          </a:p>
        </p:txBody>
      </p:sp>
      <p:sp>
        <p:nvSpPr>
          <p:cNvPr id="72" name="Text 70"/>
          <p:cNvSpPr txBox="1"/>
          <p:nvPr/>
        </p:nvSpPr>
        <p:spPr>
          <a:xfrm>
            <a:off x="7040880" y="4114800"/>
            <a:ext cx="4489704" cy="274320"/>
          </a:xfrm>
          <a:prstGeom prst="rect">
            <a:avLst/>
          </a:prstGeom>
          <a:noFill/>
          <a:ln/>
        </p:spPr>
        <p:txBody>
          <a:bodyPr wrap="square" lIns="0" tIns="0" rIns="0" bIns="0" rtlCol="0" anchor="t"/>
          <a:lstStyle/>
          <a:p>
            <a:pPr indent="0" marL="0">
              <a:lnSpc>
                <a:spcPct val="100000"/>
              </a:lnSpc>
              <a:buNone/>
            </a:pPr>
            <a:r>
              <a:rPr lang="en-US" sz="660" dirty="0">
                <a:solidFill>
                  <a:srgbClr val="A9BDD1"/>
                </a:solidFill>
                <a:latin typeface="Arial" pitchFamily="34" charset="0"/>
                <a:ea typeface="Arial" pitchFamily="34" charset="-122"/>
                <a:cs typeface="Arial" pitchFamily="34" charset="-120"/>
              </a:rPr>
              <a:t>A satellite in orbit, January 2018</a:t>
            </a:r>
            <a:endParaRPr lang="en-US" sz="660" dirty="0"/>
          </a:p>
        </p:txBody>
      </p:sp>
      <p:sp>
        <p:nvSpPr>
          <p:cNvPr id="73" name="Text 71"/>
          <p:cNvSpPr txBox="1"/>
          <p:nvPr/>
        </p:nvSpPr>
        <p:spPr>
          <a:xfrm>
            <a:off x="621792" y="4443984"/>
            <a:ext cx="10948111" cy="1700784"/>
          </a:xfrm>
          <a:prstGeom prst="rect">
            <a:avLst/>
          </a:prstGeom>
          <a:noFill/>
          <a:ln/>
        </p:spPr>
        <p:txBody>
          <a:bodyPr wrap="square" lIns="0" tIns="0" rIns="0" bIns="0" rtlCol="0" anchor="t"/>
          <a:lstStyle/>
          <a:p>
            <a:pPr algn="l" indent="0" marL="0">
              <a:lnSpc>
                <a:spcPct val="104000"/>
              </a:lnSpc>
              <a:spcAft>
                <a:spcPts val="200"/>
              </a:spcAft>
              <a:buNone/>
            </a:pPr>
            <a:r>
              <a:rPr lang="en-US" sz="660" b="1" spc="100" kern="0" dirty="0">
                <a:solidFill>
                  <a:srgbClr val="6FD3FF"/>
                </a:solidFill>
                <a:latin typeface="Arial" pitchFamily="34" charset="0"/>
                <a:ea typeface="Arial" pitchFamily="34" charset="-122"/>
                <a:cs typeface="Arial" pitchFamily="34" charset="-120"/>
              </a:rPr>
              <a:t>THREE FINDINGS, SCOPED TO THIS SET</a:t>
            </a:r>
            <a:endParaRPr lang="en-US" sz="660" dirty="0"/>
          </a:p>
          <a:p>
            <a:pPr algn="l" indent="0" marL="0">
              <a:lnSpc>
                <a:spcPct val="104000"/>
              </a:lnSpc>
              <a:spcAft>
                <a:spcPts val="400"/>
              </a:spcAft>
              <a:buNone/>
            </a:pPr>
            <a:r>
              <a:rPr lang="en-US" sz="640" dirty="0">
                <a:solidFill>
                  <a:srgbClr val="A9BDD1"/>
                </a:solidFill>
                <a:latin typeface="Arial" pitchFamily="34" charset="0"/>
                <a:ea typeface="Arial" pitchFamily="34" charset="-122"/>
                <a:cs typeface="Arial" pitchFamily="34" charset="-120"/>
              </a:rPr>
              <a:t>Nine of ten raised $20M or more only with physical hardware demonstrated (Hadrian is an unresolved possible exception); the shortest interval from first institutional round to $20M+ is eight months, and from founding to $100M+ about twenty-two months, both with hardware operating and government contracts in hand; in every case the evidence present at the larger round was physical or contractual rather than architectural. Ten self-selected companies, no counterfactual, no causal claim.</a:t>
            </a:r>
            <a:endParaRPr lang="en-US" sz="660" dirty="0"/>
          </a:p>
          <a:p>
            <a:pPr algn="l" indent="0" marL="0">
              <a:lnSpc>
                <a:spcPct val="104000"/>
              </a:lnSpc>
              <a:spcAft>
                <a:spcPts val="200"/>
              </a:spcAft>
              <a:buNone/>
            </a:pPr>
            <a:r>
              <a:rPr lang="en-US" sz="660" b="1" spc="100" kern="0" dirty="0">
                <a:solidFill>
                  <a:srgbClr val="6FD3FF"/>
                </a:solidFill>
                <a:latin typeface="Arial" pitchFamily="34" charset="0"/>
                <a:ea typeface="Arial" pitchFamily="34" charset="-122"/>
                <a:cs typeface="Arial" pitchFamily="34" charset="-120"/>
              </a:rPr>
              <a:t>EVIDENCE STATES</a:t>
            </a:r>
            <a:endParaRPr lang="en-US" sz="660" dirty="0"/>
          </a:p>
          <a:p>
            <a:pPr algn="l" indent="0" marL="0">
              <a:lnSpc>
                <a:spcPct val="104000"/>
              </a:lnSpc>
              <a:spcAft>
                <a:spcPts val="400"/>
              </a:spcAft>
              <a:buNone/>
            </a:pPr>
            <a:r>
              <a:rPr lang="en-US" sz="640" dirty="0">
                <a:solidFill>
                  <a:srgbClr val="A9BDD1"/>
                </a:solidFill>
                <a:latin typeface="Arial" pitchFamily="34" charset="0"/>
                <a:ea typeface="Arial" pitchFamily="34" charset="-122"/>
                <a:cs typeface="Arial" pitchFamily="34" charset="-120"/>
              </a:rPr>
              <a:t>E0 architecture (now) · E1 first falsification, Gate 1 on confidence bounds, thirty interviews (M5–6) · E2 measured system, Gate 2 complete (M9) · E3 demonstrated class, Gate 3 passed and one bounded engagement completed with a practitioner review (M13–14) · E4 platform proven, second class, Ppk demonstrated, two to three paying customers · E5 operated production under own AS9100 · E6 owned network.</a:t>
            </a:r>
            <a:endParaRPr lang="en-US" sz="660" dirty="0"/>
          </a:p>
          <a:p>
            <a:pPr algn="l" indent="0" marL="0">
              <a:lnSpc>
                <a:spcPct val="104000"/>
              </a:lnSpc>
              <a:spcAft>
                <a:spcPts val="200"/>
              </a:spcAft>
              <a:buNone/>
            </a:pPr>
            <a:r>
              <a:rPr lang="en-US" sz="660" b="1" spc="100" kern="0" dirty="0">
                <a:solidFill>
                  <a:srgbClr val="6FD3FF"/>
                </a:solidFill>
                <a:latin typeface="Arial" pitchFamily="34" charset="0"/>
                <a:ea typeface="Arial" pitchFamily="34" charset="-122"/>
                <a:cs typeface="Arial" pitchFamily="34" charset="-120"/>
              </a:rPr>
              <a:t>WHAT CAPITAL BUYS AT EACH LEVEL — EVIDENCE THRESHOLD FIRST</a:t>
            </a:r>
            <a:endParaRPr lang="en-US" sz="660" dirty="0"/>
          </a:p>
          <a:p>
            <a:pPr algn="l" indent="0" marL="0">
              <a:lnSpc>
                <a:spcPct val="104000"/>
              </a:lnSpc>
              <a:buNone/>
            </a:pPr>
            <a:r>
              <a:rPr lang="en-US" sz="620" dirty="0">
                <a:solidFill>
                  <a:srgbClr val="72879D"/>
                </a:solidFill>
                <a:latin typeface="Arial" pitchFamily="34" charset="0"/>
                <a:ea typeface="Arial" pitchFamily="34" charset="-122"/>
                <a:cs typeface="Arial" pitchFamily="34" charset="-120"/>
              </a:rPr>
              <a:t>~$4M at E0 buys the first six people, three gates, one engagement and the reserve · ~$10M becomes rational at E2–E3 and buys a second class in parallel, owned metrology, a dedicated validation facility · ~$25M at E3 with E4 in reach buys a first pilot cell and own AS9100 begun · ~$50M at E4 buys Syntrex-operated production · ~$100M at E4→E5 begins a production network with facility debt alongside equity · ~$250M at E5→E6 buys an owned network and first proprietary subassemblies · $500M+ at E6 buys integrated systems capability. Capital deployed before its threshold does not accelerate the threshold; it funds a larger organisation to wait.</a:t>
            </a:r>
            <a:endParaRPr lang="en-US" sz="660" dirty="0"/>
          </a:p>
        </p:txBody>
      </p:sp>
      <p:sp>
        <p:nvSpPr>
          <p:cNvPr id="74" name="Text 72"/>
          <p:cNvSpPr txBox="1"/>
          <p:nvPr/>
        </p:nvSpPr>
        <p:spPr>
          <a:xfrm>
            <a:off x="621792" y="6199632"/>
            <a:ext cx="10948111" cy="292608"/>
          </a:xfrm>
          <a:prstGeom prst="rect">
            <a:avLst/>
          </a:prstGeom>
          <a:noFill/>
          <a:ln/>
        </p:spPr>
        <p:txBody>
          <a:bodyPr wrap="square" lIns="0" tIns="0" rIns="0" bIns="0" rtlCol="0" anchor="ctr"/>
          <a:lstStyle/>
          <a:p>
            <a:pPr indent="0" marL="0">
              <a:lnSpc>
                <a:spcPct val="105000"/>
              </a:lnSpc>
              <a:buNone/>
            </a:pPr>
            <a:r>
              <a:rPr lang="en-US" sz="640" i="1" dirty="0">
                <a:solidFill>
                  <a:srgbClr val="6FD3FF"/>
                </a:solidFill>
                <a:latin typeface="Arial" pitchFamily="34" charset="0"/>
                <a:ea typeface="Arial" pitchFamily="34" charset="-122"/>
                <a:cs typeface="Arial" pitchFamily="34" charset="-120"/>
              </a:rPr>
              <a:t>What is stated deliberately: the E3 round has no defensible valuation anchor today and none is invented. The point is not 'we will raise $X next.' It is that the next financing state is earned by physical and commercial evidence, and the company is designed to move quickly enough that materially larger capital can become rational.</a:t>
            </a:r>
            <a:endParaRPr lang="en-US" sz="6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A-9   ·   09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A-9 · CUSTOMER ENTRY AND THE FIRST 90 DAYS</a:t>
            </a:r>
            <a:endParaRPr lang="en-US" sz="1000" dirty="0"/>
          </a:p>
        </p:txBody>
      </p:sp>
      <p:sp>
        <p:nvSpPr>
          <p:cNvPr id="5" name="Text 3"/>
          <p:cNvSpPr txBox="1"/>
          <p:nvPr/>
        </p:nvSpPr>
        <p:spPr>
          <a:xfrm>
            <a:off x="621792" y="786384"/>
            <a:ext cx="10948111" cy="420624"/>
          </a:xfrm>
          <a:prstGeom prst="rect">
            <a:avLst/>
          </a:prstGeom>
          <a:noFill/>
          <a:ln/>
        </p:spPr>
        <p:txBody>
          <a:bodyPr wrap="square" lIns="0" tIns="0" rIns="0" bIns="0" rtlCol="0" anchor="t"/>
          <a:lstStyle/>
          <a:p>
            <a:pPr indent="0" marL="0">
              <a:lnSpc>
                <a:spcPct val="102000"/>
              </a:lnSpc>
              <a:buNone/>
            </a:pPr>
            <a:r>
              <a:rPr lang="en-US" sz="2000" b="1" dirty="0">
                <a:solidFill>
                  <a:srgbClr val="EAF2FA"/>
                </a:solidFill>
                <a:latin typeface="Arial" pitchFamily="34" charset="0"/>
                <a:ea typeface="Arial" pitchFamily="34" charset="-122"/>
                <a:cs typeface="Arial" pitchFamily="34" charset="-120"/>
              </a:rPr>
              <a:t>Zero completed customer interviews as at 9 September 2026.</a:t>
            </a:r>
            <a:endParaRPr lang="en-US" sz="2000" dirty="0"/>
          </a:p>
        </p:txBody>
      </p:sp>
      <p:sp>
        <p:nvSpPr>
          <p:cNvPr id="6" name="Text 4"/>
          <p:cNvSpPr txBox="1"/>
          <p:nvPr/>
        </p:nvSpPr>
        <p:spPr>
          <a:xfrm>
            <a:off x="621792" y="1207008"/>
            <a:ext cx="10948111" cy="219456"/>
          </a:xfrm>
          <a:prstGeom prst="rect">
            <a:avLst/>
          </a:prstGeom>
          <a:noFill/>
          <a:ln/>
        </p:spPr>
        <p:txBody>
          <a:bodyPr wrap="square" lIns="0" tIns="0" rIns="0" bIns="0" rtlCol="0" anchor="ctr"/>
          <a:lstStyle/>
          <a:p>
            <a:pPr indent="0" marL="0">
              <a:buNone/>
            </a:pPr>
            <a:r>
              <a:rPr lang="en-US" sz="950" i="1" dirty="0">
                <a:solidFill>
                  <a:srgbClr val="72879D"/>
                </a:solidFill>
                <a:latin typeface="Arial" pitchFamily="34" charset="0"/>
                <a:ea typeface="Arial" pitchFamily="34" charset="-122"/>
                <a:cs typeface="Arial" pitchFamily="34" charset="-120"/>
              </a:rPr>
              <a:t>No engagement, no pilot, no letter of intent, no pipeline, no pricing.</a:t>
            </a:r>
            <a:endParaRPr lang="en-US" sz="950" dirty="0"/>
          </a:p>
        </p:txBody>
      </p:sp>
      <p:sp>
        <p:nvSpPr>
          <p:cNvPr id="7" name="Text 5"/>
          <p:cNvSpPr txBox="1"/>
          <p:nvPr/>
        </p:nvSpPr>
        <p:spPr>
          <a:xfrm>
            <a:off x="621792" y="1554480"/>
            <a:ext cx="6035040" cy="3383280"/>
          </a:xfrm>
          <a:prstGeom prst="rect">
            <a:avLst/>
          </a:prstGeom>
          <a:noFill/>
          <a:ln/>
        </p:spPr>
        <p:txBody>
          <a:bodyPr wrap="square" lIns="0" tIns="0" rIns="0" bIns="0" rtlCol="0" anchor="t"/>
          <a:lstStyle/>
          <a:p>
            <a:pPr algn="l" indent="0" marL="0">
              <a:lnSpc>
                <a:spcPct val="112000"/>
              </a:lnSpc>
              <a:spcAft>
                <a:spcPts val="300"/>
              </a:spcAft>
              <a:buNone/>
            </a:pPr>
            <a:r>
              <a:rPr lang="en-US" sz="760" b="1" spc="120" kern="0" dirty="0">
                <a:solidFill>
                  <a:srgbClr val="6FD3FF"/>
                </a:solidFill>
                <a:latin typeface="Arial" pitchFamily="34" charset="0"/>
                <a:ea typeface="Arial" pitchFamily="34" charset="-122"/>
                <a:cs typeface="Arial" pitchFamily="34" charset="-120"/>
              </a:rPr>
              <a:t>IDEAL CUSTOMER PROFILE — HYPOTHESIS, SHARPENED BY THE WEDGE RANKING</a:t>
            </a:r>
            <a:endParaRPr lang="en-US" sz="760" dirty="0"/>
          </a:p>
          <a:p>
            <a:pPr algn="l" indent="0" marL="0">
              <a:lnSpc>
                <a:spcPct val="112000"/>
              </a:lnSpc>
              <a:spcAft>
                <a:spcPts val="600"/>
              </a:spcAft>
              <a:buNone/>
            </a:pPr>
            <a:r>
              <a:rPr lang="en-US" sz="740" dirty="0">
                <a:solidFill>
                  <a:srgbClr val="A9BDD1"/>
                </a:solidFill>
                <a:latin typeface="Arial" pitchFamily="34" charset="0"/>
                <a:ea typeface="Arial" pitchFamily="34" charset="-122"/>
                <a:cs typeface="Arial" pitchFamily="34" charset="-120"/>
              </a:rPr>
              <a:t>Tier 2 or Tier 3 aerospace and defense supplier, 50–500 employees; first segment high-mix CNC machine shops with aerospace work; second, harness and electrical integrators; third, structural assembly. A mixed machine base with MTConnect-capable controllers; frequent new part numbers; a quality organisation running AS9102 FAI in-house. Buyer: owner or GM at the smaller end, VP Operations at the larger. Champions: the manufacturing engineering lead who owns CAM/setup/fixturing/introduction; the production manager who owns floor time. Gates: the quality manager who owns change control and QMS entry; purchasing under flow-down clauses; whoever owns the OT network, CMMC posture and remote-access policy.</a:t>
            </a:r>
            <a:endParaRPr lang="en-US" sz="760" dirty="0"/>
          </a:p>
          <a:p>
            <a:pPr algn="l" indent="0" marL="0">
              <a:lnSpc>
                <a:spcPct val="112000"/>
              </a:lnSpc>
              <a:spcAft>
                <a:spcPts val="300"/>
              </a:spcAft>
              <a:buNone/>
            </a:pPr>
            <a:r>
              <a:rPr lang="en-US" sz="760" b="1" spc="120" kern="0" dirty="0">
                <a:solidFill>
                  <a:srgbClr val="6FD3FF"/>
                </a:solidFill>
                <a:latin typeface="Arial" pitchFamily="34" charset="0"/>
                <a:ea typeface="Arial" pitchFamily="34" charset="-122"/>
                <a:cs typeface="Arial" pitchFamily="34" charset="-120"/>
              </a:rPr>
              <a:t>WHAT THE CAMPAIGN MUST LEARN</a:t>
            </a:r>
            <a:endParaRPr lang="en-US" sz="760" dirty="0"/>
          </a:p>
          <a:p>
            <a:pPr algn="l" indent="0" marL="0">
              <a:lnSpc>
                <a:spcPct val="112000"/>
              </a:lnSpc>
              <a:buNone/>
            </a:pPr>
            <a:r>
              <a:rPr lang="en-US" sz="740" dirty="0">
                <a:solidFill>
                  <a:srgbClr val="A9BDD1"/>
                </a:solidFill>
                <a:latin typeface="Arial" pitchFamily="34" charset="0"/>
                <a:ea typeface="Arial" pitchFamily="34" charset="-122"/>
                <a:cs typeface="Arial" pitchFamily="34" charset="-120"/>
              </a:rPr>
              <a:t>Where the introduction burden lands — planning or debug — because it can invert the thesis. Engineering hours per part number, order of magnitude — the number the economics were withdrawn over. What a process or tool change triggers at their quality organisation. Whether read-only third-party evidence enters their QMS without change control. Who owns machine data under their prime contracts — 'I don't know' is itself the finding. The approval path and threshold for a purchase of this size.</a:t>
            </a:r>
            <a:endParaRPr lang="en-US" sz="760" dirty="0"/>
          </a:p>
        </p:txBody>
      </p:sp>
      <p:sp>
        <p:nvSpPr>
          <p:cNvPr id="8" name="Shape 6"/>
          <p:cNvSpPr/>
          <p:nvPr/>
        </p:nvSpPr>
        <p:spPr>
          <a:xfrm>
            <a:off x="6995160" y="1554480"/>
            <a:ext cx="4572000" cy="3383280"/>
          </a:xfrm>
          <a:prstGeom prst="roundRect">
            <a:avLst>
              <a:gd name="adj" fmla="val 2432"/>
            </a:avLst>
          </a:prstGeom>
          <a:solidFill>
            <a:srgbClr val="0F1E31">
              <a:alpha val="68000"/>
            </a:srgbClr>
          </a:solidFill>
          <a:ln w="9525">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9" name="Text 7"/>
          <p:cNvSpPr txBox="1"/>
          <p:nvPr/>
        </p:nvSpPr>
        <p:spPr>
          <a:xfrm>
            <a:off x="7223760" y="1700784"/>
            <a:ext cx="4114800" cy="3108960"/>
          </a:xfrm>
          <a:prstGeom prst="rect">
            <a:avLst/>
          </a:prstGeom>
          <a:noFill/>
          <a:ln/>
        </p:spPr>
        <p:txBody>
          <a:bodyPr wrap="square" lIns="0" tIns="0" rIns="0" bIns="0" rtlCol="0" anchor="t"/>
          <a:lstStyle/>
          <a:p>
            <a:pPr algn="l" indent="0" marL="0">
              <a:lnSpc>
                <a:spcPct val="110000"/>
              </a:lnSpc>
              <a:spcAft>
                <a:spcPts val="300"/>
              </a:spcAft>
              <a:buNone/>
            </a:pPr>
            <a:r>
              <a:rPr lang="en-US" sz="760" b="1" spc="140" kern="0" dirty="0">
                <a:solidFill>
                  <a:srgbClr val="6FD3FF"/>
                </a:solidFill>
                <a:latin typeface="Arial" pitchFamily="34" charset="0"/>
                <a:ea typeface="Arial" pitchFamily="34" charset="-122"/>
                <a:cs typeface="Arial" pitchFamily="34" charset="-120"/>
              </a:rPr>
              <a:t>THE CAMPAIGN</a:t>
            </a:r>
            <a:endParaRPr lang="en-US" sz="760" dirty="0"/>
          </a:p>
          <a:p>
            <a:pPr algn="l" indent="0" marL="0">
              <a:lnSpc>
                <a:spcPct val="110000"/>
              </a:lnSpc>
              <a:spcAft>
                <a:spcPts val="500"/>
              </a:spcAft>
              <a:buNone/>
            </a:pPr>
            <a:r>
              <a:rPr lang="en-US" sz="710" dirty="0">
                <a:solidFill>
                  <a:srgbClr val="A9BDD1"/>
                </a:solidFill>
                <a:latin typeface="Arial" pitchFamily="34" charset="0"/>
                <a:ea typeface="Arial" pitchFamily="34" charset="-122"/>
                <a:cs typeface="Arial" pitchFamily="34" charset="-120"/>
              </a:rPr>
              <a:t>Days 0–30: ten interviews (≥6 machine shops, 2 harness houses, 2 structural) at IMTS 14–19 Sep, the NTMA luncheon 16 Sep, the AIA supply-chain summit 23–24 Sep, and through Florida directories; two quality-authority conversations arranged.</a:t>
            </a:r>
            <a:endParaRPr lang="en-US" sz="760" dirty="0"/>
          </a:p>
          <a:p>
            <a:pPr algn="l" indent="0" marL="0">
              <a:lnSpc>
                <a:spcPct val="110000"/>
              </a:lnSpc>
              <a:spcAft>
                <a:spcPts val="500"/>
              </a:spcAft>
              <a:buNone/>
            </a:pPr>
            <a:r>
              <a:rPr lang="en-US" sz="710" dirty="0">
                <a:solidFill>
                  <a:srgbClr val="A9BDD1"/>
                </a:solidFill>
                <a:latin typeface="Arial" pitchFamily="34" charset="0"/>
                <a:ea typeface="Arial" pitchFamily="34" charset="-122"/>
                <a:cs typeface="Arial" pitchFamily="34" charset="-120"/>
              </a:rPr>
              <a:t>Days 31–60: ten more, weighted to the leading segment; site visits to four shops; the data-rights question asked of every interviewee; one candidate host identified.</a:t>
            </a:r>
            <a:endParaRPr lang="en-US" sz="760" dirty="0"/>
          </a:p>
          <a:p>
            <a:pPr algn="l" indent="0" marL="0">
              <a:lnSpc>
                <a:spcPct val="110000"/>
              </a:lnSpc>
              <a:spcAft>
                <a:spcPts val="500"/>
              </a:spcAft>
              <a:buNone/>
            </a:pPr>
            <a:r>
              <a:rPr lang="en-US" sz="710" dirty="0">
                <a:solidFill>
                  <a:srgbClr val="A9BDD1"/>
                </a:solidFill>
                <a:latin typeface="Arial" pitchFamily="34" charset="0"/>
                <a:ea typeface="Arial" pitchFamily="34" charset="-122"/>
                <a:cs typeface="Arial" pitchFamily="34" charset="-120"/>
              </a:rPr>
              <a:t>Days 61–90: validation plus the last ten (thirty by day 90–120); a bounded-engagement scope drafted with the candidate host — read-only, their deliverable, data rights and security agreed in writing; the commercial-class decision recorded.</a:t>
            </a:r>
            <a:endParaRPr lang="en-US" sz="760" dirty="0"/>
          </a:p>
          <a:p>
            <a:pPr algn="l" indent="0" marL="0">
              <a:lnSpc>
                <a:spcPct val="110000"/>
              </a:lnSpc>
              <a:buNone/>
            </a:pPr>
            <a:r>
              <a:rPr lang="en-US" sz="710" i="1" dirty="0">
                <a:solidFill>
                  <a:srgbClr val="EAF2FA"/>
                </a:solidFill>
                <a:latin typeface="Arial" pitchFamily="34" charset="0"/>
                <a:ea typeface="Arial" pitchFamily="34" charset="-122"/>
                <a:cs typeface="Arial" pitchFamily="34" charset="-120"/>
              </a:rPr>
              <a:t>Stopping rule: saturation on the planning-vs-debug and change-control questions, not a count. If the answers are split after thirty, that is the finding.</a:t>
            </a:r>
            <a:endParaRPr lang="en-US" sz="760" dirty="0"/>
          </a:p>
        </p:txBody>
      </p:sp>
      <p:sp>
        <p:nvSpPr>
          <p:cNvPr id="10" name="Text 8"/>
          <p:cNvSpPr txBox="1"/>
          <p:nvPr/>
        </p:nvSpPr>
        <p:spPr>
          <a:xfrm>
            <a:off x="621792" y="5120640"/>
            <a:ext cx="10948111" cy="1005840"/>
          </a:xfrm>
          <a:prstGeom prst="rect">
            <a:avLst/>
          </a:prstGeom>
          <a:noFill/>
          <a:ln/>
        </p:spPr>
        <p:txBody>
          <a:bodyPr wrap="square" lIns="0" tIns="0" rIns="0" bIns="0" rtlCol="0" anchor="t"/>
          <a:lstStyle/>
          <a:p>
            <a:pPr algn="l" indent="0" marL="0">
              <a:lnSpc>
                <a:spcPct val="112000"/>
              </a:lnSpc>
              <a:spcAft>
                <a:spcPts val="500"/>
              </a:spcAft>
              <a:buNone/>
            </a:pPr>
            <a:r>
              <a:rPr lang="en-US" sz="730" dirty="0">
                <a:solidFill>
                  <a:srgbClr val="A9BDD1"/>
                </a:solidFill>
                <a:latin typeface="Arial" pitchFamily="34" charset="0"/>
                <a:ea typeface="Arial" pitchFamily="34" charset="-122"/>
                <a:cs typeface="Arial" pitchFamily="34" charset="-120"/>
              </a:rPr>
              <a:t>THE INTENDED FIRST ENGAGEMENT — hypothesis, not a pipeline. A bounded validation engagement beginning read-only beside an existing process, measuring introduction burden and process performance on the customer's actual configurations, with quality scope, data rights, security requirements and integration authority agreed in writing before anything is deployed. The customer keeps their process, equipment and operators unchanged; the deliverable is measurement, in their format, and it is theirs. In a defense environment, security, data-rights and IT/OT review precede technical evaluation and set the calendar.</a:t>
            </a:r>
            <a:endParaRPr lang="en-US" sz="730" dirty="0"/>
          </a:p>
          <a:p>
            <a:pPr algn="l" indent="0" marL="0">
              <a:lnSpc>
                <a:spcPct val="112000"/>
              </a:lnSpc>
              <a:buNone/>
            </a:pPr>
            <a:r>
              <a:rPr lang="en-US" sz="730" i="1" dirty="0">
                <a:solidFill>
                  <a:srgbClr val="72879D"/>
                </a:solidFill>
                <a:latin typeface="Arial" pitchFamily="34" charset="0"/>
                <a:ea typeface="Arial" pitchFamily="34" charset="-122"/>
                <a:cs typeface="Arial" pitchFamily="34" charset="-120"/>
              </a:rPr>
              <a:t>WHAT IS NEVER SAID IN THESE CONVERSATIONS — no validation, no pipeline, no advisor names, no employer names, no savings figure, no implication that the architecture would make their operation faster. Practitioner input is not customer validation.</a:t>
            </a:r>
            <a:endParaRPr lang="en-US" sz="730" dirty="0"/>
          </a:p>
        </p:txBody>
      </p:sp>
      <p:sp>
        <p:nvSpPr>
          <p:cNvPr id="11" name="Text 9"/>
          <p:cNvSpPr txBox="1"/>
          <p:nvPr/>
        </p:nvSpPr>
        <p:spPr>
          <a:xfrm>
            <a:off x="621792" y="6272784"/>
            <a:ext cx="10948111" cy="457200"/>
          </a:xfrm>
          <a:prstGeom prst="rect">
            <a:avLst/>
          </a:prstGeom>
          <a:noFill/>
          <a:ln/>
        </p:spPr>
        <p:txBody>
          <a:bodyPr wrap="square" lIns="0" tIns="0" rIns="0" bIns="0" rtlCol="0" anchor="ctr"/>
          <a:lstStyle/>
          <a:p>
            <a:pPr indent="0" marL="0">
              <a:lnSpc>
                <a:spcPct val="110000"/>
              </a:lnSpc>
              <a:buNone/>
            </a:pPr>
            <a:r>
              <a:rPr lang="en-US" sz="660" dirty="0">
                <a:solidFill>
                  <a:srgbClr val="51667C"/>
                </a:solidFill>
                <a:latin typeface="Arial" pitchFamily="34" charset="0"/>
                <a:ea typeface="Arial" pitchFamily="34" charset="-122"/>
                <a:cs typeface="Arial" pitchFamily="34" charset="-120"/>
              </a:rPr>
              <a:t>Supporting external evidence (strengthens, does not validate): Roland Berger with ADS, BDLI, GIFAS, June 2026 — ~55% of aerospace supply-chain companies facing disruption, nearly 40% reporting a lack of production capacity, one third short of money; Tier 2/3 perceive more severe disruption than OEMs and Tier 1. All-respondent figures, not disaggregated by tier.</a:t>
            </a:r>
            <a:endParaRPr lang="en-US" sz="6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APPENDIX · A-10   ·   10 / 10</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APPENDIX A-10 · USE OF FUNDS — THE ~$4.0M BUDGET AND ITS BASIS</a:t>
            </a:r>
            <a:endParaRPr lang="en-US" sz="1000" dirty="0"/>
          </a:p>
        </p:txBody>
      </p:sp>
      <p:sp>
        <p:nvSpPr>
          <p:cNvPr id="5" name="Text 3"/>
          <p:cNvSpPr txBox="1"/>
          <p:nvPr/>
        </p:nvSpPr>
        <p:spPr>
          <a:xfrm>
            <a:off x="621792" y="786384"/>
            <a:ext cx="10948111" cy="420624"/>
          </a:xfrm>
          <a:prstGeom prst="rect">
            <a:avLst/>
          </a:prstGeom>
          <a:noFill/>
          <a:ln/>
        </p:spPr>
        <p:txBody>
          <a:bodyPr wrap="square" lIns="0" tIns="0" rIns="0" bIns="0" rtlCol="0" anchor="t"/>
          <a:lstStyle/>
          <a:p>
            <a:pPr indent="0" marL="0">
              <a:lnSpc>
                <a:spcPct val="102000"/>
              </a:lnSpc>
              <a:buNone/>
            </a:pPr>
            <a:r>
              <a:rPr lang="en-US" sz="2000" b="1" dirty="0">
                <a:solidFill>
                  <a:srgbClr val="EAF2FA"/>
                </a:solidFill>
                <a:latin typeface="Arial" pitchFamily="34" charset="0"/>
                <a:ea typeface="Arial" pitchFamily="34" charset="-122"/>
                <a:cs typeface="Arial" pitchFamily="34" charset="-120"/>
              </a:rPr>
              <a:t>So that 'why exactly $999K?' has a line-item answer.</a:t>
            </a:r>
            <a:endParaRPr lang="en-US" sz="2000" dirty="0"/>
          </a:p>
        </p:txBody>
      </p:sp>
      <p:sp>
        <p:nvSpPr>
          <p:cNvPr id="6" name="Text 4"/>
          <p:cNvSpPr txBox="1"/>
          <p:nvPr/>
        </p:nvSpPr>
        <p:spPr>
          <a:xfrm>
            <a:off x="621792" y="1188720"/>
            <a:ext cx="10948111" cy="420624"/>
          </a:xfrm>
          <a:prstGeom prst="rect">
            <a:avLst/>
          </a:prstGeom>
          <a:noFill/>
          <a:ln/>
        </p:spPr>
        <p:txBody>
          <a:bodyPr wrap="square" lIns="0" tIns="0" rIns="0" bIns="0" rtlCol="0" anchor="ctr"/>
          <a:lstStyle/>
          <a:p>
            <a:pPr indent="0" marL="0">
              <a:lnSpc>
                <a:spcPct val="114000"/>
              </a:lnSpc>
              <a:buNone/>
            </a:pPr>
            <a:r>
              <a:rPr lang="en-US" sz="740" dirty="0">
                <a:solidFill>
                  <a:srgbClr val="A9BDD1"/>
                </a:solidFill>
                <a:latin typeface="Arial" pitchFamily="34" charset="0"/>
                <a:ea typeface="Arial" pitchFamily="34" charset="-122"/>
                <a:cs typeface="Arial" pitchFamily="34" charset="-120"/>
              </a:rPr>
              <a:t>The budget is 45 lines in the baseline; this page carries the buckets, basis labels and sourcing status honestly. Label key: PUBLISHED — published band/price/benchmark · MGMT — management assumption · DERIVED — arithmetic from published inputs · NOT SOURCED — no external figure yet · QUOTE — a written vendor quote (none held today).</a:t>
            </a:r>
            <a:endParaRPr lang="en-US" sz="740" dirty="0"/>
          </a:p>
        </p:txBody>
      </p:sp>
      <p:sp>
        <p:nvSpPr>
          <p:cNvPr id="7" name="Text 5"/>
          <p:cNvSpPr txBox="1"/>
          <p:nvPr/>
        </p:nvSpPr>
        <p:spPr>
          <a:xfrm>
            <a:off x="621792" y="1627632"/>
            <a:ext cx="10948111" cy="219456"/>
          </a:xfrm>
          <a:prstGeom prst="rect">
            <a:avLst/>
          </a:prstGeom>
          <a:noFill/>
          <a:ln/>
        </p:spPr>
        <p:txBody>
          <a:bodyPr wrap="square" lIns="0" tIns="0" rIns="0" bIns="0" rtlCol="0" anchor="ctr"/>
          <a:lstStyle/>
          <a:p>
            <a:pPr indent="0" marL="0">
              <a:buNone/>
            </a:pPr>
            <a:r>
              <a:rPr lang="en-US" sz="760" b="1" dirty="0">
                <a:solidFill>
                  <a:srgbClr val="6FD3FF"/>
                </a:solidFill>
                <a:latin typeface="Arial" pitchFamily="34" charset="0"/>
                <a:ea typeface="Arial" pitchFamily="34" charset="-122"/>
                <a:cs typeface="Arial" pitchFamily="34" charset="-120"/>
              </a:rPr>
              <a:t>Plan envelope: ~$4.0M raise · twelve-month operating sprint $2,560K · contingency 12% of operating $307K · survival reserve, nine months at ~$125K/month post-sprint burn, $1,125K · total $3,992K.</a:t>
            </a:r>
            <a:endParaRPr lang="en-US" sz="760" dirty="0"/>
          </a:p>
        </p:txBody>
      </p:sp>
      <p:sp>
        <p:nvSpPr>
          <p:cNvPr id="8" name="Shape 6"/>
          <p:cNvSpPr/>
          <p:nvPr/>
        </p:nvSpPr>
        <p:spPr>
          <a:xfrm>
            <a:off x="621792" y="1856232"/>
            <a:ext cx="10948111" cy="0"/>
          </a:xfrm>
          <a:prstGeom prst="line">
            <a:avLst/>
          </a:prstGeom>
          <a:noFill/>
          <a:ln w="9525">
            <a:solidFill>
              <a:srgbClr val="23405C"/>
            </a:solidFill>
            <a:prstDash val="solid"/>
          </a:ln>
        </p:spPr>
      </p:sp>
      <p:sp>
        <p:nvSpPr>
          <p:cNvPr id="9" name="Text 7"/>
          <p:cNvSpPr txBox="1"/>
          <p:nvPr/>
        </p:nvSpPr>
        <p:spPr>
          <a:xfrm>
            <a:off x="621792" y="1901952"/>
            <a:ext cx="2331720" cy="521208"/>
          </a:xfrm>
          <a:prstGeom prst="rect">
            <a:avLst/>
          </a:prstGeom>
          <a:noFill/>
          <a:ln/>
        </p:spPr>
        <p:txBody>
          <a:bodyPr wrap="square" lIns="0" tIns="0" rIns="0" bIns="0" rtlCol="0" anchor="ctr"/>
          <a:lstStyle/>
          <a:p>
            <a:pPr indent="0" marL="0">
              <a:lnSpc>
                <a:spcPct val="100000"/>
              </a:lnSpc>
              <a:buNone/>
            </a:pPr>
            <a:r>
              <a:rPr lang="en-US" sz="760" b="1" dirty="0">
                <a:solidFill>
                  <a:srgbClr val="EAF2FA"/>
                </a:solidFill>
                <a:latin typeface="Arial" pitchFamily="34" charset="0"/>
                <a:ea typeface="Arial" pitchFamily="34" charset="-122"/>
                <a:cs typeface="Arial" pitchFamily="34" charset="-120"/>
              </a:rPr>
              <a:t>1 · Engineering nucleus</a:t>
            </a:r>
            <a:endParaRPr lang="en-US" sz="760" dirty="0"/>
          </a:p>
        </p:txBody>
      </p:sp>
      <p:sp>
        <p:nvSpPr>
          <p:cNvPr id="10" name="Text 8"/>
          <p:cNvSpPr txBox="1"/>
          <p:nvPr/>
        </p:nvSpPr>
        <p:spPr>
          <a:xfrm>
            <a:off x="3044952" y="1901952"/>
            <a:ext cx="1234440" cy="521208"/>
          </a:xfrm>
          <a:prstGeom prst="rect">
            <a:avLst/>
          </a:prstGeom>
          <a:noFill/>
          <a:ln/>
        </p:spPr>
        <p:txBody>
          <a:bodyPr wrap="square" lIns="0" tIns="0" rIns="0" bIns="0" rtlCol="0" anchor="ctr"/>
          <a:lstStyle/>
          <a:p>
            <a:pPr indent="0" marL="0">
              <a:buNone/>
            </a:pPr>
            <a:r>
              <a:rPr lang="en-US" sz="780" b="1" dirty="0">
                <a:solidFill>
                  <a:srgbClr val="6FD3FF"/>
                </a:solidFill>
                <a:latin typeface="Arial" pitchFamily="34" charset="0"/>
                <a:ea typeface="Arial" pitchFamily="34" charset="-122"/>
                <a:cs typeface="Arial" pitchFamily="34" charset="-120"/>
              </a:rPr>
              <a:t>$999K</a:t>
            </a:r>
            <a:endParaRPr lang="en-US" sz="780" dirty="0"/>
          </a:p>
        </p:txBody>
      </p:sp>
      <p:sp>
        <p:nvSpPr>
          <p:cNvPr id="11" name="Text 9"/>
          <p:cNvSpPr txBox="1"/>
          <p:nvPr/>
        </p:nvSpPr>
        <p:spPr>
          <a:xfrm>
            <a:off x="4370832" y="1901952"/>
            <a:ext cx="7818120" cy="530352"/>
          </a:xfrm>
          <a:prstGeom prst="rect">
            <a:avLst/>
          </a:prstGeom>
          <a:noFill/>
          <a:ln/>
        </p:spPr>
        <p:txBody>
          <a:bodyPr wrap="square" lIns="0" tIns="0" rIns="0" bIns="0" rtlCol="0" anchor="ctr"/>
          <a:lstStyle/>
          <a:p>
            <a:pPr indent="0" marL="0">
              <a:lnSpc>
                <a:spcPct val="96000"/>
              </a:lnSpc>
              <a:buNone/>
            </a:pPr>
            <a:r>
              <a:rPr lang="en-US" sz="610" dirty="0">
                <a:solidFill>
                  <a:srgbClr val="A9BDD1"/>
                </a:solidFill>
                <a:latin typeface="Arial" pitchFamily="34" charset="0"/>
                <a:ea typeface="Arial" pitchFamily="34" charset="-122"/>
                <a:cs typeface="Arial" pitchFamily="34" charset="-120"/>
              </a:rPr>
              <a:t>Chief Engineer $180K×1.4×12=$252K (PUBLISHED, low end) · robotics/mechanical $140K×1.4×11=$180K (stretch) · controls $130K×1.4×10=$152K · software $130K×1.4×9=$136K · technician $65K×1.4×12=$91K (MGMT) · metrology/quality $115K×1.4×6=$80K · recruiting ~20% of base=$108K (MGMT). Sixty person-months in twelve, vs 62 in eighteen previously — calendar shortens because work is concurrent.</a:t>
            </a:r>
            <a:endParaRPr lang="en-US" sz="610" dirty="0"/>
          </a:p>
        </p:txBody>
      </p:sp>
      <p:sp>
        <p:nvSpPr>
          <p:cNvPr id="12" name="Shape 10"/>
          <p:cNvSpPr/>
          <p:nvPr/>
        </p:nvSpPr>
        <p:spPr>
          <a:xfrm>
            <a:off x="621792" y="2423160"/>
            <a:ext cx="10948111" cy="0"/>
          </a:xfrm>
          <a:prstGeom prst="line">
            <a:avLst/>
          </a:prstGeom>
          <a:noFill/>
          <a:ln w="9525">
            <a:solidFill>
              <a:srgbClr val="23405C"/>
            </a:solidFill>
            <a:prstDash val="solid"/>
          </a:ln>
        </p:spPr>
      </p:sp>
      <p:sp>
        <p:nvSpPr>
          <p:cNvPr id="13" name="Text 11"/>
          <p:cNvSpPr txBox="1"/>
          <p:nvPr/>
        </p:nvSpPr>
        <p:spPr>
          <a:xfrm>
            <a:off x="621792" y="2468880"/>
            <a:ext cx="2331720" cy="521208"/>
          </a:xfrm>
          <a:prstGeom prst="rect">
            <a:avLst/>
          </a:prstGeom>
          <a:noFill/>
          <a:ln/>
        </p:spPr>
        <p:txBody>
          <a:bodyPr wrap="square" lIns="0" tIns="0" rIns="0" bIns="0" rtlCol="0" anchor="ctr"/>
          <a:lstStyle/>
          <a:p>
            <a:pPr indent="0" marL="0">
              <a:lnSpc>
                <a:spcPct val="100000"/>
              </a:lnSpc>
              <a:buNone/>
            </a:pPr>
            <a:r>
              <a:rPr lang="en-US" sz="760" b="1" dirty="0">
                <a:solidFill>
                  <a:srgbClr val="EAF2FA"/>
                </a:solidFill>
                <a:latin typeface="Arial" pitchFamily="34" charset="0"/>
                <a:ea typeface="Arial" pitchFamily="34" charset="-122"/>
                <a:cs typeface="Arial" pitchFamily="34" charset="-120"/>
              </a:rPr>
              <a:t>2 · Contracted specialist authority</a:t>
            </a:r>
            <a:endParaRPr lang="en-US" sz="760" dirty="0"/>
          </a:p>
        </p:txBody>
      </p:sp>
      <p:sp>
        <p:nvSpPr>
          <p:cNvPr id="14" name="Text 12"/>
          <p:cNvSpPr txBox="1"/>
          <p:nvPr/>
        </p:nvSpPr>
        <p:spPr>
          <a:xfrm>
            <a:off x="3044952" y="2468880"/>
            <a:ext cx="1234440" cy="521208"/>
          </a:xfrm>
          <a:prstGeom prst="rect">
            <a:avLst/>
          </a:prstGeom>
          <a:noFill/>
          <a:ln/>
        </p:spPr>
        <p:txBody>
          <a:bodyPr wrap="square" lIns="0" tIns="0" rIns="0" bIns="0" rtlCol="0" anchor="ctr"/>
          <a:lstStyle/>
          <a:p>
            <a:pPr indent="0" marL="0">
              <a:buNone/>
            </a:pPr>
            <a:r>
              <a:rPr lang="en-US" sz="780" b="1" dirty="0">
                <a:solidFill>
                  <a:srgbClr val="6FD3FF"/>
                </a:solidFill>
                <a:latin typeface="Arial" pitchFamily="34" charset="0"/>
                <a:ea typeface="Arial" pitchFamily="34" charset="-122"/>
                <a:cs typeface="Arial" pitchFamily="34" charset="-120"/>
              </a:rPr>
              <a:t>$169K</a:t>
            </a:r>
            <a:endParaRPr lang="en-US" sz="780" dirty="0"/>
          </a:p>
        </p:txBody>
      </p:sp>
      <p:sp>
        <p:nvSpPr>
          <p:cNvPr id="15" name="Text 13"/>
          <p:cNvSpPr txBox="1"/>
          <p:nvPr/>
        </p:nvSpPr>
        <p:spPr>
          <a:xfrm>
            <a:off x="4370832" y="2468880"/>
            <a:ext cx="7818120" cy="530352"/>
          </a:xfrm>
          <a:prstGeom prst="rect">
            <a:avLst/>
          </a:prstGeom>
          <a:noFill/>
          <a:ln/>
        </p:spPr>
        <p:txBody>
          <a:bodyPr wrap="square" lIns="0" tIns="0" rIns="0" bIns="0" rtlCol="0" anchor="ctr"/>
          <a:lstStyle/>
          <a:p>
            <a:pPr indent="0" marL="0">
              <a:lnSpc>
                <a:spcPct val="96000"/>
              </a:lnSpc>
              <a:buNone/>
            </a:pPr>
            <a:r>
              <a:rPr lang="en-US" sz="610" dirty="0">
                <a:solidFill>
                  <a:srgbClr val="A9BDD1"/>
                </a:solidFill>
                <a:latin typeface="Arial" pitchFamily="34" charset="0"/>
                <a:ea typeface="Arial" pitchFamily="34" charset="-122"/>
                <a:cs typeface="Arial" pitchFamily="34" charset="-120"/>
              </a:rPr>
              <a:t>Metrology reviewer w/ written veto, M1–6, $60K (MGMT $120–250/hr) · bench hazard assessment $4K (DERIVED) · E2 ISO 12100 risk assessment/PL/recoverable region $40K · contracted test owner (Chief Engineer hedge) $30K · quality consultant $20K · IEC 62443-2-4 posture/SBOM $15K.</a:t>
            </a:r>
            <a:endParaRPr lang="en-US" sz="610" dirty="0"/>
          </a:p>
        </p:txBody>
      </p:sp>
      <p:sp>
        <p:nvSpPr>
          <p:cNvPr id="16" name="Shape 14"/>
          <p:cNvSpPr/>
          <p:nvPr/>
        </p:nvSpPr>
        <p:spPr>
          <a:xfrm>
            <a:off x="621792" y="2990088"/>
            <a:ext cx="10948111" cy="0"/>
          </a:xfrm>
          <a:prstGeom prst="line">
            <a:avLst/>
          </a:prstGeom>
          <a:noFill/>
          <a:ln w="9525">
            <a:solidFill>
              <a:srgbClr val="23405C"/>
            </a:solidFill>
            <a:prstDash val="solid"/>
          </a:ln>
        </p:spPr>
      </p:sp>
      <p:sp>
        <p:nvSpPr>
          <p:cNvPr id="17" name="Text 15"/>
          <p:cNvSpPr txBox="1"/>
          <p:nvPr/>
        </p:nvSpPr>
        <p:spPr>
          <a:xfrm>
            <a:off x="621792" y="3035808"/>
            <a:ext cx="2331720" cy="521208"/>
          </a:xfrm>
          <a:prstGeom prst="rect">
            <a:avLst/>
          </a:prstGeom>
          <a:noFill/>
          <a:ln/>
        </p:spPr>
        <p:txBody>
          <a:bodyPr wrap="square" lIns="0" tIns="0" rIns="0" bIns="0" rtlCol="0" anchor="ctr"/>
          <a:lstStyle/>
          <a:p>
            <a:pPr indent="0" marL="0">
              <a:lnSpc>
                <a:spcPct val="100000"/>
              </a:lnSpc>
              <a:buNone/>
            </a:pPr>
            <a:r>
              <a:rPr lang="en-US" sz="760" b="1" dirty="0">
                <a:solidFill>
                  <a:srgbClr val="EAF2FA"/>
                </a:solidFill>
                <a:latin typeface="Arial" pitchFamily="34" charset="0"/>
                <a:ea typeface="Arial" pitchFamily="34" charset="-122"/>
                <a:cs typeface="Arial" pitchFamily="34" charset="-120"/>
              </a:rPr>
              <a:t>3 · Physical validation</a:t>
            </a:r>
            <a:endParaRPr lang="en-US" sz="760" dirty="0"/>
          </a:p>
        </p:txBody>
      </p:sp>
      <p:sp>
        <p:nvSpPr>
          <p:cNvPr id="18" name="Text 16"/>
          <p:cNvSpPr txBox="1"/>
          <p:nvPr/>
        </p:nvSpPr>
        <p:spPr>
          <a:xfrm>
            <a:off x="3044952" y="3035808"/>
            <a:ext cx="1234440" cy="521208"/>
          </a:xfrm>
          <a:prstGeom prst="rect">
            <a:avLst/>
          </a:prstGeom>
          <a:noFill/>
          <a:ln/>
        </p:spPr>
        <p:txBody>
          <a:bodyPr wrap="square" lIns="0" tIns="0" rIns="0" bIns="0" rtlCol="0" anchor="ctr"/>
          <a:lstStyle/>
          <a:p>
            <a:pPr indent="0" marL="0">
              <a:buNone/>
            </a:pPr>
            <a:r>
              <a:rPr lang="en-US" sz="780" b="1" dirty="0">
                <a:solidFill>
                  <a:srgbClr val="6FD3FF"/>
                </a:solidFill>
                <a:latin typeface="Arial" pitchFamily="34" charset="0"/>
                <a:ea typeface="Arial" pitchFamily="34" charset="-122"/>
                <a:cs typeface="Arial" pitchFamily="34" charset="-120"/>
              </a:rPr>
              <a:t>$558K</a:t>
            </a:r>
            <a:endParaRPr lang="en-US" sz="780" dirty="0"/>
          </a:p>
        </p:txBody>
      </p:sp>
      <p:sp>
        <p:nvSpPr>
          <p:cNvPr id="19" name="Text 17"/>
          <p:cNvSpPr txBox="1"/>
          <p:nvPr/>
        </p:nvSpPr>
        <p:spPr>
          <a:xfrm>
            <a:off x="4370832" y="3035808"/>
            <a:ext cx="7818120" cy="530352"/>
          </a:xfrm>
          <a:prstGeom prst="rect">
            <a:avLst/>
          </a:prstGeom>
          <a:noFill/>
          <a:ln/>
        </p:spPr>
        <p:txBody>
          <a:bodyPr wrap="square" lIns="0" tIns="0" rIns="0" bIns="0" rtlCol="0" anchor="ctr"/>
          <a:lstStyle/>
          <a:p>
            <a:pPr indent="0" marL="0">
              <a:lnSpc>
                <a:spcPct val="96000"/>
              </a:lnSpc>
              <a:buNone/>
            </a:pPr>
            <a:r>
              <a:rPr lang="en-US" sz="610" dirty="0">
                <a:solidFill>
                  <a:srgbClr val="A9BDD1"/>
                </a:solidFill>
                <a:latin typeface="Arial" pitchFamily="34" charset="0"/>
                <a:ea typeface="Arial" pitchFamily="34" charset="-122"/>
                <a:cs typeface="Arial" pitchFamily="34" charset="-120"/>
              </a:rPr>
              <a:t>Gate 1 programme, 177 trials, two reruns, $22K (apparatus PUBLISHED $2,293–2,848 + unpriced motion controller) · E0.1/E0.2/E-CAP-1 $4K · E0.4 specular coupon $2K · Gate 2 w/ one rerun + rented metrology $65K · Gate 3 base $350K (PUBLISHED benchmarks; three integrator quotes not yet held — largest sourcing exposure in the budget) + $50K in-bucket contingency · test articles/panels/harness build/consumables $45K (NOT SOURCED at line level; panels ordered M0) · extra metrology rental days $20K.</a:t>
            </a:r>
            <a:endParaRPr lang="en-US" sz="610" dirty="0"/>
          </a:p>
        </p:txBody>
      </p:sp>
      <p:sp>
        <p:nvSpPr>
          <p:cNvPr id="20" name="Shape 18"/>
          <p:cNvSpPr/>
          <p:nvPr/>
        </p:nvSpPr>
        <p:spPr>
          <a:xfrm>
            <a:off x="621792" y="3557016"/>
            <a:ext cx="10948111" cy="0"/>
          </a:xfrm>
          <a:prstGeom prst="line">
            <a:avLst/>
          </a:prstGeom>
          <a:noFill/>
          <a:ln w="9525">
            <a:solidFill>
              <a:srgbClr val="23405C"/>
            </a:solidFill>
            <a:prstDash val="solid"/>
          </a:ln>
        </p:spPr>
      </p:sp>
      <p:sp>
        <p:nvSpPr>
          <p:cNvPr id="21" name="Text 19"/>
          <p:cNvSpPr txBox="1"/>
          <p:nvPr/>
        </p:nvSpPr>
        <p:spPr>
          <a:xfrm>
            <a:off x="621792" y="3602736"/>
            <a:ext cx="2331720" cy="521208"/>
          </a:xfrm>
          <a:prstGeom prst="rect">
            <a:avLst/>
          </a:prstGeom>
          <a:noFill/>
          <a:ln/>
        </p:spPr>
        <p:txBody>
          <a:bodyPr wrap="square" lIns="0" tIns="0" rIns="0" bIns="0" rtlCol="0" anchor="ctr"/>
          <a:lstStyle/>
          <a:p>
            <a:pPr indent="0" marL="0">
              <a:lnSpc>
                <a:spcPct val="100000"/>
              </a:lnSpc>
              <a:buNone/>
            </a:pPr>
            <a:r>
              <a:rPr lang="en-US" sz="760" b="1" dirty="0">
                <a:solidFill>
                  <a:srgbClr val="EAF2FA"/>
                </a:solidFill>
                <a:latin typeface="Arial" pitchFamily="34" charset="0"/>
                <a:ea typeface="Arial" pitchFamily="34" charset="-122"/>
                <a:cs typeface="Arial" pitchFamily="34" charset="-120"/>
              </a:rPr>
              <a:t>4 · Runway and infrastructure</a:t>
            </a:r>
            <a:endParaRPr lang="en-US" sz="760" dirty="0"/>
          </a:p>
        </p:txBody>
      </p:sp>
      <p:sp>
        <p:nvSpPr>
          <p:cNvPr id="22" name="Text 20"/>
          <p:cNvSpPr txBox="1"/>
          <p:nvPr/>
        </p:nvSpPr>
        <p:spPr>
          <a:xfrm>
            <a:off x="3044952" y="3602736"/>
            <a:ext cx="1234440" cy="521208"/>
          </a:xfrm>
          <a:prstGeom prst="rect">
            <a:avLst/>
          </a:prstGeom>
          <a:noFill/>
          <a:ln/>
        </p:spPr>
        <p:txBody>
          <a:bodyPr wrap="square" lIns="0" tIns="0" rIns="0" bIns="0" rtlCol="0" anchor="ctr"/>
          <a:lstStyle/>
          <a:p>
            <a:pPr indent="0" marL="0">
              <a:buNone/>
            </a:pPr>
            <a:r>
              <a:rPr lang="en-US" sz="780" b="1" dirty="0">
                <a:solidFill>
                  <a:srgbClr val="6FD3FF"/>
                </a:solidFill>
                <a:latin typeface="Arial" pitchFamily="34" charset="0"/>
                <a:ea typeface="Arial" pitchFamily="34" charset="-122"/>
                <a:cs typeface="Arial" pitchFamily="34" charset="-120"/>
              </a:rPr>
              <a:t>$497K</a:t>
            </a:r>
            <a:endParaRPr lang="en-US" sz="780" dirty="0"/>
          </a:p>
        </p:txBody>
      </p:sp>
      <p:sp>
        <p:nvSpPr>
          <p:cNvPr id="23" name="Text 21"/>
          <p:cNvSpPr txBox="1"/>
          <p:nvPr/>
        </p:nvSpPr>
        <p:spPr>
          <a:xfrm>
            <a:off x="4370832" y="3602736"/>
            <a:ext cx="7818120" cy="530352"/>
          </a:xfrm>
          <a:prstGeom prst="rect">
            <a:avLst/>
          </a:prstGeom>
          <a:noFill/>
          <a:ln/>
        </p:spPr>
        <p:txBody>
          <a:bodyPr wrap="square" lIns="0" tIns="0" rIns="0" bIns="0" rtlCol="0" anchor="ctr"/>
          <a:lstStyle/>
          <a:p>
            <a:pPr indent="0" marL="0">
              <a:lnSpc>
                <a:spcPct val="96000"/>
              </a:lnSpc>
              <a:buNone/>
            </a:pPr>
            <a:r>
              <a:rPr lang="en-US" sz="610" dirty="0">
                <a:solidFill>
                  <a:srgbClr val="A9BDD1"/>
                </a:solidFill>
                <a:latin typeface="Arial" pitchFamily="34" charset="0"/>
                <a:ea typeface="Arial" pitchFamily="34" charset="-122"/>
                <a:cs typeface="Arial" pitchFamily="34" charset="-120"/>
              </a:rPr>
              <a:t>Founder comp $144K (MGMT, no band approved) · fractional CFO $72K (PUBLISHED $5–8K/mo) · strategic ops $48K · flex facility ~2,500 sq ft incl. NNN $48K (DERIVED) · lab set-up $60K (NOT SOURCED — least-supported line) · software/compute $36K · insurance $25K (product liability NOT SOURCED) · accounting/payroll/filings $24K · travel/events $40K.</a:t>
            </a:r>
            <a:endParaRPr lang="en-US" sz="610" dirty="0"/>
          </a:p>
        </p:txBody>
      </p:sp>
      <p:sp>
        <p:nvSpPr>
          <p:cNvPr id="24" name="Shape 22"/>
          <p:cNvSpPr/>
          <p:nvPr/>
        </p:nvSpPr>
        <p:spPr>
          <a:xfrm>
            <a:off x="621792" y="4123944"/>
            <a:ext cx="10948111" cy="0"/>
          </a:xfrm>
          <a:prstGeom prst="line">
            <a:avLst/>
          </a:prstGeom>
          <a:noFill/>
          <a:ln w="9525">
            <a:solidFill>
              <a:srgbClr val="23405C"/>
            </a:solidFill>
            <a:prstDash val="solid"/>
          </a:ln>
        </p:spPr>
      </p:sp>
      <p:sp>
        <p:nvSpPr>
          <p:cNvPr id="25" name="Text 23"/>
          <p:cNvSpPr txBox="1"/>
          <p:nvPr/>
        </p:nvSpPr>
        <p:spPr>
          <a:xfrm>
            <a:off x="621792" y="4169664"/>
            <a:ext cx="2331720" cy="521208"/>
          </a:xfrm>
          <a:prstGeom prst="rect">
            <a:avLst/>
          </a:prstGeom>
          <a:noFill/>
          <a:ln/>
        </p:spPr>
        <p:txBody>
          <a:bodyPr wrap="square" lIns="0" tIns="0" rIns="0" bIns="0" rtlCol="0" anchor="ctr"/>
          <a:lstStyle/>
          <a:p>
            <a:pPr indent="0" marL="0">
              <a:lnSpc>
                <a:spcPct val="100000"/>
              </a:lnSpc>
              <a:buNone/>
            </a:pPr>
            <a:r>
              <a:rPr lang="en-US" sz="760" b="1" dirty="0">
                <a:solidFill>
                  <a:srgbClr val="EAF2FA"/>
                </a:solidFill>
                <a:latin typeface="Arial" pitchFamily="34" charset="0"/>
                <a:ea typeface="Arial" pitchFamily="34" charset="-122"/>
                <a:cs typeface="Arial" pitchFamily="34" charset="-120"/>
              </a:rPr>
              <a:t>5 · IP, legal, data rights &amp; compliance</a:t>
            </a:r>
            <a:endParaRPr lang="en-US" sz="760" dirty="0"/>
          </a:p>
        </p:txBody>
      </p:sp>
      <p:sp>
        <p:nvSpPr>
          <p:cNvPr id="26" name="Text 24"/>
          <p:cNvSpPr txBox="1"/>
          <p:nvPr/>
        </p:nvSpPr>
        <p:spPr>
          <a:xfrm>
            <a:off x="3044952" y="4169664"/>
            <a:ext cx="1234440" cy="521208"/>
          </a:xfrm>
          <a:prstGeom prst="rect">
            <a:avLst/>
          </a:prstGeom>
          <a:noFill/>
          <a:ln/>
        </p:spPr>
        <p:txBody>
          <a:bodyPr wrap="square" lIns="0" tIns="0" rIns="0" bIns="0" rtlCol="0" anchor="ctr"/>
          <a:lstStyle/>
          <a:p>
            <a:pPr indent="0" marL="0">
              <a:buNone/>
            </a:pPr>
            <a:r>
              <a:rPr lang="en-US" sz="780" b="1" dirty="0">
                <a:solidFill>
                  <a:srgbClr val="6FD3FF"/>
                </a:solidFill>
                <a:latin typeface="Arial" pitchFamily="34" charset="0"/>
                <a:ea typeface="Arial" pitchFamily="34" charset="-122"/>
                <a:cs typeface="Arial" pitchFamily="34" charset="-120"/>
              </a:rPr>
              <a:t>$227K</a:t>
            </a:r>
            <a:endParaRPr lang="en-US" sz="780" dirty="0"/>
          </a:p>
        </p:txBody>
      </p:sp>
      <p:sp>
        <p:nvSpPr>
          <p:cNvPr id="27" name="Text 25"/>
          <p:cNvSpPr txBox="1"/>
          <p:nvPr/>
        </p:nvSpPr>
        <p:spPr>
          <a:xfrm>
            <a:off x="4370832" y="4169664"/>
            <a:ext cx="7818120" cy="530352"/>
          </a:xfrm>
          <a:prstGeom prst="rect">
            <a:avLst/>
          </a:prstGeom>
          <a:noFill/>
          <a:ln/>
        </p:spPr>
        <p:txBody>
          <a:bodyPr wrap="square" lIns="0" tIns="0" rIns="0" bIns="0" rtlCol="0" anchor="ctr"/>
          <a:lstStyle/>
          <a:p>
            <a:pPr indent="0" marL="0">
              <a:lnSpc>
                <a:spcPct val="96000"/>
              </a:lnSpc>
              <a:buNone/>
            </a:pPr>
            <a:r>
              <a:rPr lang="en-US" sz="610" dirty="0">
                <a:solidFill>
                  <a:srgbClr val="A9BDD1"/>
                </a:solidFill>
                <a:latin typeface="Arial" pitchFamily="34" charset="0"/>
                <a:ea typeface="Arial" pitchFamily="34" charset="-122"/>
                <a:cs typeface="Arial" pitchFamily="34" charset="-120"/>
              </a:rPr>
              <a:t>Founder IP assignment/PIIAs $15K · entity clean-up $2K · prior-art search $20K · patent drafting, two provisionals + one non-provisional, $35K (NOT SOURCED) · FTO opinion $25K (NOT SOURCED) · gov't-contracts counsel (DFARS, flow-down, data-rights term sheet) $45K · export classification/TCP $20K · corporate/financing/securities counsel $40K · advisory-agreement counsel review $15K · open-source licence audit $10K.</a:t>
            </a:r>
            <a:endParaRPr lang="en-US" sz="610" dirty="0"/>
          </a:p>
        </p:txBody>
      </p:sp>
      <p:sp>
        <p:nvSpPr>
          <p:cNvPr id="28" name="Shape 26"/>
          <p:cNvSpPr/>
          <p:nvPr/>
        </p:nvSpPr>
        <p:spPr>
          <a:xfrm>
            <a:off x="621792" y="4690872"/>
            <a:ext cx="10948111" cy="0"/>
          </a:xfrm>
          <a:prstGeom prst="line">
            <a:avLst/>
          </a:prstGeom>
          <a:noFill/>
          <a:ln w="9525">
            <a:solidFill>
              <a:srgbClr val="23405C"/>
            </a:solidFill>
            <a:prstDash val="solid"/>
          </a:ln>
        </p:spPr>
      </p:sp>
      <p:sp>
        <p:nvSpPr>
          <p:cNvPr id="29" name="Text 27"/>
          <p:cNvSpPr txBox="1"/>
          <p:nvPr/>
        </p:nvSpPr>
        <p:spPr>
          <a:xfrm>
            <a:off x="621792" y="4736592"/>
            <a:ext cx="2331720" cy="521208"/>
          </a:xfrm>
          <a:prstGeom prst="rect">
            <a:avLst/>
          </a:prstGeom>
          <a:noFill/>
          <a:ln/>
        </p:spPr>
        <p:txBody>
          <a:bodyPr wrap="square" lIns="0" tIns="0" rIns="0" bIns="0" rtlCol="0" anchor="ctr"/>
          <a:lstStyle/>
          <a:p>
            <a:pPr indent="0" marL="0">
              <a:lnSpc>
                <a:spcPct val="100000"/>
              </a:lnSpc>
              <a:buNone/>
            </a:pPr>
            <a:r>
              <a:rPr lang="en-US" sz="760" b="1" dirty="0">
                <a:solidFill>
                  <a:srgbClr val="EAF2FA"/>
                </a:solidFill>
                <a:latin typeface="Arial" pitchFamily="34" charset="0"/>
                <a:ea typeface="Arial" pitchFamily="34" charset="-122"/>
                <a:cs typeface="Arial" pitchFamily="34" charset="-120"/>
              </a:rPr>
              <a:t>6 · Commercial and qualification</a:t>
            </a:r>
            <a:endParaRPr lang="en-US" sz="760" dirty="0"/>
          </a:p>
        </p:txBody>
      </p:sp>
      <p:sp>
        <p:nvSpPr>
          <p:cNvPr id="30" name="Text 28"/>
          <p:cNvSpPr txBox="1"/>
          <p:nvPr/>
        </p:nvSpPr>
        <p:spPr>
          <a:xfrm>
            <a:off x="3044952" y="4736592"/>
            <a:ext cx="1234440" cy="521208"/>
          </a:xfrm>
          <a:prstGeom prst="rect">
            <a:avLst/>
          </a:prstGeom>
          <a:noFill/>
          <a:ln/>
        </p:spPr>
        <p:txBody>
          <a:bodyPr wrap="square" lIns="0" tIns="0" rIns="0" bIns="0" rtlCol="0" anchor="ctr"/>
          <a:lstStyle/>
          <a:p>
            <a:pPr indent="0" marL="0">
              <a:buNone/>
            </a:pPr>
            <a:r>
              <a:rPr lang="en-US" sz="780" b="1" dirty="0">
                <a:solidFill>
                  <a:srgbClr val="6FD3FF"/>
                </a:solidFill>
                <a:latin typeface="Arial" pitchFamily="34" charset="0"/>
                <a:ea typeface="Arial" pitchFamily="34" charset="-122"/>
                <a:cs typeface="Arial" pitchFamily="34" charset="-120"/>
              </a:rPr>
              <a:t>$110K</a:t>
            </a:r>
            <a:endParaRPr lang="en-US" sz="780" dirty="0"/>
          </a:p>
        </p:txBody>
      </p:sp>
      <p:sp>
        <p:nvSpPr>
          <p:cNvPr id="31" name="Text 29"/>
          <p:cNvSpPr txBox="1"/>
          <p:nvPr/>
        </p:nvSpPr>
        <p:spPr>
          <a:xfrm>
            <a:off x="4370832" y="4736592"/>
            <a:ext cx="7818120" cy="530352"/>
          </a:xfrm>
          <a:prstGeom prst="rect">
            <a:avLst/>
          </a:prstGeom>
          <a:noFill/>
          <a:ln/>
        </p:spPr>
        <p:txBody>
          <a:bodyPr wrap="square" lIns="0" tIns="0" rIns="0" bIns="0" rtlCol="0" anchor="ctr"/>
          <a:lstStyle/>
          <a:p>
            <a:pPr indent="0" marL="0">
              <a:lnSpc>
                <a:spcPct val="96000"/>
              </a:lnSpc>
              <a:buNone/>
            </a:pPr>
            <a:r>
              <a:rPr lang="en-US" sz="610" dirty="0">
                <a:solidFill>
                  <a:srgbClr val="A9BDD1"/>
                </a:solidFill>
                <a:latin typeface="Arial" pitchFamily="34" charset="0"/>
                <a:ea typeface="Arial" pitchFamily="34" charset="-122"/>
                <a:cs typeface="Arial" pitchFamily="34" charset="-120"/>
              </a:rPr>
              <a:t>Customer discovery campaign $30K · standards access $8K · first bounded engagement, Syntrex-side cost, $40K (customer keeps their process; the deliverable is theirs) · two QA conversations + partial-FAI position $20K · non-dilutive proposal prep $12K.</a:t>
            </a:r>
            <a:endParaRPr lang="en-US" sz="610" dirty="0"/>
          </a:p>
        </p:txBody>
      </p:sp>
      <p:sp>
        <p:nvSpPr>
          <p:cNvPr id="32" name="Text 30"/>
          <p:cNvSpPr txBox="1"/>
          <p:nvPr/>
        </p:nvSpPr>
        <p:spPr>
          <a:xfrm>
            <a:off x="621792" y="5340096"/>
            <a:ext cx="10948111" cy="694944"/>
          </a:xfrm>
          <a:prstGeom prst="rect">
            <a:avLst/>
          </a:prstGeom>
          <a:noFill/>
          <a:ln/>
        </p:spPr>
        <p:txBody>
          <a:bodyPr wrap="square" lIns="0" tIns="0" rIns="0" bIns="0" rtlCol="0" anchor="t"/>
          <a:lstStyle/>
          <a:p>
            <a:pPr algn="l" indent="0" marL="0">
              <a:lnSpc>
                <a:spcPct val="104000"/>
              </a:lnSpc>
              <a:spcAft>
                <a:spcPts val="300"/>
              </a:spcAft>
              <a:buNone/>
            </a:pPr>
            <a:r>
              <a:rPr lang="en-US" sz="650" dirty="0">
                <a:solidFill>
                  <a:srgbClr val="A9BDD1"/>
                </a:solidFill>
                <a:latin typeface="Arial" pitchFamily="34" charset="0"/>
                <a:ea typeface="Arial" pitchFamily="34" charset="-122"/>
                <a:cs typeface="Arial" pitchFamily="34" charset="-120"/>
              </a:rPr>
              <a:t>The reserve, and the cliff test: if Gate 1 kills the premise at month 5, spend to date is ~$1.15M; hiring freezes at four; burn falls to ~$96–110K/month; the remaining ~$2.85M funds ~26 months of reduced operation — the backup experiment, Gate 2 on the measurement chain, a redirected falsification target and a raise reopened on a measured uncertainty budget. On the previous $3.0M plan the same failure left ~17 months and no Gate 3.</a:t>
            </a:r>
            <a:endParaRPr lang="en-US" sz="650" dirty="0"/>
          </a:p>
          <a:p>
            <a:pPr algn="l" indent="0" marL="0">
              <a:lnSpc>
                <a:spcPct val="104000"/>
              </a:lnSpc>
              <a:buNone/>
            </a:pPr>
            <a:r>
              <a:rPr lang="en-US" sz="650" dirty="0">
                <a:solidFill>
                  <a:srgbClr val="72879D"/>
                </a:solidFill>
                <a:latin typeface="Arial" pitchFamily="34" charset="0"/>
                <a:ea typeface="Arial" pitchFamily="34" charset="-122"/>
                <a:cs typeface="Arial" pitchFamily="34" charset="-120"/>
              </a:rPr>
              <a:t>Non-dilutive capital, in parallel and never in the base case: NSF SBIR/STTR (Phase I $305K, Phase II $1.25M) — Project Pitch at month 1; a NASA SBIR subtopic after Gate 1; Army xTech if a 2026 window is confirmed; AFWERX/SpaceWERX Phase I/II later; TACFI/STRATFI, DIU and Manufacturing USA calls at later evidence states; OSC facility debt at production scale only. Every path is blocked on SAM.gov registration (≤10 business days, on the M0 list). Awards are upside; the plan models zero until awarded.</a:t>
            </a:r>
            <a:endParaRPr lang="en-US" sz="650" dirty="0"/>
          </a:p>
        </p:txBody>
      </p:sp>
      <p:sp>
        <p:nvSpPr>
          <p:cNvPr id="33" name="Text 31"/>
          <p:cNvSpPr txBox="1"/>
          <p:nvPr/>
        </p:nvSpPr>
        <p:spPr>
          <a:xfrm>
            <a:off x="621792" y="6181344"/>
            <a:ext cx="10948111" cy="274320"/>
          </a:xfrm>
          <a:prstGeom prst="rect">
            <a:avLst/>
          </a:prstGeom>
          <a:noFill/>
          <a:ln/>
        </p:spPr>
        <p:txBody>
          <a:bodyPr wrap="square" lIns="0" tIns="0" rIns="0" bIns="0" rtlCol="0" anchor="ctr"/>
          <a:lstStyle/>
          <a:p>
            <a:pPr indent="0" marL="0">
              <a:lnSpc>
                <a:spcPct val="105000"/>
              </a:lnSpc>
              <a:buNone/>
            </a:pPr>
            <a:r>
              <a:rPr lang="en-US" sz="640" i="1" dirty="0">
                <a:solidFill>
                  <a:srgbClr val="51667C"/>
                </a:solidFill>
                <a:latin typeface="Arial" pitchFamily="34" charset="0"/>
                <a:ea typeface="Arial" pitchFamily="34" charset="-122"/>
                <a:cs typeface="Arial" pitchFamily="34" charset="-120"/>
              </a:rPr>
              <a:t>What would make this page fully sourced: three written integrator quotes for Gate 3 (the single highest-value diligence action); quotes for lab set-up, patent drafting, FTO and panel machining; a product-liability quote once hardware exists. Until those exist this page says so.</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Syntrex Advanced Systems — Appendix, September 2026 (Rev 2.1)</dc:title>
  <dc:subject>PptxGenJS Presentation</dc:subject>
  <dc:creator>Syntrex Advanced Systems</dc:creator>
  <cp:lastModifiedBy>Syntrex Advanced Systems</cp:lastModifiedBy>
  <cp:revision>1</cp:revision>
  <dcterms:created xsi:type="dcterms:W3CDTF">2026-09-09T18:52:47Z</dcterms:created>
  <dcterms:modified xsi:type="dcterms:W3CDTF">2026-09-09T18:52:47Z</dcterms:modified>
</cp:coreProperties>
</file>