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2026 delivery forecast</c:v>
                </c:pt>
              </c:strCache>
            </c:strRef>
          </c:tx>
          <c:spPr>
            <a:solidFill>
              <a:srgbClr val="3D9BD8">
                <a:alpha val="92000"/>
              </a:srgbClr>
            </a:solidFill>
            <a:effectLst/>
          </c:spPr>
          <c:invertIfNegative val="0"/>
          <c:dLbls>
            <c:numFmt formatCode="#,##0" sourceLinked="0"/>
            <c:txPr>
              <a:bodyPr/>
              <a:lstStyle/>
              <a:p>
                <a:pPr>
                  <a:defRPr b="0" i="0" strike="noStrike" sz="1000" u="none">
                    <a:solidFill>
                      <a:srgbClr val="EAF2FA"/>
                    </a:solidFill>
                    <a:latin typeface="Arial"/>
                  </a:defRPr>
                </a:pPr>
              </a:p>
            </c:txPr>
            <c:showLegendKey val="0"/>
            <c:showVal val="1"/>
            <c:showCatName val="0"/>
            <c:showSerName val="0"/>
            <c:showPercent val="0"/>
            <c:showBubbleSize val="0"/>
            <c:showLeaderLines val="0"/>
          </c:dLbls>
          <c:dPt>
            <c:idx val="0"/>
            <c:invertIfNegative val="0"/>
            <c:bubble3D val="0"/>
            <c:spPr>
              <a:solidFill>
                <a:srgbClr val="3D9BD8"/>
              </a:solidFill>
              <a:effectLst/>
            </c:spPr>
          </c:dPt>
          <c:dPt>
            <c:idx val="1"/>
            <c:invertIfNegative val="0"/>
            <c:bubble3D val="0"/>
            <c:spPr>
              <a:solidFill>
                <a:srgbClr val="6FD3FF"/>
              </a:solidFill>
              <a:effectLst/>
            </c:spPr>
          </c:dPt>
          <c:cat>
            <c:multiLvlStrRef>
              <c:f>Sheet1!$A$2:$A$3</c:f>
              <c:multiLvlStrCache>
                <c:ptCount val="2"/>
                <c:lvl>
                  <c:pt idx="0">
                    <c:v>Published Dec 2025</c:v>
                  </c:pt>
                  <c:pt idx="1">
                    <c:v>Published Jun 2026</c:v>
                  </c:pt>
                </c:lvl>
              </c:multiLvlStrCache>
            </c:multiLvlStrRef>
          </c:cat>
          <c:val>
            <c:numRef>
              <c:f>Sheet1!$B$2:$B$3</c:f>
              <c:numCache>
                <c:formatCode>General</c:formatCode>
                <c:ptCount val="2"/>
                <c:pt idx="0">
                  <c:v>1631</c:v>
                </c:pt>
                <c:pt idx="1">
                  <c:v>1515</c:v>
                </c:pt>
              </c:numCache>
            </c:numRef>
          </c:val>
        </c:ser>
        <c:dLbls>
          <c:numFmt formatCode="#,##0" sourceLinked="0"/>
          <c:txPr>
            <a:bodyPr/>
            <a:lstStyle/>
            <a:p>
              <a:pPr>
                <a:defRPr b="0" i="0" strike="noStrike" sz="1000" u="none">
                  <a:solidFill>
                    <a:srgbClr val="EAF2F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A9BDD1"/>
                </a:solidFill>
                <a:latin typeface="Arial"/>
              </a:defRPr>
            </a:pPr>
            <a:endParaRPr lang="en-US"/>
          </a:p>
        </c:txPr>
        <c:crossAx val="2094734552"/>
        <c:crosses val="autoZero"/>
        <c:auto val="1"/>
        <c:lblAlgn val="ctr"/>
        <c:noMultiLvlLbl val="1"/>
      </c:catAx>
      <c:valAx>
        <c:axId val="2094734552"/>
        <c:scaling>
          <c:orientation val="minMax"/>
          <c:max val="1700"/>
          <c:min val="130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F1E31">
            <a:alpha val="0"/>
          </a:srgbClr>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155 mm rounds per month</c:v>
                </c:pt>
              </c:strCache>
            </c:strRef>
          </c:tx>
          <c:spPr>
            <a:solidFill>
              <a:srgbClr val="3D9BD8"/>
            </a:solidFill>
            <a:effectLst/>
          </c:spPr>
          <c:invertIfNegative val="0"/>
          <c:dLbls>
            <c:numFmt formatCode="#,##0" sourceLinked="0"/>
            <c:txPr>
              <a:bodyPr/>
              <a:lstStyle/>
              <a:p>
                <a:pPr>
                  <a:defRPr b="0" i="0" strike="noStrike" sz="1050" u="none">
                    <a:solidFill>
                      <a:srgbClr val="EAF2FA"/>
                    </a:solidFill>
                    <a:latin typeface="Arial"/>
                  </a:defRPr>
                </a:pPr>
              </a:p>
            </c:txPr>
            <c:showLegendKey val="0"/>
            <c:showVal val="1"/>
            <c:showCatName val="0"/>
            <c:showSerName val="0"/>
            <c:showPercent val="0"/>
            <c:showBubbleSize val="0"/>
            <c:showLeaderLines val="0"/>
          </c:dLbls>
          <c:dPt>
            <c:idx val="0"/>
            <c:invertIfNegative val="0"/>
            <c:bubble3D val="0"/>
            <c:spPr>
              <a:solidFill>
                <a:srgbClr val="3D9BD8"/>
              </a:solidFill>
              <a:effectLst/>
            </c:spPr>
          </c:dPt>
          <c:dPt>
            <c:idx val="1"/>
            <c:invertIfNegative val="0"/>
            <c:bubble3D val="0"/>
            <c:spPr>
              <a:solidFill>
                <a:srgbClr val="6FD3FF"/>
              </a:solidFill>
              <a:effectLst/>
            </c:spPr>
          </c:dPt>
          <c:cat>
            <c:multiLvlStrRef>
              <c:f>Sheet1!$A$2:$A$3</c:f>
              <c:multiLvlStrCache>
                <c:ptCount val="2"/>
                <c:lvl>
                  <c:pt idx="0">
                    <c:v>Target set for Oct 2025</c:v>
                  </c:pt>
                  <c:pt idx="1">
                    <c:v>Actual, Mar 2026</c:v>
                  </c:pt>
                </c:lvl>
              </c:multiLvlStrCache>
            </c:multiLvlStrRef>
          </c:cat>
          <c:val>
            <c:numRef>
              <c:f>Sheet1!$B$2:$B$3</c:f>
              <c:numCache>
                <c:formatCode>General</c:formatCode>
                <c:ptCount val="2"/>
                <c:pt idx="0">
                  <c:v>100000</c:v>
                </c:pt>
                <c:pt idx="1">
                  <c:v>36000</c:v>
                </c:pt>
              </c:numCache>
            </c:numRef>
          </c:val>
        </c:ser>
        <c:dLbls>
          <c:numFmt formatCode="#,##0" sourceLinked="0"/>
          <c:txPr>
            <a:bodyPr/>
            <a:lstStyle/>
            <a:p>
              <a:pPr>
                <a:defRPr b="0" i="0" strike="noStrike" sz="1050" u="none">
                  <a:solidFill>
                    <a:srgbClr val="EAF2FA"/>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A9BDD1"/>
                </a:solidFill>
                <a:latin typeface="Arial"/>
              </a:defRPr>
            </a:pPr>
            <a:endParaRPr lang="en-US"/>
          </a:p>
        </c:txPr>
        <c:crossAx val="2094734552"/>
        <c:crosses val="autoZero"/>
        <c:auto val="1"/>
        <c:lblAlgn val="ctr"/>
        <c:noMultiLvlLbl val="1"/>
      </c:catAx>
      <c:valAx>
        <c:axId val="2094734552"/>
        <c:scaling>
          <c:orientation val="minMax"/>
          <c:max val="12000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F1E31">
            <a:alpha val="0"/>
          </a:srgbClr>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CNC utilization</c:v>
                </c:pt>
              </c:strCache>
            </c:strRef>
          </c:tx>
          <c:spPr>
            <a:solidFill>
              <a:schemeClr val="accent1"/>
            </a:solidFill>
            <a:ln w="9525" cap="flat">
              <a:solidFill>
                <a:srgbClr val="F9F9F9"/>
              </a:solidFill>
              <a:prstDash val="solid"/>
              <a:round/>
            </a:ln>
            <a:effectLst/>
          </c:spPr>
          <c:dPt>
            <c:idx val="0"/>
            <c:bubble3D val="0"/>
            <c:spPr>
              <a:solidFill>
                <a:srgbClr val="6FD3FF"/>
              </a:solidFill>
              <a:ln w="12700" cap="flat">
                <a:solidFill>
                  <a:srgbClr val="081020"/>
                </a:solidFill>
                <a:prstDash val="solid"/>
                <a:round/>
              </a:ln>
              <a:effectLst/>
            </c:spPr>
          </c:dPt>
          <c:dPt>
            <c:idx val="1"/>
            <c:bubble3D val="0"/>
            <c:spPr>
              <a:solidFill>
                <a:srgbClr val="16293E"/>
              </a:solidFill>
              <a:ln w="12700" cap="flat">
                <a:solidFill>
                  <a:srgbClr val="081020"/>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Utilized</c:v>
                </c:pt>
                <c:pt idx="1">
                  <c:v>Idle</c:v>
                </c:pt>
              </c:strCache>
            </c:strRef>
          </c:cat>
          <c:val>
            <c:numRef>
              <c:f>Sheet1!$B$2:$B$3</c:f>
              <c:numCache>
                <c:ptCount val="2"/>
                <c:pt idx="0">
                  <c:v>25.9</c:v>
                </c:pt>
                <c:pt idx="1">
                  <c:v>74.1</c:v>
                </c:pt>
              </c:numCache>
            </c:numRef>
          </c:val>
        </c:ser>
        <c:firstSliceAng val="0"/>
        <c:holeSize val="72"/>
      </c:doughnutChart>
      <c:spPr>
        <a:solidFill>
          <a:srgbClr val="0F1E31">
            <a:alpha val="0"/>
          </a:srgbClr>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 2.1. Not a claim — 'Architecture stage · Pre-hardware' is the exact maturity state (Rev 2.1 §0.2). The pictured object is not Syntrex hardware and must not be captioned, lit or labelled as if it were; if it could read as a Syntrex part, prototype or facility, make it more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FACT throughout, re-verified Rev 2.1 §3.1. 'How short is the fleet actually?' About 3,170 aircraft of effective shortage after airlines absorbed roughly 2,400 through higher utilisation, delayed retirements and fuller loads; average fleet is a record 15.2 years old, both IATA June 2026. Never write $11.3B — IATA published 'at least $11 billion.' The twelve-year figure is Oliver Wyman's, not IATA's. Never combine 3,170 with IATA's 5,600 gross counterfactual. Do not split fleet age into passenger/cargo. Do not present the backlog as Syntrex's addressable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FACT; the OIG report is primary, CSIS is think-tank analysis attributed as such. Syntrex does not address munitions production and nothing in this round touches it — evidence about the industrial base, not a market claim. No relationship with the Department of War, the Army or any contractor is implied. 'Why show artillery if you don't do artillery?' Because it is the cleanest primary-source proof that capital does not convert into manufacturing capability by itself, and it is eight weeks old. The constraint it names — qualified parts at rate — is the constraint the architecture is built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FACT throughout. The 25.9% is 2022 and the year stays on the slide — no newer published figure exists. Do not say 'machinist shortage' as unmet growth demand; BLS framing is replacement-driven attrition against a flat base. Do not attribute idle time entirely to changeover or programming; the source does not break it down. 'Doesn't the 56% contract-vehicle finding cut against you?' Yes, and say so: if suppliers' first named barrier is contracting, engineering introduction burden is not their stated first problem. That is precisely why thirty structured interviews and a measured engagement come before any economic claim (slides 11 and 18). Conceding this is worth more than arguing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introduction burden list is a HYPOTHESIS (a decomposition, not a measured allocation). Cell cost shares are EXTERNAL FACT from vendor-published guides with an independent market-size cross-check ($37.8bn hardware 2025 vs $74.6bn integration 2024). No percentage, hours or dollars for the introduction burden — no public benchmark exists and Syntrex has not measured it. Never reinstate 'the cost is introducing the part number, not producing it' — it is categorical and unmeasured.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INTENT for the whole slide. Not implemented on hardware, not tested, not running. AI does not hold engineering, quality, safety or acceptance authority — say it plainly, it is the first question a serious aerospace person asks. Machine safety is an independent conventional layer, not inside the human region. Physical implementation is not frozen — freeze order is uncertainty budget → decision rule → envelope → sensing → manipulator → integration. 'Is this just an AI agent driving a robot?' No — binding authorization is deterministic logic: an admissibility test requiring valid calibration, the action inside customer-approved limits, and margin exceeding a declared multiple of combined measurement uncertainty. ML is not permitted in the binding path by design. 'Where does safety live?' Outside — the machine-safety veto path does not traverse the kernel and does not depend on kernel liveness; runtime assurance computes execution feasibility independently (ASTM F3269 run-time assurance pattern, Simplex-type architectures; mapped in A-3, including what is not yet defined — the recoverable region). 'What does the system know about its own limits?' Three distinguishable refusals: uncertainty about the article → acquire information; uncertainty about the machine/process → characterise it; action outside limits → reject, not a measurement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statement: FACT (Rev 2.1 §0.7, §0.7A); three anti-inflation rules applied (application specificity; no element above 3 without physical validation; system = minimum over required functions). Left column: FACT, internally verifiable. Right column: PLANNED TEST — 'the evidence this round funds,' not 'what this round proves'; funding buys the attempt. Never 'TRL 2–3' or 'TRL 3'; never a component's commercial maturity as a Syntrex TRL; never 'Gate 3 takes us to TRL 5' — it takes the system to 3–4. 'What was withdrawn?' Three things: an internal unit-cost advantage calculation, withdrawn because engineering hours per part number had never been measured; a thesis that one qualified process envelope could reduce part-specific FAI, killed because AS9102 Rev C requires full FAI for a new part number; and a Gate 1 pass criterion that fired on a raw observed rate, replaced by a confidence-bound rule. 'Why is TRL so low if the kernel runs?' TRL is application-specific and system TRL is the minimum, not an average — the kernel is at 3 on software-in-the-loop evidence; capability-state estimation is not implemented and no hazard analysis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test has been run. Component prices are published list prices, not quotes. Never 'PASS at 95% observed' — the criterion is the confidence bound. Never 'CONDITIONAL is the expected outcome' — under the rule as declared, the published state of the art (75–80%) returns KILL. Never n=30 next to a ≥95% claim — thirty supports 90.5%; fifty-nine per geometry (177 total) supports 95.0%. The ±3mm criterion is the programme's own, not regulatory — the criterion mapping to a real acceptance standard is insulation damage and bend radius (FAA AC 25.1701-1). 'Why 177 trials?' The claim is per geometry; pooling assumes away the variable under test. Trials are interleaved across geometries, not blocked, so drift and operator learning are not confounded with geometry. 'What if the rig fails rather than the premise?' A named backup exists: a passive constant-force feed with the same instrumentation, distinguishing 'we cannot control tension' from 'controlled tension does not determine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Harness as falsification target: PLANNED TEST. Machining as commercial wedge: WORKING HYPOTHESIS, labelled provisional on the slide. Kill criteria: three of ten machine-shop interviews name debug rather than planning as the dominant burden; two quality authorities say read-only third-party evidence requires change control; no shop will host observation — any one reopens the table. Contested harness field: EXTERNAL FACT (Q5D, Senra). Not 'we have chosen machining' — provisional, subject to discovery. Not 'machining is empty' — CloudNC, Hadrian and standard in-process probing occupy adjacent ground; the Syntrex position is the introduction/reset burden and evidence layer, not programming and not owning the machines. Do not describe Gate 3 as class-agnostic already — the physical rig remains harness-specific while the platform layer is demonstrated against a machining observation dataset; that is a narrowed bet, stated as a bet. 'Why test harness if you'll sell machining?' A good falsification test optimises for how cheaply it can kill the premise; a good first market optimises for urgency, tractability, qualification burden, capital, competition and time to revenue — different objective functions. Two well-funded harness companies (Q5D, Senra) reached opposite technical conclusions about robotic wire manipulation — evidence about the market, not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Doctrine: DESIGN INTENT. Warranty/controller-access constraints: EXTERNAL FACT — no SAE, IAQG, NIST or OEM-consortium document sets rules for third-party modification of controller parameters; practice is contractual. MTConnect is read-only by design. Trust guardrail: BINDING RULE (Rev 2.1 §18A.10). Never claim warranty neutrality, unrestricted controller access, that no OEM/customer/quality approval is required, that requalification is avoided, or any named/prospective customer. 'What do you actually install on day one?' Nothing that changes the machine: a read-only connection through the machine-tool connectivity standard, independent sensing only where the customer agrees. 'How many of a shop's spindles can you actually connect?' Unknown for this population — an interview question. Where a machine cannot be connected read-only, independent sensing beside the machine is the fallback, scoped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FROZEN RULE for the whole deck: no ROI percentage, no engineering-hour reduction, no unit-cost advantage, no savings magnitude, no payback period — anywhere, including the appendix and the verbal answer. Do not attribute idle machine time to changeover or programming; slide 4 says the source does not break it down. 'What is the business model?' Unformulated is not the same as unpriced. The first engagement is a bounded validation deliverable; the product hypothesis is a licence for the authorization and evidence layer plus integration services — whether priced per cell, per configuration or per engagement depends on the burden the customer measures, which is why price is an interview question, not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FACT for every row (Rev 2.1 §19.1–19.2). Never say metrology-driven adaptive aerospace assembly does not exist — it has been in production for over a decade. Never say existing automation is blind or works only to nominal CAD. Machina Labs ENTERED qualification — not qualified, not in production on JASSM. Divergent is not FAA certified — Nadcap is process accreditation. Anduril's confirmed valuation is $61B post-money (May 2026), never $100B — Anduril belongs in A-6 and slide 17's speaker note as precedent, not on this table. Do not say Hadrian only operates its own factories. Do not claim any competitor has failed, is unaware of the problem, or is not adaptive. No two-by-two positioning matrix. 'Lockheed money is in Hadrian, Machina, CloudNC and Q5D — what do you have?' Nothing of the kind, and say so. A named prime relationship is the single competitive asset Syntrex most conspicuously lacks. The first customer engagement is designed to be a Tier 2/3 supplier, not a prime, because that is where the introduction burden is felt and a read-only engagement can be scoped in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01: EXTERNAL FACT (vendor-published scope), time-limit caveat. Gaps 02–04: WORKING HYPOTHESIS. Runtime-assurance finding: EXTERNAL FACT as a negative search result, with the caution that companies work in private. No universal negatives — not 'nobody,' 'no one,' 'only Syntrex.' Every gap and the position are scoped to what was verified. Do not present the gaps as a moat — a well-funded competitor could attack any of them, and the customer-quality-system question the whole thesis depends on is untouched by all of them. Do not claim any named company cannot or will not close a gap — Hadrian's entry into assembly is a decision, not a technical barrier.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PENDING HENRY'S CONFIRMATION — DO NOT TREAT AS LOCKED. Rev 2.1 §14 dependency: the inspected files show both Zervos's and McElroy's (via Heartland Space, LLC) agreements bear both signatures as of 9 Sep 2026, contradicting an earlier 'not executed / not sent' baseline entry for McElroy. Henry must confirm in writing that each scan is the final executed instrument (closing baseline item 30 for Zervos; confirming the §11.7 Heartland Space IP-rights warranty for McElroy) before this slide ships to anyone. Until confirmed, treat both rows as provisional. BLOCKING RULES: (1) written consent from both to be named, to this exact wording — an executed agreement is not consent to be named; (2) no employer named for either — Zervos's employer/title stay out entirely, McElroy's 'prior experience in flight hardware' may only become 'approximately a decade at NASA' with his separate written consent; (3) no headshots, no employer logos; (4) nobody in IN FORMATION or OPEN is named anywhere, on the slide or in conversation, until an executed agreement and naming consent exist — not 'advisor pending,' not 'joining'; (5) re-confirm all six rows the day the deck is produced, header counts changing in the same edit as any status. DO NOT INCLUDE: Angel Miguel Hernández Torres (unverified), Alex Atala (not formalised), the instrument number SYN-LEG-005 (does not exist), any claim an advisor reviewed/validated/endorsed the technology, any 'PhD' for an unverified doctorate. 'Only two executed?' Yes — two executed with counterparts held; two domains in negotiation (one removed an irrevocable power of attorney at the advisor's objection — these are engineers with counsel, not names on a slide); one domain sought; one domain nobody on the bench will own, which is why a contracted metrology reviewer with a veto is funded from month 1. 'Who owns the measurement for Gate 1?' Today, nobody — Gate 1 cannot be pre-registered until a named test owner, metrology reviewer with written veto, technician and signed bench hazard assessment exist, all funded months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 that the input was received and the programme changed (Rev 2.1 §0.7A, §15.2, §18.3, §17.1); the observations are paraphrases from the internal record, not transcripts. ATTRIBUTION RULE, non-negotiable: no quotation marks around anything presented as a person's words; the 'asked' blocks are paraphrases; anonymous role descriptors only — no names, no employers, even for individuals with executed agreements, unless separate written consent to attribute is held; never fabricate a quote. Claim nothing beyond: input was received and the programme changed. Not endorsement, validation, customer interest, or a pipeline. Any implication these practitioners are customers or prospects is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column: HYPOTHESIS and STRATEGIC DIRECTION — none of these assets exists today. Data-rights doctrine is BINDING (Rev 2.1 §16A.3, §18A.10, §21B.4). Never 'process-to-outcome datasets' or 'customer data that compounds' as a Syntrex asset — removed and not to return. No blockchain, network or chain-link imagery. 'If the data is the customer's, what is the moat?' The architecture proven across classes; the evidence format a quality authority has accepted, which is precedent, not data; and — under DFARS flow-down in defense supply chains — whatever rights are expressly negotiated, which will be less than a software company would assume. The defensibility worth underwriting: the ability to enter a second and third class faster than the first, and eventually to run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LONG-TERM STRATEGY. Rung 01 is CURRENT PLAN; rungs 02–08 are direction conditional on evidence and must never be dated. No dates, no revenue, no market size, no valuation on any rung — A-8 states what capital each evidence state would require, a requirement not a forecast, shown only on request. Do not say Syntrex is building, or plans on a date to build, aircraft, spacecraft or defense platforms. Do not present rungs 03–08 as a roadmap — a direction of travel conditional on evidence and on the regulatory posture each rung brings (from rung 5 Syntrex enters the 14 CFR Part 21 chain as a supplier). Do not draw the Anduril or Hadrian comparison on the slide — let the investor make it. 'Is this a software company or a manufacturer?' This round underwrites rung one — a technology supplier; the architecture is built so the company can become a manufacturer: data rights negotiated explicitly at the first engagement, an evidence record built to AS9100 7.5/8.5.1 as a production record from day one, a government-contracting posture established before the first customer disclosure. 'What kind of company is worth a very large amount here?' Within the comparable set, the largest outcomes were reached by companies that own production or systems, not by manufacturing-technology platforms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roles: FACT. Nucleus: PLANNED — no offer made, no candidate identified. Sprint: CURRENT PLAN; Gate 3 at M13–14 requires hardware lead time confirmed at pre-qualification to be eight weeks or less — at sixteen weeks Gate 3 is M15–16. Metrics: FRAMEWORK, every value currently zero. Research system: FACT that it exists and is in use. Never claim any nucleus role filled or candidate identified; never the founder as metrology/machine-safety/quality/controls authority — the CEO role is defined precisely so it is not; never that AI validated anything physical; no detail of the system's tooling, models or vendors; do not mention the founder's age; do not print the thirty-item founder-actions register. 'Why faster without being reckless?' The physical sequence is unchanged; what changed is concurrency and pre-ordering. The one thing that cannot be compressed is hardware lead time. 'What has the founder shipped before?' Nothing at this scale — but ninety days of verifiable output: a governed technical baseline at rev 2.1, nine adversarial domain reviews, a contradiction register with forty-three entries and none ever deleted, three of the company's own claims killed, a 45-line budget that reconciles to the dollar, and advisory instruments rewritten at the counterparties' objection. The Chief Engineer is hire number one and holds the technical authority the founder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Allocation: FACT as a management budget with sourcing recorded in A-10 (published bands for five of six salary lines; benchmarks for Gate 3; four lines and one insurance component not yet sourced; no vendor quote held for any line). Everything the round buys: PLANNED. Round structure: CURRENT FINANCING STRATEGY — NOT OFFER TERMS. No valuation, SAFE cap, floor, target dilution or walk-away threshold anywhere in the deck. No promise of a gate PASS. The bounded engagement is not a customer, pipeline, signed scope or price — if asked whether one exists, the answer is no. 'Why two closes?' First close ~$1.5–2.0M funds the nucleus, contracted authority and Gate 1; second ~$2.0–2.5M opens once Gate 1 produces a result on confidence bounds, priced on that evidence (whether it moves pricing at all is untested and recorded as such). 'Why bigger than the last version?' The previous $3.0M plan carried ~$100K of real reserve once costed line by line; this is an honest reserve at nine months of post-sprint burn, plus six concurrent hires instead of four staggered. 'What if Gate 1 kills the premise?' Spend to that point ~$1.15M; hiring freezes at four; reserve/contingency/uncommitted budget fund ~26 months of reduced operation — the backup experiment, Gate 2 on the measurement chain, a redirected falsification target, a raise reopened on a measured uncertainty budget. Pointers: evidence-triggered financing &amp; comparables A-8; line-item budget A-10.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2-image-1.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3-image-1.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Slide-4-image-1.jpe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5" Type="http://schemas.openxmlformats.org/officeDocument/2006/relationships/image" Target="../media/image-10-2.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foodiehome/a2788c04-4021-50f7-9e92-8de1b0e68224/scratchpad/syntrex/assets/orb.png">    </p:cNvPr>
          <p:cNvPicPr>
            <a:picLocks noChangeAspect="1"/>
          </p:cNvPicPr>
          <p:nvPr/>
        </p:nvPicPr>
        <p:blipFill>
          <a:blip r:embed="rId2"/>
          <a:stretch>
            <a:fillRect/>
          </a:stretch>
        </p:blipFill>
        <p:spPr>
          <a:xfrm>
            <a:off x="502920" y="1170432"/>
            <a:ext cx="4526280" cy="4526280"/>
          </a:xfrm>
          <a:prstGeom prst="rect">
            <a:avLst/>
          </a:prstGeom>
        </p:spPr>
      </p:pic>
      <p:sp>
        <p:nvSpPr>
          <p:cNvPr id="3" name="Text 0"/>
          <p:cNvSpPr txBox="1"/>
          <p:nvPr/>
        </p:nvSpPr>
        <p:spPr>
          <a:xfrm>
            <a:off x="9192463" y="420624"/>
            <a:ext cx="2377440" cy="310896"/>
          </a:xfrm>
          <a:prstGeom prst="rect">
            <a:avLst/>
          </a:prstGeom>
          <a:noFill/>
          <a:ln/>
        </p:spPr>
        <p:txBody>
          <a:bodyPr wrap="square" lIns="0" tIns="0" rIns="0" bIns="0" rtlCol="0" anchor="ctr"/>
          <a:lstStyle/>
          <a:p>
            <a:pPr algn="r" indent="0" marL="0">
              <a:buNone/>
            </a:pPr>
            <a:r>
              <a:rPr lang="en-US" sz="1500" b="1" spc="400" kern="0" dirty="0">
                <a:solidFill>
                  <a:srgbClr val="EAF2FA"/>
                </a:solidFill>
                <a:latin typeface="Arial" pitchFamily="34" charset="0"/>
                <a:ea typeface="Arial" pitchFamily="34" charset="-122"/>
                <a:cs typeface="Arial" pitchFamily="34" charset="-120"/>
              </a:rPr>
              <a:t>SYNTREX</a:t>
            </a:r>
            <a:endParaRPr lang="en-US" sz="1500" dirty="0"/>
          </a:p>
        </p:txBody>
      </p:sp>
      <p:sp>
        <p:nvSpPr>
          <p:cNvPr id="4" name="Text 1"/>
          <p:cNvSpPr txBox="1"/>
          <p:nvPr/>
        </p:nvSpPr>
        <p:spPr>
          <a:xfrm>
            <a:off x="9192463" y="713232"/>
            <a:ext cx="2377440" cy="201168"/>
          </a:xfrm>
          <a:prstGeom prst="rect">
            <a:avLst/>
          </a:prstGeom>
          <a:noFill/>
          <a:ln/>
        </p:spPr>
        <p:txBody>
          <a:bodyPr wrap="square" lIns="0" tIns="0" rIns="0" bIns="0" rtlCol="0" anchor="ctr"/>
          <a:lstStyle/>
          <a:p>
            <a:pPr algn="r" indent="0" marL="0">
              <a:buNone/>
            </a:pPr>
            <a:r>
              <a:rPr lang="en-US" sz="750" spc="340" kern="0" dirty="0">
                <a:solidFill>
                  <a:srgbClr val="72879D"/>
                </a:solidFill>
                <a:latin typeface="Arial" pitchFamily="34" charset="0"/>
                <a:ea typeface="Arial" pitchFamily="34" charset="-122"/>
                <a:cs typeface="Arial" pitchFamily="34" charset="-120"/>
              </a:rPr>
              <a:t>ADVANCED SYSTEMS</a:t>
            </a:r>
            <a:endParaRPr lang="en-US" sz="750" dirty="0"/>
          </a:p>
        </p:txBody>
      </p:sp>
      <p:sp>
        <p:nvSpPr>
          <p:cNvPr id="5" name="Text 2"/>
          <p:cNvSpPr txBox="1"/>
          <p:nvPr/>
        </p:nvSpPr>
        <p:spPr>
          <a:xfrm>
            <a:off x="5440680" y="1847088"/>
            <a:ext cx="6126480"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ADVANCED AEROSPACE MANUFACTURING</a:t>
            </a:r>
            <a:endParaRPr lang="en-US" sz="1000" dirty="0"/>
          </a:p>
        </p:txBody>
      </p:sp>
      <p:sp>
        <p:nvSpPr>
          <p:cNvPr id="6" name="Text 3"/>
          <p:cNvSpPr txBox="1"/>
          <p:nvPr/>
        </p:nvSpPr>
        <p:spPr>
          <a:xfrm>
            <a:off x="5413248" y="2176272"/>
            <a:ext cx="6309360" cy="2651760"/>
          </a:xfrm>
          <a:prstGeom prst="rect">
            <a:avLst/>
          </a:prstGeom>
          <a:noFill/>
          <a:ln/>
        </p:spPr>
        <p:txBody>
          <a:bodyPr wrap="square" lIns="0" tIns="0" rIns="0" bIns="0" rtlCol="0" anchor="ctr"/>
          <a:lstStyle/>
          <a:p>
            <a:pPr indent="0" marL="0">
              <a:lnSpc>
                <a:spcPct val="100000"/>
              </a:lnSpc>
              <a:buNone/>
            </a:pPr>
            <a:r>
              <a:rPr lang="en-US" sz="4700" b="1" dirty="0">
                <a:solidFill>
                  <a:srgbClr val="EAF2FA"/>
                </a:solidFill>
                <a:latin typeface="Arial" pitchFamily="34" charset="0"/>
                <a:ea typeface="Arial" pitchFamily="34" charset="-122"/>
                <a:cs typeface="Arial" pitchFamily="34" charset="-120"/>
              </a:rPr>
              <a:t>Manufacturing</a:t>
            </a:r>
            <a:endParaRPr lang="en-US" sz="4700" dirty="0"/>
          </a:p>
          <a:p>
            <a:pPr indent="0" marL="0">
              <a:lnSpc>
                <a:spcPct val="100000"/>
              </a:lnSpc>
              <a:buNone/>
            </a:pPr>
            <a:r>
              <a:rPr lang="en-US" sz="4700" b="1" dirty="0">
                <a:solidFill>
                  <a:srgbClr val="EAF2FA"/>
                </a:solidFill>
                <a:latin typeface="Arial" pitchFamily="34" charset="0"/>
                <a:ea typeface="Arial" pitchFamily="34" charset="-122"/>
                <a:cs typeface="Arial" pitchFamily="34" charset="-120"/>
              </a:rPr>
              <a:t>from measured</a:t>
            </a:r>
            <a:endParaRPr lang="en-US" sz="4700" dirty="0"/>
          </a:p>
          <a:p>
            <a:pPr indent="0" marL="0">
              <a:lnSpc>
                <a:spcPct val="100000"/>
              </a:lnSpc>
              <a:buNone/>
            </a:pPr>
            <a:r>
              <a:rPr lang="en-US" sz="4700" b="1" dirty="0">
                <a:solidFill>
                  <a:srgbClr val="EAF2FA"/>
                </a:solidFill>
                <a:latin typeface="Arial" pitchFamily="34" charset="0"/>
                <a:ea typeface="Arial" pitchFamily="34" charset="-122"/>
                <a:cs typeface="Arial" pitchFamily="34" charset="-120"/>
              </a:rPr>
              <a:t>reality</a:t>
            </a:r>
            <a:endParaRPr lang="en-US" sz="4700" dirty="0"/>
          </a:p>
        </p:txBody>
      </p:sp>
      <p:sp>
        <p:nvSpPr>
          <p:cNvPr id="7" name="Text 4"/>
          <p:cNvSpPr txBox="1"/>
          <p:nvPr/>
        </p:nvSpPr>
        <p:spPr>
          <a:xfrm>
            <a:off x="5440680" y="4919472"/>
            <a:ext cx="5852160" cy="502920"/>
          </a:xfrm>
          <a:prstGeom prst="rect">
            <a:avLst/>
          </a:prstGeom>
          <a:noFill/>
          <a:ln/>
        </p:spPr>
        <p:txBody>
          <a:bodyPr wrap="square" lIns="0" tIns="0" rIns="0" bIns="0" rtlCol="0" anchor="ctr"/>
          <a:lstStyle/>
          <a:p>
            <a:pPr indent="0" marL="0">
              <a:lnSpc>
                <a:spcPct val="120000"/>
              </a:lnSpc>
              <a:buNone/>
            </a:pPr>
            <a:r>
              <a:rPr lang="en-US" sz="1350" dirty="0">
                <a:solidFill>
                  <a:srgbClr val="A9BDD1"/>
                </a:solidFill>
                <a:latin typeface="Arial" pitchFamily="34" charset="0"/>
                <a:ea typeface="Arial" pitchFamily="34" charset="-122"/>
                <a:cs typeface="Arial" pitchFamily="34" charset="-120"/>
              </a:rPr>
              <a:t>Adaptive manufacturing systems for high-mix aerospace and defense production.</a:t>
            </a:r>
            <a:endParaRPr lang="en-US" sz="1350" dirty="0"/>
          </a:p>
        </p:txBody>
      </p:sp>
      <p:sp>
        <p:nvSpPr>
          <p:cNvPr id="8" name="Text 5"/>
          <p:cNvSpPr txBox="1"/>
          <p:nvPr/>
        </p:nvSpPr>
        <p:spPr>
          <a:xfrm>
            <a:off x="5440680" y="5541264"/>
            <a:ext cx="5852160" cy="237744"/>
          </a:xfrm>
          <a:prstGeom prst="rect">
            <a:avLst/>
          </a:prstGeom>
          <a:noFill/>
          <a:ln/>
        </p:spPr>
        <p:txBody>
          <a:bodyPr wrap="square" lIns="0" tIns="0" rIns="0" bIns="0" rtlCol="0" anchor="ctr"/>
          <a:lstStyle/>
          <a:p>
            <a:pPr indent="0" marL="0">
              <a:buNone/>
            </a:pPr>
            <a:r>
              <a:rPr lang="en-US" sz="950" b="1" spc="120" kern="0" dirty="0">
                <a:solidFill>
                  <a:srgbClr val="6FD3FF"/>
                </a:solidFill>
                <a:latin typeface="Arial" pitchFamily="34" charset="0"/>
                <a:ea typeface="Arial" pitchFamily="34" charset="-122"/>
                <a:cs typeface="Arial" pitchFamily="34" charset="-120"/>
              </a:rPr>
              <a:t>AutoForge · Architecture stage · Pre-hardware</a:t>
            </a:r>
            <a:endParaRPr lang="en-US" sz="950" dirty="0"/>
          </a:p>
        </p:txBody>
      </p:sp>
      <p:sp>
        <p:nvSpPr>
          <p:cNvPr id="9" name="Shape 6"/>
          <p:cNvSpPr/>
          <p:nvPr/>
        </p:nvSpPr>
        <p:spPr>
          <a:xfrm>
            <a:off x="5440680" y="5852160"/>
            <a:ext cx="2926080" cy="0"/>
          </a:xfrm>
          <a:prstGeom prst="line">
            <a:avLst/>
          </a:prstGeom>
          <a:noFill/>
          <a:ln w="9525">
            <a:solidFill>
              <a:srgbClr val="23405C"/>
            </a:solidFill>
            <a:prstDash val="solid"/>
          </a:ln>
        </p:spPr>
      </p:sp>
      <p:sp>
        <p:nvSpPr>
          <p:cNvPr id="10" name="Text 7"/>
          <p:cNvSpPr txBox="1"/>
          <p:nvPr/>
        </p:nvSpPr>
        <p:spPr>
          <a:xfrm>
            <a:off x="5440680" y="5980176"/>
            <a:ext cx="5852160" cy="274320"/>
          </a:xfrm>
          <a:prstGeom prst="rect">
            <a:avLst/>
          </a:prstGeom>
          <a:noFill/>
          <a:ln/>
        </p:spPr>
        <p:txBody>
          <a:bodyPr wrap="square" lIns="0" tIns="0" rIns="0" bIns="0" rtlCol="0" anchor="ctr"/>
          <a:lstStyle/>
          <a:p>
            <a:pPr indent="0" marL="0">
              <a:buNone/>
            </a:pPr>
            <a:r>
              <a:rPr lang="en-US" sz="950" spc="150" kern="0" dirty="0">
                <a:solidFill>
                  <a:srgbClr val="72879D"/>
                </a:solidFill>
                <a:latin typeface="Arial" pitchFamily="34" charset="0"/>
                <a:ea typeface="Arial" pitchFamily="34" charset="-122"/>
                <a:cs typeface="Arial" pitchFamily="34" charset="-120"/>
              </a:rPr>
              <a:t>Investor Presentation   ·   September 2026   ·   Confidential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02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THE CONSTRAINT</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3000" b="1" dirty="0">
                <a:solidFill>
                  <a:srgbClr val="EAF2FA"/>
                </a:solidFill>
                <a:latin typeface="Arial" pitchFamily="34" charset="0"/>
                <a:ea typeface="Arial" pitchFamily="34" charset="-122"/>
                <a:cs typeface="Arial" pitchFamily="34" charset="-120"/>
              </a:rPr>
              <a:t>Demand is contracted. Capability is not.</a:t>
            </a:r>
            <a:endParaRPr lang="en-US" sz="3000" dirty="0"/>
          </a:p>
        </p:txBody>
      </p:sp>
      <p:sp>
        <p:nvSpPr>
          <p:cNvPr id="6" name="Text 4"/>
          <p:cNvSpPr txBox="1"/>
          <p:nvPr/>
        </p:nvSpPr>
        <p:spPr>
          <a:xfrm>
            <a:off x="585216" y="1517904"/>
            <a:ext cx="4937760" cy="1371600"/>
          </a:xfrm>
          <a:prstGeom prst="rect">
            <a:avLst/>
          </a:prstGeom>
          <a:noFill/>
          <a:ln/>
        </p:spPr>
        <p:txBody>
          <a:bodyPr wrap="square" lIns="0" tIns="0" rIns="0" bIns="0" rtlCol="0" anchor="ctr"/>
          <a:lstStyle/>
          <a:p>
            <a:pPr indent="0" marL="0">
              <a:buNone/>
            </a:pPr>
            <a:r>
              <a:rPr lang="en-US" sz="8800" b="1" spc="-100" kern="0" dirty="0">
                <a:solidFill>
                  <a:srgbClr val="EAF2FA"/>
                </a:solidFill>
                <a:latin typeface="Arial" pitchFamily="34" charset="0"/>
                <a:ea typeface="Arial" pitchFamily="34" charset="-122"/>
                <a:cs typeface="Arial" pitchFamily="34" charset="-120"/>
              </a:rPr>
              <a:t>18,100</a:t>
            </a:r>
            <a:endParaRPr lang="en-US" sz="8800" dirty="0"/>
          </a:p>
        </p:txBody>
      </p:sp>
      <p:sp>
        <p:nvSpPr>
          <p:cNvPr id="7" name="Text 5"/>
          <p:cNvSpPr txBox="1"/>
          <p:nvPr/>
        </p:nvSpPr>
        <p:spPr>
          <a:xfrm>
            <a:off x="621792" y="2907792"/>
            <a:ext cx="4937760" cy="237744"/>
          </a:xfrm>
          <a:prstGeom prst="rect">
            <a:avLst/>
          </a:prstGeom>
          <a:noFill/>
          <a:ln/>
        </p:spPr>
        <p:txBody>
          <a:bodyPr wrap="square" lIns="0" tIns="0" rIns="0" bIns="0" rtlCol="0" anchor="ctr"/>
          <a:lstStyle/>
          <a:p>
            <a:pPr indent="0" marL="0">
              <a:buNone/>
            </a:pPr>
            <a:r>
              <a:rPr lang="en-US" sz="1050" b="1" spc="260" kern="0" dirty="0">
                <a:solidFill>
                  <a:srgbClr val="6FD3FF"/>
                </a:solidFill>
                <a:latin typeface="Arial" pitchFamily="34" charset="0"/>
                <a:ea typeface="Arial" pitchFamily="34" charset="-122"/>
                <a:cs typeface="Arial" pitchFamily="34" charset="-120"/>
              </a:rPr>
              <a:t>AIRCRAFT ON ORDER, MAY 2026</a:t>
            </a:r>
            <a:endParaRPr lang="en-US" sz="1050" dirty="0"/>
          </a:p>
        </p:txBody>
      </p:sp>
      <p:sp>
        <p:nvSpPr>
          <p:cNvPr id="8" name="Text 6"/>
          <p:cNvSpPr txBox="1"/>
          <p:nvPr/>
        </p:nvSpPr>
        <p:spPr>
          <a:xfrm>
            <a:off x="621792" y="3218688"/>
            <a:ext cx="4480560" cy="685800"/>
          </a:xfrm>
          <a:prstGeom prst="rect">
            <a:avLst/>
          </a:prstGeom>
          <a:noFill/>
          <a:ln/>
        </p:spPr>
        <p:txBody>
          <a:bodyPr wrap="square" lIns="0" tIns="0" rIns="0" bIns="0" rtlCol="0" anchor="ctr"/>
          <a:lstStyle/>
          <a:p>
            <a:pPr indent="0" marL="0">
              <a:lnSpc>
                <a:spcPct val="120000"/>
              </a:lnSpc>
              <a:buNone/>
            </a:pPr>
            <a:r>
              <a:rPr lang="en-US" sz="1150" dirty="0">
                <a:solidFill>
                  <a:srgbClr val="A9BDD1"/>
                </a:solidFill>
                <a:latin typeface="Arial" pitchFamily="34" charset="0"/>
                <a:ea typeface="Arial" pitchFamily="34" charset="-122"/>
                <a:cs typeface="Arial" pitchFamily="34" charset="-120"/>
              </a:rPr>
              <a:t>Equal to almost 60% of the active fleet. At current production rates the backlog takes over 12 years to clear.</a:t>
            </a:r>
            <a:endParaRPr lang="en-US" sz="1150" dirty="0"/>
          </a:p>
        </p:txBody>
      </p:sp>
      <p:sp>
        <p:nvSpPr>
          <p:cNvPr id="9" name="Shape 7"/>
          <p:cNvSpPr/>
          <p:nvPr/>
        </p:nvSpPr>
        <p:spPr>
          <a:xfrm>
            <a:off x="5852160" y="1426464"/>
            <a:ext cx="5715000" cy="2871216"/>
          </a:xfrm>
          <a:prstGeom prst="roundRect">
            <a:avLst>
              <a:gd name="adj" fmla="val 2866"/>
            </a:avLst>
          </a:prstGeom>
          <a:solidFill>
            <a:srgbClr val="0F1E31">
              <a:alpha val="68000"/>
            </a:srgbClr>
          </a:solidFill>
          <a:ln w="9525">
            <a:solidFill>
              <a:srgbClr val="2A4A68">
                <a:alpha val="75000"/>
              </a:srgbClr>
            </a:solidFill>
            <a:prstDash val="solid"/>
          </a:ln>
          <a:effectLst>
            <a:outerShdw sx="100000" sy="100000" kx="0" ky="0" algn="bl" rotWithShape="0" blurRad="127000" dist="38100" dir="5400000">
              <a:srgbClr val="000000">
                <a:alpha val="35000"/>
              </a:srgbClr>
            </a:outerShdw>
          </a:effectLst>
        </p:spPr>
      </p:sp>
      <p:sp>
        <p:nvSpPr>
          <p:cNvPr id="10" name="Text 8"/>
          <p:cNvSpPr txBox="1"/>
          <p:nvPr/>
        </p:nvSpPr>
        <p:spPr>
          <a:xfrm>
            <a:off x="6144768" y="1609344"/>
            <a:ext cx="5166360" cy="566928"/>
          </a:xfrm>
          <a:prstGeom prst="rect">
            <a:avLst/>
          </a:prstGeom>
          <a:noFill/>
          <a:ln/>
        </p:spPr>
        <p:txBody>
          <a:bodyPr wrap="square" lIns="0" tIns="0" rIns="0" bIns="0" rtlCol="0" anchor="ctr"/>
          <a:lstStyle/>
          <a:p>
            <a:pPr indent="0" marL="0">
              <a:lnSpc>
                <a:spcPct val="115000"/>
              </a:lnSpc>
              <a:buNone/>
            </a:pPr>
            <a:r>
              <a:rPr lang="en-US" sz="1300" dirty="0">
                <a:solidFill>
                  <a:srgbClr val="EAF2FA"/>
                </a:solidFill>
                <a:latin typeface="Arial" pitchFamily="34" charset="0"/>
                <a:ea typeface="Arial" pitchFamily="34" charset="-122"/>
                <a:cs typeface="Arial" pitchFamily="34" charset="-120"/>
              </a:rPr>
              <a:t>In six months, IATA revised its own 2026 delivery forecast down </a:t>
            </a:r>
            <a:pPr indent="0" marL="0">
              <a:lnSpc>
                <a:spcPct val="115000"/>
              </a:lnSpc>
              <a:buNone/>
            </a:pPr>
            <a:r>
              <a:rPr lang="en-US" sz="1300" b="1" dirty="0">
                <a:solidFill>
                  <a:srgbClr val="6FD3FF"/>
                </a:solidFill>
                <a:latin typeface="Arial" pitchFamily="34" charset="0"/>
                <a:ea typeface="Arial" pitchFamily="34" charset="-122"/>
                <a:cs typeface="Arial" pitchFamily="34" charset="-120"/>
              </a:rPr>
              <a:t>from 1,631 aircraft to 1,515.</a:t>
            </a:r>
            <a:endParaRPr lang="en-US" sz="1300" dirty="0"/>
          </a:p>
        </p:txBody>
      </p:sp>
      <p:graphicFrame>
        <p:nvGraphicFramePr>
          <p:cNvPr id="11" name="Chart 0" descr=""/>
          <p:cNvGraphicFramePr/>
          <p:nvPr/>
        </p:nvGraphicFramePr>
        <p:xfrm>
          <a:off x="6144768" y="2286000"/>
          <a:ext cx="5120640" cy="1463040"/>
        </p:xfrm>
        <a:graphic xmlns:a="http://schemas.openxmlformats.org/drawingml/2006/main">
          <a:graphicData uri="http://schemas.openxmlformats.org/drawingml/2006/chart">
            <c:chart xmlns:c="http://schemas.openxmlformats.org/drawingml/2006/chart" r:id="rId2"/>
          </a:graphicData>
        </a:graphic>
      </p:graphicFrame>
      <p:sp>
        <p:nvSpPr>
          <p:cNvPr id="12" name="Shape 9"/>
          <p:cNvSpPr/>
          <p:nvPr/>
        </p:nvSpPr>
        <p:spPr>
          <a:xfrm>
            <a:off x="6144768" y="3950208"/>
            <a:ext cx="5120640" cy="0"/>
          </a:xfrm>
          <a:prstGeom prst="line">
            <a:avLst/>
          </a:prstGeom>
          <a:noFill/>
          <a:ln w="9525">
            <a:solidFill>
              <a:srgbClr val="23405C"/>
            </a:solidFill>
            <a:prstDash val="solid"/>
          </a:ln>
        </p:spPr>
      </p:sp>
      <p:sp>
        <p:nvSpPr>
          <p:cNvPr id="13" name="Text 10"/>
          <p:cNvSpPr txBox="1"/>
          <p:nvPr/>
        </p:nvSpPr>
        <p:spPr>
          <a:xfrm>
            <a:off x="6144768" y="4059936"/>
            <a:ext cx="5120640" cy="457200"/>
          </a:xfrm>
          <a:prstGeom prst="rect">
            <a:avLst/>
          </a:prstGeom>
          <a:noFill/>
          <a:ln/>
        </p:spPr>
        <p:txBody>
          <a:bodyPr wrap="square" lIns="0" tIns="0" rIns="0" bIns="0" rtlCol="0" anchor="ctr"/>
          <a:lstStyle/>
          <a:p>
            <a:pPr indent="0" marL="0">
              <a:buNone/>
            </a:pPr>
            <a:r>
              <a:rPr lang="en-US" sz="2600" b="1" dirty="0">
                <a:solidFill>
                  <a:srgbClr val="EAF2FA"/>
                </a:solidFill>
                <a:latin typeface="Arial" pitchFamily="34" charset="0"/>
                <a:ea typeface="Arial" pitchFamily="34" charset="-122"/>
                <a:cs typeface="Arial" pitchFamily="34" charset="-120"/>
              </a:rPr>
              <a:t>at least $11 billion</a:t>
            </a:r>
            <a:endParaRPr lang="en-US" sz="2600" dirty="0"/>
          </a:p>
        </p:txBody>
      </p:sp>
      <p:sp>
        <p:nvSpPr>
          <p:cNvPr id="14" name="Text 11"/>
          <p:cNvSpPr txBox="1"/>
          <p:nvPr/>
        </p:nvSpPr>
        <p:spPr>
          <a:xfrm>
            <a:off x="6144768" y="4572000"/>
            <a:ext cx="5120640" cy="365760"/>
          </a:xfrm>
          <a:prstGeom prst="rect">
            <a:avLst/>
          </a:prstGeom>
          <a:noFill/>
          <a:ln/>
        </p:spPr>
        <p:txBody>
          <a:bodyPr wrap="square" lIns="0" tIns="0" rIns="0" bIns="0" rtlCol="0" anchor="ctr"/>
          <a:lstStyle/>
          <a:p>
            <a:pPr indent="0" marL="0">
              <a:buNone/>
            </a:pPr>
            <a:r>
              <a:rPr lang="en-US" sz="1000" dirty="0">
                <a:solidFill>
                  <a:srgbClr val="72879D"/>
                </a:solidFill>
                <a:latin typeface="Arial" pitchFamily="34" charset="0"/>
                <a:ea typeface="Arial" pitchFamily="34" charset="-122"/>
                <a:cs typeface="Arial" pitchFamily="34" charset="-120"/>
              </a:rPr>
              <a:t>cost to airlines in 2025 from supply chain failure</a:t>
            </a:r>
            <a:endParaRPr lang="en-US" sz="1000" dirty="0"/>
          </a:p>
        </p:txBody>
      </p:sp>
      <p:sp>
        <p:nvSpPr>
          <p:cNvPr id="15" name="Text 12"/>
          <p:cNvSpPr txBox="1"/>
          <p:nvPr/>
        </p:nvSpPr>
        <p:spPr>
          <a:xfrm>
            <a:off x="621792" y="5815584"/>
            <a:ext cx="10948111" cy="310896"/>
          </a:xfrm>
          <a:prstGeom prst="rect">
            <a:avLst/>
          </a:prstGeom>
          <a:noFill/>
          <a:ln/>
        </p:spPr>
        <p:txBody>
          <a:bodyPr wrap="square" lIns="0" tIns="0" rIns="0" bIns="0" rtlCol="0" anchor="ctr"/>
          <a:lstStyle/>
          <a:p>
            <a:pPr indent="0" marL="0">
              <a:buNone/>
            </a:pPr>
            <a:r>
              <a:rPr lang="en-US" sz="1400" b="1" dirty="0">
                <a:solidFill>
                  <a:srgbClr val="6FD3FF"/>
                </a:solidFill>
                <a:latin typeface="Arial" pitchFamily="34" charset="0"/>
                <a:ea typeface="Arial" pitchFamily="34" charset="-122"/>
                <a:cs typeface="Arial" pitchFamily="34" charset="-120"/>
              </a:rPr>
              <a:t>The constraint is not orders. It is the ability to build.</a:t>
            </a:r>
            <a:endParaRPr lang="en-US" sz="1400" dirty="0"/>
          </a:p>
        </p:txBody>
      </p:sp>
      <p:sp>
        <p:nvSpPr>
          <p:cNvPr id="16" name="Text 13"/>
          <p:cNvSpPr txBox="1"/>
          <p:nvPr/>
        </p:nvSpPr>
        <p:spPr>
          <a:xfrm>
            <a:off x="621792" y="6236208"/>
            <a:ext cx="10948111" cy="256032"/>
          </a:xfrm>
          <a:prstGeom prst="rect">
            <a:avLst/>
          </a:prstGeom>
          <a:noFill/>
          <a:ln/>
        </p:spPr>
        <p:txBody>
          <a:bodyPr wrap="square" lIns="0" tIns="0" rIns="0" bIns="0" rtlCol="0" anchor="ctr"/>
          <a:lstStyle/>
          <a:p>
            <a:pPr indent="0" marL="0">
              <a:lnSpc>
                <a:spcPct val="105000"/>
              </a:lnSpc>
              <a:buNone/>
            </a:pPr>
            <a:r>
              <a:rPr lang="en-US" sz="650" dirty="0">
                <a:solidFill>
                  <a:srgbClr val="51667C"/>
                </a:solidFill>
                <a:latin typeface="Arial" pitchFamily="34" charset="0"/>
                <a:ea typeface="Arial" pitchFamily="34" charset="-122"/>
                <a:cs typeface="Arial" pitchFamily="34" charset="-120"/>
              </a:rPr>
              <a:t>Sources: IATA, Global Outlook for Air Transport, June 2026 and December 2025 · Oliver Wyman, Global Fleet and MRO Market Forecast 2026–2036, February 2026 · W. Walsh, IATA 82nd AGM, June 2026</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03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THE SAME CONSTRAINT, WITH MONEY BEHIND IT</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3000" b="1" dirty="0">
                <a:solidFill>
                  <a:srgbClr val="EAF2FA"/>
                </a:solidFill>
                <a:latin typeface="Arial" pitchFamily="34" charset="0"/>
                <a:ea typeface="Arial" pitchFamily="34" charset="-122"/>
                <a:cs typeface="Arial" pitchFamily="34" charset="-120"/>
              </a:rPr>
              <a:t>Capital was appropriated. Parts did not appear.</a:t>
            </a:r>
            <a:endParaRPr lang="en-US" sz="3000" dirty="0"/>
          </a:p>
        </p:txBody>
      </p:sp>
      <p:sp>
        <p:nvSpPr>
          <p:cNvPr id="6" name="Text 4"/>
          <p:cNvSpPr txBox="1"/>
          <p:nvPr/>
        </p:nvSpPr>
        <p:spPr>
          <a:xfrm>
            <a:off x="621792" y="1481328"/>
            <a:ext cx="4709160" cy="2834640"/>
          </a:xfrm>
          <a:prstGeom prst="rect">
            <a:avLst/>
          </a:prstGeom>
          <a:noFill/>
          <a:ln/>
        </p:spPr>
        <p:txBody>
          <a:bodyPr wrap="square" lIns="0" tIns="0" rIns="0" bIns="0" rtlCol="0" anchor="t"/>
          <a:lstStyle/>
          <a:p>
            <a:pPr algn="l" indent="0" marL="0">
              <a:lnSpc>
                <a:spcPct val="114000"/>
              </a:lnSpc>
              <a:buNone/>
            </a:pPr>
            <a:r>
              <a:rPr lang="en-US" sz="2100" b="1" dirty="0">
                <a:solidFill>
                  <a:srgbClr val="EAF2FA"/>
                </a:solidFill>
                <a:latin typeface="Arial" pitchFamily="34" charset="0"/>
                <a:ea typeface="Arial" pitchFamily="34" charset="-122"/>
                <a:cs typeface="Arial" pitchFamily="34" charset="-120"/>
              </a:rPr>
              <a:t>$4.5 billion</a:t>
            </a:r>
            <a:endParaRPr lang="en-US" sz="2100" dirty="0"/>
          </a:p>
          <a:p>
            <a:pPr algn="l" indent="0" marL="0">
              <a:lnSpc>
                <a:spcPct val="114000"/>
              </a:lnSpc>
              <a:spcAft>
                <a:spcPts val="800"/>
              </a:spcAft>
              <a:buNone/>
            </a:pPr>
            <a:r>
              <a:rPr lang="en-US" sz="1100" dirty="0">
                <a:solidFill>
                  <a:srgbClr val="A9BDD1"/>
                </a:solidFill>
                <a:latin typeface="Arial" pitchFamily="34" charset="0"/>
                <a:ea typeface="Arial" pitchFamily="34" charset="-122"/>
                <a:cs typeface="Arial" pitchFamily="34" charset="-120"/>
              </a:rPr>
              <a:t>spent on 155 mm artillery modernization, February 2022 to September 2025.</a:t>
            </a:r>
            <a:endParaRPr lang="en-US" sz="2100" dirty="0"/>
          </a:p>
          <a:p>
            <a:pPr algn="l" indent="0" marL="0">
              <a:lnSpc>
                <a:spcPct val="114000"/>
              </a:lnSpc>
              <a:spcAft>
                <a:spcPts val="400"/>
              </a:spcAft>
              <a:buNone/>
            </a:pPr>
            <a:r>
              <a:rPr lang="en-US" sz="1100" dirty="0">
                <a:solidFill>
                  <a:srgbClr val="A9BDD1"/>
                </a:solidFill>
                <a:latin typeface="Arial" pitchFamily="34" charset="0"/>
                <a:ea typeface="Arial" pitchFamily="34" charset="-122"/>
                <a:cs typeface="Arial" pitchFamily="34" charset="-120"/>
              </a:rPr>
              <a:t>Target: 100,000 rounds per month by October 2025.</a:t>
            </a:r>
            <a:endParaRPr lang="en-US" sz="2100" dirty="0"/>
          </a:p>
          <a:p>
            <a:pPr algn="l" indent="0" marL="0">
              <a:lnSpc>
                <a:spcPct val="114000"/>
              </a:lnSpc>
              <a:spcAft>
                <a:spcPts val="800"/>
              </a:spcAft>
              <a:buNone/>
            </a:pPr>
            <a:r>
              <a:rPr lang="en-US" sz="1100" dirty="0">
                <a:solidFill>
                  <a:srgbClr val="A9BDD1"/>
                </a:solidFill>
                <a:latin typeface="Arial" pitchFamily="34" charset="0"/>
                <a:ea typeface="Arial" pitchFamily="34" charset="-122"/>
                <a:cs typeface="Arial" pitchFamily="34" charset="-120"/>
              </a:rPr>
              <a:t>Actual: approximately 36,000 rounds per month as of March 2026.</a:t>
            </a:r>
            <a:endParaRPr lang="en-US" sz="2100" dirty="0"/>
          </a:p>
          <a:p>
            <a:pPr algn="l" indent="0" marL="0">
              <a:lnSpc>
                <a:spcPct val="114000"/>
              </a:lnSpc>
              <a:spcAft>
                <a:spcPts val="800"/>
              </a:spcAft>
              <a:buNone/>
            </a:pPr>
            <a:r>
              <a:rPr lang="en-US" sz="1100" dirty="0">
                <a:solidFill>
                  <a:srgbClr val="EAF2FA"/>
                </a:solidFill>
                <a:latin typeface="Arial" pitchFamily="34" charset="0"/>
                <a:ea typeface="Arial" pitchFamily="34" charset="-122"/>
                <a:cs typeface="Arial" pitchFamily="34" charset="-120"/>
              </a:rPr>
              <a:t>A $469 to $500 million facility purpose-built for the program had delivered no conforming metal projectile parts.</a:t>
            </a:r>
            <a:endParaRPr lang="en-US" sz="2100" dirty="0"/>
          </a:p>
          <a:p>
            <a:pPr algn="l" indent="0" marL="0">
              <a:lnSpc>
                <a:spcPct val="114000"/>
              </a:lnSpc>
              <a:buNone/>
            </a:pPr>
            <a:r>
              <a:rPr lang="en-US" sz="950" dirty="0">
                <a:solidFill>
                  <a:srgbClr val="72879D"/>
                </a:solidFill>
                <a:latin typeface="Arial" pitchFamily="34" charset="0"/>
                <a:ea typeface="Arial" pitchFamily="34" charset="-122"/>
                <a:cs typeface="Arial" pitchFamily="34" charset="-120"/>
              </a:rPr>
              <a:t>Revised targets are on record: 71,000/month by September 2026; 140,000 by December 2027. The point is not that output cannot recover. It is that $4.5 billion bought three and a half years and a facility that produced no conforming parts.</a:t>
            </a:r>
            <a:endParaRPr lang="en-US" sz="2100" dirty="0"/>
          </a:p>
        </p:txBody>
      </p:sp>
      <p:sp>
        <p:nvSpPr>
          <p:cNvPr id="7" name="Shape 5"/>
          <p:cNvSpPr/>
          <p:nvPr/>
        </p:nvSpPr>
        <p:spPr>
          <a:xfrm>
            <a:off x="621792" y="4480560"/>
            <a:ext cx="4709160" cy="914400"/>
          </a:xfrm>
          <a:prstGeom prst="roundRect">
            <a:avLst>
              <a:gd name="adj" fmla="val 9000"/>
            </a:avLst>
          </a:prstGeom>
          <a:solidFill>
            <a:srgbClr val="0F1E31">
              <a:alpha val="68000"/>
            </a:srgbClr>
          </a:solidFill>
          <a:ln w="12700">
            <a:solidFill>
              <a:srgbClr val="3D9BD8">
                <a:alpha val="75000"/>
              </a:srgbClr>
            </a:solidFill>
            <a:prstDash val="solid"/>
          </a:ln>
          <a:effectLst>
            <a:outerShdw sx="100000" sy="100000" kx="0" ky="0" algn="bl" rotWithShape="0" blurRad="127000" dist="38100" dir="5400000">
              <a:srgbClr val="000000">
                <a:alpha val="35000"/>
              </a:srgbClr>
            </a:outerShdw>
          </a:effectLst>
        </p:spPr>
      </p:sp>
      <p:sp>
        <p:nvSpPr>
          <p:cNvPr id="8" name="Text 6"/>
          <p:cNvSpPr txBox="1"/>
          <p:nvPr/>
        </p:nvSpPr>
        <p:spPr>
          <a:xfrm>
            <a:off x="859536" y="4626864"/>
            <a:ext cx="4251960" cy="786384"/>
          </a:xfrm>
          <a:prstGeom prst="rect">
            <a:avLst/>
          </a:prstGeom>
          <a:noFill/>
          <a:ln/>
        </p:spPr>
        <p:txBody>
          <a:bodyPr wrap="square" lIns="0" tIns="0" rIns="0" bIns="0" rtlCol="0" anchor="t"/>
          <a:lstStyle/>
          <a:p>
            <a:pPr algn="l" indent="0" marL="0">
              <a:lnSpc>
                <a:spcPct val="112000"/>
              </a:lnSpc>
              <a:spcAft>
                <a:spcPts val="400"/>
              </a:spcAft>
              <a:buNone/>
            </a:pPr>
            <a:r>
              <a:rPr lang="en-US" sz="850" b="1" spc="240" kern="0" dirty="0">
                <a:solidFill>
                  <a:srgbClr val="6FD3FF"/>
                </a:solidFill>
                <a:latin typeface="Arial" pitchFamily="34" charset="0"/>
                <a:ea typeface="Arial" pitchFamily="34" charset="-122"/>
                <a:cs typeface="Arial" pitchFamily="34" charset="-120"/>
              </a:rPr>
              <a:t>THE NAMED BOTTLENECK</a:t>
            </a:r>
            <a:endParaRPr lang="en-US" sz="850" dirty="0"/>
          </a:p>
          <a:p>
            <a:pPr algn="l" indent="0" marL="0">
              <a:lnSpc>
                <a:spcPct val="112000"/>
              </a:lnSpc>
              <a:buNone/>
            </a:pPr>
            <a:r>
              <a:rPr lang="en-US" sz="980" dirty="0">
                <a:solidFill>
                  <a:srgbClr val="EAF2FA"/>
                </a:solidFill>
                <a:latin typeface="Arial" pitchFamily="34" charset="0"/>
                <a:ea typeface="Arial" pitchFamily="34" charset="-122"/>
                <a:cs typeface="Arial" pitchFamily="34" charset="-120"/>
              </a:rPr>
              <a:t>The Inspector General identified the constraint as metal projectile parts. Not funding. Not demand. The ability to manufacture qualified parts at rate.</a:t>
            </a:r>
            <a:endParaRPr lang="en-US" sz="850" dirty="0"/>
          </a:p>
        </p:txBody>
      </p:sp>
      <p:sp>
        <p:nvSpPr>
          <p:cNvPr id="9" name="Shape 7"/>
          <p:cNvSpPr/>
          <p:nvPr/>
        </p:nvSpPr>
        <p:spPr>
          <a:xfrm>
            <a:off x="5852160" y="1426464"/>
            <a:ext cx="5715000" cy="2606040"/>
          </a:xfrm>
          <a:prstGeom prst="roundRect">
            <a:avLst>
              <a:gd name="adj" fmla="val 3158"/>
            </a:avLst>
          </a:prstGeom>
          <a:solidFill>
            <a:srgbClr val="0F1E31">
              <a:alpha val="68000"/>
            </a:srgbClr>
          </a:solidFill>
          <a:ln w="9525">
            <a:solidFill>
              <a:srgbClr val="2A4A68">
                <a:alpha val="75000"/>
              </a:srgbClr>
            </a:solidFill>
            <a:prstDash val="solid"/>
          </a:ln>
          <a:effectLst>
            <a:outerShdw sx="100000" sy="100000" kx="0" ky="0" algn="bl" rotWithShape="0" blurRad="127000" dist="38100" dir="5400000">
              <a:srgbClr val="000000">
                <a:alpha val="35000"/>
              </a:srgbClr>
            </a:outerShdw>
          </a:effectLst>
        </p:spPr>
      </p:sp>
      <p:graphicFrame>
        <p:nvGraphicFramePr>
          <p:cNvPr id="10" name="Chart 0" descr=""/>
          <p:cNvGraphicFramePr/>
          <p:nvPr/>
        </p:nvGraphicFramePr>
        <p:xfrm>
          <a:off x="6172200" y="1609344"/>
          <a:ext cx="5074920" cy="1965960"/>
        </p:xfrm>
        <a:graphic xmlns:a="http://schemas.openxmlformats.org/drawingml/2006/main">
          <a:graphicData uri="http://schemas.openxmlformats.org/drawingml/2006/chart">
            <c:chart xmlns:c="http://schemas.openxmlformats.org/drawingml/2006/chart" r:id="rId2"/>
          </a:graphicData>
        </a:graphic>
      </p:graphicFrame>
      <p:sp>
        <p:nvSpPr>
          <p:cNvPr id="11" name="Text 8"/>
          <p:cNvSpPr txBox="1"/>
          <p:nvPr/>
        </p:nvSpPr>
        <p:spPr>
          <a:xfrm>
            <a:off x="6172200" y="3712464"/>
            <a:ext cx="5074920" cy="274320"/>
          </a:xfrm>
          <a:prstGeom prst="rect">
            <a:avLst/>
          </a:prstGeom>
          <a:noFill/>
          <a:ln/>
        </p:spPr>
        <p:txBody>
          <a:bodyPr wrap="square" lIns="0" tIns="0" rIns="0" bIns="0" rtlCol="0" anchor="ctr"/>
          <a:lstStyle/>
          <a:p>
            <a:pPr indent="0" marL="0">
              <a:buNone/>
            </a:pPr>
            <a:r>
              <a:rPr lang="en-US" sz="950" dirty="0">
                <a:solidFill>
                  <a:srgbClr val="72879D"/>
                </a:solidFill>
                <a:latin typeface="Arial" pitchFamily="34" charset="0"/>
                <a:ea typeface="Arial" pitchFamily="34" charset="-122"/>
                <a:cs typeface="Arial" pitchFamily="34" charset="-120"/>
              </a:rPr>
              <a:t>Actual output is 36% of target — a gap of 64,000 rounds per month.</a:t>
            </a:r>
            <a:endParaRPr lang="en-US" sz="950" dirty="0"/>
          </a:p>
        </p:txBody>
      </p:sp>
      <p:sp>
        <p:nvSpPr>
          <p:cNvPr id="12" name="Text 9"/>
          <p:cNvSpPr txBox="1"/>
          <p:nvPr/>
        </p:nvSpPr>
        <p:spPr>
          <a:xfrm>
            <a:off x="5879592" y="4370832"/>
            <a:ext cx="2606040" cy="365760"/>
          </a:xfrm>
          <a:prstGeom prst="rect">
            <a:avLst/>
          </a:prstGeom>
          <a:noFill/>
          <a:ln/>
        </p:spPr>
        <p:txBody>
          <a:bodyPr wrap="square" lIns="0" tIns="0" rIns="0" bIns="0" rtlCol="0" anchor="ctr"/>
          <a:lstStyle/>
          <a:p>
            <a:pPr indent="0" marL="0">
              <a:buNone/>
            </a:pPr>
            <a:r>
              <a:rPr lang="en-US" sz="1800" b="1" dirty="0">
                <a:solidFill>
                  <a:srgbClr val="EAF2FA"/>
                </a:solidFill>
                <a:latin typeface="Arial" pitchFamily="34" charset="0"/>
                <a:ea typeface="Arial" pitchFamily="34" charset="-122"/>
                <a:cs typeface="Arial" pitchFamily="34" charset="-120"/>
              </a:rPr>
              <a:t>over 12 years</a:t>
            </a:r>
            <a:endParaRPr lang="en-US" sz="1800" dirty="0"/>
          </a:p>
        </p:txBody>
      </p:sp>
      <p:sp>
        <p:nvSpPr>
          <p:cNvPr id="13" name="Text 10"/>
          <p:cNvSpPr txBox="1"/>
          <p:nvPr/>
        </p:nvSpPr>
        <p:spPr>
          <a:xfrm>
            <a:off x="5879592" y="4773168"/>
            <a:ext cx="2560320" cy="694944"/>
          </a:xfrm>
          <a:prstGeom prst="rect">
            <a:avLst/>
          </a:prstGeom>
          <a:noFill/>
          <a:ln/>
        </p:spPr>
        <p:txBody>
          <a:bodyPr wrap="square" lIns="0" tIns="0" rIns="0" bIns="0" rtlCol="0" anchor="ctr"/>
          <a:lstStyle/>
          <a:p>
            <a:pPr indent="0" marL="0">
              <a:lnSpc>
                <a:spcPct val="110000"/>
              </a:lnSpc>
              <a:buNone/>
            </a:pPr>
            <a:r>
              <a:rPr lang="en-US" sz="850" dirty="0">
                <a:solidFill>
                  <a:srgbClr val="72879D"/>
                </a:solidFill>
                <a:latin typeface="Arial" pitchFamily="34" charset="0"/>
                <a:ea typeface="Arial" pitchFamily="34" charset="-122"/>
                <a:cs typeface="Arial" pitchFamily="34" charset="-120"/>
              </a:rPr>
              <a:t>average time for the Department to deliver a new capability, up again this year</a:t>
            </a:r>
            <a:endParaRPr lang="en-US" sz="850" dirty="0"/>
          </a:p>
        </p:txBody>
      </p:sp>
      <p:sp>
        <p:nvSpPr>
          <p:cNvPr id="14" name="Shape 11"/>
          <p:cNvSpPr/>
          <p:nvPr/>
        </p:nvSpPr>
        <p:spPr>
          <a:xfrm>
            <a:off x="8723376" y="4416552"/>
            <a:ext cx="0" cy="914400"/>
          </a:xfrm>
          <a:prstGeom prst="line">
            <a:avLst/>
          </a:prstGeom>
          <a:noFill/>
          <a:ln w="9525">
            <a:solidFill>
              <a:srgbClr val="23405C"/>
            </a:solidFill>
            <a:prstDash val="solid"/>
          </a:ln>
        </p:spPr>
      </p:sp>
      <p:sp>
        <p:nvSpPr>
          <p:cNvPr id="15" name="Text 12"/>
          <p:cNvSpPr txBox="1"/>
          <p:nvPr/>
        </p:nvSpPr>
        <p:spPr>
          <a:xfrm>
            <a:off x="8933688" y="4370832"/>
            <a:ext cx="2606040" cy="365760"/>
          </a:xfrm>
          <a:prstGeom prst="rect">
            <a:avLst/>
          </a:prstGeom>
          <a:noFill/>
          <a:ln/>
        </p:spPr>
        <p:txBody>
          <a:bodyPr wrap="square" lIns="0" tIns="0" rIns="0" bIns="0" rtlCol="0" anchor="ctr"/>
          <a:lstStyle/>
          <a:p>
            <a:pPr indent="0" marL="0">
              <a:buNone/>
            </a:pPr>
            <a:r>
              <a:rPr lang="en-US" sz="1800" b="1" dirty="0">
                <a:solidFill>
                  <a:srgbClr val="EAF2FA"/>
                </a:solidFill>
                <a:latin typeface="Arial" pitchFamily="34" charset="0"/>
                <a:ea typeface="Arial" pitchFamily="34" charset="-122"/>
                <a:cs typeface="Arial" pitchFamily="34" charset="-120"/>
              </a:rPr>
              <a:t>25 to 51 months</a:t>
            </a:r>
            <a:endParaRPr lang="en-US" sz="1800" dirty="0"/>
          </a:p>
        </p:txBody>
      </p:sp>
      <p:sp>
        <p:nvSpPr>
          <p:cNvPr id="16" name="Text 13"/>
          <p:cNvSpPr txBox="1"/>
          <p:nvPr/>
        </p:nvSpPr>
        <p:spPr>
          <a:xfrm>
            <a:off x="8933688" y="4773168"/>
            <a:ext cx="2560320" cy="694944"/>
          </a:xfrm>
          <a:prstGeom prst="rect">
            <a:avLst/>
          </a:prstGeom>
          <a:noFill/>
          <a:ln/>
        </p:spPr>
        <p:txBody>
          <a:bodyPr wrap="square" lIns="0" tIns="0" rIns="0" bIns="0" rtlCol="0" anchor="ctr"/>
          <a:lstStyle/>
          <a:p>
            <a:pPr indent="0" marL="0">
              <a:lnSpc>
                <a:spcPct val="110000"/>
              </a:lnSpc>
              <a:buNone/>
            </a:pPr>
            <a:r>
              <a:rPr lang="en-US" sz="850" dirty="0">
                <a:solidFill>
                  <a:srgbClr val="72879D"/>
                </a:solidFill>
                <a:latin typeface="Arial" pitchFamily="34" charset="0"/>
                <a:ea typeface="Arial" pitchFamily="34" charset="-122"/>
                <a:cs typeface="Arial" pitchFamily="34" charset="-120"/>
              </a:rPr>
              <a:t>current manufacturing lead times across major munitions programs</a:t>
            </a:r>
            <a:endParaRPr lang="en-US" sz="850" dirty="0"/>
          </a:p>
        </p:txBody>
      </p:sp>
      <p:sp>
        <p:nvSpPr>
          <p:cNvPr id="17" name="Text 14"/>
          <p:cNvSpPr txBox="1"/>
          <p:nvPr/>
        </p:nvSpPr>
        <p:spPr>
          <a:xfrm>
            <a:off x="621792" y="5815584"/>
            <a:ext cx="10948111" cy="310896"/>
          </a:xfrm>
          <a:prstGeom prst="rect">
            <a:avLst/>
          </a:prstGeom>
          <a:noFill/>
          <a:ln/>
        </p:spPr>
        <p:txBody>
          <a:bodyPr wrap="square" lIns="0" tIns="0" rIns="0" bIns="0" rtlCol="0" anchor="ctr"/>
          <a:lstStyle/>
          <a:p>
            <a:pPr indent="0" marL="0">
              <a:buNone/>
            </a:pPr>
            <a:r>
              <a:rPr lang="en-US" sz="1400" b="1" dirty="0">
                <a:solidFill>
                  <a:srgbClr val="6FD3FF"/>
                </a:solidFill>
                <a:latin typeface="Arial" pitchFamily="34" charset="0"/>
                <a:ea typeface="Arial" pitchFamily="34" charset="-122"/>
                <a:cs typeface="Arial" pitchFamily="34" charset="-120"/>
              </a:rPr>
              <a:t>Industrial capability is now a national constraint, and it is being measured.</a:t>
            </a:r>
            <a:endParaRPr lang="en-US" sz="1400" dirty="0"/>
          </a:p>
        </p:txBody>
      </p:sp>
      <p:sp>
        <p:nvSpPr>
          <p:cNvPr id="18" name="Text 15"/>
          <p:cNvSpPr txBox="1"/>
          <p:nvPr/>
        </p:nvSpPr>
        <p:spPr>
          <a:xfrm>
            <a:off x="621792" y="6236208"/>
            <a:ext cx="10948111" cy="256032"/>
          </a:xfrm>
          <a:prstGeom prst="rect">
            <a:avLst/>
          </a:prstGeom>
          <a:noFill/>
          <a:ln/>
        </p:spPr>
        <p:txBody>
          <a:bodyPr wrap="square" lIns="0" tIns="0" rIns="0" bIns="0" rtlCol="0" anchor="ctr"/>
          <a:lstStyle/>
          <a:p>
            <a:pPr indent="0" marL="0">
              <a:lnSpc>
                <a:spcPct val="105000"/>
              </a:lnSpc>
              <a:buNone/>
            </a:pPr>
            <a:r>
              <a:rPr lang="en-US" sz="650" dirty="0">
                <a:solidFill>
                  <a:srgbClr val="51667C"/>
                </a:solidFill>
                <a:latin typeface="Arial" pitchFamily="34" charset="0"/>
                <a:ea typeface="Arial" pitchFamily="34" charset="-122"/>
                <a:cs typeface="Arial" pitchFamily="34" charset="-120"/>
              </a:rPr>
              <a:t>Sources: Department of War Office of Inspector General, DOWIG-2026-095, July 2026 · GAO-26-108457, July 2026 · CSIS, July 2026</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04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WHY MONEY HAS NOT FIXED IT</a:t>
            </a:r>
            <a:endParaRPr lang="en-US" sz="1000" dirty="0"/>
          </a:p>
        </p:txBody>
      </p:sp>
      <p:sp>
        <p:nvSpPr>
          <p:cNvPr id="5" name="Text 3"/>
          <p:cNvSpPr txBox="1"/>
          <p:nvPr/>
        </p:nvSpPr>
        <p:spPr>
          <a:xfrm>
            <a:off x="621792" y="786384"/>
            <a:ext cx="10948111" cy="1051560"/>
          </a:xfrm>
          <a:prstGeom prst="rect">
            <a:avLst/>
          </a:prstGeom>
          <a:noFill/>
          <a:ln/>
        </p:spPr>
        <p:txBody>
          <a:bodyPr wrap="square" lIns="0" tIns="0" rIns="0" bIns="0" rtlCol="0" anchor="t"/>
          <a:lstStyle/>
          <a:p>
            <a:pPr indent="0" marL="0">
              <a:lnSpc>
                <a:spcPct val="102000"/>
              </a:lnSpc>
              <a:buNone/>
            </a:pPr>
            <a:r>
              <a:rPr lang="en-US" sz="2800" b="1" dirty="0">
                <a:solidFill>
                  <a:srgbClr val="EAF2FA"/>
                </a:solidFill>
                <a:latin typeface="Arial" pitchFamily="34" charset="0"/>
                <a:ea typeface="Arial" pitchFamily="34" charset="-122"/>
                <a:cs typeface="Arial" pitchFamily="34" charset="-120"/>
              </a:rPr>
              <a:t>The machines are already there.</a:t>
            </a:r>
            <a:endParaRPr lang="en-US" sz="2800" dirty="0"/>
          </a:p>
          <a:p>
            <a:pPr indent="0" marL="0">
              <a:lnSpc>
                <a:spcPct val="102000"/>
              </a:lnSpc>
              <a:buNone/>
            </a:pPr>
            <a:r>
              <a:rPr lang="en-US" sz="2800" dirty="0">
                <a:solidFill>
                  <a:srgbClr val="A9BDD1"/>
                </a:solidFill>
                <a:latin typeface="Arial" pitchFamily="34" charset="0"/>
                <a:ea typeface="Arial" pitchFamily="34" charset="-122"/>
                <a:cs typeface="Arial" pitchFamily="34" charset="-120"/>
              </a:rPr>
              <a:t>They are idle about three quarters of the time.</a:t>
            </a:r>
            <a:endParaRPr lang="en-US" sz="2800" dirty="0"/>
          </a:p>
        </p:txBody>
      </p:sp>
      <p:graphicFrame>
        <p:nvGraphicFramePr>
          <p:cNvPr id="6" name="Chart 0" descr=""/>
          <p:cNvGraphicFramePr/>
          <p:nvPr/>
        </p:nvGraphicFramePr>
        <p:xfrm>
          <a:off x="576072" y="2011680"/>
          <a:ext cx="3383280" cy="3246120"/>
        </p:xfrm>
        <a:graphic xmlns:a="http://schemas.openxmlformats.org/drawingml/2006/main">
          <a:graphicData uri="http://schemas.openxmlformats.org/drawingml/2006/chart">
            <c:chart xmlns:c="http://schemas.openxmlformats.org/drawingml/2006/chart" r:id="rId2"/>
          </a:graphicData>
        </a:graphic>
      </p:graphicFrame>
      <p:sp>
        <p:nvSpPr>
          <p:cNvPr id="7" name="Text 4"/>
          <p:cNvSpPr txBox="1"/>
          <p:nvPr/>
        </p:nvSpPr>
        <p:spPr>
          <a:xfrm>
            <a:off x="1188720" y="3246120"/>
            <a:ext cx="2194560" cy="566928"/>
          </a:xfrm>
          <a:prstGeom prst="rect">
            <a:avLst/>
          </a:prstGeom>
          <a:noFill/>
          <a:ln/>
        </p:spPr>
        <p:txBody>
          <a:bodyPr wrap="square" lIns="0" tIns="0" rIns="0" bIns="0" rtlCol="0" anchor="ctr"/>
          <a:lstStyle/>
          <a:p>
            <a:pPr algn="ctr" indent="0" marL="0">
              <a:buNone/>
            </a:pPr>
            <a:r>
              <a:rPr lang="en-US" sz="3300" b="1" dirty="0">
                <a:solidFill>
                  <a:srgbClr val="EAF2FA"/>
                </a:solidFill>
                <a:latin typeface="Arial" pitchFamily="34" charset="0"/>
                <a:ea typeface="Arial" pitchFamily="34" charset="-122"/>
                <a:cs typeface="Arial" pitchFamily="34" charset="-120"/>
              </a:rPr>
              <a:t>25.9%</a:t>
            </a:r>
            <a:endParaRPr lang="en-US" sz="3300" dirty="0"/>
          </a:p>
        </p:txBody>
      </p:sp>
      <p:sp>
        <p:nvSpPr>
          <p:cNvPr id="8" name="Text 5"/>
          <p:cNvSpPr txBox="1"/>
          <p:nvPr/>
        </p:nvSpPr>
        <p:spPr>
          <a:xfrm>
            <a:off x="1188720" y="3813048"/>
            <a:ext cx="2194560" cy="219456"/>
          </a:xfrm>
          <a:prstGeom prst="rect">
            <a:avLst/>
          </a:prstGeom>
          <a:noFill/>
          <a:ln/>
        </p:spPr>
        <p:txBody>
          <a:bodyPr wrap="square" lIns="0" tIns="0" rIns="0" bIns="0" rtlCol="0" anchor="ctr"/>
          <a:lstStyle/>
          <a:p>
            <a:pPr algn="ctr" indent="0" marL="0">
              <a:buNone/>
            </a:pPr>
            <a:r>
              <a:rPr lang="en-US" sz="800" spc="200" kern="0" dirty="0">
                <a:solidFill>
                  <a:srgbClr val="72879D"/>
                </a:solidFill>
                <a:latin typeface="Arial" pitchFamily="34" charset="0"/>
                <a:ea typeface="Arial" pitchFamily="34" charset="-122"/>
                <a:cs typeface="Arial" pitchFamily="34" charset="-120"/>
              </a:rPr>
              <a:t>UTILIZED · 2022</a:t>
            </a:r>
            <a:endParaRPr lang="en-US" sz="800" dirty="0"/>
          </a:p>
        </p:txBody>
      </p:sp>
      <p:sp>
        <p:nvSpPr>
          <p:cNvPr id="9" name="Text 6"/>
          <p:cNvSpPr txBox="1"/>
          <p:nvPr/>
        </p:nvSpPr>
        <p:spPr>
          <a:xfrm>
            <a:off x="621792" y="5120640"/>
            <a:ext cx="3383280" cy="457200"/>
          </a:xfrm>
          <a:prstGeom prst="rect">
            <a:avLst/>
          </a:prstGeom>
          <a:noFill/>
          <a:ln/>
        </p:spPr>
        <p:txBody>
          <a:bodyPr wrap="square" lIns="0" tIns="0" rIns="0" bIns="0" rtlCol="0" anchor="ctr"/>
          <a:lstStyle/>
          <a:p>
            <a:pPr algn="ctr" indent="0" marL="0">
              <a:lnSpc>
                <a:spcPct val="120000"/>
              </a:lnSpc>
              <a:buNone/>
            </a:pPr>
            <a:r>
              <a:rPr lang="en-US" sz="850" b="1" spc="160" kern="0" dirty="0">
                <a:solidFill>
                  <a:srgbClr val="6FD3FF"/>
                </a:solidFill>
                <a:latin typeface="Arial" pitchFamily="34" charset="0"/>
                <a:ea typeface="Arial" pitchFamily="34" charset="-122"/>
                <a:cs typeface="Arial" pitchFamily="34" charset="-120"/>
              </a:rPr>
              <a:t>AVERAGE CNC MACHINE UTILIZATION,</a:t>
            </a:r>
            <a:endParaRPr lang="en-US" sz="850" dirty="0"/>
          </a:p>
          <a:p>
            <a:pPr algn="ctr" indent="0" marL="0">
              <a:lnSpc>
                <a:spcPct val="120000"/>
              </a:lnSpc>
              <a:buNone/>
            </a:pPr>
            <a:r>
              <a:rPr lang="en-US" sz="850" b="1" spc="160" kern="0" dirty="0">
                <a:solidFill>
                  <a:srgbClr val="6FD3FF"/>
                </a:solidFill>
                <a:latin typeface="Arial" pitchFamily="34" charset="0"/>
                <a:ea typeface="Arial" pitchFamily="34" charset="-122"/>
                <a:cs typeface="Arial" pitchFamily="34" charset="-120"/>
              </a:rPr>
              <a:t>MEASURED FROM MACHINE CONTROLLERS</a:t>
            </a:r>
            <a:endParaRPr lang="en-US" sz="850" dirty="0"/>
          </a:p>
        </p:txBody>
      </p:sp>
      <p:sp>
        <p:nvSpPr>
          <p:cNvPr id="10" name="Shape 7"/>
          <p:cNvSpPr/>
          <p:nvPr/>
        </p:nvSpPr>
        <p:spPr>
          <a:xfrm>
            <a:off x="4343400" y="1975104"/>
            <a:ext cx="7223760" cy="0"/>
          </a:xfrm>
          <a:prstGeom prst="line">
            <a:avLst/>
          </a:prstGeom>
          <a:noFill/>
          <a:ln w="9525">
            <a:solidFill>
              <a:srgbClr val="23405C"/>
            </a:solidFill>
            <a:prstDash val="solid"/>
          </a:ln>
        </p:spPr>
      </p:sp>
      <p:sp>
        <p:nvSpPr>
          <p:cNvPr id="11" name="Text 8"/>
          <p:cNvSpPr txBox="1"/>
          <p:nvPr/>
        </p:nvSpPr>
        <p:spPr>
          <a:xfrm>
            <a:off x="4343400" y="2048256"/>
            <a:ext cx="1371600" cy="457200"/>
          </a:xfrm>
          <a:prstGeom prst="rect">
            <a:avLst/>
          </a:prstGeom>
          <a:noFill/>
          <a:ln/>
        </p:spPr>
        <p:txBody>
          <a:bodyPr wrap="square" lIns="0" tIns="0" rIns="0" bIns="0" rtlCol="0" anchor="ctr"/>
          <a:lstStyle/>
          <a:p>
            <a:pPr indent="0" marL="0">
              <a:buNone/>
            </a:pPr>
            <a:r>
              <a:rPr lang="en-US" sz="1900" b="1" dirty="0">
                <a:solidFill>
                  <a:srgbClr val="6FD3FF"/>
                </a:solidFill>
                <a:latin typeface="Arial" pitchFamily="34" charset="0"/>
                <a:ea typeface="Arial" pitchFamily="34" charset="-122"/>
                <a:cs typeface="Arial" pitchFamily="34" charset="-120"/>
              </a:rPr>
              <a:t>over 40%</a:t>
            </a:r>
            <a:endParaRPr lang="en-US" sz="1900" dirty="0"/>
          </a:p>
        </p:txBody>
      </p:sp>
      <p:sp>
        <p:nvSpPr>
          <p:cNvPr id="12" name="Text 9"/>
          <p:cNvSpPr txBox="1"/>
          <p:nvPr/>
        </p:nvSpPr>
        <p:spPr>
          <a:xfrm>
            <a:off x="5897880" y="2029968"/>
            <a:ext cx="5669280" cy="868680"/>
          </a:xfrm>
          <a:prstGeom prst="rect">
            <a:avLst/>
          </a:prstGeom>
          <a:noFill/>
          <a:ln/>
        </p:spPr>
        <p:txBody>
          <a:bodyPr wrap="square" lIns="0" tIns="0" rIns="0" bIns="0" rtlCol="0" anchor="t"/>
          <a:lstStyle/>
          <a:p>
            <a:pPr algn="l" indent="0" marL="0">
              <a:lnSpc>
                <a:spcPct val="108000"/>
              </a:lnSpc>
              <a:spcAft>
                <a:spcPts val="200"/>
              </a:spcAft>
              <a:buNone/>
            </a:pPr>
            <a:r>
              <a:rPr lang="en-US" sz="1050" b="1" dirty="0">
                <a:solidFill>
                  <a:srgbClr val="EAF2FA"/>
                </a:solidFill>
                <a:latin typeface="Arial" pitchFamily="34" charset="0"/>
                <a:ea typeface="Arial" pitchFamily="34" charset="-122"/>
                <a:cs typeface="Arial" pitchFamily="34" charset="-120"/>
              </a:rPr>
              <a:t>The supplier base shrank.</a:t>
            </a:r>
            <a:endParaRPr lang="en-US" sz="1050" dirty="0"/>
          </a:p>
          <a:p>
            <a:pPr algn="l" indent="0" marL="0">
              <a:lnSpc>
                <a:spcPct val="108000"/>
              </a:lnSpc>
              <a:buNone/>
            </a:pPr>
            <a:r>
              <a:rPr lang="en-US" sz="950" dirty="0">
                <a:solidFill>
                  <a:srgbClr val="A9BDD1"/>
                </a:solidFill>
                <a:latin typeface="Arial" pitchFamily="34" charset="0"/>
                <a:ea typeface="Arial" pitchFamily="34" charset="-122"/>
                <a:cs typeface="Arial" pitchFamily="34" charset="-120"/>
              </a:rPr>
              <a:t>Small businesses in the defense industrial base fell by over 40% in a decade. Aerospace and defense primes went from 51 to 5.</a:t>
            </a:r>
            <a:endParaRPr lang="en-US" sz="1050" dirty="0"/>
          </a:p>
        </p:txBody>
      </p:sp>
      <p:sp>
        <p:nvSpPr>
          <p:cNvPr id="13" name="Shape 10"/>
          <p:cNvSpPr/>
          <p:nvPr/>
        </p:nvSpPr>
        <p:spPr>
          <a:xfrm>
            <a:off x="4343400" y="2871216"/>
            <a:ext cx="7223760" cy="0"/>
          </a:xfrm>
          <a:prstGeom prst="line">
            <a:avLst/>
          </a:prstGeom>
          <a:noFill/>
          <a:ln w="9525">
            <a:solidFill>
              <a:srgbClr val="23405C"/>
            </a:solidFill>
            <a:prstDash val="solid"/>
          </a:ln>
        </p:spPr>
      </p:sp>
      <p:sp>
        <p:nvSpPr>
          <p:cNvPr id="14" name="Text 11"/>
          <p:cNvSpPr txBox="1"/>
          <p:nvPr/>
        </p:nvSpPr>
        <p:spPr>
          <a:xfrm>
            <a:off x="4343400" y="2944368"/>
            <a:ext cx="1371600" cy="457200"/>
          </a:xfrm>
          <a:prstGeom prst="rect">
            <a:avLst/>
          </a:prstGeom>
          <a:noFill/>
          <a:ln/>
        </p:spPr>
        <p:txBody>
          <a:bodyPr wrap="square" lIns="0" tIns="0" rIns="0" bIns="0" rtlCol="0" anchor="ctr"/>
          <a:lstStyle/>
          <a:p>
            <a:pPr indent="0" marL="0">
              <a:buNone/>
            </a:pPr>
            <a:r>
              <a:rPr lang="en-US" sz="1900" b="1" dirty="0">
                <a:solidFill>
                  <a:srgbClr val="6FD3FF"/>
                </a:solidFill>
                <a:latin typeface="Arial" pitchFamily="34" charset="0"/>
                <a:ea typeface="Arial" pitchFamily="34" charset="-122"/>
                <a:cs typeface="Arial" pitchFamily="34" charset="-120"/>
              </a:rPr>
              <a:t>400,000</a:t>
            </a:r>
            <a:endParaRPr lang="en-US" sz="1900" dirty="0"/>
          </a:p>
        </p:txBody>
      </p:sp>
      <p:sp>
        <p:nvSpPr>
          <p:cNvPr id="15" name="Text 12"/>
          <p:cNvSpPr txBox="1"/>
          <p:nvPr/>
        </p:nvSpPr>
        <p:spPr>
          <a:xfrm>
            <a:off x="5897880" y="2926080"/>
            <a:ext cx="5669280" cy="868680"/>
          </a:xfrm>
          <a:prstGeom prst="rect">
            <a:avLst/>
          </a:prstGeom>
          <a:noFill/>
          <a:ln/>
        </p:spPr>
        <p:txBody>
          <a:bodyPr wrap="square" lIns="0" tIns="0" rIns="0" bIns="0" rtlCol="0" anchor="t"/>
          <a:lstStyle/>
          <a:p>
            <a:pPr algn="l" indent="0" marL="0">
              <a:lnSpc>
                <a:spcPct val="108000"/>
              </a:lnSpc>
              <a:spcAft>
                <a:spcPts val="200"/>
              </a:spcAft>
              <a:buNone/>
            </a:pPr>
            <a:r>
              <a:rPr lang="en-US" sz="1050" b="1" dirty="0">
                <a:solidFill>
                  <a:srgbClr val="EAF2FA"/>
                </a:solidFill>
                <a:latin typeface="Arial" pitchFamily="34" charset="0"/>
                <a:ea typeface="Arial" pitchFamily="34" charset="-122"/>
                <a:cs typeface="Arial" pitchFamily="34" charset="-120"/>
              </a:rPr>
              <a:t>The workforce is not arriving.</a:t>
            </a:r>
            <a:endParaRPr lang="en-US" sz="1050" dirty="0"/>
          </a:p>
          <a:p>
            <a:pPr algn="l" indent="0" marL="0">
              <a:lnSpc>
                <a:spcPct val="108000"/>
              </a:lnSpc>
              <a:buNone/>
            </a:pPr>
            <a:r>
              <a:rPr lang="en-US" sz="950" dirty="0">
                <a:solidFill>
                  <a:srgbClr val="A9BDD1"/>
                </a:solidFill>
                <a:latin typeface="Arial" pitchFamily="34" charset="0"/>
                <a:ea typeface="Arial" pitchFamily="34" charset="-122"/>
                <a:cs typeface="Arial" pitchFamily="34" charset="-120"/>
              </a:rPr>
              <a:t>400,000 defense manufacturing positions are open now. 122,000 casting and forging vacancies are projected by 2028.</a:t>
            </a:r>
            <a:endParaRPr lang="en-US" sz="1050" dirty="0"/>
          </a:p>
        </p:txBody>
      </p:sp>
      <p:sp>
        <p:nvSpPr>
          <p:cNvPr id="16" name="Shape 13"/>
          <p:cNvSpPr/>
          <p:nvPr/>
        </p:nvSpPr>
        <p:spPr>
          <a:xfrm>
            <a:off x="4343400" y="3767328"/>
            <a:ext cx="7223760" cy="0"/>
          </a:xfrm>
          <a:prstGeom prst="line">
            <a:avLst/>
          </a:prstGeom>
          <a:noFill/>
          <a:ln w="9525">
            <a:solidFill>
              <a:srgbClr val="23405C"/>
            </a:solidFill>
            <a:prstDash val="solid"/>
          </a:ln>
        </p:spPr>
      </p:sp>
      <p:sp>
        <p:nvSpPr>
          <p:cNvPr id="17" name="Text 14"/>
          <p:cNvSpPr txBox="1"/>
          <p:nvPr/>
        </p:nvSpPr>
        <p:spPr>
          <a:xfrm>
            <a:off x="4343400" y="3840480"/>
            <a:ext cx="1371600" cy="457200"/>
          </a:xfrm>
          <a:prstGeom prst="rect">
            <a:avLst/>
          </a:prstGeom>
          <a:noFill/>
          <a:ln/>
        </p:spPr>
        <p:txBody>
          <a:bodyPr wrap="square" lIns="0" tIns="0" rIns="0" bIns="0" rtlCol="0" anchor="ctr"/>
          <a:lstStyle/>
          <a:p>
            <a:pPr indent="0" marL="0">
              <a:buNone/>
            </a:pPr>
            <a:r>
              <a:rPr lang="en-US" sz="1900" b="1" dirty="0">
                <a:solidFill>
                  <a:srgbClr val="6FD3FF"/>
                </a:solidFill>
                <a:latin typeface="Arial" pitchFamily="34" charset="0"/>
                <a:ea typeface="Arial" pitchFamily="34" charset="-122"/>
                <a:cs typeface="Arial" pitchFamily="34" charset="-120"/>
              </a:rPr>
              <a:t>−1%</a:t>
            </a:r>
            <a:endParaRPr lang="en-US" sz="1900" dirty="0"/>
          </a:p>
        </p:txBody>
      </p:sp>
      <p:sp>
        <p:nvSpPr>
          <p:cNvPr id="18" name="Text 15"/>
          <p:cNvSpPr txBox="1"/>
          <p:nvPr/>
        </p:nvSpPr>
        <p:spPr>
          <a:xfrm>
            <a:off x="5897880" y="3822192"/>
            <a:ext cx="5669280" cy="868680"/>
          </a:xfrm>
          <a:prstGeom prst="rect">
            <a:avLst/>
          </a:prstGeom>
          <a:noFill/>
          <a:ln/>
        </p:spPr>
        <p:txBody>
          <a:bodyPr wrap="square" lIns="0" tIns="0" rIns="0" bIns="0" rtlCol="0" anchor="t"/>
          <a:lstStyle/>
          <a:p>
            <a:pPr algn="l" indent="0" marL="0">
              <a:lnSpc>
                <a:spcPct val="108000"/>
              </a:lnSpc>
              <a:spcAft>
                <a:spcPts val="200"/>
              </a:spcAft>
              <a:buNone/>
            </a:pPr>
            <a:r>
              <a:rPr lang="en-US" sz="1050" b="1" dirty="0">
                <a:solidFill>
                  <a:srgbClr val="EAF2FA"/>
                </a:solidFill>
                <a:latin typeface="Arial" pitchFamily="34" charset="0"/>
                <a:ea typeface="Arial" pitchFamily="34" charset="-122"/>
                <a:cs typeface="Arial" pitchFamily="34" charset="-120"/>
              </a:rPr>
              <a:t>Machinists are not a growth trade.</a:t>
            </a:r>
            <a:endParaRPr lang="en-US" sz="1050" dirty="0"/>
          </a:p>
          <a:p>
            <a:pPr algn="l" indent="0" marL="0">
              <a:lnSpc>
                <a:spcPct val="108000"/>
              </a:lnSpc>
              <a:buNone/>
            </a:pPr>
            <a:r>
              <a:rPr lang="en-US" sz="950" dirty="0">
                <a:solidFill>
                  <a:srgbClr val="A9BDD1"/>
                </a:solidFill>
                <a:latin typeface="Arial" pitchFamily="34" charset="0"/>
                <a:ea typeface="Arial" pitchFamily="34" charset="-122"/>
                <a:cs typeface="Arial" pitchFamily="34" charset="-120"/>
              </a:rPr>
              <a:t>Federal projections show the occupation flat to declining through 2035, with about 30,400 openings a year driven by retirement rather than expansion.</a:t>
            </a:r>
            <a:endParaRPr lang="en-US" sz="1050" dirty="0"/>
          </a:p>
        </p:txBody>
      </p:sp>
      <p:sp>
        <p:nvSpPr>
          <p:cNvPr id="19" name="Shape 16"/>
          <p:cNvSpPr/>
          <p:nvPr/>
        </p:nvSpPr>
        <p:spPr>
          <a:xfrm>
            <a:off x="4343400" y="4663440"/>
            <a:ext cx="7223760" cy="0"/>
          </a:xfrm>
          <a:prstGeom prst="line">
            <a:avLst/>
          </a:prstGeom>
          <a:noFill/>
          <a:ln w="9525">
            <a:solidFill>
              <a:srgbClr val="23405C"/>
            </a:solidFill>
            <a:prstDash val="solid"/>
          </a:ln>
        </p:spPr>
      </p:sp>
      <p:sp>
        <p:nvSpPr>
          <p:cNvPr id="20" name="Text 17"/>
          <p:cNvSpPr txBox="1"/>
          <p:nvPr/>
        </p:nvSpPr>
        <p:spPr>
          <a:xfrm>
            <a:off x="4343400" y="4736592"/>
            <a:ext cx="1371600" cy="457200"/>
          </a:xfrm>
          <a:prstGeom prst="rect">
            <a:avLst/>
          </a:prstGeom>
          <a:noFill/>
          <a:ln/>
        </p:spPr>
        <p:txBody>
          <a:bodyPr wrap="square" lIns="0" tIns="0" rIns="0" bIns="0" rtlCol="0" anchor="ctr"/>
          <a:lstStyle/>
          <a:p>
            <a:pPr indent="0" marL="0">
              <a:buNone/>
            </a:pPr>
            <a:r>
              <a:rPr lang="en-US" sz="1900" b="1" dirty="0">
                <a:solidFill>
                  <a:srgbClr val="6FD3FF"/>
                </a:solidFill>
                <a:latin typeface="Arial" pitchFamily="34" charset="0"/>
                <a:ea typeface="Arial" pitchFamily="34" charset="-122"/>
                <a:cs typeface="Arial" pitchFamily="34" charset="-120"/>
              </a:rPr>
              <a:t>56%</a:t>
            </a:r>
            <a:endParaRPr lang="en-US" sz="1900" dirty="0"/>
          </a:p>
        </p:txBody>
      </p:sp>
      <p:sp>
        <p:nvSpPr>
          <p:cNvPr id="21" name="Text 18"/>
          <p:cNvSpPr txBox="1"/>
          <p:nvPr/>
        </p:nvSpPr>
        <p:spPr>
          <a:xfrm>
            <a:off x="5897880" y="4718304"/>
            <a:ext cx="5669280" cy="868680"/>
          </a:xfrm>
          <a:prstGeom prst="rect">
            <a:avLst/>
          </a:prstGeom>
          <a:noFill/>
          <a:ln/>
        </p:spPr>
        <p:txBody>
          <a:bodyPr wrap="square" lIns="0" tIns="0" rIns="0" bIns="0" rtlCol="0" anchor="t"/>
          <a:lstStyle/>
          <a:p>
            <a:pPr algn="l" indent="0" marL="0">
              <a:lnSpc>
                <a:spcPct val="108000"/>
              </a:lnSpc>
              <a:spcAft>
                <a:spcPts val="200"/>
              </a:spcAft>
              <a:buNone/>
            </a:pPr>
            <a:r>
              <a:rPr lang="en-US" sz="1050" b="1" dirty="0">
                <a:solidFill>
                  <a:srgbClr val="EAF2FA"/>
                </a:solidFill>
                <a:latin typeface="Arial" pitchFamily="34" charset="0"/>
                <a:ea typeface="Arial" pitchFamily="34" charset="-122"/>
                <a:cs typeface="Arial" pitchFamily="34" charset="-120"/>
              </a:rPr>
              <a:t>Capacity is not the stated barrier.</a:t>
            </a:r>
            <a:endParaRPr lang="en-US" sz="1050" dirty="0"/>
          </a:p>
          <a:p>
            <a:pPr algn="l" indent="0" marL="0">
              <a:lnSpc>
                <a:spcPct val="108000"/>
              </a:lnSpc>
              <a:buNone/>
            </a:pPr>
            <a:r>
              <a:rPr lang="en-US" sz="950" dirty="0">
                <a:solidFill>
                  <a:srgbClr val="A9BDD1"/>
                </a:solidFill>
                <a:latin typeface="Arial" pitchFamily="34" charset="0"/>
                <a:ea typeface="Arial" pitchFamily="34" charset="-122"/>
                <a:cs typeface="Arial" pitchFamily="34" charset="-120"/>
              </a:rPr>
              <a:t>Asked what stops them surging production, 56% of the defense industry named the absence of a contract vehicle, not the absence of machines.</a:t>
            </a:r>
            <a:endParaRPr lang="en-US" sz="1050" dirty="0"/>
          </a:p>
        </p:txBody>
      </p:sp>
      <p:sp>
        <p:nvSpPr>
          <p:cNvPr id="22" name="Shape 19"/>
          <p:cNvSpPr/>
          <p:nvPr/>
        </p:nvSpPr>
        <p:spPr>
          <a:xfrm>
            <a:off x="621792" y="5687568"/>
            <a:ext cx="10948111" cy="502920"/>
          </a:xfrm>
          <a:prstGeom prst="roundRect">
            <a:avLst>
              <a:gd name="adj" fmla="val 16364"/>
            </a:avLst>
          </a:prstGeom>
          <a:solidFill>
            <a:srgbClr val="0D2036">
              <a:alpha val="85000"/>
            </a:srgbClr>
          </a:solidFill>
          <a:ln w="9525">
            <a:solidFill>
              <a:srgbClr val="3D9BD8">
                <a:alpha val="75000"/>
              </a:srgbClr>
            </a:solidFill>
            <a:prstDash val="solid"/>
          </a:ln>
          <a:effectLst>
            <a:outerShdw sx="100000" sy="100000" kx="0" ky="0" algn="bl" rotWithShape="0" blurRad="127000" dist="38100" dir="5400000">
              <a:srgbClr val="000000">
                <a:alpha val="35000"/>
              </a:srgbClr>
            </a:outerShdw>
          </a:effectLst>
        </p:spPr>
      </p:sp>
      <p:sp>
        <p:nvSpPr>
          <p:cNvPr id="23" name="Text 20"/>
          <p:cNvSpPr txBox="1"/>
          <p:nvPr/>
        </p:nvSpPr>
        <p:spPr>
          <a:xfrm>
            <a:off x="896112" y="5687568"/>
            <a:ext cx="10399471" cy="502920"/>
          </a:xfrm>
          <a:prstGeom prst="rect">
            <a:avLst/>
          </a:prstGeom>
          <a:noFill/>
          <a:ln/>
        </p:spPr>
        <p:txBody>
          <a:bodyPr wrap="square" lIns="0" tIns="0" rIns="0" bIns="0" rtlCol="0" anchor="ctr"/>
          <a:lstStyle/>
          <a:p>
            <a:pPr indent="0" marL="0">
              <a:buNone/>
            </a:pPr>
            <a:r>
              <a:rPr lang="en-US" sz="1200" b="1" dirty="0">
                <a:solidFill>
                  <a:srgbClr val="EAF2FA"/>
                </a:solidFill>
                <a:latin typeface="Arial" pitchFamily="34" charset="0"/>
                <a:ea typeface="Arial" pitchFamily="34" charset="-122"/>
                <a:cs typeface="Arial" pitchFamily="34" charset="-120"/>
              </a:rPr>
              <a:t>Adding capacity is not mainly a machine problem. It is the engineering work required to make an existing machine produce the next configuration.</a:t>
            </a:r>
            <a:endParaRPr lang="en-US" sz="1200" dirty="0"/>
          </a:p>
        </p:txBody>
      </p:sp>
      <p:sp>
        <p:nvSpPr>
          <p:cNvPr id="24" name="Text 21"/>
          <p:cNvSpPr txBox="1"/>
          <p:nvPr/>
        </p:nvSpPr>
        <p:spPr>
          <a:xfrm>
            <a:off x="621792" y="6327648"/>
            <a:ext cx="10948111" cy="256032"/>
          </a:xfrm>
          <a:prstGeom prst="rect">
            <a:avLst/>
          </a:prstGeom>
          <a:noFill/>
          <a:ln/>
        </p:spPr>
        <p:txBody>
          <a:bodyPr wrap="square" lIns="0" tIns="0" rIns="0" bIns="0" rtlCol="0" anchor="ctr"/>
          <a:lstStyle/>
          <a:p>
            <a:pPr indent="0" marL="0">
              <a:lnSpc>
                <a:spcPct val="105000"/>
              </a:lnSpc>
              <a:buNone/>
            </a:pPr>
            <a:r>
              <a:rPr lang="en-US" sz="650" dirty="0">
                <a:solidFill>
                  <a:srgbClr val="51667C"/>
                </a:solidFill>
                <a:latin typeface="Arial" pitchFamily="34" charset="0"/>
                <a:ea typeface="Arial" pitchFamily="34" charset="-122"/>
                <a:cs typeface="Arial" pitchFamily="34" charset="-120"/>
              </a:rPr>
              <a:t>Sources: MachineMetrics, State of the Industry, 2022 · DoD, State of Competition Within the DIB, 2022, restated in testimony March 2026 · Under Secretary of War (A&amp;S), HASC testimony, 4 March 2026 · US BLS, Occupational Outlook Handbook, August 2026 · NDIA Vital Signs 2026</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05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WHERE AUTOMATION STOPS</a:t>
            </a:r>
            <a:endParaRPr lang="en-US" sz="1000" dirty="0"/>
          </a:p>
        </p:txBody>
      </p:sp>
      <p:sp>
        <p:nvSpPr>
          <p:cNvPr id="5" name="Text 3"/>
          <p:cNvSpPr txBox="1"/>
          <p:nvPr/>
        </p:nvSpPr>
        <p:spPr>
          <a:xfrm>
            <a:off x="621792" y="786384"/>
            <a:ext cx="10948111" cy="1005840"/>
          </a:xfrm>
          <a:prstGeom prst="rect">
            <a:avLst/>
          </a:prstGeom>
          <a:noFill/>
          <a:ln/>
        </p:spPr>
        <p:txBody>
          <a:bodyPr wrap="square" lIns="0" tIns="0" rIns="0" bIns="0" rtlCol="0" anchor="t"/>
          <a:lstStyle/>
          <a:p>
            <a:pPr indent="0" marL="0">
              <a:lnSpc>
                <a:spcPct val="102000"/>
              </a:lnSpc>
              <a:buNone/>
            </a:pPr>
            <a:r>
              <a:rPr lang="en-US" sz="2800" b="1" dirty="0">
                <a:solidFill>
                  <a:srgbClr val="EAF2FA"/>
                </a:solidFill>
                <a:latin typeface="Arial" pitchFamily="34" charset="0"/>
                <a:ea typeface="Arial" pitchFamily="34" charset="-122"/>
                <a:cs typeface="Arial" pitchFamily="34" charset="-120"/>
              </a:rPr>
              <a:t>Repetition makes automation economic.</a:t>
            </a:r>
            <a:endParaRPr lang="en-US" sz="2800" dirty="0"/>
          </a:p>
          <a:p>
            <a:pPr indent="0" marL="0">
              <a:lnSpc>
                <a:spcPct val="102000"/>
              </a:lnSpc>
              <a:buNone/>
            </a:pPr>
            <a:r>
              <a:rPr lang="en-US" sz="2800" dirty="0">
                <a:solidFill>
                  <a:srgbClr val="A9BDD1"/>
                </a:solidFill>
                <a:latin typeface="Arial" pitchFamily="34" charset="0"/>
                <a:ea typeface="Arial" pitchFamily="34" charset="-122"/>
                <a:cs typeface="Arial" pitchFamily="34" charset="-120"/>
              </a:rPr>
              <a:t>Aerospace keeps changing the part.</a:t>
            </a:r>
            <a:endParaRPr lang="en-US" sz="2800" dirty="0"/>
          </a:p>
        </p:txBody>
      </p:sp>
      <p:sp>
        <p:nvSpPr>
          <p:cNvPr id="6" name="Text 4"/>
          <p:cNvSpPr txBox="1"/>
          <p:nvPr/>
        </p:nvSpPr>
        <p:spPr>
          <a:xfrm>
            <a:off x="621792" y="1993392"/>
            <a:ext cx="2194560" cy="219456"/>
          </a:xfrm>
          <a:prstGeom prst="rect">
            <a:avLst/>
          </a:prstGeom>
          <a:noFill/>
          <a:ln/>
        </p:spPr>
        <p:txBody>
          <a:bodyPr wrap="square" lIns="0" tIns="0" rIns="0" bIns="0" rtlCol="0" anchor="ctr"/>
          <a:lstStyle/>
          <a:p>
            <a:pPr indent="0" marL="0">
              <a:buNone/>
            </a:pPr>
            <a:r>
              <a:rPr lang="en-US" sz="950" b="1" spc="240" kern="0" dirty="0">
                <a:solidFill>
                  <a:srgbClr val="EAF2FA"/>
                </a:solidFill>
                <a:latin typeface="Arial" pitchFamily="34" charset="0"/>
                <a:ea typeface="Arial" pitchFamily="34" charset="-122"/>
                <a:cs typeface="Arial" pitchFamily="34" charset="-120"/>
              </a:rPr>
              <a:t>HIGH VOLUME</a:t>
            </a:r>
            <a:endParaRPr lang="en-US" sz="950" dirty="0"/>
          </a:p>
        </p:txBody>
      </p:sp>
      <p:sp>
        <p:nvSpPr>
          <p:cNvPr id="7" name="Text 5"/>
          <p:cNvSpPr txBox="1"/>
          <p:nvPr/>
        </p:nvSpPr>
        <p:spPr>
          <a:xfrm>
            <a:off x="2816352" y="1993392"/>
            <a:ext cx="5029200" cy="219456"/>
          </a:xfrm>
          <a:prstGeom prst="rect">
            <a:avLst/>
          </a:prstGeom>
          <a:noFill/>
          <a:ln/>
        </p:spPr>
        <p:txBody>
          <a:bodyPr wrap="square" lIns="0" tIns="0" rIns="0" bIns="0" rtlCol="0" anchor="ctr"/>
          <a:lstStyle/>
          <a:p>
            <a:pPr indent="0" marL="0">
              <a:buNone/>
            </a:pPr>
            <a:r>
              <a:rPr lang="en-US" sz="950" dirty="0">
                <a:solidFill>
                  <a:srgbClr val="72879D"/>
                </a:solidFill>
                <a:latin typeface="Arial" pitchFamily="34" charset="0"/>
                <a:ea typeface="Arial" pitchFamily="34" charset="-122"/>
                <a:cs typeface="Arial" pitchFamily="34" charset="-120"/>
              </a:rPr>
              <a:t>One engineered introduction. Many repeated units.</a:t>
            </a:r>
            <a:endParaRPr lang="en-US" sz="950" dirty="0"/>
          </a:p>
        </p:txBody>
      </p:sp>
      <p:sp>
        <p:nvSpPr>
          <p:cNvPr id="8" name="Shape 6"/>
          <p:cNvSpPr/>
          <p:nvPr/>
        </p:nvSpPr>
        <p:spPr>
          <a:xfrm>
            <a:off x="621792" y="2304288"/>
            <a:ext cx="713232" cy="566928"/>
          </a:xfrm>
          <a:prstGeom prst="roundRect">
            <a:avLst>
              <a:gd name="adj" fmla="val 8065"/>
            </a:avLst>
          </a:prstGeom>
          <a:solidFill>
            <a:srgbClr val="103655">
              <a:alpha val="90000"/>
            </a:srgbClr>
          </a:solidFill>
          <a:ln w="15875">
            <a:solidFill>
              <a:srgbClr val="6FD3FF"/>
            </a:solidFill>
            <a:prstDash val="solid"/>
          </a:ln>
        </p:spPr>
      </p:sp>
      <p:sp>
        <p:nvSpPr>
          <p:cNvPr id="9" name="Text 7"/>
          <p:cNvSpPr txBox="1"/>
          <p:nvPr/>
        </p:nvSpPr>
        <p:spPr>
          <a:xfrm>
            <a:off x="621792" y="2478024"/>
            <a:ext cx="713232" cy="219456"/>
          </a:xfrm>
          <a:prstGeom prst="rect">
            <a:avLst/>
          </a:prstGeom>
          <a:noFill/>
          <a:ln/>
        </p:spPr>
        <p:txBody>
          <a:bodyPr wrap="square" lIns="0" tIns="0" rIns="0" bIns="0" rtlCol="0" anchor="ctr"/>
          <a:lstStyle/>
          <a:p>
            <a:pPr algn="ctr" indent="0" marL="0">
              <a:buNone/>
            </a:pPr>
            <a:r>
              <a:rPr lang="en-US" sz="700" b="1" spc="160" kern="0" dirty="0">
                <a:solidFill>
                  <a:srgbClr val="6FD3FF"/>
                </a:solidFill>
                <a:latin typeface="Arial" pitchFamily="34" charset="0"/>
                <a:ea typeface="Arial" pitchFamily="34" charset="-122"/>
                <a:cs typeface="Arial" pitchFamily="34" charset="-120"/>
              </a:rPr>
              <a:t>INTRO</a:t>
            </a:r>
            <a:endParaRPr lang="en-US" sz="700" dirty="0"/>
          </a:p>
        </p:txBody>
      </p:sp>
      <p:sp>
        <p:nvSpPr>
          <p:cNvPr id="10" name="Shape 8"/>
          <p:cNvSpPr/>
          <p:nvPr/>
        </p:nvSpPr>
        <p:spPr>
          <a:xfrm>
            <a:off x="1700784" y="2304288"/>
            <a:ext cx="566928" cy="566928"/>
          </a:xfrm>
          <a:prstGeom prst="ellipse">
            <a:avLst/>
          </a:prstGeom>
          <a:solidFill>
            <a:srgbClr val="0F1E31">
              <a:alpha val="40000"/>
            </a:srgbClr>
          </a:solidFill>
          <a:ln w="12700">
            <a:solidFill>
              <a:srgbClr val="A9BDD1"/>
            </a:solidFill>
            <a:prstDash val="solid"/>
          </a:ln>
        </p:spPr>
      </p:sp>
      <p:sp>
        <p:nvSpPr>
          <p:cNvPr id="11" name="Shape 9"/>
          <p:cNvSpPr/>
          <p:nvPr/>
        </p:nvSpPr>
        <p:spPr>
          <a:xfrm>
            <a:off x="2487168" y="2304288"/>
            <a:ext cx="566928" cy="566928"/>
          </a:xfrm>
          <a:prstGeom prst="ellipse">
            <a:avLst/>
          </a:prstGeom>
          <a:solidFill>
            <a:srgbClr val="0F1E31">
              <a:alpha val="40000"/>
            </a:srgbClr>
          </a:solidFill>
          <a:ln w="12700">
            <a:solidFill>
              <a:srgbClr val="A9BDD1"/>
            </a:solidFill>
            <a:prstDash val="solid"/>
          </a:ln>
        </p:spPr>
      </p:sp>
      <p:sp>
        <p:nvSpPr>
          <p:cNvPr id="12" name="Shape 10"/>
          <p:cNvSpPr/>
          <p:nvPr/>
        </p:nvSpPr>
        <p:spPr>
          <a:xfrm>
            <a:off x="3273552" y="2304288"/>
            <a:ext cx="566928" cy="566928"/>
          </a:xfrm>
          <a:prstGeom prst="ellipse">
            <a:avLst/>
          </a:prstGeom>
          <a:solidFill>
            <a:srgbClr val="0F1E31">
              <a:alpha val="40000"/>
            </a:srgbClr>
          </a:solidFill>
          <a:ln w="12700">
            <a:solidFill>
              <a:srgbClr val="A9BDD1"/>
            </a:solidFill>
            <a:prstDash val="solid"/>
          </a:ln>
        </p:spPr>
      </p:sp>
      <p:sp>
        <p:nvSpPr>
          <p:cNvPr id="13" name="Shape 11"/>
          <p:cNvSpPr/>
          <p:nvPr/>
        </p:nvSpPr>
        <p:spPr>
          <a:xfrm>
            <a:off x="4059936" y="2304288"/>
            <a:ext cx="566928" cy="566928"/>
          </a:xfrm>
          <a:prstGeom prst="ellipse">
            <a:avLst/>
          </a:prstGeom>
          <a:solidFill>
            <a:srgbClr val="0F1E31">
              <a:alpha val="40000"/>
            </a:srgbClr>
          </a:solidFill>
          <a:ln w="12700">
            <a:solidFill>
              <a:srgbClr val="A9BDD1"/>
            </a:solidFill>
            <a:prstDash val="solid"/>
          </a:ln>
        </p:spPr>
      </p:sp>
      <p:sp>
        <p:nvSpPr>
          <p:cNvPr id="14" name="Shape 12"/>
          <p:cNvSpPr/>
          <p:nvPr/>
        </p:nvSpPr>
        <p:spPr>
          <a:xfrm>
            <a:off x="4846320" y="2304288"/>
            <a:ext cx="566928" cy="566928"/>
          </a:xfrm>
          <a:prstGeom prst="ellipse">
            <a:avLst/>
          </a:prstGeom>
          <a:solidFill>
            <a:srgbClr val="0F1E31">
              <a:alpha val="40000"/>
            </a:srgbClr>
          </a:solidFill>
          <a:ln w="12700">
            <a:solidFill>
              <a:srgbClr val="A9BDD1"/>
            </a:solidFill>
            <a:prstDash val="solid"/>
          </a:ln>
        </p:spPr>
      </p:sp>
      <p:sp>
        <p:nvSpPr>
          <p:cNvPr id="15" name="Shape 13"/>
          <p:cNvSpPr/>
          <p:nvPr/>
        </p:nvSpPr>
        <p:spPr>
          <a:xfrm>
            <a:off x="5632704" y="2304288"/>
            <a:ext cx="566928" cy="566928"/>
          </a:xfrm>
          <a:prstGeom prst="ellipse">
            <a:avLst/>
          </a:prstGeom>
          <a:solidFill>
            <a:srgbClr val="0F1E31">
              <a:alpha val="40000"/>
            </a:srgbClr>
          </a:solidFill>
          <a:ln w="12700">
            <a:solidFill>
              <a:srgbClr val="A9BDD1"/>
            </a:solidFill>
            <a:prstDash val="solid"/>
          </a:ln>
        </p:spPr>
      </p:sp>
      <p:sp>
        <p:nvSpPr>
          <p:cNvPr id="16" name="Shape 14"/>
          <p:cNvSpPr/>
          <p:nvPr/>
        </p:nvSpPr>
        <p:spPr>
          <a:xfrm>
            <a:off x="6419088" y="2304288"/>
            <a:ext cx="566928" cy="566928"/>
          </a:xfrm>
          <a:prstGeom prst="ellipse">
            <a:avLst/>
          </a:prstGeom>
          <a:solidFill>
            <a:srgbClr val="0F1E31">
              <a:alpha val="40000"/>
            </a:srgbClr>
          </a:solidFill>
          <a:ln w="12700">
            <a:solidFill>
              <a:srgbClr val="A9BDD1"/>
            </a:solidFill>
            <a:prstDash val="solid"/>
          </a:ln>
        </p:spPr>
      </p:sp>
      <p:sp>
        <p:nvSpPr>
          <p:cNvPr id="17" name="Text 15"/>
          <p:cNvSpPr txBox="1"/>
          <p:nvPr/>
        </p:nvSpPr>
        <p:spPr>
          <a:xfrm>
            <a:off x="621792" y="3200400"/>
            <a:ext cx="2560320" cy="219456"/>
          </a:xfrm>
          <a:prstGeom prst="rect">
            <a:avLst/>
          </a:prstGeom>
          <a:noFill/>
          <a:ln/>
        </p:spPr>
        <p:txBody>
          <a:bodyPr wrap="square" lIns="0" tIns="0" rIns="0" bIns="0" rtlCol="0" anchor="ctr"/>
          <a:lstStyle/>
          <a:p>
            <a:pPr indent="0" marL="0">
              <a:buNone/>
            </a:pPr>
            <a:r>
              <a:rPr lang="en-US" sz="950" b="1" spc="240" kern="0" dirty="0">
                <a:solidFill>
                  <a:srgbClr val="EAF2FA"/>
                </a:solidFill>
                <a:latin typeface="Arial" pitchFamily="34" charset="0"/>
                <a:ea typeface="Arial" pitchFamily="34" charset="-122"/>
                <a:cs typeface="Arial" pitchFamily="34" charset="-120"/>
              </a:rPr>
              <a:t>HIGH MIX AEROSPACE</a:t>
            </a:r>
            <a:endParaRPr lang="en-US" sz="950" dirty="0"/>
          </a:p>
        </p:txBody>
      </p:sp>
      <p:sp>
        <p:nvSpPr>
          <p:cNvPr id="18" name="Text 16"/>
          <p:cNvSpPr txBox="1"/>
          <p:nvPr/>
        </p:nvSpPr>
        <p:spPr>
          <a:xfrm>
            <a:off x="3182112" y="3200400"/>
            <a:ext cx="5029200" cy="219456"/>
          </a:xfrm>
          <a:prstGeom prst="rect">
            <a:avLst/>
          </a:prstGeom>
          <a:noFill/>
          <a:ln/>
        </p:spPr>
        <p:txBody>
          <a:bodyPr wrap="square" lIns="0" tIns="0" rIns="0" bIns="0" rtlCol="0" anchor="ctr"/>
          <a:lstStyle/>
          <a:p>
            <a:pPr indent="0" marL="0">
              <a:buNone/>
            </a:pPr>
            <a:r>
              <a:rPr lang="en-US" sz="950" dirty="0">
                <a:solidFill>
                  <a:srgbClr val="72879D"/>
                </a:solidFill>
                <a:latin typeface="Arial" pitchFamily="34" charset="0"/>
                <a:ea typeface="Arial" pitchFamily="34" charset="-122"/>
                <a:cs typeface="Arial" pitchFamily="34" charset="-120"/>
              </a:rPr>
              <a:t>New configuration. New introduction burden.</a:t>
            </a:r>
            <a:endParaRPr lang="en-US" sz="950" dirty="0"/>
          </a:p>
        </p:txBody>
      </p:sp>
      <p:sp>
        <p:nvSpPr>
          <p:cNvPr id="19" name="Shape 17"/>
          <p:cNvSpPr/>
          <p:nvPr/>
        </p:nvSpPr>
        <p:spPr>
          <a:xfrm>
            <a:off x="621792" y="3511296"/>
            <a:ext cx="713232" cy="566928"/>
          </a:xfrm>
          <a:prstGeom prst="roundRect">
            <a:avLst>
              <a:gd name="adj" fmla="val 8065"/>
            </a:avLst>
          </a:prstGeom>
          <a:solidFill>
            <a:srgbClr val="103655">
              <a:alpha val="90000"/>
            </a:srgbClr>
          </a:solidFill>
          <a:ln w="15875">
            <a:solidFill>
              <a:srgbClr val="6FD3FF"/>
            </a:solidFill>
            <a:prstDash val="solid"/>
          </a:ln>
        </p:spPr>
      </p:sp>
      <p:sp>
        <p:nvSpPr>
          <p:cNvPr id="20" name="Text 18"/>
          <p:cNvSpPr txBox="1"/>
          <p:nvPr/>
        </p:nvSpPr>
        <p:spPr>
          <a:xfrm>
            <a:off x="621792" y="3685032"/>
            <a:ext cx="713232" cy="219456"/>
          </a:xfrm>
          <a:prstGeom prst="rect">
            <a:avLst/>
          </a:prstGeom>
          <a:noFill/>
          <a:ln/>
        </p:spPr>
        <p:txBody>
          <a:bodyPr wrap="square" lIns="0" tIns="0" rIns="0" bIns="0" rtlCol="0" anchor="ctr"/>
          <a:lstStyle/>
          <a:p>
            <a:pPr algn="ctr" indent="0" marL="0">
              <a:buNone/>
            </a:pPr>
            <a:r>
              <a:rPr lang="en-US" sz="700" b="1" spc="160" kern="0" dirty="0">
                <a:solidFill>
                  <a:srgbClr val="6FD3FF"/>
                </a:solidFill>
                <a:latin typeface="Arial" pitchFamily="34" charset="0"/>
                <a:ea typeface="Arial" pitchFamily="34" charset="-122"/>
                <a:cs typeface="Arial" pitchFamily="34" charset="-120"/>
              </a:rPr>
              <a:t>INTRO</a:t>
            </a:r>
            <a:endParaRPr lang="en-US" sz="700" dirty="0"/>
          </a:p>
        </p:txBody>
      </p:sp>
      <p:sp>
        <p:nvSpPr>
          <p:cNvPr id="21" name="Shape 19"/>
          <p:cNvSpPr/>
          <p:nvPr/>
        </p:nvSpPr>
        <p:spPr>
          <a:xfrm>
            <a:off x="1481328" y="3511296"/>
            <a:ext cx="566928" cy="566928"/>
          </a:xfrm>
          <a:prstGeom prst="triangle">
            <a:avLst/>
          </a:prstGeom>
          <a:solidFill>
            <a:srgbClr val="0F1E31">
              <a:alpha val="40000"/>
            </a:srgbClr>
          </a:solidFill>
          <a:ln w="12700">
            <a:solidFill>
              <a:srgbClr val="A9BDD1"/>
            </a:solidFill>
            <a:prstDash val="solid"/>
          </a:ln>
        </p:spPr>
      </p:sp>
      <p:sp>
        <p:nvSpPr>
          <p:cNvPr id="22" name="Shape 20"/>
          <p:cNvSpPr/>
          <p:nvPr/>
        </p:nvSpPr>
        <p:spPr>
          <a:xfrm>
            <a:off x="2432304" y="3511296"/>
            <a:ext cx="713232" cy="566928"/>
          </a:xfrm>
          <a:prstGeom prst="roundRect">
            <a:avLst>
              <a:gd name="adj" fmla="val 8065"/>
            </a:avLst>
          </a:prstGeom>
          <a:solidFill>
            <a:srgbClr val="103655">
              <a:alpha val="90000"/>
            </a:srgbClr>
          </a:solidFill>
          <a:ln w="15875">
            <a:solidFill>
              <a:srgbClr val="6FD3FF"/>
            </a:solidFill>
            <a:prstDash val="solid"/>
          </a:ln>
        </p:spPr>
      </p:sp>
      <p:sp>
        <p:nvSpPr>
          <p:cNvPr id="23" name="Text 21"/>
          <p:cNvSpPr txBox="1"/>
          <p:nvPr/>
        </p:nvSpPr>
        <p:spPr>
          <a:xfrm>
            <a:off x="2432304" y="3685032"/>
            <a:ext cx="713232" cy="219456"/>
          </a:xfrm>
          <a:prstGeom prst="rect">
            <a:avLst/>
          </a:prstGeom>
          <a:noFill/>
          <a:ln/>
        </p:spPr>
        <p:txBody>
          <a:bodyPr wrap="square" lIns="0" tIns="0" rIns="0" bIns="0" rtlCol="0" anchor="ctr"/>
          <a:lstStyle/>
          <a:p>
            <a:pPr algn="ctr" indent="0" marL="0">
              <a:buNone/>
            </a:pPr>
            <a:r>
              <a:rPr lang="en-US" sz="700" b="1" spc="160" kern="0" dirty="0">
                <a:solidFill>
                  <a:srgbClr val="6FD3FF"/>
                </a:solidFill>
                <a:latin typeface="Arial" pitchFamily="34" charset="0"/>
                <a:ea typeface="Arial" pitchFamily="34" charset="-122"/>
                <a:cs typeface="Arial" pitchFamily="34" charset="-120"/>
              </a:rPr>
              <a:t>INTRO</a:t>
            </a:r>
            <a:endParaRPr lang="en-US" sz="700" dirty="0"/>
          </a:p>
        </p:txBody>
      </p:sp>
      <p:sp>
        <p:nvSpPr>
          <p:cNvPr id="24" name="Shape 22"/>
          <p:cNvSpPr/>
          <p:nvPr/>
        </p:nvSpPr>
        <p:spPr>
          <a:xfrm>
            <a:off x="3291840" y="3511296"/>
            <a:ext cx="566928" cy="566928"/>
          </a:xfrm>
          <a:prstGeom prst="hexagon">
            <a:avLst/>
          </a:prstGeom>
          <a:solidFill>
            <a:srgbClr val="0F1E31">
              <a:alpha val="40000"/>
            </a:srgbClr>
          </a:solidFill>
          <a:ln w="12700">
            <a:solidFill>
              <a:srgbClr val="A9BDD1"/>
            </a:solidFill>
            <a:prstDash val="solid"/>
          </a:ln>
        </p:spPr>
      </p:sp>
      <p:sp>
        <p:nvSpPr>
          <p:cNvPr id="25" name="Shape 23"/>
          <p:cNvSpPr/>
          <p:nvPr/>
        </p:nvSpPr>
        <p:spPr>
          <a:xfrm>
            <a:off x="4242816" y="3511296"/>
            <a:ext cx="713232" cy="566928"/>
          </a:xfrm>
          <a:prstGeom prst="roundRect">
            <a:avLst>
              <a:gd name="adj" fmla="val 8065"/>
            </a:avLst>
          </a:prstGeom>
          <a:solidFill>
            <a:srgbClr val="103655">
              <a:alpha val="90000"/>
            </a:srgbClr>
          </a:solidFill>
          <a:ln w="15875">
            <a:solidFill>
              <a:srgbClr val="6FD3FF"/>
            </a:solidFill>
            <a:prstDash val="solid"/>
          </a:ln>
        </p:spPr>
      </p:sp>
      <p:sp>
        <p:nvSpPr>
          <p:cNvPr id="26" name="Text 24"/>
          <p:cNvSpPr txBox="1"/>
          <p:nvPr/>
        </p:nvSpPr>
        <p:spPr>
          <a:xfrm>
            <a:off x="4242816" y="3685032"/>
            <a:ext cx="713232" cy="219456"/>
          </a:xfrm>
          <a:prstGeom prst="rect">
            <a:avLst/>
          </a:prstGeom>
          <a:noFill/>
          <a:ln/>
        </p:spPr>
        <p:txBody>
          <a:bodyPr wrap="square" lIns="0" tIns="0" rIns="0" bIns="0" rtlCol="0" anchor="ctr"/>
          <a:lstStyle/>
          <a:p>
            <a:pPr algn="ctr" indent="0" marL="0">
              <a:buNone/>
            </a:pPr>
            <a:r>
              <a:rPr lang="en-US" sz="700" b="1" spc="160" kern="0" dirty="0">
                <a:solidFill>
                  <a:srgbClr val="6FD3FF"/>
                </a:solidFill>
                <a:latin typeface="Arial" pitchFamily="34" charset="0"/>
                <a:ea typeface="Arial" pitchFamily="34" charset="-122"/>
                <a:cs typeface="Arial" pitchFamily="34" charset="-120"/>
              </a:rPr>
              <a:t>INTRO</a:t>
            </a:r>
            <a:endParaRPr lang="en-US" sz="700" dirty="0"/>
          </a:p>
        </p:txBody>
      </p:sp>
      <p:sp>
        <p:nvSpPr>
          <p:cNvPr id="27" name="Shape 25"/>
          <p:cNvSpPr/>
          <p:nvPr/>
        </p:nvSpPr>
        <p:spPr>
          <a:xfrm>
            <a:off x="5102352" y="3511296"/>
            <a:ext cx="566928" cy="566928"/>
          </a:xfrm>
          <a:prstGeom prst="diamond">
            <a:avLst/>
          </a:prstGeom>
          <a:solidFill>
            <a:srgbClr val="0F1E31">
              <a:alpha val="40000"/>
            </a:srgbClr>
          </a:solidFill>
          <a:ln w="12700">
            <a:solidFill>
              <a:srgbClr val="A9BDD1"/>
            </a:solidFill>
            <a:prstDash val="solid"/>
          </a:ln>
        </p:spPr>
      </p:sp>
      <p:sp>
        <p:nvSpPr>
          <p:cNvPr id="28" name="Shape 26"/>
          <p:cNvSpPr/>
          <p:nvPr/>
        </p:nvSpPr>
        <p:spPr>
          <a:xfrm>
            <a:off x="6053328" y="3511296"/>
            <a:ext cx="713232" cy="566928"/>
          </a:xfrm>
          <a:prstGeom prst="roundRect">
            <a:avLst>
              <a:gd name="adj" fmla="val 8065"/>
            </a:avLst>
          </a:prstGeom>
          <a:solidFill>
            <a:srgbClr val="103655">
              <a:alpha val="90000"/>
            </a:srgbClr>
          </a:solidFill>
          <a:ln w="15875">
            <a:solidFill>
              <a:srgbClr val="6FD3FF"/>
            </a:solidFill>
            <a:prstDash val="solid"/>
          </a:ln>
        </p:spPr>
      </p:sp>
      <p:sp>
        <p:nvSpPr>
          <p:cNvPr id="29" name="Text 27"/>
          <p:cNvSpPr txBox="1"/>
          <p:nvPr/>
        </p:nvSpPr>
        <p:spPr>
          <a:xfrm>
            <a:off x="6053328" y="3685032"/>
            <a:ext cx="713232" cy="219456"/>
          </a:xfrm>
          <a:prstGeom prst="rect">
            <a:avLst/>
          </a:prstGeom>
          <a:noFill/>
          <a:ln/>
        </p:spPr>
        <p:txBody>
          <a:bodyPr wrap="square" lIns="0" tIns="0" rIns="0" bIns="0" rtlCol="0" anchor="ctr"/>
          <a:lstStyle/>
          <a:p>
            <a:pPr algn="ctr" indent="0" marL="0">
              <a:buNone/>
            </a:pPr>
            <a:r>
              <a:rPr lang="en-US" sz="700" b="1" spc="160" kern="0" dirty="0">
                <a:solidFill>
                  <a:srgbClr val="6FD3FF"/>
                </a:solidFill>
                <a:latin typeface="Arial" pitchFamily="34" charset="0"/>
                <a:ea typeface="Arial" pitchFamily="34" charset="-122"/>
                <a:cs typeface="Arial" pitchFamily="34" charset="-120"/>
              </a:rPr>
              <a:t>INTRO</a:t>
            </a:r>
            <a:endParaRPr lang="en-US" sz="700" dirty="0"/>
          </a:p>
        </p:txBody>
      </p:sp>
      <p:sp>
        <p:nvSpPr>
          <p:cNvPr id="30" name="Shape 28"/>
          <p:cNvSpPr/>
          <p:nvPr/>
        </p:nvSpPr>
        <p:spPr>
          <a:xfrm>
            <a:off x="6912864" y="3511296"/>
            <a:ext cx="566928" cy="566928"/>
          </a:xfrm>
          <a:prstGeom prst="roundRect">
            <a:avLst>
              <a:gd name="adj" fmla="val 19355"/>
            </a:avLst>
          </a:prstGeom>
          <a:solidFill>
            <a:srgbClr val="0F1E31">
              <a:alpha val="40000"/>
            </a:srgbClr>
          </a:solidFill>
          <a:ln w="12700">
            <a:solidFill>
              <a:srgbClr val="A9BDD1"/>
            </a:solidFill>
            <a:prstDash val="solid"/>
          </a:ln>
        </p:spPr>
      </p:sp>
      <p:sp>
        <p:nvSpPr>
          <p:cNvPr id="31" name="Shape 29"/>
          <p:cNvSpPr/>
          <p:nvPr/>
        </p:nvSpPr>
        <p:spPr>
          <a:xfrm>
            <a:off x="621792" y="4370832"/>
            <a:ext cx="10948111" cy="0"/>
          </a:xfrm>
          <a:prstGeom prst="line">
            <a:avLst/>
          </a:prstGeom>
          <a:noFill/>
          <a:ln w="9525">
            <a:solidFill>
              <a:srgbClr val="23405C"/>
            </a:solidFill>
            <a:prstDash val="solid"/>
          </a:ln>
        </p:spPr>
      </p:sp>
      <p:sp>
        <p:nvSpPr>
          <p:cNvPr id="32" name="Text 30"/>
          <p:cNvSpPr txBox="1"/>
          <p:nvPr/>
        </p:nvSpPr>
        <p:spPr>
          <a:xfrm>
            <a:off x="621792" y="4517136"/>
            <a:ext cx="6766560" cy="1188720"/>
          </a:xfrm>
          <a:prstGeom prst="rect">
            <a:avLst/>
          </a:prstGeom>
          <a:noFill/>
          <a:ln/>
        </p:spPr>
        <p:txBody>
          <a:bodyPr wrap="square" lIns="0" tIns="0" rIns="0" bIns="0" rtlCol="0" anchor="t"/>
          <a:lstStyle/>
          <a:p>
            <a:pPr algn="l" indent="0" marL="0">
              <a:lnSpc>
                <a:spcPct val="125000"/>
              </a:lnSpc>
              <a:spcAft>
                <a:spcPts val="400"/>
              </a:spcAft>
              <a:buNone/>
            </a:pPr>
            <a:r>
              <a:rPr lang="en-US" sz="850" b="1" spc="240" kern="0" dirty="0">
                <a:solidFill>
                  <a:srgbClr val="6FD3FF"/>
                </a:solidFill>
                <a:latin typeface="Arial" pitchFamily="34" charset="0"/>
                <a:ea typeface="Arial" pitchFamily="34" charset="-122"/>
                <a:cs typeface="Arial" pitchFamily="34" charset="-120"/>
              </a:rPr>
              <a:t>THE INTRODUCTION BURDEN</a:t>
            </a:r>
            <a:endParaRPr lang="en-US" sz="850" dirty="0"/>
          </a:p>
          <a:p>
            <a:pPr algn="l" indent="0" marL="0">
              <a:lnSpc>
                <a:spcPct val="125000"/>
              </a:lnSpc>
              <a:buNone/>
            </a:pPr>
            <a:r>
              <a:rPr lang="en-US" sz="1000" dirty="0">
                <a:solidFill>
                  <a:srgbClr val="A9BDD1"/>
                </a:solidFill>
                <a:latin typeface="Arial" pitchFamily="34" charset="0"/>
                <a:ea typeface="Arial" pitchFamily="34" charset="-122"/>
                <a:cs typeface="Arial" pitchFamily="34" charset="-120"/>
              </a:rPr>
              <a:t>Process planning · CNC and robot programming · tooling · fixturing and workholding · work instructions · inspection planning · commissioning and debug · setup and changeover · first article preparation · configuration management · rework and deviation handling · qualification evidence · engineering review</a:t>
            </a:r>
            <a:endParaRPr lang="en-US" sz="850" dirty="0"/>
          </a:p>
        </p:txBody>
      </p:sp>
      <p:sp>
        <p:nvSpPr>
          <p:cNvPr id="33" name="Text 31"/>
          <p:cNvSpPr txBox="1"/>
          <p:nvPr/>
        </p:nvSpPr>
        <p:spPr>
          <a:xfrm>
            <a:off x="7772400" y="4517136"/>
            <a:ext cx="3794760" cy="1417320"/>
          </a:xfrm>
          <a:prstGeom prst="rect">
            <a:avLst/>
          </a:prstGeom>
          <a:noFill/>
          <a:ln/>
        </p:spPr>
        <p:txBody>
          <a:bodyPr wrap="square" lIns="0" tIns="0" rIns="0" bIns="0" rtlCol="0" anchor="t"/>
          <a:lstStyle/>
          <a:p>
            <a:pPr algn="l" indent="0" marL="0">
              <a:lnSpc>
                <a:spcPct val="115000"/>
              </a:lnSpc>
              <a:spcAft>
                <a:spcPts val="700"/>
              </a:spcAft>
              <a:buNone/>
            </a:pPr>
            <a:r>
              <a:rPr lang="en-US" sz="1250" b="1" dirty="0">
                <a:solidFill>
                  <a:srgbClr val="EAF2FA"/>
                </a:solidFill>
                <a:latin typeface="Arial" pitchFamily="34" charset="0"/>
                <a:ea typeface="Arial" pitchFamily="34" charset="-122"/>
                <a:cs typeface="Arial" pitchFamily="34" charset="-120"/>
              </a:rPr>
              <a:t>The burden is not only making the part. It is introducing the next configuration.</a:t>
            </a:r>
            <a:endParaRPr lang="en-US" sz="1250" dirty="0"/>
          </a:p>
          <a:p>
            <a:pPr algn="l" indent="0" marL="0">
              <a:lnSpc>
                <a:spcPct val="115000"/>
              </a:lnSpc>
              <a:buNone/>
            </a:pPr>
            <a:r>
              <a:rPr lang="en-US" sz="1050" i="1" dirty="0">
                <a:solidFill>
                  <a:srgbClr val="6FD3FF"/>
                </a:solidFill>
                <a:latin typeface="Arial" pitchFamily="34" charset="0"/>
                <a:ea typeface="Arial" pitchFamily="34" charset="-122"/>
                <a:cs typeface="Arial" pitchFamily="34" charset="-120"/>
              </a:rPr>
              <a:t>How large that burden is, in hours and dollars, is what customer data has to measure. We do not assume it.</a:t>
            </a:r>
            <a:endParaRPr lang="en-US" sz="1250" dirty="0"/>
          </a:p>
        </p:txBody>
      </p:sp>
      <p:sp>
        <p:nvSpPr>
          <p:cNvPr id="34" name="Text 32"/>
          <p:cNvSpPr txBox="1"/>
          <p:nvPr/>
        </p:nvSpPr>
        <p:spPr>
          <a:xfrm>
            <a:off x="621792" y="5989320"/>
            <a:ext cx="10948111" cy="365760"/>
          </a:xfrm>
          <a:prstGeom prst="rect">
            <a:avLst/>
          </a:prstGeom>
          <a:noFill/>
          <a:ln/>
        </p:spPr>
        <p:txBody>
          <a:bodyPr wrap="square" lIns="0" tIns="0" rIns="0" bIns="0" rtlCol="0" anchor="ctr"/>
          <a:lstStyle/>
          <a:p>
            <a:pPr indent="0" marL="0">
              <a:lnSpc>
                <a:spcPct val="112000"/>
              </a:lnSpc>
              <a:buNone/>
            </a:pPr>
            <a:r>
              <a:rPr lang="en-US" sz="750" dirty="0">
                <a:solidFill>
                  <a:srgbClr val="72879D"/>
                </a:solidFill>
                <a:latin typeface="Arial" pitchFamily="34" charset="0"/>
                <a:ea typeface="Arial" pitchFamily="34" charset="-122"/>
                <a:cs typeface="Arial" pitchFamily="34" charset="-120"/>
              </a:rPr>
              <a:t>Across published cell pricing guides, the robot arm is 25–40% of installed cost. The majority is fixturing, part presentation, integration and engineering — the elements that scale with how many different parts a cell has to handle.</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06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850" b="1" spc="220" kern="0" dirty="0">
                <a:solidFill>
                  <a:srgbClr val="6FD3FF"/>
                </a:solidFill>
                <a:latin typeface="Arial" pitchFamily="34" charset="0"/>
                <a:ea typeface="Arial" pitchFamily="34" charset="-122"/>
                <a:cs typeface="Arial" pitchFamily="34" charset="-120"/>
              </a:rPr>
              <a:t>SYNTREX MANUFACTURING ARCHITECTURE · INTERNAL PROGRAM AUTOFORGE</a:t>
            </a:r>
            <a:endParaRPr lang="en-US" sz="850" dirty="0"/>
          </a:p>
        </p:txBody>
      </p:sp>
      <p:sp>
        <p:nvSpPr>
          <p:cNvPr id="5" name="Text 3"/>
          <p:cNvSpPr txBox="1"/>
          <p:nvPr/>
        </p:nvSpPr>
        <p:spPr>
          <a:xfrm>
            <a:off x="621792" y="768096"/>
            <a:ext cx="10948111" cy="310896"/>
          </a:xfrm>
          <a:prstGeom prst="rect">
            <a:avLst/>
          </a:prstGeom>
          <a:noFill/>
          <a:ln/>
        </p:spPr>
        <p:txBody>
          <a:bodyPr wrap="square" lIns="0" tIns="0" rIns="0" bIns="0" rtlCol="0" anchor="ctr"/>
          <a:lstStyle/>
          <a:p>
            <a:pPr indent="0" marL="0">
              <a:buNone/>
            </a:pPr>
            <a:r>
              <a:rPr lang="en-US" sz="1250" i="1" dirty="0">
                <a:solidFill>
                  <a:srgbClr val="A9BDD1"/>
                </a:solidFill>
                <a:latin typeface="Arial" pitchFamily="34" charset="0"/>
                <a:ea typeface="Arial" pitchFamily="34" charset="-122"/>
                <a:cs typeface="Arial" pitchFamily="34" charset="-120"/>
              </a:rPr>
              <a:t>Every aerospace manufacturer already measures parts. What can this system be trusted to do next?</a:t>
            </a:r>
            <a:endParaRPr lang="en-US" sz="1250" dirty="0"/>
          </a:p>
        </p:txBody>
      </p:sp>
      <p:sp>
        <p:nvSpPr>
          <p:cNvPr id="6" name="Text 4"/>
          <p:cNvSpPr txBox="1"/>
          <p:nvPr/>
        </p:nvSpPr>
        <p:spPr>
          <a:xfrm>
            <a:off x="621792" y="1115568"/>
            <a:ext cx="10948111" cy="365760"/>
          </a:xfrm>
          <a:prstGeom prst="rect">
            <a:avLst/>
          </a:prstGeom>
          <a:noFill/>
          <a:ln/>
        </p:spPr>
        <p:txBody>
          <a:bodyPr wrap="square" lIns="0" tIns="0" rIns="0" bIns="0" rtlCol="0" anchor="t"/>
          <a:lstStyle/>
          <a:p>
            <a:pPr indent="0" marL="0">
              <a:lnSpc>
                <a:spcPct val="102000"/>
              </a:lnSpc>
              <a:buNone/>
            </a:pPr>
            <a:r>
              <a:rPr lang="en-US" sz="2200" b="1" dirty="0">
                <a:solidFill>
                  <a:srgbClr val="EAF2FA"/>
                </a:solidFill>
                <a:latin typeface="Arial" pitchFamily="34" charset="0"/>
                <a:ea typeface="Arial" pitchFamily="34" charset="-122"/>
                <a:cs typeface="Arial" pitchFamily="34" charset="-120"/>
              </a:rPr>
              <a:t>From engineering intent to verified physical action.</a:t>
            </a:r>
            <a:endParaRPr lang="en-US" sz="2200" dirty="0"/>
          </a:p>
        </p:txBody>
      </p:sp>
      <p:sp>
        <p:nvSpPr>
          <p:cNvPr id="7" name="Shape 5"/>
          <p:cNvSpPr/>
          <p:nvPr/>
        </p:nvSpPr>
        <p:spPr>
          <a:xfrm>
            <a:off x="850392" y="2157984"/>
            <a:ext cx="10490911" cy="0"/>
          </a:xfrm>
          <a:prstGeom prst="line">
            <a:avLst/>
          </a:prstGeom>
          <a:noFill/>
          <a:ln w="12700">
            <a:solidFill>
              <a:srgbClr val="23405C"/>
            </a:solidFill>
            <a:prstDash val="solid"/>
          </a:ln>
        </p:spPr>
      </p:sp>
      <p:sp>
        <p:nvSpPr>
          <p:cNvPr id="8" name="Shape 6"/>
          <p:cNvSpPr/>
          <p:nvPr/>
        </p:nvSpPr>
        <p:spPr>
          <a:xfrm>
            <a:off x="795528" y="2103120"/>
            <a:ext cx="109728" cy="109728"/>
          </a:xfrm>
          <a:prstGeom prst="ellipse">
            <a:avLst/>
          </a:prstGeom>
          <a:solidFill>
            <a:srgbClr val="0F1E31"/>
          </a:solidFill>
          <a:ln w="13970">
            <a:solidFill>
              <a:srgbClr val="3D9BD8"/>
            </a:solidFill>
            <a:prstDash val="solid"/>
          </a:ln>
        </p:spPr>
      </p:sp>
      <p:sp>
        <p:nvSpPr>
          <p:cNvPr id="9" name="Text 7"/>
          <p:cNvSpPr txBox="1"/>
          <p:nvPr/>
        </p:nvSpPr>
        <p:spPr>
          <a:xfrm>
            <a:off x="576072" y="1719072"/>
            <a:ext cx="548640" cy="201168"/>
          </a:xfrm>
          <a:prstGeom prst="rect">
            <a:avLst/>
          </a:prstGeom>
          <a:noFill/>
          <a:ln/>
        </p:spPr>
        <p:txBody>
          <a:bodyPr wrap="square" lIns="0" tIns="0" rIns="0" bIns="0" rtlCol="0" anchor="ctr"/>
          <a:lstStyle/>
          <a:p>
            <a:pPr algn="ctr" indent="0" marL="0">
              <a:buNone/>
            </a:pPr>
            <a:r>
              <a:rPr lang="en-US" sz="850" b="1" dirty="0">
                <a:solidFill>
                  <a:srgbClr val="72879D"/>
                </a:solidFill>
                <a:latin typeface="Arial" pitchFamily="34" charset="0"/>
                <a:ea typeface="Arial" pitchFamily="34" charset="-122"/>
                <a:cs typeface="Arial" pitchFamily="34" charset="-120"/>
              </a:rPr>
              <a:t>1</a:t>
            </a:r>
            <a:endParaRPr lang="en-US" sz="850" dirty="0"/>
          </a:p>
        </p:txBody>
      </p:sp>
      <p:sp>
        <p:nvSpPr>
          <p:cNvPr id="10" name="Text 8"/>
          <p:cNvSpPr txBox="1"/>
          <p:nvPr/>
        </p:nvSpPr>
        <p:spPr>
          <a:xfrm>
            <a:off x="118872" y="2322576"/>
            <a:ext cx="1463040" cy="457200"/>
          </a:xfrm>
          <a:prstGeom prst="rect">
            <a:avLst/>
          </a:prstGeom>
          <a:noFill/>
          <a:ln/>
        </p:spPr>
        <p:txBody>
          <a:bodyPr wrap="square" lIns="0" tIns="0" rIns="0" bIns="0" rtlCol="0" anchor="ctr"/>
          <a:lstStyle/>
          <a:p>
            <a:pPr algn="ctr" indent="0" marL="0">
              <a:lnSpc>
                <a:spcPct val="102000"/>
              </a:lnSpc>
              <a:buNone/>
            </a:pPr>
            <a:r>
              <a:rPr lang="en-US" sz="690" dirty="0">
                <a:solidFill>
                  <a:srgbClr val="A9BDD1"/>
                </a:solidFill>
                <a:latin typeface="Arial" pitchFamily="34" charset="0"/>
                <a:ea typeface="Arial" pitchFamily="34" charset="-122"/>
                <a:cs typeface="Arial" pitchFamily="34" charset="-120"/>
              </a:rPr>
              <a:t>ENGINEERING</a:t>
            </a:r>
            <a:endParaRPr lang="en-US" sz="690" dirty="0"/>
          </a:p>
          <a:p>
            <a:pPr algn="ctr" indent="0" marL="0">
              <a:lnSpc>
                <a:spcPct val="102000"/>
              </a:lnSpc>
              <a:buNone/>
            </a:pPr>
            <a:r>
              <a:rPr lang="en-US" sz="690" dirty="0">
                <a:solidFill>
                  <a:srgbClr val="A9BDD1"/>
                </a:solidFill>
                <a:latin typeface="Arial" pitchFamily="34" charset="0"/>
                <a:ea typeface="Arial" pitchFamily="34" charset="-122"/>
                <a:cs typeface="Arial" pitchFamily="34" charset="-120"/>
              </a:rPr>
              <a:t>INTENT</a:t>
            </a:r>
            <a:endParaRPr lang="en-US" sz="690" dirty="0"/>
          </a:p>
        </p:txBody>
      </p:sp>
      <p:sp>
        <p:nvSpPr>
          <p:cNvPr id="11" name="Shape 9"/>
          <p:cNvSpPr/>
          <p:nvPr/>
        </p:nvSpPr>
        <p:spPr>
          <a:xfrm>
            <a:off x="2294230" y="2103120"/>
            <a:ext cx="109728" cy="109728"/>
          </a:xfrm>
          <a:prstGeom prst="ellipse">
            <a:avLst/>
          </a:prstGeom>
          <a:solidFill>
            <a:srgbClr val="0F1E31"/>
          </a:solidFill>
          <a:ln w="13970">
            <a:solidFill>
              <a:srgbClr val="3D9BD8"/>
            </a:solidFill>
            <a:prstDash val="solid"/>
          </a:ln>
        </p:spPr>
      </p:sp>
      <p:sp>
        <p:nvSpPr>
          <p:cNvPr id="12" name="Text 10"/>
          <p:cNvSpPr txBox="1"/>
          <p:nvPr/>
        </p:nvSpPr>
        <p:spPr>
          <a:xfrm>
            <a:off x="2074774" y="1719072"/>
            <a:ext cx="548640" cy="201168"/>
          </a:xfrm>
          <a:prstGeom prst="rect">
            <a:avLst/>
          </a:prstGeom>
          <a:noFill/>
          <a:ln/>
        </p:spPr>
        <p:txBody>
          <a:bodyPr wrap="square" lIns="0" tIns="0" rIns="0" bIns="0" rtlCol="0" anchor="ctr"/>
          <a:lstStyle/>
          <a:p>
            <a:pPr algn="ctr" indent="0" marL="0">
              <a:buNone/>
            </a:pPr>
            <a:r>
              <a:rPr lang="en-US" sz="850" b="1" dirty="0">
                <a:solidFill>
                  <a:srgbClr val="72879D"/>
                </a:solidFill>
                <a:latin typeface="Arial" pitchFamily="34" charset="0"/>
                <a:ea typeface="Arial" pitchFamily="34" charset="-122"/>
                <a:cs typeface="Arial" pitchFamily="34" charset="-120"/>
              </a:rPr>
              <a:t>2</a:t>
            </a:r>
            <a:endParaRPr lang="en-US" sz="850" dirty="0"/>
          </a:p>
        </p:txBody>
      </p:sp>
      <p:sp>
        <p:nvSpPr>
          <p:cNvPr id="13" name="Text 11"/>
          <p:cNvSpPr txBox="1"/>
          <p:nvPr/>
        </p:nvSpPr>
        <p:spPr>
          <a:xfrm>
            <a:off x="1617574" y="2322576"/>
            <a:ext cx="1463040" cy="457200"/>
          </a:xfrm>
          <a:prstGeom prst="rect">
            <a:avLst/>
          </a:prstGeom>
          <a:noFill/>
          <a:ln/>
        </p:spPr>
        <p:txBody>
          <a:bodyPr wrap="square" lIns="0" tIns="0" rIns="0" bIns="0" rtlCol="0" anchor="ctr"/>
          <a:lstStyle/>
          <a:p>
            <a:pPr algn="ctr" indent="0" marL="0">
              <a:lnSpc>
                <a:spcPct val="102000"/>
              </a:lnSpc>
              <a:buNone/>
            </a:pPr>
            <a:r>
              <a:rPr lang="en-US" sz="690" dirty="0">
                <a:solidFill>
                  <a:srgbClr val="A9BDD1"/>
                </a:solidFill>
                <a:latin typeface="Arial" pitchFamily="34" charset="0"/>
                <a:ea typeface="Arial" pitchFamily="34" charset="-122"/>
                <a:cs typeface="Arial" pitchFamily="34" charset="-120"/>
              </a:rPr>
              <a:t>MEASURED ARTICLE</a:t>
            </a:r>
            <a:endParaRPr lang="en-US" sz="690" dirty="0"/>
          </a:p>
          <a:p>
            <a:pPr algn="ctr" indent="0" marL="0">
              <a:lnSpc>
                <a:spcPct val="102000"/>
              </a:lnSpc>
              <a:buNone/>
            </a:pPr>
            <a:r>
              <a:rPr lang="en-US" sz="690" dirty="0">
                <a:solidFill>
                  <a:srgbClr val="A9BDD1"/>
                </a:solidFill>
                <a:latin typeface="Arial" pitchFamily="34" charset="0"/>
                <a:ea typeface="Arial" pitchFamily="34" charset="-122"/>
                <a:cs typeface="Arial" pitchFamily="34" charset="-120"/>
              </a:rPr>
              <a:t>AND SETUP STATE</a:t>
            </a:r>
            <a:endParaRPr lang="en-US" sz="690" dirty="0"/>
          </a:p>
        </p:txBody>
      </p:sp>
      <p:sp>
        <p:nvSpPr>
          <p:cNvPr id="14" name="Shape 12"/>
          <p:cNvSpPr/>
          <p:nvPr/>
        </p:nvSpPr>
        <p:spPr>
          <a:xfrm>
            <a:off x="3792931" y="2103120"/>
            <a:ext cx="109728" cy="109728"/>
          </a:xfrm>
          <a:prstGeom prst="ellipse">
            <a:avLst/>
          </a:prstGeom>
          <a:solidFill>
            <a:srgbClr val="0F1E31"/>
          </a:solidFill>
          <a:ln w="13970">
            <a:solidFill>
              <a:srgbClr val="3D9BD8"/>
            </a:solidFill>
            <a:prstDash val="solid"/>
          </a:ln>
        </p:spPr>
      </p:sp>
      <p:sp>
        <p:nvSpPr>
          <p:cNvPr id="15" name="Text 13"/>
          <p:cNvSpPr txBox="1"/>
          <p:nvPr/>
        </p:nvSpPr>
        <p:spPr>
          <a:xfrm>
            <a:off x="3573475" y="1719072"/>
            <a:ext cx="548640" cy="201168"/>
          </a:xfrm>
          <a:prstGeom prst="rect">
            <a:avLst/>
          </a:prstGeom>
          <a:noFill/>
          <a:ln/>
        </p:spPr>
        <p:txBody>
          <a:bodyPr wrap="square" lIns="0" tIns="0" rIns="0" bIns="0" rtlCol="0" anchor="ctr"/>
          <a:lstStyle/>
          <a:p>
            <a:pPr algn="ctr" indent="0" marL="0">
              <a:buNone/>
            </a:pPr>
            <a:r>
              <a:rPr lang="en-US" sz="850" b="1" dirty="0">
                <a:solidFill>
                  <a:srgbClr val="72879D"/>
                </a:solidFill>
                <a:latin typeface="Arial" pitchFamily="34" charset="0"/>
                <a:ea typeface="Arial" pitchFamily="34" charset="-122"/>
                <a:cs typeface="Arial" pitchFamily="34" charset="-120"/>
              </a:rPr>
              <a:t>3</a:t>
            </a:r>
            <a:endParaRPr lang="en-US" sz="850" dirty="0"/>
          </a:p>
        </p:txBody>
      </p:sp>
      <p:sp>
        <p:nvSpPr>
          <p:cNvPr id="16" name="Text 14"/>
          <p:cNvSpPr txBox="1"/>
          <p:nvPr/>
        </p:nvSpPr>
        <p:spPr>
          <a:xfrm>
            <a:off x="3116275" y="2322576"/>
            <a:ext cx="1463040" cy="457200"/>
          </a:xfrm>
          <a:prstGeom prst="rect">
            <a:avLst/>
          </a:prstGeom>
          <a:noFill/>
          <a:ln/>
        </p:spPr>
        <p:txBody>
          <a:bodyPr wrap="square" lIns="0" tIns="0" rIns="0" bIns="0" rtlCol="0" anchor="ctr"/>
          <a:lstStyle/>
          <a:p>
            <a:pPr algn="ctr" indent="0" marL="0">
              <a:lnSpc>
                <a:spcPct val="102000"/>
              </a:lnSpc>
              <a:buNone/>
            </a:pPr>
            <a:r>
              <a:rPr lang="en-US" sz="690" dirty="0">
                <a:solidFill>
                  <a:srgbClr val="A9BDD1"/>
                </a:solidFill>
                <a:latin typeface="Arial" pitchFamily="34" charset="0"/>
                <a:ea typeface="Arial" pitchFamily="34" charset="-122"/>
                <a:cs typeface="Arial" pitchFamily="34" charset="-120"/>
              </a:rPr>
              <a:t>MEASURED PROCESS</a:t>
            </a:r>
            <a:endParaRPr lang="en-US" sz="690" dirty="0"/>
          </a:p>
          <a:p>
            <a:pPr algn="ctr" indent="0" marL="0">
              <a:lnSpc>
                <a:spcPct val="102000"/>
              </a:lnSpc>
              <a:buNone/>
            </a:pPr>
            <a:r>
              <a:rPr lang="en-US" sz="690" dirty="0">
                <a:solidFill>
                  <a:srgbClr val="A9BDD1"/>
                </a:solidFill>
                <a:latin typeface="Arial" pitchFamily="34" charset="0"/>
                <a:ea typeface="Arial" pitchFamily="34" charset="-122"/>
                <a:cs typeface="Arial" pitchFamily="34" charset="-120"/>
              </a:rPr>
              <a:t>CAPABILITY</a:t>
            </a:r>
            <a:endParaRPr lang="en-US" sz="690" dirty="0"/>
          </a:p>
        </p:txBody>
      </p:sp>
      <p:sp>
        <p:nvSpPr>
          <p:cNvPr id="17" name="Shape 15"/>
          <p:cNvSpPr/>
          <p:nvPr/>
        </p:nvSpPr>
        <p:spPr>
          <a:xfrm>
            <a:off x="5291633" y="2103120"/>
            <a:ext cx="109728" cy="109728"/>
          </a:xfrm>
          <a:prstGeom prst="ellipse">
            <a:avLst/>
          </a:prstGeom>
          <a:solidFill>
            <a:srgbClr val="0F1E31"/>
          </a:solidFill>
          <a:ln w="13970">
            <a:solidFill>
              <a:srgbClr val="3D9BD8"/>
            </a:solidFill>
            <a:prstDash val="solid"/>
          </a:ln>
        </p:spPr>
      </p:sp>
      <p:sp>
        <p:nvSpPr>
          <p:cNvPr id="18" name="Text 16"/>
          <p:cNvSpPr txBox="1"/>
          <p:nvPr/>
        </p:nvSpPr>
        <p:spPr>
          <a:xfrm>
            <a:off x="5072177" y="1719072"/>
            <a:ext cx="548640" cy="201168"/>
          </a:xfrm>
          <a:prstGeom prst="rect">
            <a:avLst/>
          </a:prstGeom>
          <a:noFill/>
          <a:ln/>
        </p:spPr>
        <p:txBody>
          <a:bodyPr wrap="square" lIns="0" tIns="0" rIns="0" bIns="0" rtlCol="0" anchor="ctr"/>
          <a:lstStyle/>
          <a:p>
            <a:pPr algn="ctr" indent="0" marL="0">
              <a:buNone/>
            </a:pPr>
            <a:r>
              <a:rPr lang="en-US" sz="850" b="1" dirty="0">
                <a:solidFill>
                  <a:srgbClr val="72879D"/>
                </a:solidFill>
                <a:latin typeface="Arial" pitchFamily="34" charset="0"/>
                <a:ea typeface="Arial" pitchFamily="34" charset="-122"/>
                <a:cs typeface="Arial" pitchFamily="34" charset="-120"/>
              </a:rPr>
              <a:t>4</a:t>
            </a:r>
            <a:endParaRPr lang="en-US" sz="850" dirty="0"/>
          </a:p>
        </p:txBody>
      </p:sp>
      <p:sp>
        <p:nvSpPr>
          <p:cNvPr id="19" name="Text 17"/>
          <p:cNvSpPr txBox="1"/>
          <p:nvPr/>
        </p:nvSpPr>
        <p:spPr>
          <a:xfrm>
            <a:off x="4614977" y="2322576"/>
            <a:ext cx="1463040" cy="457200"/>
          </a:xfrm>
          <a:prstGeom prst="rect">
            <a:avLst/>
          </a:prstGeom>
          <a:noFill/>
          <a:ln/>
        </p:spPr>
        <p:txBody>
          <a:bodyPr wrap="square" lIns="0" tIns="0" rIns="0" bIns="0" rtlCol="0" anchor="ctr"/>
          <a:lstStyle/>
          <a:p>
            <a:pPr algn="ctr" indent="0" marL="0">
              <a:lnSpc>
                <a:spcPct val="102000"/>
              </a:lnSpc>
              <a:buNone/>
            </a:pPr>
            <a:r>
              <a:rPr lang="en-US" sz="690" dirty="0">
                <a:solidFill>
                  <a:srgbClr val="A9BDD1"/>
                </a:solidFill>
                <a:latin typeface="Arial" pitchFamily="34" charset="0"/>
                <a:ea typeface="Arial" pitchFamily="34" charset="-122"/>
                <a:cs typeface="Arial" pitchFamily="34" charset="-120"/>
              </a:rPr>
              <a:t>APPROVED</a:t>
            </a:r>
            <a:endParaRPr lang="en-US" sz="690" dirty="0"/>
          </a:p>
          <a:p>
            <a:pPr algn="ctr" indent="0" marL="0">
              <a:lnSpc>
                <a:spcPct val="102000"/>
              </a:lnSpc>
              <a:buNone/>
            </a:pPr>
            <a:r>
              <a:rPr lang="en-US" sz="690" dirty="0">
                <a:solidFill>
                  <a:srgbClr val="A9BDD1"/>
                </a:solidFill>
                <a:latin typeface="Arial" pitchFamily="34" charset="0"/>
                <a:ea typeface="Arial" pitchFamily="34" charset="-122"/>
                <a:cs typeface="Arial" pitchFamily="34" charset="-120"/>
              </a:rPr>
              <a:t>OPERATING LIMITS</a:t>
            </a:r>
            <a:endParaRPr lang="en-US" sz="690" dirty="0"/>
          </a:p>
        </p:txBody>
      </p:sp>
      <p:pic>
        <p:nvPicPr>
          <p:cNvPr id="20" name="Image 0" descr="/tmp/claude-0/-home-user-foodiehome/a2788c04-4021-50f7-9e92-8de1b0e68224/scratchpad/syntrex/assets/glowdot.png">    </p:cNvPr>
          <p:cNvPicPr>
            <a:picLocks noChangeAspect="1"/>
          </p:cNvPicPr>
          <p:nvPr/>
        </p:nvPicPr>
        <p:blipFill>
          <a:blip r:embed="rId2"/>
          <a:stretch>
            <a:fillRect/>
          </a:stretch>
        </p:blipFill>
        <p:spPr>
          <a:xfrm>
            <a:off x="6461150" y="1773936"/>
            <a:ext cx="768096" cy="768096"/>
          </a:xfrm>
          <a:prstGeom prst="rect">
            <a:avLst/>
          </a:prstGeom>
        </p:spPr>
      </p:pic>
      <p:sp>
        <p:nvSpPr>
          <p:cNvPr id="21" name="Shape 18"/>
          <p:cNvSpPr/>
          <p:nvPr/>
        </p:nvSpPr>
        <p:spPr>
          <a:xfrm>
            <a:off x="6735470" y="2048256"/>
            <a:ext cx="219456" cy="219456"/>
          </a:xfrm>
          <a:prstGeom prst="ellipse">
            <a:avLst/>
          </a:prstGeom>
          <a:solidFill>
            <a:srgbClr val="6FD3FF"/>
          </a:solidFill>
          <a:ln w="12700">
            <a:solidFill>
              <a:srgbClr val="FFFFFF"/>
            </a:solidFill>
            <a:prstDash val="solid"/>
          </a:ln>
        </p:spPr>
      </p:sp>
      <p:sp>
        <p:nvSpPr>
          <p:cNvPr id="22" name="Text 19"/>
          <p:cNvSpPr txBox="1"/>
          <p:nvPr/>
        </p:nvSpPr>
        <p:spPr>
          <a:xfrm>
            <a:off x="6570878" y="1554480"/>
            <a:ext cx="548640" cy="201168"/>
          </a:xfrm>
          <a:prstGeom prst="rect">
            <a:avLst/>
          </a:prstGeom>
          <a:noFill/>
          <a:ln/>
        </p:spPr>
        <p:txBody>
          <a:bodyPr wrap="square" lIns="0" tIns="0" rIns="0" bIns="0" rtlCol="0" anchor="ctr"/>
          <a:lstStyle/>
          <a:p>
            <a:pPr algn="ctr" indent="0" marL="0">
              <a:buNone/>
            </a:pPr>
            <a:r>
              <a:rPr lang="en-US" sz="1200" b="1" dirty="0">
                <a:solidFill>
                  <a:srgbClr val="6FD3FF"/>
                </a:solidFill>
                <a:latin typeface="Arial" pitchFamily="34" charset="0"/>
                <a:ea typeface="Arial" pitchFamily="34" charset="-122"/>
                <a:cs typeface="Arial" pitchFamily="34" charset="-120"/>
              </a:rPr>
              <a:t>5</a:t>
            </a:r>
            <a:endParaRPr lang="en-US" sz="1200" dirty="0"/>
          </a:p>
        </p:txBody>
      </p:sp>
      <p:sp>
        <p:nvSpPr>
          <p:cNvPr id="23" name="Text 20"/>
          <p:cNvSpPr txBox="1"/>
          <p:nvPr/>
        </p:nvSpPr>
        <p:spPr>
          <a:xfrm>
            <a:off x="6113678" y="2432304"/>
            <a:ext cx="1463040" cy="457200"/>
          </a:xfrm>
          <a:prstGeom prst="rect">
            <a:avLst/>
          </a:prstGeom>
          <a:noFill/>
          <a:ln/>
        </p:spPr>
        <p:txBody>
          <a:bodyPr wrap="square" lIns="0" tIns="0" rIns="0" bIns="0" rtlCol="0" anchor="ctr"/>
          <a:lstStyle/>
          <a:p>
            <a:pPr algn="ctr" indent="0" marL="0">
              <a:lnSpc>
                <a:spcPct val="102000"/>
              </a:lnSpc>
              <a:buNone/>
            </a:pPr>
            <a:r>
              <a:rPr lang="en-US" sz="820" b="1" dirty="0">
                <a:solidFill>
                  <a:srgbClr val="EAF2FA"/>
                </a:solidFill>
                <a:latin typeface="Arial" pitchFamily="34" charset="0"/>
                <a:ea typeface="Arial" pitchFamily="34" charset="-122"/>
                <a:cs typeface="Arial" pitchFamily="34" charset="-120"/>
              </a:rPr>
              <a:t>BOUNDED</a:t>
            </a:r>
            <a:endParaRPr lang="en-US" sz="820" dirty="0"/>
          </a:p>
          <a:p>
            <a:pPr algn="ctr" indent="0" marL="0">
              <a:lnSpc>
                <a:spcPct val="102000"/>
              </a:lnSpc>
              <a:buNone/>
            </a:pPr>
            <a:r>
              <a:rPr lang="en-US" sz="820" b="1" dirty="0">
                <a:solidFill>
                  <a:srgbClr val="EAF2FA"/>
                </a:solidFill>
                <a:latin typeface="Arial" pitchFamily="34" charset="0"/>
                <a:ea typeface="Arial" pitchFamily="34" charset="-122"/>
                <a:cs typeface="Arial" pitchFamily="34" charset="-120"/>
              </a:rPr>
              <a:t>AUTHORIZATION</a:t>
            </a:r>
            <a:endParaRPr lang="en-US" sz="820" dirty="0"/>
          </a:p>
        </p:txBody>
      </p:sp>
      <p:sp>
        <p:nvSpPr>
          <p:cNvPr id="24" name="Shape 21"/>
          <p:cNvSpPr/>
          <p:nvPr/>
        </p:nvSpPr>
        <p:spPr>
          <a:xfrm>
            <a:off x="8289036" y="2103120"/>
            <a:ext cx="109728" cy="109728"/>
          </a:xfrm>
          <a:prstGeom prst="ellipse">
            <a:avLst/>
          </a:prstGeom>
          <a:solidFill>
            <a:srgbClr val="0F1E31"/>
          </a:solidFill>
          <a:ln w="13970">
            <a:solidFill>
              <a:srgbClr val="3D9BD8"/>
            </a:solidFill>
            <a:prstDash val="solid"/>
          </a:ln>
        </p:spPr>
      </p:sp>
      <p:sp>
        <p:nvSpPr>
          <p:cNvPr id="25" name="Text 22"/>
          <p:cNvSpPr txBox="1"/>
          <p:nvPr/>
        </p:nvSpPr>
        <p:spPr>
          <a:xfrm>
            <a:off x="8069580" y="1719072"/>
            <a:ext cx="548640" cy="201168"/>
          </a:xfrm>
          <a:prstGeom prst="rect">
            <a:avLst/>
          </a:prstGeom>
          <a:noFill/>
          <a:ln/>
        </p:spPr>
        <p:txBody>
          <a:bodyPr wrap="square" lIns="0" tIns="0" rIns="0" bIns="0" rtlCol="0" anchor="ctr"/>
          <a:lstStyle/>
          <a:p>
            <a:pPr algn="ctr" indent="0" marL="0">
              <a:buNone/>
            </a:pPr>
            <a:r>
              <a:rPr lang="en-US" sz="850" b="1" dirty="0">
                <a:solidFill>
                  <a:srgbClr val="72879D"/>
                </a:solidFill>
                <a:latin typeface="Arial" pitchFamily="34" charset="0"/>
                <a:ea typeface="Arial" pitchFamily="34" charset="-122"/>
                <a:cs typeface="Arial" pitchFamily="34" charset="-120"/>
              </a:rPr>
              <a:t>6</a:t>
            </a:r>
            <a:endParaRPr lang="en-US" sz="850" dirty="0"/>
          </a:p>
        </p:txBody>
      </p:sp>
      <p:sp>
        <p:nvSpPr>
          <p:cNvPr id="26" name="Text 23"/>
          <p:cNvSpPr txBox="1"/>
          <p:nvPr/>
        </p:nvSpPr>
        <p:spPr>
          <a:xfrm>
            <a:off x="7612380" y="2322576"/>
            <a:ext cx="1463040" cy="457200"/>
          </a:xfrm>
          <a:prstGeom prst="rect">
            <a:avLst/>
          </a:prstGeom>
          <a:noFill/>
          <a:ln/>
        </p:spPr>
        <p:txBody>
          <a:bodyPr wrap="square" lIns="0" tIns="0" rIns="0" bIns="0" rtlCol="0" anchor="ctr"/>
          <a:lstStyle/>
          <a:p>
            <a:pPr algn="ctr" indent="0" marL="0">
              <a:lnSpc>
                <a:spcPct val="102000"/>
              </a:lnSpc>
              <a:buNone/>
            </a:pPr>
            <a:r>
              <a:rPr lang="en-US" sz="690" dirty="0">
                <a:solidFill>
                  <a:srgbClr val="A9BDD1"/>
                </a:solidFill>
                <a:latin typeface="Arial" pitchFamily="34" charset="0"/>
                <a:ea typeface="Arial" pitchFamily="34" charset="-122"/>
                <a:cs typeface="Arial" pitchFamily="34" charset="-120"/>
              </a:rPr>
              <a:t>ADAPTIVE</a:t>
            </a:r>
            <a:endParaRPr lang="en-US" sz="690" dirty="0"/>
          </a:p>
          <a:p>
            <a:pPr algn="ctr" indent="0" marL="0">
              <a:lnSpc>
                <a:spcPct val="102000"/>
              </a:lnSpc>
              <a:buNone/>
            </a:pPr>
            <a:r>
              <a:rPr lang="en-US" sz="690" dirty="0">
                <a:solidFill>
                  <a:srgbClr val="A9BDD1"/>
                </a:solidFill>
                <a:latin typeface="Arial" pitchFamily="34" charset="0"/>
                <a:ea typeface="Arial" pitchFamily="34" charset="-122"/>
                <a:cs typeface="Arial" pitchFamily="34" charset="-120"/>
              </a:rPr>
              <a:t>EXECUTION</a:t>
            </a:r>
            <a:endParaRPr lang="en-US" sz="690" dirty="0"/>
          </a:p>
        </p:txBody>
      </p:sp>
      <p:sp>
        <p:nvSpPr>
          <p:cNvPr id="27" name="Shape 24"/>
          <p:cNvSpPr/>
          <p:nvPr/>
        </p:nvSpPr>
        <p:spPr>
          <a:xfrm>
            <a:off x="9787738" y="2103120"/>
            <a:ext cx="109728" cy="109728"/>
          </a:xfrm>
          <a:prstGeom prst="ellipse">
            <a:avLst/>
          </a:prstGeom>
          <a:solidFill>
            <a:srgbClr val="0F1E31"/>
          </a:solidFill>
          <a:ln w="13970">
            <a:solidFill>
              <a:srgbClr val="3D9BD8"/>
            </a:solidFill>
            <a:prstDash val="solid"/>
          </a:ln>
        </p:spPr>
      </p:sp>
      <p:sp>
        <p:nvSpPr>
          <p:cNvPr id="28" name="Text 25"/>
          <p:cNvSpPr txBox="1"/>
          <p:nvPr/>
        </p:nvSpPr>
        <p:spPr>
          <a:xfrm>
            <a:off x="9568282" y="1719072"/>
            <a:ext cx="548640" cy="201168"/>
          </a:xfrm>
          <a:prstGeom prst="rect">
            <a:avLst/>
          </a:prstGeom>
          <a:noFill/>
          <a:ln/>
        </p:spPr>
        <p:txBody>
          <a:bodyPr wrap="square" lIns="0" tIns="0" rIns="0" bIns="0" rtlCol="0" anchor="ctr"/>
          <a:lstStyle/>
          <a:p>
            <a:pPr algn="ctr" indent="0" marL="0">
              <a:buNone/>
            </a:pPr>
            <a:r>
              <a:rPr lang="en-US" sz="850" b="1" dirty="0">
                <a:solidFill>
                  <a:srgbClr val="72879D"/>
                </a:solidFill>
                <a:latin typeface="Arial" pitchFamily="34" charset="0"/>
                <a:ea typeface="Arial" pitchFamily="34" charset="-122"/>
                <a:cs typeface="Arial" pitchFamily="34" charset="-120"/>
              </a:rPr>
              <a:t>7</a:t>
            </a:r>
            <a:endParaRPr lang="en-US" sz="850" dirty="0"/>
          </a:p>
        </p:txBody>
      </p:sp>
      <p:sp>
        <p:nvSpPr>
          <p:cNvPr id="29" name="Text 26"/>
          <p:cNvSpPr txBox="1"/>
          <p:nvPr/>
        </p:nvSpPr>
        <p:spPr>
          <a:xfrm>
            <a:off x="9111082" y="2322576"/>
            <a:ext cx="1463040" cy="457200"/>
          </a:xfrm>
          <a:prstGeom prst="rect">
            <a:avLst/>
          </a:prstGeom>
          <a:noFill/>
          <a:ln/>
        </p:spPr>
        <p:txBody>
          <a:bodyPr wrap="square" lIns="0" tIns="0" rIns="0" bIns="0" rtlCol="0" anchor="ctr"/>
          <a:lstStyle/>
          <a:p>
            <a:pPr algn="ctr" indent="0" marL="0">
              <a:lnSpc>
                <a:spcPct val="102000"/>
              </a:lnSpc>
              <a:buNone/>
            </a:pPr>
            <a:r>
              <a:rPr lang="en-US" sz="690" dirty="0">
                <a:solidFill>
                  <a:srgbClr val="A9BDD1"/>
                </a:solidFill>
                <a:latin typeface="Arial" pitchFamily="34" charset="0"/>
                <a:ea typeface="Arial" pitchFamily="34" charset="-122"/>
                <a:cs typeface="Arial" pitchFamily="34" charset="-120"/>
              </a:rPr>
              <a:t>INDEPENDENT</a:t>
            </a:r>
            <a:endParaRPr lang="en-US" sz="690" dirty="0"/>
          </a:p>
          <a:p>
            <a:pPr algn="ctr" indent="0" marL="0">
              <a:lnSpc>
                <a:spcPct val="102000"/>
              </a:lnSpc>
              <a:buNone/>
            </a:pPr>
            <a:r>
              <a:rPr lang="en-US" sz="690" dirty="0">
                <a:solidFill>
                  <a:srgbClr val="A9BDD1"/>
                </a:solidFill>
                <a:latin typeface="Arial" pitchFamily="34" charset="0"/>
                <a:ea typeface="Arial" pitchFamily="34" charset="-122"/>
                <a:cs typeface="Arial" pitchFamily="34" charset="-120"/>
              </a:rPr>
              <a:t>VERIFICATION</a:t>
            </a:r>
            <a:endParaRPr lang="en-US" sz="690" dirty="0"/>
          </a:p>
        </p:txBody>
      </p:sp>
      <p:sp>
        <p:nvSpPr>
          <p:cNvPr id="30" name="Shape 27"/>
          <p:cNvSpPr/>
          <p:nvPr/>
        </p:nvSpPr>
        <p:spPr>
          <a:xfrm>
            <a:off x="11286439" y="2103120"/>
            <a:ext cx="109728" cy="109728"/>
          </a:xfrm>
          <a:prstGeom prst="ellipse">
            <a:avLst/>
          </a:prstGeom>
          <a:solidFill>
            <a:srgbClr val="0F1E31"/>
          </a:solidFill>
          <a:ln w="13970">
            <a:solidFill>
              <a:srgbClr val="3D9BD8"/>
            </a:solidFill>
            <a:prstDash val="solid"/>
          </a:ln>
        </p:spPr>
      </p:sp>
      <p:sp>
        <p:nvSpPr>
          <p:cNvPr id="31" name="Text 28"/>
          <p:cNvSpPr txBox="1"/>
          <p:nvPr/>
        </p:nvSpPr>
        <p:spPr>
          <a:xfrm>
            <a:off x="11066983" y="1719072"/>
            <a:ext cx="548640" cy="201168"/>
          </a:xfrm>
          <a:prstGeom prst="rect">
            <a:avLst/>
          </a:prstGeom>
          <a:noFill/>
          <a:ln/>
        </p:spPr>
        <p:txBody>
          <a:bodyPr wrap="square" lIns="0" tIns="0" rIns="0" bIns="0" rtlCol="0" anchor="ctr"/>
          <a:lstStyle/>
          <a:p>
            <a:pPr algn="ctr" indent="0" marL="0">
              <a:buNone/>
            </a:pPr>
            <a:r>
              <a:rPr lang="en-US" sz="850" b="1" dirty="0">
                <a:solidFill>
                  <a:srgbClr val="72879D"/>
                </a:solidFill>
                <a:latin typeface="Arial" pitchFamily="34" charset="0"/>
                <a:ea typeface="Arial" pitchFamily="34" charset="-122"/>
                <a:cs typeface="Arial" pitchFamily="34" charset="-120"/>
              </a:rPr>
              <a:t>8</a:t>
            </a:r>
            <a:endParaRPr lang="en-US" sz="850" dirty="0"/>
          </a:p>
        </p:txBody>
      </p:sp>
      <p:sp>
        <p:nvSpPr>
          <p:cNvPr id="32" name="Text 29"/>
          <p:cNvSpPr txBox="1"/>
          <p:nvPr/>
        </p:nvSpPr>
        <p:spPr>
          <a:xfrm>
            <a:off x="10609783" y="2322576"/>
            <a:ext cx="1463040" cy="457200"/>
          </a:xfrm>
          <a:prstGeom prst="rect">
            <a:avLst/>
          </a:prstGeom>
          <a:noFill/>
          <a:ln/>
        </p:spPr>
        <p:txBody>
          <a:bodyPr wrap="square" lIns="0" tIns="0" rIns="0" bIns="0" rtlCol="0" anchor="ctr"/>
          <a:lstStyle/>
          <a:p>
            <a:pPr algn="ctr" indent="0" marL="0">
              <a:lnSpc>
                <a:spcPct val="102000"/>
              </a:lnSpc>
              <a:buNone/>
            </a:pPr>
            <a:r>
              <a:rPr lang="en-US" sz="690" dirty="0">
                <a:solidFill>
                  <a:srgbClr val="A9BDD1"/>
                </a:solidFill>
                <a:latin typeface="Arial" pitchFamily="34" charset="0"/>
                <a:ea typeface="Arial" pitchFamily="34" charset="-122"/>
                <a:cs typeface="Arial" pitchFamily="34" charset="-120"/>
              </a:rPr>
              <a:t>EVIDENCE</a:t>
            </a:r>
            <a:endParaRPr lang="en-US" sz="690" dirty="0"/>
          </a:p>
          <a:p>
            <a:pPr algn="ctr" indent="0" marL="0">
              <a:lnSpc>
                <a:spcPct val="102000"/>
              </a:lnSpc>
              <a:buNone/>
            </a:pPr>
            <a:r>
              <a:rPr lang="en-US" sz="690" dirty="0">
                <a:solidFill>
                  <a:srgbClr val="A9BDD1"/>
                </a:solidFill>
                <a:latin typeface="Arial" pitchFamily="34" charset="0"/>
                <a:ea typeface="Arial" pitchFamily="34" charset="-122"/>
                <a:cs typeface="Arial" pitchFamily="34" charset="-120"/>
              </a:rPr>
              <a:t>RECORD</a:t>
            </a:r>
            <a:endParaRPr lang="en-US" sz="690" dirty="0"/>
          </a:p>
        </p:txBody>
      </p:sp>
      <p:sp>
        <p:nvSpPr>
          <p:cNvPr id="33" name="Text 30"/>
          <p:cNvSpPr txBox="1"/>
          <p:nvPr/>
        </p:nvSpPr>
        <p:spPr>
          <a:xfrm>
            <a:off x="621792" y="2962656"/>
            <a:ext cx="4572000" cy="201168"/>
          </a:xfrm>
          <a:prstGeom prst="rect">
            <a:avLst/>
          </a:prstGeom>
          <a:noFill/>
          <a:ln/>
        </p:spPr>
        <p:txBody>
          <a:bodyPr wrap="square" lIns="0" tIns="0" rIns="0" bIns="0" rtlCol="0" anchor="ctr"/>
          <a:lstStyle/>
          <a:p>
            <a:pPr indent="0" marL="0">
              <a:buNone/>
            </a:pPr>
            <a:r>
              <a:rPr lang="en-US" sz="800" b="1" spc="240" kern="0" dirty="0">
                <a:solidFill>
                  <a:srgbClr val="6FD3FF"/>
                </a:solidFill>
                <a:latin typeface="Arial" pitchFamily="34" charset="0"/>
                <a:ea typeface="Arial" pitchFamily="34" charset="-122"/>
                <a:cs typeface="Arial" pitchFamily="34" charset="-120"/>
              </a:rPr>
              <a:t>THE AUTHORITY MODEL</a:t>
            </a:r>
            <a:endParaRPr lang="en-US" sz="800" dirty="0"/>
          </a:p>
        </p:txBody>
      </p:sp>
      <p:sp>
        <p:nvSpPr>
          <p:cNvPr id="34" name="Text 31"/>
          <p:cNvSpPr txBox="1"/>
          <p:nvPr/>
        </p:nvSpPr>
        <p:spPr>
          <a:xfrm>
            <a:off x="621792" y="3255264"/>
            <a:ext cx="3237890" cy="256032"/>
          </a:xfrm>
          <a:prstGeom prst="rect">
            <a:avLst/>
          </a:prstGeom>
          <a:noFill/>
          <a:ln/>
        </p:spPr>
        <p:txBody>
          <a:bodyPr wrap="square" lIns="0" tIns="0" rIns="0" bIns="0" rtlCol="0" anchor="ctr"/>
          <a:lstStyle/>
          <a:p>
            <a:pPr indent="0" marL="0">
              <a:buNone/>
            </a:pPr>
            <a:r>
              <a:rPr lang="en-US" sz="1300" b="1" spc="140" kern="0" dirty="0">
                <a:solidFill>
                  <a:srgbClr val="3D9BD8"/>
                </a:solidFill>
                <a:latin typeface="Arial" pitchFamily="34" charset="0"/>
                <a:ea typeface="Arial" pitchFamily="34" charset="-122"/>
                <a:cs typeface="Arial" pitchFamily="34" charset="-120"/>
              </a:rPr>
              <a:t>AI</a:t>
            </a:r>
            <a:endParaRPr lang="en-US" sz="1300" dirty="0"/>
          </a:p>
        </p:txBody>
      </p:sp>
      <p:sp>
        <p:nvSpPr>
          <p:cNvPr id="35" name="Text 32"/>
          <p:cNvSpPr txBox="1"/>
          <p:nvPr/>
        </p:nvSpPr>
        <p:spPr>
          <a:xfrm>
            <a:off x="621792" y="3584448"/>
            <a:ext cx="3192170" cy="685800"/>
          </a:xfrm>
          <a:prstGeom prst="rect">
            <a:avLst/>
          </a:prstGeom>
          <a:noFill/>
          <a:ln/>
        </p:spPr>
        <p:txBody>
          <a:bodyPr wrap="square" lIns="0" tIns="0" rIns="0" bIns="0" rtlCol="0" anchor="ctr"/>
          <a:lstStyle/>
          <a:p>
            <a:pPr indent="0" marL="0">
              <a:lnSpc>
                <a:spcPct val="115000"/>
              </a:lnSpc>
              <a:buNone/>
            </a:pPr>
            <a:r>
              <a:rPr lang="en-US" sz="840" b="1" spc="60" kern="0" dirty="0">
                <a:solidFill>
                  <a:srgbClr val="A9BDD1"/>
                </a:solidFill>
                <a:latin typeface="Arial" pitchFamily="34" charset="0"/>
                <a:ea typeface="Arial" pitchFamily="34" charset="-122"/>
                <a:cs typeface="Arial" pitchFamily="34" charset="-120"/>
              </a:rPr>
              <a:t>PERCEIVE · ESTIMATE · DIAGNOSE · PROPOSE</a:t>
            </a:r>
            <a:endParaRPr lang="en-US" sz="840" dirty="0"/>
          </a:p>
        </p:txBody>
      </p:sp>
      <p:sp>
        <p:nvSpPr>
          <p:cNvPr id="36" name="Shape 33"/>
          <p:cNvSpPr/>
          <p:nvPr/>
        </p:nvSpPr>
        <p:spPr>
          <a:xfrm>
            <a:off x="4252874" y="3255264"/>
            <a:ext cx="0" cy="1060704"/>
          </a:xfrm>
          <a:prstGeom prst="line">
            <a:avLst/>
          </a:prstGeom>
          <a:noFill/>
          <a:ln w="9525">
            <a:solidFill>
              <a:srgbClr val="23405C"/>
            </a:solidFill>
            <a:prstDash val="solid"/>
          </a:ln>
        </p:spPr>
      </p:sp>
      <p:sp>
        <p:nvSpPr>
          <p:cNvPr id="37" name="Text 34"/>
          <p:cNvSpPr txBox="1"/>
          <p:nvPr/>
        </p:nvSpPr>
        <p:spPr>
          <a:xfrm>
            <a:off x="4545482" y="3255264"/>
            <a:ext cx="3237890" cy="256032"/>
          </a:xfrm>
          <a:prstGeom prst="rect">
            <a:avLst/>
          </a:prstGeom>
          <a:noFill/>
          <a:ln/>
        </p:spPr>
        <p:txBody>
          <a:bodyPr wrap="square" lIns="0" tIns="0" rIns="0" bIns="0" rtlCol="0" anchor="ctr"/>
          <a:lstStyle/>
          <a:p>
            <a:pPr indent="0" marL="0">
              <a:buNone/>
            </a:pPr>
            <a:r>
              <a:rPr lang="en-US" sz="1300" b="1" spc="140" kern="0" dirty="0">
                <a:solidFill>
                  <a:srgbClr val="6FD3FF"/>
                </a:solidFill>
                <a:latin typeface="Arial" pitchFamily="34" charset="0"/>
                <a:ea typeface="Arial" pitchFamily="34" charset="-122"/>
                <a:cs typeface="Arial" pitchFamily="34" charset="-120"/>
              </a:rPr>
              <a:t>DETERMINISTIC LOGIC</a:t>
            </a:r>
            <a:endParaRPr lang="en-US" sz="1300" dirty="0"/>
          </a:p>
        </p:txBody>
      </p:sp>
      <p:sp>
        <p:nvSpPr>
          <p:cNvPr id="38" name="Text 35"/>
          <p:cNvSpPr txBox="1"/>
          <p:nvPr/>
        </p:nvSpPr>
        <p:spPr>
          <a:xfrm>
            <a:off x="4545482" y="3584448"/>
            <a:ext cx="3192170" cy="685800"/>
          </a:xfrm>
          <a:prstGeom prst="rect">
            <a:avLst/>
          </a:prstGeom>
          <a:noFill/>
          <a:ln/>
        </p:spPr>
        <p:txBody>
          <a:bodyPr wrap="square" lIns="0" tIns="0" rIns="0" bIns="0" rtlCol="0" anchor="ctr"/>
          <a:lstStyle/>
          <a:p>
            <a:pPr indent="0" marL="0">
              <a:lnSpc>
                <a:spcPct val="115000"/>
              </a:lnSpc>
              <a:buNone/>
            </a:pPr>
            <a:r>
              <a:rPr lang="en-US" sz="840" b="1" spc="60" kern="0" dirty="0">
                <a:solidFill>
                  <a:srgbClr val="A9BDD1"/>
                </a:solidFill>
                <a:latin typeface="Arial" pitchFamily="34" charset="0"/>
                <a:ea typeface="Arial" pitchFamily="34" charset="-122"/>
                <a:cs typeface="Arial" pitchFamily="34" charset="-120"/>
              </a:rPr>
              <a:t>AUTHORIZE, REFUSE, OR ESCALATE, INSIDE APPROVED LIMITS</a:t>
            </a:r>
            <a:endParaRPr lang="en-US" sz="840" dirty="0"/>
          </a:p>
        </p:txBody>
      </p:sp>
      <p:sp>
        <p:nvSpPr>
          <p:cNvPr id="39" name="Shape 36"/>
          <p:cNvSpPr/>
          <p:nvPr/>
        </p:nvSpPr>
        <p:spPr>
          <a:xfrm>
            <a:off x="7902245" y="3255264"/>
            <a:ext cx="0" cy="1060704"/>
          </a:xfrm>
          <a:prstGeom prst="line">
            <a:avLst/>
          </a:prstGeom>
          <a:noFill/>
          <a:ln w="9525">
            <a:solidFill>
              <a:srgbClr val="23405C"/>
            </a:solidFill>
            <a:prstDash val="solid"/>
          </a:ln>
        </p:spPr>
      </p:sp>
      <p:sp>
        <p:nvSpPr>
          <p:cNvPr id="40" name="Text 37"/>
          <p:cNvSpPr txBox="1"/>
          <p:nvPr/>
        </p:nvSpPr>
        <p:spPr>
          <a:xfrm>
            <a:off x="8194853" y="3255264"/>
            <a:ext cx="3237890" cy="256032"/>
          </a:xfrm>
          <a:prstGeom prst="rect">
            <a:avLst/>
          </a:prstGeom>
          <a:noFill/>
          <a:ln/>
        </p:spPr>
        <p:txBody>
          <a:bodyPr wrap="square" lIns="0" tIns="0" rIns="0" bIns="0" rtlCol="0" anchor="ctr"/>
          <a:lstStyle/>
          <a:p>
            <a:pPr indent="0" marL="0">
              <a:buNone/>
            </a:pPr>
            <a:r>
              <a:rPr lang="en-US" sz="1300" b="1" spc="140" kern="0" dirty="0">
                <a:solidFill>
                  <a:srgbClr val="EAF2FA"/>
                </a:solidFill>
                <a:latin typeface="Arial" pitchFamily="34" charset="0"/>
                <a:ea typeface="Arial" pitchFamily="34" charset="-122"/>
                <a:cs typeface="Arial" pitchFamily="34" charset="-120"/>
              </a:rPr>
              <a:t>HUMAN</a:t>
            </a:r>
            <a:endParaRPr lang="en-US" sz="1300" dirty="0"/>
          </a:p>
        </p:txBody>
      </p:sp>
      <p:sp>
        <p:nvSpPr>
          <p:cNvPr id="41" name="Text 38"/>
          <p:cNvSpPr txBox="1"/>
          <p:nvPr/>
        </p:nvSpPr>
        <p:spPr>
          <a:xfrm>
            <a:off x="8194853" y="3584448"/>
            <a:ext cx="3192170" cy="685800"/>
          </a:xfrm>
          <a:prstGeom prst="rect">
            <a:avLst/>
          </a:prstGeom>
          <a:noFill/>
          <a:ln/>
        </p:spPr>
        <p:txBody>
          <a:bodyPr wrap="square" lIns="0" tIns="0" rIns="0" bIns="0" rtlCol="0" anchor="ctr"/>
          <a:lstStyle/>
          <a:p>
            <a:pPr indent="0" marL="0">
              <a:lnSpc>
                <a:spcPct val="115000"/>
              </a:lnSpc>
              <a:buNone/>
            </a:pPr>
            <a:r>
              <a:rPr lang="en-US" sz="840" b="1" spc="60" kern="0" dirty="0">
                <a:solidFill>
                  <a:srgbClr val="A9BDD1"/>
                </a:solidFill>
                <a:latin typeface="Arial" pitchFamily="34" charset="0"/>
                <a:ea typeface="Arial" pitchFamily="34" charset="-122"/>
                <a:cs typeface="Arial" pitchFamily="34" charset="-120"/>
              </a:rPr>
              <a:t>ENGINEERING RELEASE · QUALITY DISPOSITION · ACCEPTANCE</a:t>
            </a:r>
            <a:endParaRPr lang="en-US" sz="840" dirty="0"/>
          </a:p>
        </p:txBody>
      </p:sp>
      <p:sp>
        <p:nvSpPr>
          <p:cNvPr id="42" name="Shape 39"/>
          <p:cNvSpPr/>
          <p:nvPr/>
        </p:nvSpPr>
        <p:spPr>
          <a:xfrm>
            <a:off x="621792" y="4517136"/>
            <a:ext cx="10948111" cy="512064"/>
          </a:xfrm>
          <a:prstGeom prst="rect">
            <a:avLst/>
          </a:prstGeom>
          <a:solidFill>
            <a:srgbClr val="10233A">
              <a:alpha val="88000"/>
            </a:srgbClr>
          </a:solidFill>
          <a:ln w="11430">
            <a:solidFill>
              <a:srgbClr val="3D9BD8"/>
            </a:solidFill>
            <a:prstDash val="dash"/>
          </a:ln>
        </p:spPr>
      </p:sp>
      <p:sp>
        <p:nvSpPr>
          <p:cNvPr id="43" name="Shape 40"/>
          <p:cNvSpPr/>
          <p:nvPr/>
        </p:nvSpPr>
        <p:spPr>
          <a:xfrm>
            <a:off x="8066508" y="4498848"/>
            <a:ext cx="0" cy="54864"/>
          </a:xfrm>
          <a:prstGeom prst="line">
            <a:avLst/>
          </a:prstGeom>
          <a:noFill/>
          <a:ln w="19050">
            <a:solidFill>
              <a:srgbClr val="6FD3FF"/>
            </a:solidFill>
            <a:prstDash val="solid"/>
          </a:ln>
        </p:spPr>
      </p:sp>
      <p:sp>
        <p:nvSpPr>
          <p:cNvPr id="44" name="Text 41"/>
          <p:cNvSpPr txBox="1"/>
          <p:nvPr/>
        </p:nvSpPr>
        <p:spPr>
          <a:xfrm>
            <a:off x="841248" y="4517136"/>
            <a:ext cx="10509199" cy="512064"/>
          </a:xfrm>
          <a:prstGeom prst="rect">
            <a:avLst/>
          </a:prstGeom>
          <a:noFill/>
          <a:ln/>
        </p:spPr>
        <p:txBody>
          <a:bodyPr wrap="square" lIns="0" tIns="0" rIns="0" bIns="0" rtlCol="0" anchor="ctr"/>
          <a:lstStyle/>
          <a:p>
            <a:pPr indent="0" marL="0">
              <a:lnSpc>
                <a:spcPct val="110000"/>
              </a:lnSpc>
              <a:buNone/>
            </a:pPr>
            <a:r>
              <a:rPr lang="en-US" sz="900" b="1" dirty="0">
                <a:solidFill>
                  <a:srgbClr val="EAF2FA"/>
                </a:solidFill>
                <a:latin typeface="Arial" pitchFamily="34" charset="0"/>
                <a:ea typeface="Arial" pitchFamily="34" charset="-122"/>
                <a:cs typeface="Arial" pitchFamily="34" charset="-120"/>
              </a:rPr>
              <a:t>INDEPENDENT MACHINE-SAFETY AND RUNTIME-ASSURANCE LAYER — holds a veto that does not pass through the decision logic, and is required in every deployment.</a:t>
            </a:r>
            <a:endParaRPr lang="en-US" sz="900" dirty="0"/>
          </a:p>
        </p:txBody>
      </p:sp>
      <p:sp>
        <p:nvSpPr>
          <p:cNvPr id="45" name="Shape 42"/>
          <p:cNvSpPr/>
          <p:nvPr/>
        </p:nvSpPr>
        <p:spPr>
          <a:xfrm>
            <a:off x="621792" y="5193792"/>
            <a:ext cx="10948111" cy="0"/>
          </a:xfrm>
          <a:prstGeom prst="line">
            <a:avLst/>
          </a:prstGeom>
          <a:noFill/>
          <a:ln w="9525">
            <a:solidFill>
              <a:srgbClr val="23405C"/>
            </a:solidFill>
            <a:prstDash val="solid"/>
          </a:ln>
        </p:spPr>
      </p:sp>
      <p:sp>
        <p:nvSpPr>
          <p:cNvPr id="46" name="Text 43"/>
          <p:cNvSpPr txBox="1"/>
          <p:nvPr/>
        </p:nvSpPr>
        <p:spPr>
          <a:xfrm>
            <a:off x="621792" y="5303520"/>
            <a:ext cx="7680960" cy="420624"/>
          </a:xfrm>
          <a:prstGeom prst="rect">
            <a:avLst/>
          </a:prstGeom>
          <a:noFill/>
          <a:ln/>
        </p:spPr>
        <p:txBody>
          <a:bodyPr wrap="square" lIns="0" tIns="0" rIns="0" bIns="0" rtlCol="0" anchor="t"/>
          <a:lstStyle/>
          <a:p>
            <a:pPr algn="l" indent="0" marL="0">
              <a:lnSpc>
                <a:spcPct val="112000"/>
              </a:lnSpc>
              <a:spcAft>
                <a:spcPts val="300"/>
              </a:spcAft>
              <a:buNone/>
            </a:pPr>
            <a:r>
              <a:rPr lang="en-US" sz="1250" b="1" dirty="0">
                <a:solidFill>
                  <a:srgbClr val="EAF2FA"/>
                </a:solidFill>
                <a:latin typeface="Arial" pitchFamily="34" charset="0"/>
                <a:ea typeface="Arial" pitchFamily="34" charset="-122"/>
                <a:cs typeface="Arial" pitchFamily="34" charset="-120"/>
              </a:rPr>
              <a:t>Refusal is a designed behaviour, not a failure.</a:t>
            </a:r>
            <a:endParaRPr lang="en-US" sz="1250" dirty="0"/>
          </a:p>
          <a:p>
            <a:pPr algn="l" indent="0" marL="0">
              <a:lnSpc>
                <a:spcPct val="112000"/>
              </a:lnSpc>
              <a:buNone/>
            </a:pPr>
            <a:r>
              <a:rPr lang="en-US" sz="1250" b="1" dirty="0">
                <a:solidFill>
                  <a:srgbClr val="EAF2FA"/>
                </a:solidFill>
                <a:latin typeface="Arial" pitchFamily="34" charset="0"/>
                <a:ea typeface="Arial" pitchFamily="34" charset="-122"/>
                <a:cs typeface="Arial" pitchFamily="34" charset="-120"/>
              </a:rPr>
              <a:t>Verifiability is a precondition to greater authority.</a:t>
            </a:r>
            <a:endParaRPr lang="en-US" sz="1250" dirty="0"/>
          </a:p>
        </p:txBody>
      </p:sp>
      <p:sp>
        <p:nvSpPr>
          <p:cNvPr id="47" name="Text 44"/>
          <p:cNvSpPr txBox="1"/>
          <p:nvPr/>
        </p:nvSpPr>
        <p:spPr>
          <a:xfrm>
            <a:off x="621792" y="5815584"/>
            <a:ext cx="8046720" cy="365760"/>
          </a:xfrm>
          <a:prstGeom prst="rect">
            <a:avLst/>
          </a:prstGeom>
          <a:noFill/>
          <a:ln/>
        </p:spPr>
        <p:txBody>
          <a:bodyPr wrap="square" lIns="0" tIns="0" rIns="0" bIns="0" rtlCol="0" anchor="t"/>
          <a:lstStyle/>
          <a:p>
            <a:pPr algn="l" indent="0" marL="0">
              <a:lnSpc>
                <a:spcPct val="115000"/>
              </a:lnSpc>
              <a:buNone/>
            </a:pPr>
            <a:r>
              <a:rPr lang="en-US" sz="680" b="1" spc="40" kern="0" dirty="0">
                <a:solidFill>
                  <a:srgbClr val="72879D"/>
                </a:solidFill>
                <a:latin typeface="Arial" pitchFamily="34" charset="0"/>
                <a:ea typeface="Arial" pitchFamily="34" charset="-122"/>
                <a:cs typeface="Arial" pitchFamily="34" charset="-120"/>
              </a:rPr>
              <a:t>ARCHITECTURE AND DESIGN INTENT. NOT DEMONSTRATED CAPABILITY. THE DECISION RULE'S MARGIN FACTOR AND THE UNCERTAINTY MODEL IT MULTIPLIES ARE DECLARED AT GATE 2.</a:t>
            </a:r>
            <a:endParaRPr lang="en-US" sz="680" dirty="0"/>
          </a:p>
        </p:txBody>
      </p:sp>
      <p:sp>
        <p:nvSpPr>
          <p:cNvPr id="48" name="Text 45"/>
          <p:cNvSpPr txBox="1"/>
          <p:nvPr/>
        </p:nvSpPr>
        <p:spPr>
          <a:xfrm>
            <a:off x="7637983" y="6126480"/>
            <a:ext cx="3931920" cy="274320"/>
          </a:xfrm>
          <a:prstGeom prst="rect">
            <a:avLst/>
          </a:prstGeom>
          <a:noFill/>
          <a:ln/>
        </p:spPr>
        <p:txBody>
          <a:bodyPr wrap="square" lIns="0" tIns="0" rIns="0" bIns="0" rtlCol="0" anchor="ctr"/>
          <a:lstStyle/>
          <a:p>
            <a:pPr algn="r" indent="0" marL="0">
              <a:lnSpc>
                <a:spcPct val="115000"/>
              </a:lnSpc>
              <a:buNone/>
            </a:pPr>
            <a:r>
              <a:rPr lang="en-US" sz="750" i="1" dirty="0">
                <a:solidFill>
                  <a:srgbClr val="72879D"/>
                </a:solidFill>
                <a:latin typeface="Arial" pitchFamily="34" charset="0"/>
                <a:ea typeface="Arial" pitchFamily="34" charset="-122"/>
                <a:cs typeface="Arial" pitchFamily="34" charset="-120"/>
              </a:rPr>
              <a:t>Pointer: authority model, admissibility test and runtime-assurance mapping — A-3.</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07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WHERE WE ARE</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700" b="1" dirty="0">
                <a:solidFill>
                  <a:srgbClr val="EAF2FA"/>
                </a:solidFill>
                <a:latin typeface="Arial" pitchFamily="34" charset="0"/>
                <a:ea typeface="Arial" pitchFamily="34" charset="-122"/>
                <a:cs typeface="Arial" pitchFamily="34" charset="-120"/>
              </a:rPr>
              <a:t>The architecture exists.</a:t>
            </a:r>
            <a:endParaRPr lang="en-US" sz="2700" dirty="0"/>
          </a:p>
          <a:p>
            <a:pPr indent="0" marL="0">
              <a:lnSpc>
                <a:spcPct val="102000"/>
              </a:lnSpc>
              <a:buNone/>
            </a:pPr>
            <a:r>
              <a:rPr lang="en-US" sz="2700" dirty="0">
                <a:solidFill>
                  <a:srgbClr val="A9BDD1"/>
                </a:solidFill>
                <a:latin typeface="Arial" pitchFamily="34" charset="0"/>
                <a:ea typeface="Arial" pitchFamily="34" charset="-122"/>
                <a:cs typeface="Arial" pitchFamily="34" charset="-120"/>
              </a:rPr>
              <a:t>The physical evidence does not, yet.</a:t>
            </a:r>
            <a:endParaRPr lang="en-US" sz="2700" dirty="0"/>
          </a:p>
        </p:txBody>
      </p:sp>
      <p:sp>
        <p:nvSpPr>
          <p:cNvPr id="6" name="Shape 4"/>
          <p:cNvSpPr/>
          <p:nvPr/>
        </p:nvSpPr>
        <p:spPr>
          <a:xfrm>
            <a:off x="621792" y="1773936"/>
            <a:ext cx="10948111" cy="786384"/>
          </a:xfrm>
          <a:prstGeom prst="roundRect">
            <a:avLst>
              <a:gd name="adj" fmla="val 10465"/>
            </a:avLst>
          </a:prstGeom>
          <a:solidFill>
            <a:srgbClr val="0F1E31">
              <a:alpha val="68000"/>
            </a:srgbClr>
          </a:solidFill>
          <a:ln w="12700">
            <a:solidFill>
              <a:srgbClr val="3D9BD8">
                <a:alpha val="75000"/>
              </a:srgbClr>
            </a:solidFill>
            <a:prstDash val="solid"/>
          </a:ln>
          <a:effectLst>
            <a:outerShdw sx="100000" sy="100000" kx="0" ky="0" algn="bl" rotWithShape="0" blurRad="127000" dist="38100" dir="5400000">
              <a:srgbClr val="000000">
                <a:alpha val="35000"/>
              </a:srgbClr>
            </a:outerShdw>
          </a:effectLst>
        </p:spPr>
      </p:sp>
      <p:sp>
        <p:nvSpPr>
          <p:cNvPr id="7" name="Text 5"/>
          <p:cNvSpPr txBox="1"/>
          <p:nvPr/>
        </p:nvSpPr>
        <p:spPr>
          <a:xfrm>
            <a:off x="877824" y="1883664"/>
            <a:ext cx="10436047" cy="274320"/>
          </a:xfrm>
          <a:prstGeom prst="rect">
            <a:avLst/>
          </a:prstGeom>
          <a:noFill/>
          <a:ln/>
        </p:spPr>
        <p:txBody>
          <a:bodyPr wrap="square" lIns="0" tIns="0" rIns="0" bIns="0" rtlCol="0" anchor="ctr"/>
          <a:lstStyle/>
          <a:p>
            <a:pPr indent="0" marL="0">
              <a:buNone/>
            </a:pPr>
            <a:r>
              <a:rPr lang="en-US" sz="1400" b="1" spc="100" kern="0" dirty="0">
                <a:solidFill>
                  <a:srgbClr val="6FD3FF"/>
                </a:solidFill>
                <a:latin typeface="Arial" pitchFamily="34" charset="0"/>
                <a:ea typeface="Arial" pitchFamily="34" charset="-122"/>
                <a:cs typeface="Arial" pitchFamily="34" charset="-120"/>
              </a:rPr>
              <a:t>SYSTEM TRL 2 · PRE-HARDWARE · MRL 1–2</a:t>
            </a:r>
            <a:endParaRPr lang="en-US" sz="1400" dirty="0"/>
          </a:p>
        </p:txBody>
      </p:sp>
      <p:sp>
        <p:nvSpPr>
          <p:cNvPr id="8" name="Text 6"/>
          <p:cNvSpPr txBox="1"/>
          <p:nvPr/>
        </p:nvSpPr>
        <p:spPr>
          <a:xfrm>
            <a:off x="877824" y="2176272"/>
            <a:ext cx="10436047" cy="365760"/>
          </a:xfrm>
          <a:prstGeom prst="rect">
            <a:avLst/>
          </a:prstGeom>
          <a:noFill/>
          <a:ln/>
        </p:spPr>
        <p:txBody>
          <a:bodyPr wrap="square" lIns="0" tIns="0" rIns="0" bIns="0" rtlCol="0" anchor="ctr"/>
          <a:lstStyle/>
          <a:p>
            <a:pPr indent="0" marL="0">
              <a:lnSpc>
                <a:spcPct val="112000"/>
              </a:lnSpc>
              <a:buNone/>
            </a:pPr>
            <a:r>
              <a:rPr lang="en-US" sz="900" dirty="0">
                <a:solidFill>
                  <a:srgbClr val="A9BDD1"/>
                </a:solidFill>
                <a:latin typeface="Arial" pitchFamily="34" charset="0"/>
                <a:ea typeface="Arial" pitchFamily="34" charset="-122"/>
                <a:cs typeface="Arial" pitchFamily="34" charset="-120"/>
              </a:rPr>
              <a:t>Bounded by the least mature critical functions — capability-state estimation and safety. Assessed across twenty subsystem elements; no element is above TRL 3. Commercial maturity of a robot, sensor or camera does not make it mature for this application.</a:t>
            </a:r>
            <a:endParaRPr lang="en-US" sz="900" dirty="0"/>
          </a:p>
        </p:txBody>
      </p:sp>
      <p:sp>
        <p:nvSpPr>
          <p:cNvPr id="9" name="Shape 7"/>
          <p:cNvSpPr/>
          <p:nvPr/>
        </p:nvSpPr>
        <p:spPr>
          <a:xfrm>
            <a:off x="896112" y="2761488"/>
            <a:ext cx="4023360" cy="0"/>
          </a:xfrm>
          <a:prstGeom prst="line">
            <a:avLst/>
          </a:prstGeom>
          <a:noFill/>
          <a:ln w="12700">
            <a:solidFill>
              <a:srgbClr val="23405C"/>
            </a:solidFill>
            <a:prstDash val="solid"/>
          </a:ln>
        </p:spPr>
      </p:sp>
      <p:sp>
        <p:nvSpPr>
          <p:cNvPr id="10" name="Shape 8"/>
          <p:cNvSpPr/>
          <p:nvPr/>
        </p:nvSpPr>
        <p:spPr>
          <a:xfrm>
            <a:off x="896112" y="2724912"/>
            <a:ext cx="0" cy="73152"/>
          </a:xfrm>
          <a:prstGeom prst="line">
            <a:avLst/>
          </a:prstGeom>
          <a:noFill/>
          <a:ln w="9525">
            <a:solidFill>
              <a:srgbClr val="23405C"/>
            </a:solidFill>
            <a:prstDash val="solid"/>
          </a:ln>
        </p:spPr>
      </p:sp>
      <p:sp>
        <p:nvSpPr>
          <p:cNvPr id="11" name="Shape 9"/>
          <p:cNvSpPr/>
          <p:nvPr/>
        </p:nvSpPr>
        <p:spPr>
          <a:xfrm>
            <a:off x="1343152" y="2724912"/>
            <a:ext cx="0" cy="73152"/>
          </a:xfrm>
          <a:prstGeom prst="line">
            <a:avLst/>
          </a:prstGeom>
          <a:noFill/>
          <a:ln w="9525">
            <a:solidFill>
              <a:srgbClr val="23405C"/>
            </a:solidFill>
            <a:prstDash val="solid"/>
          </a:ln>
        </p:spPr>
      </p:sp>
      <p:sp>
        <p:nvSpPr>
          <p:cNvPr id="12" name="Shape 10"/>
          <p:cNvSpPr/>
          <p:nvPr/>
        </p:nvSpPr>
        <p:spPr>
          <a:xfrm>
            <a:off x="1790192" y="2724912"/>
            <a:ext cx="0" cy="73152"/>
          </a:xfrm>
          <a:prstGeom prst="line">
            <a:avLst/>
          </a:prstGeom>
          <a:noFill/>
          <a:ln w="9525">
            <a:solidFill>
              <a:srgbClr val="23405C"/>
            </a:solidFill>
            <a:prstDash val="solid"/>
          </a:ln>
        </p:spPr>
      </p:sp>
      <p:sp>
        <p:nvSpPr>
          <p:cNvPr id="13" name="Shape 11"/>
          <p:cNvSpPr/>
          <p:nvPr/>
        </p:nvSpPr>
        <p:spPr>
          <a:xfrm>
            <a:off x="2237232" y="2724912"/>
            <a:ext cx="0" cy="73152"/>
          </a:xfrm>
          <a:prstGeom prst="line">
            <a:avLst/>
          </a:prstGeom>
          <a:noFill/>
          <a:ln w="9525">
            <a:solidFill>
              <a:srgbClr val="23405C"/>
            </a:solidFill>
            <a:prstDash val="solid"/>
          </a:ln>
        </p:spPr>
      </p:sp>
      <p:sp>
        <p:nvSpPr>
          <p:cNvPr id="14" name="Shape 12"/>
          <p:cNvSpPr/>
          <p:nvPr/>
        </p:nvSpPr>
        <p:spPr>
          <a:xfrm>
            <a:off x="2684272" y="2724912"/>
            <a:ext cx="0" cy="73152"/>
          </a:xfrm>
          <a:prstGeom prst="line">
            <a:avLst/>
          </a:prstGeom>
          <a:noFill/>
          <a:ln w="9525">
            <a:solidFill>
              <a:srgbClr val="23405C"/>
            </a:solidFill>
            <a:prstDash val="solid"/>
          </a:ln>
        </p:spPr>
      </p:sp>
      <p:sp>
        <p:nvSpPr>
          <p:cNvPr id="15" name="Shape 13"/>
          <p:cNvSpPr/>
          <p:nvPr/>
        </p:nvSpPr>
        <p:spPr>
          <a:xfrm>
            <a:off x="3131312" y="2724912"/>
            <a:ext cx="0" cy="73152"/>
          </a:xfrm>
          <a:prstGeom prst="line">
            <a:avLst/>
          </a:prstGeom>
          <a:noFill/>
          <a:ln w="9525">
            <a:solidFill>
              <a:srgbClr val="23405C"/>
            </a:solidFill>
            <a:prstDash val="solid"/>
          </a:ln>
        </p:spPr>
      </p:sp>
      <p:sp>
        <p:nvSpPr>
          <p:cNvPr id="16" name="Shape 14"/>
          <p:cNvSpPr/>
          <p:nvPr/>
        </p:nvSpPr>
        <p:spPr>
          <a:xfrm>
            <a:off x="3578352" y="2724912"/>
            <a:ext cx="0" cy="73152"/>
          </a:xfrm>
          <a:prstGeom prst="line">
            <a:avLst/>
          </a:prstGeom>
          <a:noFill/>
          <a:ln w="9525">
            <a:solidFill>
              <a:srgbClr val="23405C"/>
            </a:solidFill>
            <a:prstDash val="solid"/>
          </a:ln>
        </p:spPr>
      </p:sp>
      <p:sp>
        <p:nvSpPr>
          <p:cNvPr id="17" name="Shape 15"/>
          <p:cNvSpPr/>
          <p:nvPr/>
        </p:nvSpPr>
        <p:spPr>
          <a:xfrm>
            <a:off x="4025392" y="2724912"/>
            <a:ext cx="0" cy="73152"/>
          </a:xfrm>
          <a:prstGeom prst="line">
            <a:avLst/>
          </a:prstGeom>
          <a:noFill/>
          <a:ln w="9525">
            <a:solidFill>
              <a:srgbClr val="23405C"/>
            </a:solidFill>
            <a:prstDash val="solid"/>
          </a:ln>
        </p:spPr>
      </p:sp>
      <p:sp>
        <p:nvSpPr>
          <p:cNvPr id="18" name="Shape 16"/>
          <p:cNvSpPr/>
          <p:nvPr/>
        </p:nvSpPr>
        <p:spPr>
          <a:xfrm>
            <a:off x="4472432" y="2724912"/>
            <a:ext cx="0" cy="73152"/>
          </a:xfrm>
          <a:prstGeom prst="line">
            <a:avLst/>
          </a:prstGeom>
          <a:noFill/>
          <a:ln w="9525">
            <a:solidFill>
              <a:srgbClr val="23405C"/>
            </a:solidFill>
            <a:prstDash val="solid"/>
          </a:ln>
        </p:spPr>
      </p:sp>
      <p:sp>
        <p:nvSpPr>
          <p:cNvPr id="19" name="Shape 17"/>
          <p:cNvSpPr/>
          <p:nvPr/>
        </p:nvSpPr>
        <p:spPr>
          <a:xfrm>
            <a:off x="4919472" y="2724912"/>
            <a:ext cx="0" cy="73152"/>
          </a:xfrm>
          <a:prstGeom prst="line">
            <a:avLst/>
          </a:prstGeom>
          <a:noFill/>
          <a:ln w="9525">
            <a:solidFill>
              <a:srgbClr val="23405C"/>
            </a:solidFill>
            <a:prstDash val="solid"/>
          </a:ln>
        </p:spPr>
      </p:sp>
      <p:pic>
        <p:nvPicPr>
          <p:cNvPr id="20" name="Image 0" descr="/tmp/claude-0/-home-user-foodiehome/a2788c04-4021-50f7-9e92-8de1b0e68224/scratchpad/syntrex/assets/glowdot.png">    </p:cNvPr>
          <p:cNvPicPr>
            <a:picLocks noChangeAspect="1"/>
          </p:cNvPicPr>
          <p:nvPr/>
        </p:nvPicPr>
        <p:blipFill>
          <a:blip r:embed="rId2"/>
          <a:stretch>
            <a:fillRect/>
          </a:stretch>
        </p:blipFill>
        <p:spPr>
          <a:xfrm>
            <a:off x="1643888" y="2615184"/>
            <a:ext cx="292608" cy="292608"/>
          </a:xfrm>
          <a:prstGeom prst="rect">
            <a:avLst/>
          </a:prstGeom>
        </p:spPr>
      </p:pic>
      <p:sp>
        <p:nvSpPr>
          <p:cNvPr id="21" name="Text 18"/>
          <p:cNvSpPr txBox="1"/>
          <p:nvPr/>
        </p:nvSpPr>
        <p:spPr>
          <a:xfrm>
            <a:off x="1332992" y="2889504"/>
            <a:ext cx="1188720" cy="182880"/>
          </a:xfrm>
          <a:prstGeom prst="rect">
            <a:avLst/>
          </a:prstGeom>
          <a:noFill/>
          <a:ln/>
        </p:spPr>
        <p:txBody>
          <a:bodyPr wrap="square" lIns="0" tIns="0" rIns="0" bIns="0" rtlCol="0" anchor="ctr"/>
          <a:lstStyle/>
          <a:p>
            <a:pPr indent="0" marL="0">
              <a:buNone/>
            </a:pPr>
            <a:r>
              <a:rPr lang="en-US" sz="700" b="1" dirty="0">
                <a:solidFill>
                  <a:srgbClr val="6FD3FF"/>
                </a:solidFill>
                <a:latin typeface="Arial" pitchFamily="34" charset="0"/>
                <a:ea typeface="Arial" pitchFamily="34" charset="-122"/>
                <a:cs typeface="Arial" pitchFamily="34" charset="-120"/>
              </a:rPr>
              <a:t>TODAY: TRL 2</a:t>
            </a:r>
            <a:endParaRPr lang="en-US" sz="700" dirty="0"/>
          </a:p>
        </p:txBody>
      </p:sp>
      <p:sp>
        <p:nvSpPr>
          <p:cNvPr id="22" name="Shape 19"/>
          <p:cNvSpPr/>
          <p:nvPr/>
        </p:nvSpPr>
        <p:spPr>
          <a:xfrm>
            <a:off x="621792" y="3200400"/>
            <a:ext cx="10948111" cy="2157984"/>
          </a:xfrm>
          <a:prstGeom prst="roundRect">
            <a:avLst>
              <a:gd name="adj" fmla="val 3814"/>
            </a:avLst>
          </a:prstGeom>
          <a:solidFill>
            <a:srgbClr val="0F1E31">
              <a:alpha val="68000"/>
            </a:srgbClr>
          </a:solidFill>
          <a:ln w="9525">
            <a:solidFill>
              <a:srgbClr val="2A4A68">
                <a:alpha val="75000"/>
              </a:srgbClr>
            </a:solidFill>
            <a:prstDash val="solid"/>
          </a:ln>
          <a:effectLst>
            <a:outerShdw sx="100000" sy="100000" kx="0" ky="0" algn="bl" rotWithShape="0" blurRad="127000" dist="38100" dir="5400000">
              <a:srgbClr val="000000">
                <a:alpha val="35000"/>
              </a:srgbClr>
            </a:outerShdw>
          </a:effectLst>
        </p:spPr>
      </p:sp>
      <p:sp>
        <p:nvSpPr>
          <p:cNvPr id="23" name="Text 20"/>
          <p:cNvSpPr txBox="1"/>
          <p:nvPr/>
        </p:nvSpPr>
        <p:spPr>
          <a:xfrm>
            <a:off x="914400" y="3346704"/>
            <a:ext cx="4971136" cy="219456"/>
          </a:xfrm>
          <a:prstGeom prst="rect">
            <a:avLst/>
          </a:prstGeom>
          <a:noFill/>
          <a:ln/>
        </p:spPr>
        <p:txBody>
          <a:bodyPr wrap="square" lIns="0" tIns="0" rIns="0" bIns="0" rtlCol="0" anchor="ctr"/>
          <a:lstStyle/>
          <a:p>
            <a:pPr indent="0" marL="0">
              <a:buNone/>
            </a:pPr>
            <a:r>
              <a:rPr lang="en-US" sz="1000" b="1" spc="240" kern="0" dirty="0">
                <a:solidFill>
                  <a:srgbClr val="6FD3FF"/>
                </a:solidFill>
                <a:latin typeface="Arial" pitchFamily="34" charset="0"/>
                <a:ea typeface="Arial" pitchFamily="34" charset="-122"/>
                <a:cs typeface="Arial" pitchFamily="34" charset="-120"/>
              </a:rPr>
              <a:t>TODAY</a:t>
            </a:r>
            <a:endParaRPr lang="en-US" sz="1000" dirty="0"/>
          </a:p>
        </p:txBody>
      </p:sp>
      <p:sp>
        <p:nvSpPr>
          <p:cNvPr id="24" name="Text 21"/>
          <p:cNvSpPr txBox="1"/>
          <p:nvPr/>
        </p:nvSpPr>
        <p:spPr>
          <a:xfrm>
            <a:off x="6388456" y="3346704"/>
            <a:ext cx="4971136" cy="219456"/>
          </a:xfrm>
          <a:prstGeom prst="rect">
            <a:avLst/>
          </a:prstGeom>
          <a:noFill/>
          <a:ln/>
        </p:spPr>
        <p:txBody>
          <a:bodyPr wrap="square" lIns="0" tIns="0" rIns="0" bIns="0" rtlCol="0" anchor="ctr"/>
          <a:lstStyle/>
          <a:p>
            <a:pPr indent="0" marL="0">
              <a:buNone/>
            </a:pPr>
            <a:r>
              <a:rPr lang="en-US" sz="1000" b="1" spc="220" kern="0" dirty="0">
                <a:solidFill>
                  <a:srgbClr val="A9BDD1"/>
                </a:solidFill>
                <a:latin typeface="Arial" pitchFamily="34" charset="0"/>
                <a:ea typeface="Arial" pitchFamily="34" charset="-122"/>
                <a:cs typeface="Arial" pitchFamily="34" charset="-120"/>
              </a:rPr>
              <a:t>THE EVIDENCE THIS ROUND FUNDS</a:t>
            </a:r>
            <a:endParaRPr lang="en-US" sz="1000" dirty="0"/>
          </a:p>
        </p:txBody>
      </p:sp>
      <p:sp>
        <p:nvSpPr>
          <p:cNvPr id="25" name="Shape 22"/>
          <p:cNvSpPr/>
          <p:nvPr/>
        </p:nvSpPr>
        <p:spPr>
          <a:xfrm>
            <a:off x="932688" y="3685032"/>
            <a:ext cx="100584" cy="100584"/>
          </a:xfrm>
          <a:prstGeom prst="ellipse">
            <a:avLst/>
          </a:prstGeom>
          <a:solidFill>
            <a:srgbClr val="6FD3FF"/>
          </a:solidFill>
          <a:ln w="12700">
            <a:solidFill>
              <a:srgbClr val="6FD3FF"/>
            </a:solidFill>
            <a:prstDash val="solid"/>
          </a:ln>
        </p:spPr>
      </p:sp>
      <p:sp>
        <p:nvSpPr>
          <p:cNvPr id="26" name="Text 23"/>
          <p:cNvSpPr txBox="1"/>
          <p:nvPr/>
        </p:nvSpPr>
        <p:spPr>
          <a:xfrm>
            <a:off x="1152144" y="3611880"/>
            <a:ext cx="4696816" cy="320040"/>
          </a:xfrm>
          <a:prstGeom prst="rect">
            <a:avLst/>
          </a:prstGeom>
          <a:noFill/>
          <a:ln/>
        </p:spPr>
        <p:txBody>
          <a:bodyPr wrap="square" lIns="0" tIns="0" rIns="0" bIns="0" rtlCol="0" anchor="ctr"/>
          <a:lstStyle/>
          <a:p>
            <a:pPr indent="0" marL="0">
              <a:lnSpc>
                <a:spcPct val="98000"/>
              </a:lnSpc>
              <a:buNone/>
            </a:pPr>
            <a:r>
              <a:rPr lang="en-US" sz="760" dirty="0">
                <a:solidFill>
                  <a:srgbClr val="EAF2FA"/>
                </a:solidFill>
                <a:latin typeface="Arial" pitchFamily="34" charset="0"/>
                <a:ea typeface="Arial" pitchFamily="34" charset="-122"/>
                <a:cs typeface="Arial" pitchFamily="34" charset="-120"/>
              </a:rPr>
              <a:t>System architecture, formulated and adversarially reviewed across nine domains</a:t>
            </a:r>
            <a:endParaRPr lang="en-US" sz="760" dirty="0"/>
          </a:p>
        </p:txBody>
      </p:sp>
      <p:sp>
        <p:nvSpPr>
          <p:cNvPr id="27" name="Shape 24"/>
          <p:cNvSpPr/>
          <p:nvPr/>
        </p:nvSpPr>
        <p:spPr>
          <a:xfrm>
            <a:off x="932688" y="4005072"/>
            <a:ext cx="100584" cy="100584"/>
          </a:xfrm>
          <a:prstGeom prst="ellipse">
            <a:avLst/>
          </a:prstGeom>
          <a:solidFill>
            <a:srgbClr val="6FD3FF"/>
          </a:solidFill>
          <a:ln w="12700">
            <a:solidFill>
              <a:srgbClr val="6FD3FF"/>
            </a:solidFill>
            <a:prstDash val="solid"/>
          </a:ln>
        </p:spPr>
      </p:sp>
      <p:sp>
        <p:nvSpPr>
          <p:cNvPr id="28" name="Text 25"/>
          <p:cNvSpPr txBox="1"/>
          <p:nvPr/>
        </p:nvSpPr>
        <p:spPr>
          <a:xfrm>
            <a:off x="1152144" y="3931920"/>
            <a:ext cx="4696816" cy="320040"/>
          </a:xfrm>
          <a:prstGeom prst="rect">
            <a:avLst/>
          </a:prstGeom>
          <a:noFill/>
          <a:ln/>
        </p:spPr>
        <p:txBody>
          <a:bodyPr wrap="square" lIns="0" tIns="0" rIns="0" bIns="0" rtlCol="0" anchor="ctr"/>
          <a:lstStyle/>
          <a:p>
            <a:pPr indent="0" marL="0">
              <a:lnSpc>
                <a:spcPct val="98000"/>
              </a:lnSpc>
              <a:buNone/>
            </a:pPr>
            <a:r>
              <a:rPr lang="en-US" sz="760" dirty="0">
                <a:solidFill>
                  <a:srgbClr val="EAF2FA"/>
                </a:solidFill>
                <a:latin typeface="Arial" pitchFamily="34" charset="0"/>
                <a:ea typeface="Arial" pitchFamily="34" charset="-122"/>
                <a:cs typeface="Arial" pitchFamily="34" charset="-120"/>
              </a:rPr>
              <a:t>Authorization logic exercised on 281 synthetic operations — evidence that logic refuses when it should, on inputs we generated; not evidence about physics or unforeseen inputs</a:t>
            </a:r>
            <a:endParaRPr lang="en-US" sz="760" dirty="0"/>
          </a:p>
        </p:txBody>
      </p:sp>
      <p:sp>
        <p:nvSpPr>
          <p:cNvPr id="29" name="Shape 26"/>
          <p:cNvSpPr/>
          <p:nvPr/>
        </p:nvSpPr>
        <p:spPr>
          <a:xfrm>
            <a:off x="932688" y="4325112"/>
            <a:ext cx="100584" cy="100584"/>
          </a:xfrm>
          <a:prstGeom prst="ellipse">
            <a:avLst/>
          </a:prstGeom>
          <a:solidFill>
            <a:srgbClr val="6FD3FF"/>
          </a:solidFill>
          <a:ln w="12700">
            <a:solidFill>
              <a:srgbClr val="6FD3FF"/>
            </a:solidFill>
            <a:prstDash val="solid"/>
          </a:ln>
        </p:spPr>
      </p:sp>
      <p:sp>
        <p:nvSpPr>
          <p:cNvPr id="30" name="Text 27"/>
          <p:cNvSpPr txBox="1"/>
          <p:nvPr/>
        </p:nvSpPr>
        <p:spPr>
          <a:xfrm>
            <a:off x="1152144" y="4251960"/>
            <a:ext cx="4696816" cy="320040"/>
          </a:xfrm>
          <a:prstGeom prst="rect">
            <a:avLst/>
          </a:prstGeom>
          <a:noFill/>
          <a:ln/>
        </p:spPr>
        <p:txBody>
          <a:bodyPr wrap="square" lIns="0" tIns="0" rIns="0" bIns="0" rtlCol="0" anchor="ctr"/>
          <a:lstStyle/>
          <a:p>
            <a:pPr indent="0" marL="0">
              <a:lnSpc>
                <a:spcPct val="98000"/>
              </a:lnSpc>
              <a:buNone/>
            </a:pPr>
            <a:r>
              <a:rPr lang="en-US" sz="760" dirty="0">
                <a:solidFill>
                  <a:srgbClr val="EAF2FA"/>
                </a:solidFill>
                <a:latin typeface="Arial" pitchFamily="34" charset="0"/>
                <a:ea typeface="Arial" pitchFamily="34" charset="-122"/>
                <a:cs typeface="Arial" pitchFamily="34" charset="-120"/>
              </a:rPr>
              <a:t>Twenty-element readiness assessment, with the evidence that advances each element</a:t>
            </a:r>
            <a:endParaRPr lang="en-US" sz="760" dirty="0"/>
          </a:p>
        </p:txBody>
      </p:sp>
      <p:sp>
        <p:nvSpPr>
          <p:cNvPr id="31" name="Shape 28"/>
          <p:cNvSpPr/>
          <p:nvPr/>
        </p:nvSpPr>
        <p:spPr>
          <a:xfrm>
            <a:off x="932688" y="4645152"/>
            <a:ext cx="100584" cy="100584"/>
          </a:xfrm>
          <a:prstGeom prst="ellipse">
            <a:avLst/>
          </a:prstGeom>
          <a:solidFill>
            <a:srgbClr val="6FD3FF"/>
          </a:solidFill>
          <a:ln w="12700">
            <a:solidFill>
              <a:srgbClr val="6FD3FF"/>
            </a:solidFill>
            <a:prstDash val="solid"/>
          </a:ln>
        </p:spPr>
      </p:sp>
      <p:sp>
        <p:nvSpPr>
          <p:cNvPr id="32" name="Text 29"/>
          <p:cNvSpPr txBox="1"/>
          <p:nvPr/>
        </p:nvSpPr>
        <p:spPr>
          <a:xfrm>
            <a:off x="1152144" y="4572000"/>
            <a:ext cx="4696816" cy="320040"/>
          </a:xfrm>
          <a:prstGeom prst="rect">
            <a:avLst/>
          </a:prstGeom>
          <a:noFill/>
          <a:ln/>
        </p:spPr>
        <p:txBody>
          <a:bodyPr wrap="square" lIns="0" tIns="0" rIns="0" bIns="0" rtlCol="0" anchor="ctr"/>
          <a:lstStyle/>
          <a:p>
            <a:pPr indent="0" marL="0">
              <a:lnSpc>
                <a:spcPct val="98000"/>
              </a:lnSpc>
              <a:buNone/>
            </a:pPr>
            <a:r>
              <a:rPr lang="en-US" sz="760" dirty="0">
                <a:solidFill>
                  <a:srgbClr val="EAF2FA"/>
                </a:solidFill>
                <a:latin typeface="Arial" pitchFamily="34" charset="0"/>
                <a:ea typeface="Arial" pitchFamily="34" charset="-122"/>
                <a:cs typeface="Arial" pitchFamily="34" charset="-120"/>
              </a:rPr>
              <a:t>Validation programme with pre-registered criteria and kill criteria</a:t>
            </a:r>
            <a:endParaRPr lang="en-US" sz="760" dirty="0"/>
          </a:p>
        </p:txBody>
      </p:sp>
      <p:sp>
        <p:nvSpPr>
          <p:cNvPr id="33" name="Shape 30"/>
          <p:cNvSpPr/>
          <p:nvPr/>
        </p:nvSpPr>
        <p:spPr>
          <a:xfrm>
            <a:off x="932688" y="4965192"/>
            <a:ext cx="100584" cy="100584"/>
          </a:xfrm>
          <a:prstGeom prst="ellipse">
            <a:avLst/>
          </a:prstGeom>
          <a:solidFill>
            <a:srgbClr val="6FD3FF"/>
          </a:solidFill>
          <a:ln w="12700">
            <a:solidFill>
              <a:srgbClr val="6FD3FF"/>
            </a:solidFill>
            <a:prstDash val="solid"/>
          </a:ln>
        </p:spPr>
      </p:sp>
      <p:sp>
        <p:nvSpPr>
          <p:cNvPr id="34" name="Text 31"/>
          <p:cNvSpPr txBox="1"/>
          <p:nvPr/>
        </p:nvSpPr>
        <p:spPr>
          <a:xfrm>
            <a:off x="1152144" y="4892040"/>
            <a:ext cx="4696816" cy="320040"/>
          </a:xfrm>
          <a:prstGeom prst="rect">
            <a:avLst/>
          </a:prstGeom>
          <a:noFill/>
          <a:ln/>
        </p:spPr>
        <p:txBody>
          <a:bodyPr wrap="square" lIns="0" tIns="0" rIns="0" bIns="0" rtlCol="0" anchor="ctr"/>
          <a:lstStyle/>
          <a:p>
            <a:pPr indent="0" marL="0">
              <a:lnSpc>
                <a:spcPct val="98000"/>
              </a:lnSpc>
              <a:buNone/>
            </a:pPr>
            <a:r>
              <a:rPr lang="en-US" sz="760" dirty="0">
                <a:solidFill>
                  <a:srgbClr val="EAF2FA"/>
                </a:solidFill>
                <a:latin typeface="Arial" pitchFamily="34" charset="0"/>
                <a:ea typeface="Arial" pitchFamily="34" charset="-122"/>
                <a:cs typeface="Arial" pitchFamily="34" charset="-120"/>
              </a:rPr>
              <a:t>Contradiction register that has never deleted an entry</a:t>
            </a:r>
            <a:endParaRPr lang="en-US" sz="760" dirty="0"/>
          </a:p>
        </p:txBody>
      </p:sp>
      <p:sp>
        <p:nvSpPr>
          <p:cNvPr id="35" name="Shape 32"/>
          <p:cNvSpPr/>
          <p:nvPr/>
        </p:nvSpPr>
        <p:spPr>
          <a:xfrm>
            <a:off x="6406744" y="3685032"/>
            <a:ext cx="100584" cy="100584"/>
          </a:xfrm>
          <a:prstGeom prst="ellipse">
            <a:avLst/>
          </a:prstGeom>
          <a:solidFill>
            <a:srgbClr val="0F1E31">
              <a:alpha val="0"/>
            </a:srgbClr>
          </a:solidFill>
          <a:ln w="12700">
            <a:solidFill>
              <a:srgbClr val="3D9BD8"/>
            </a:solidFill>
            <a:prstDash val="solid"/>
          </a:ln>
        </p:spPr>
      </p:sp>
      <p:sp>
        <p:nvSpPr>
          <p:cNvPr id="36" name="Text 33"/>
          <p:cNvSpPr txBox="1"/>
          <p:nvPr/>
        </p:nvSpPr>
        <p:spPr>
          <a:xfrm>
            <a:off x="6626200" y="3611880"/>
            <a:ext cx="4696816" cy="402336"/>
          </a:xfrm>
          <a:prstGeom prst="rect">
            <a:avLst/>
          </a:prstGeom>
          <a:noFill/>
          <a:ln/>
        </p:spPr>
        <p:txBody>
          <a:bodyPr wrap="square" lIns="0" tIns="0" rIns="0" bIns="0" rtlCol="0" anchor="ctr"/>
          <a:lstStyle/>
          <a:p>
            <a:pPr indent="0" marL="0">
              <a:lnSpc>
                <a:spcPct val="100000"/>
              </a:lnSpc>
              <a:buNone/>
            </a:pPr>
            <a:r>
              <a:rPr lang="en-US" sz="760" dirty="0">
                <a:solidFill>
                  <a:srgbClr val="A9BDD1"/>
                </a:solidFill>
                <a:latin typeface="Arial" pitchFamily="34" charset="0"/>
                <a:ea typeface="Arial" pitchFamily="34" charset="-122"/>
                <a:cs typeface="Arial" pitchFamily="34" charset="-120"/>
              </a:rPr>
              <a:t>Gate 1 — one physical premise falsified or survived, on confidence bounds, month 5</a:t>
            </a:r>
            <a:endParaRPr lang="en-US" sz="760" dirty="0"/>
          </a:p>
        </p:txBody>
      </p:sp>
      <p:sp>
        <p:nvSpPr>
          <p:cNvPr id="37" name="Shape 34"/>
          <p:cNvSpPr/>
          <p:nvPr/>
        </p:nvSpPr>
        <p:spPr>
          <a:xfrm>
            <a:off x="6406744" y="4087368"/>
            <a:ext cx="100584" cy="100584"/>
          </a:xfrm>
          <a:prstGeom prst="ellipse">
            <a:avLst/>
          </a:prstGeom>
          <a:solidFill>
            <a:srgbClr val="0F1E31">
              <a:alpha val="0"/>
            </a:srgbClr>
          </a:solidFill>
          <a:ln w="12700">
            <a:solidFill>
              <a:srgbClr val="3D9BD8"/>
            </a:solidFill>
            <a:prstDash val="solid"/>
          </a:ln>
        </p:spPr>
      </p:sp>
      <p:sp>
        <p:nvSpPr>
          <p:cNvPr id="38" name="Text 35"/>
          <p:cNvSpPr txBox="1"/>
          <p:nvPr/>
        </p:nvSpPr>
        <p:spPr>
          <a:xfrm>
            <a:off x="6626200" y="4014216"/>
            <a:ext cx="4696816" cy="402336"/>
          </a:xfrm>
          <a:prstGeom prst="rect">
            <a:avLst/>
          </a:prstGeom>
          <a:noFill/>
          <a:ln/>
        </p:spPr>
        <p:txBody>
          <a:bodyPr wrap="square" lIns="0" tIns="0" rIns="0" bIns="0" rtlCol="0" anchor="ctr"/>
          <a:lstStyle/>
          <a:p>
            <a:pPr indent="0" marL="0">
              <a:lnSpc>
                <a:spcPct val="100000"/>
              </a:lnSpc>
              <a:buNone/>
            </a:pPr>
            <a:r>
              <a:rPr lang="en-US" sz="760" dirty="0">
                <a:solidFill>
                  <a:srgbClr val="A9BDD1"/>
                </a:solidFill>
                <a:latin typeface="Arial" pitchFamily="34" charset="0"/>
                <a:ea typeface="Arial" pitchFamily="34" charset="-122"/>
                <a:cs typeface="Arial" pitchFamily="34" charset="-120"/>
              </a:rPr>
              <a:t>Gate 2 — measurement chain and uncertainty budget on aerospace-relevant hardware, month 9</a:t>
            </a:r>
            <a:endParaRPr lang="en-US" sz="760" dirty="0"/>
          </a:p>
        </p:txBody>
      </p:sp>
      <p:sp>
        <p:nvSpPr>
          <p:cNvPr id="39" name="Shape 36"/>
          <p:cNvSpPr/>
          <p:nvPr/>
        </p:nvSpPr>
        <p:spPr>
          <a:xfrm>
            <a:off x="6406744" y="4489704"/>
            <a:ext cx="100584" cy="100584"/>
          </a:xfrm>
          <a:prstGeom prst="ellipse">
            <a:avLst/>
          </a:prstGeom>
          <a:solidFill>
            <a:srgbClr val="0F1E31">
              <a:alpha val="0"/>
            </a:srgbClr>
          </a:solidFill>
          <a:ln w="12700">
            <a:solidFill>
              <a:srgbClr val="3D9BD8"/>
            </a:solidFill>
            <a:prstDash val="solid"/>
          </a:ln>
        </p:spPr>
      </p:sp>
      <p:sp>
        <p:nvSpPr>
          <p:cNvPr id="40" name="Text 37"/>
          <p:cNvSpPr txBox="1"/>
          <p:nvPr/>
        </p:nvSpPr>
        <p:spPr>
          <a:xfrm>
            <a:off x="6626200" y="4416552"/>
            <a:ext cx="4696816" cy="402336"/>
          </a:xfrm>
          <a:prstGeom prst="rect">
            <a:avLst/>
          </a:prstGeom>
          <a:noFill/>
          <a:ln/>
        </p:spPr>
        <p:txBody>
          <a:bodyPr wrap="square" lIns="0" tIns="0" rIns="0" bIns="0" rtlCol="0" anchor="ctr"/>
          <a:lstStyle/>
          <a:p>
            <a:pPr indent="0" marL="0">
              <a:lnSpc>
                <a:spcPct val="100000"/>
              </a:lnSpc>
              <a:buNone/>
            </a:pPr>
            <a:r>
              <a:rPr lang="en-US" sz="760" dirty="0">
                <a:solidFill>
                  <a:srgbClr val="A9BDD1"/>
                </a:solidFill>
                <a:latin typeface="Arial" pitchFamily="34" charset="0"/>
                <a:ea typeface="Arial" pitchFamily="34" charset="-122"/>
                <a:cs typeface="Arial" pitchFamily="34" charset="-120"/>
              </a:rPr>
              <a:t>Gate 3 — one operation class end to end in a research cell, with an evidence record a quality practitioner can attack, month 13–14</a:t>
            </a:r>
            <a:endParaRPr lang="en-US" sz="760" dirty="0"/>
          </a:p>
        </p:txBody>
      </p:sp>
      <p:sp>
        <p:nvSpPr>
          <p:cNvPr id="41" name="Shape 38"/>
          <p:cNvSpPr/>
          <p:nvPr/>
        </p:nvSpPr>
        <p:spPr>
          <a:xfrm>
            <a:off x="6406744" y="4892040"/>
            <a:ext cx="100584" cy="100584"/>
          </a:xfrm>
          <a:prstGeom prst="ellipse">
            <a:avLst/>
          </a:prstGeom>
          <a:solidFill>
            <a:srgbClr val="0F1E31">
              <a:alpha val="0"/>
            </a:srgbClr>
          </a:solidFill>
          <a:ln w="12700">
            <a:solidFill>
              <a:srgbClr val="3D9BD8"/>
            </a:solidFill>
            <a:prstDash val="solid"/>
          </a:ln>
        </p:spPr>
      </p:sp>
      <p:sp>
        <p:nvSpPr>
          <p:cNvPr id="42" name="Text 39"/>
          <p:cNvSpPr txBox="1"/>
          <p:nvPr/>
        </p:nvSpPr>
        <p:spPr>
          <a:xfrm>
            <a:off x="6626200" y="4818888"/>
            <a:ext cx="4696816" cy="402336"/>
          </a:xfrm>
          <a:prstGeom prst="rect">
            <a:avLst/>
          </a:prstGeom>
          <a:noFill/>
          <a:ln/>
        </p:spPr>
        <p:txBody>
          <a:bodyPr wrap="square" lIns="0" tIns="0" rIns="0" bIns="0" rtlCol="0" anchor="ctr"/>
          <a:lstStyle/>
          <a:p>
            <a:pPr indent="0" marL="0">
              <a:lnSpc>
                <a:spcPct val="100000"/>
              </a:lnSpc>
              <a:buNone/>
            </a:pPr>
            <a:r>
              <a:rPr lang="en-US" sz="760" dirty="0">
                <a:solidFill>
                  <a:srgbClr val="A9BDD1"/>
                </a:solidFill>
                <a:latin typeface="Arial" pitchFamily="34" charset="0"/>
                <a:ea typeface="Arial" pitchFamily="34" charset="-122"/>
                <a:cs typeface="Arial" pitchFamily="34" charset="-120"/>
              </a:rPr>
              <a:t>One bounded, read-only customer engagement measuring introduction burden as the customer's data</a:t>
            </a:r>
            <a:endParaRPr lang="en-US" sz="760" dirty="0"/>
          </a:p>
        </p:txBody>
      </p:sp>
      <p:sp>
        <p:nvSpPr>
          <p:cNvPr id="43" name="Shape 40"/>
          <p:cNvSpPr/>
          <p:nvPr/>
        </p:nvSpPr>
        <p:spPr>
          <a:xfrm>
            <a:off x="6095848" y="3346704"/>
            <a:ext cx="0" cy="1883664"/>
          </a:xfrm>
          <a:prstGeom prst="line">
            <a:avLst/>
          </a:prstGeom>
          <a:noFill/>
          <a:ln w="9525">
            <a:solidFill>
              <a:srgbClr val="23405C"/>
            </a:solidFill>
            <a:prstDash val="solid"/>
          </a:ln>
        </p:spPr>
      </p:sp>
      <p:sp>
        <p:nvSpPr>
          <p:cNvPr id="44" name="Text 41"/>
          <p:cNvSpPr txBox="1"/>
          <p:nvPr/>
        </p:nvSpPr>
        <p:spPr>
          <a:xfrm>
            <a:off x="621792" y="5486400"/>
            <a:ext cx="7589520" cy="777240"/>
          </a:xfrm>
          <a:prstGeom prst="rect">
            <a:avLst/>
          </a:prstGeom>
          <a:noFill/>
          <a:ln/>
        </p:spPr>
        <p:txBody>
          <a:bodyPr wrap="square" lIns="0" tIns="0" rIns="0" bIns="0" rtlCol="0" anchor="t"/>
          <a:lstStyle/>
          <a:p>
            <a:pPr algn="l" indent="0" marL="0">
              <a:lnSpc>
                <a:spcPct val="110000"/>
              </a:lnSpc>
              <a:spcAft>
                <a:spcPts val="300"/>
              </a:spcAft>
              <a:buNone/>
            </a:pPr>
            <a:r>
              <a:rPr lang="en-US" sz="800" b="1" spc="240" kern="0" dirty="0">
                <a:solidFill>
                  <a:srgbClr val="72879D"/>
                </a:solidFill>
                <a:latin typeface="Arial" pitchFamily="34" charset="0"/>
                <a:ea typeface="Arial" pitchFamily="34" charset="-122"/>
                <a:cs typeface="Arial" pitchFamily="34" charset="-120"/>
              </a:rPr>
              <a:t>WHAT WE DO NOT CLAIM</a:t>
            </a:r>
            <a:endParaRPr lang="en-US" sz="800" dirty="0"/>
          </a:p>
          <a:p>
            <a:pPr algn="l" indent="0" marL="0">
              <a:lnSpc>
                <a:spcPct val="110000"/>
              </a:lnSpc>
              <a:spcAft>
                <a:spcPts val="400"/>
              </a:spcAft>
              <a:buNone/>
            </a:pPr>
            <a:r>
              <a:rPr lang="en-US" sz="840" dirty="0">
                <a:solidFill>
                  <a:srgbClr val="A9BDD1"/>
                </a:solidFill>
                <a:latin typeface="Arial" pitchFamily="34" charset="0"/>
                <a:ea typeface="Arial" pitchFamily="34" charset="-122"/>
                <a:cs typeface="Arial" pitchFamily="34" charset="-120"/>
              </a:rPr>
              <a:t>No physical experiment has been run. No deployed or qualified hardware. No production customers. No demonstrated return on investment. No certification or airworthiness approval.</a:t>
            </a:r>
            <a:endParaRPr lang="en-US" sz="800" dirty="0"/>
          </a:p>
          <a:p>
            <a:pPr algn="l" indent="0" marL="0">
              <a:lnSpc>
                <a:spcPct val="110000"/>
              </a:lnSpc>
              <a:buNone/>
            </a:pPr>
            <a:r>
              <a:rPr lang="en-US" sz="800" i="1" dirty="0">
                <a:solidFill>
                  <a:srgbClr val="72879D"/>
                </a:solidFill>
                <a:latin typeface="Arial" pitchFamily="34" charset="0"/>
                <a:ea typeface="Arial" pitchFamily="34" charset="-122"/>
                <a:cs typeface="Arial" pitchFamily="34" charset="-120"/>
              </a:rPr>
              <a:t>First article inspection is a part-specific verification gate and remains so. Syntrex targets the engineering burden required to reach that gate, not the gate itself.</a:t>
            </a:r>
            <a:endParaRPr lang="en-US" sz="800" dirty="0"/>
          </a:p>
        </p:txBody>
      </p:sp>
      <p:sp>
        <p:nvSpPr>
          <p:cNvPr id="45" name="Text 42"/>
          <p:cNvSpPr txBox="1"/>
          <p:nvPr/>
        </p:nvSpPr>
        <p:spPr>
          <a:xfrm>
            <a:off x="8503920" y="5504688"/>
            <a:ext cx="3063240" cy="548640"/>
          </a:xfrm>
          <a:prstGeom prst="rect">
            <a:avLst/>
          </a:prstGeom>
          <a:noFill/>
          <a:ln/>
        </p:spPr>
        <p:txBody>
          <a:bodyPr wrap="square" lIns="0" tIns="0" rIns="0" bIns="0" rtlCol="0" anchor="t"/>
          <a:lstStyle/>
          <a:p>
            <a:pPr algn="l" indent="0" marL="0">
              <a:lnSpc>
                <a:spcPct val="115000"/>
              </a:lnSpc>
              <a:buNone/>
            </a:pPr>
            <a:r>
              <a:rPr lang="en-US" sz="1100" b="1" dirty="0">
                <a:solidFill>
                  <a:srgbClr val="6FD3FF"/>
                </a:solidFill>
                <a:latin typeface="Arial" pitchFamily="34" charset="0"/>
                <a:ea typeface="Arial" pitchFamily="34" charset="-122"/>
                <a:cs typeface="Arial" pitchFamily="34" charset="-120"/>
              </a:rPr>
              <a:t>We have already withdrawn internal claims that did not survive our own review.</a:t>
            </a:r>
            <a:endParaRPr lang="en-US" sz="1100" dirty="0"/>
          </a:p>
        </p:txBody>
      </p:sp>
      <p:sp>
        <p:nvSpPr>
          <p:cNvPr id="46" name="Text 43"/>
          <p:cNvSpPr txBox="1"/>
          <p:nvPr/>
        </p:nvSpPr>
        <p:spPr>
          <a:xfrm>
            <a:off x="621792" y="6309360"/>
            <a:ext cx="10948111" cy="274320"/>
          </a:xfrm>
          <a:prstGeom prst="rect">
            <a:avLst/>
          </a:prstGeom>
          <a:noFill/>
          <a:ln/>
        </p:spPr>
        <p:txBody>
          <a:bodyPr wrap="square" lIns="0" tIns="0" rIns="0" bIns="0" rtlCol="0" anchor="ctr"/>
          <a:lstStyle/>
          <a:p>
            <a:pPr indent="0" marL="0">
              <a:lnSpc>
                <a:spcPct val="110000"/>
              </a:lnSpc>
              <a:buNone/>
            </a:pPr>
            <a:r>
              <a:rPr lang="en-US" sz="700" i="1" dirty="0">
                <a:solidFill>
                  <a:srgbClr val="51667C"/>
                </a:solidFill>
                <a:latin typeface="Arial" pitchFamily="34" charset="0"/>
                <a:ea typeface="Arial" pitchFamily="34" charset="-122"/>
                <a:cs typeface="Arial" pitchFamily="34" charset="-120"/>
              </a:rPr>
              <a:t>Readiness progression: TRL 2 today → 2 after Gate 1 → 2 after Gate 2 → 3–4 after Gate 3 → 4–5 at a first customer-floor demonstration.  Pointers: readiness detail A-2 · qualification framework A-5.</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08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CAPITAL FOLLOWS EVIDENCE</a:t>
            </a:r>
            <a:endParaRPr lang="en-US" sz="1000" dirty="0"/>
          </a:p>
        </p:txBody>
      </p:sp>
      <p:sp>
        <p:nvSpPr>
          <p:cNvPr id="5" name="Text 3"/>
          <p:cNvSpPr txBox="1"/>
          <p:nvPr/>
        </p:nvSpPr>
        <p:spPr>
          <a:xfrm>
            <a:off x="621792" y="786384"/>
            <a:ext cx="10948111" cy="548640"/>
          </a:xfrm>
          <a:prstGeom prst="rect">
            <a:avLst/>
          </a:prstGeom>
          <a:noFill/>
          <a:ln/>
        </p:spPr>
        <p:txBody>
          <a:bodyPr wrap="square" lIns="0" tIns="0" rIns="0" bIns="0" rtlCol="0" anchor="t"/>
          <a:lstStyle/>
          <a:p>
            <a:pPr indent="0" marL="0">
              <a:lnSpc>
                <a:spcPct val="102000"/>
              </a:lnSpc>
              <a:buNone/>
            </a:pPr>
            <a:r>
              <a:rPr lang="en-US" sz="2300" b="1" dirty="0">
                <a:solidFill>
                  <a:srgbClr val="EAF2FA"/>
                </a:solidFill>
                <a:latin typeface="Arial" pitchFamily="34" charset="0"/>
                <a:ea typeface="Arial" pitchFamily="34" charset="-122"/>
                <a:cs typeface="Arial" pitchFamily="34" charset="-120"/>
              </a:rPr>
              <a:t>The first assumption is falsified on a $22,000 bench programme.</a:t>
            </a:r>
            <a:endParaRPr lang="en-US" sz="2300" dirty="0"/>
          </a:p>
        </p:txBody>
      </p:sp>
      <p:sp>
        <p:nvSpPr>
          <p:cNvPr id="6" name="Text 4"/>
          <p:cNvSpPr txBox="1"/>
          <p:nvPr/>
        </p:nvSpPr>
        <p:spPr>
          <a:xfrm>
            <a:off x="621792" y="1298448"/>
            <a:ext cx="10948111" cy="292608"/>
          </a:xfrm>
          <a:prstGeom prst="rect">
            <a:avLst/>
          </a:prstGeom>
          <a:noFill/>
          <a:ln/>
        </p:spPr>
        <p:txBody>
          <a:bodyPr wrap="square" lIns="0" tIns="0" rIns="0" bIns="0" rtlCol="0" anchor="ctr"/>
          <a:lstStyle/>
          <a:p>
            <a:pPr indent="0" marL="0">
              <a:buNone/>
            </a:pPr>
            <a:r>
              <a:rPr lang="en-US" sz="1100" dirty="0">
                <a:solidFill>
                  <a:srgbClr val="A9BDD1"/>
                </a:solidFill>
                <a:latin typeface="Arial" pitchFamily="34" charset="0"/>
                <a:ea typeface="Arial" pitchFamily="34" charset="-122"/>
                <a:cs typeface="Arial" pitchFamily="34" charset="-120"/>
              </a:rPr>
              <a:t>No robot. No facility. Apparatus under $3,000 at published catalog prices. A pre-registered test with a kill criterion.</a:t>
            </a:r>
            <a:endParaRPr lang="en-US" sz="1100" dirty="0"/>
          </a:p>
        </p:txBody>
      </p:sp>
      <p:sp>
        <p:nvSpPr>
          <p:cNvPr id="7" name="Shape 5"/>
          <p:cNvSpPr/>
          <p:nvPr/>
        </p:nvSpPr>
        <p:spPr>
          <a:xfrm>
            <a:off x="621792" y="1700784"/>
            <a:ext cx="6903720" cy="3200400"/>
          </a:xfrm>
          <a:prstGeom prst="roundRect">
            <a:avLst>
              <a:gd name="adj" fmla="val 2571"/>
            </a:avLst>
          </a:prstGeom>
          <a:solidFill>
            <a:srgbClr val="0F1E31">
              <a:alpha val="68000"/>
            </a:srgbClr>
          </a:solidFill>
          <a:ln w="9525">
            <a:solidFill>
              <a:srgbClr val="2A4A68">
                <a:alpha val="75000"/>
              </a:srgbClr>
            </a:solidFill>
            <a:prstDash val="solid"/>
          </a:ln>
          <a:effectLst>
            <a:outerShdw sx="100000" sy="100000" kx="0" ky="0" algn="bl" rotWithShape="0" blurRad="127000" dist="38100" dir="5400000">
              <a:srgbClr val="000000">
                <a:alpha val="35000"/>
              </a:srgbClr>
            </a:outerShdw>
          </a:effectLst>
        </p:spPr>
      </p:sp>
      <p:sp>
        <p:nvSpPr>
          <p:cNvPr id="8" name="Text 6"/>
          <p:cNvSpPr txBox="1"/>
          <p:nvPr/>
        </p:nvSpPr>
        <p:spPr>
          <a:xfrm>
            <a:off x="877824" y="1847088"/>
            <a:ext cx="6400800" cy="2423160"/>
          </a:xfrm>
          <a:prstGeom prst="rect">
            <a:avLst/>
          </a:prstGeom>
          <a:noFill/>
          <a:ln/>
        </p:spPr>
        <p:txBody>
          <a:bodyPr wrap="square" lIns="0" tIns="0" rIns="0" bIns="0" rtlCol="0" anchor="t"/>
          <a:lstStyle/>
          <a:p>
            <a:pPr algn="l" indent="0" marL="0">
              <a:lnSpc>
                <a:spcPct val="108000"/>
              </a:lnSpc>
              <a:spcAft>
                <a:spcPts val="500"/>
              </a:spcAft>
              <a:buNone/>
            </a:pPr>
            <a:r>
              <a:rPr lang="en-US" sz="950" b="1" spc="160" kern="0" dirty="0">
                <a:solidFill>
                  <a:srgbClr val="6FD3FF"/>
                </a:solidFill>
                <a:latin typeface="Arial" pitchFamily="34" charset="0"/>
                <a:ea typeface="Arial" pitchFamily="34" charset="-122"/>
                <a:cs typeface="Arial" pitchFamily="34" charset="-120"/>
              </a:rPr>
              <a:t>GATE 1 — FIRST FALSIFYING TEST — MONTH 5</a:t>
            </a:r>
            <a:endParaRPr lang="en-US" sz="950" dirty="0"/>
          </a:p>
          <a:p>
            <a:pPr algn="l" indent="0" marL="0">
              <a:lnSpc>
                <a:spcPct val="108000"/>
              </a:lnSpc>
              <a:spcAft>
                <a:spcPts val="500"/>
              </a:spcAft>
              <a:buNone/>
            </a:pPr>
            <a:r>
              <a:rPr lang="en-US" sz="900" b="1" dirty="0">
                <a:solidFill>
                  <a:srgbClr val="EAF2FA"/>
                </a:solidFill>
                <a:latin typeface="Arial" pitchFamily="34" charset="0"/>
                <a:ea typeface="Arial" pitchFamily="34" charset="-122"/>
                <a:cs typeface="Arial" pitchFamily="34" charset="-120"/>
              </a:rPr>
              <a:t>The question: does a pre-terminated bundle seat repeatably from a branch-specific cassette under closed-loop tension, across three channel geometries?</a:t>
            </a:r>
            <a:endParaRPr lang="en-US" sz="950" dirty="0"/>
          </a:p>
          <a:p>
            <a:pPr algn="l" indent="0" marL="0">
              <a:lnSpc>
                <a:spcPct val="108000"/>
              </a:lnSpc>
              <a:spcAft>
                <a:spcPts val="500"/>
              </a:spcAft>
              <a:buNone/>
            </a:pPr>
            <a:r>
              <a:rPr lang="en-US" sz="830" dirty="0">
                <a:solidFill>
                  <a:srgbClr val="A9BDD1"/>
                </a:solidFill>
                <a:latin typeface="Arial" pitchFamily="34" charset="0"/>
                <a:ea typeface="Arial" pitchFamily="34" charset="-122"/>
                <a:cs typeface="Arial" pitchFamily="34" charset="-120"/>
              </a:rPr>
              <a:t>Why this first: it is the cheapest experiment that exercises the whole architecture at once — sensing, closed-loop control, a compliant part, a repeatability measurement, and an unambiguous damage criterion. Every failure mode is observable at bench scale.</a:t>
            </a:r>
            <a:endParaRPr lang="en-US" sz="950" dirty="0"/>
          </a:p>
          <a:p>
            <a:pPr algn="l" indent="0" marL="0">
              <a:lnSpc>
                <a:spcPct val="108000"/>
              </a:lnSpc>
              <a:spcAft>
                <a:spcPts val="500"/>
              </a:spcAft>
              <a:buNone/>
            </a:pPr>
            <a:r>
              <a:rPr lang="en-US" sz="830" dirty="0">
                <a:solidFill>
                  <a:srgbClr val="A9BDD1"/>
                </a:solidFill>
                <a:latin typeface="Arial" pitchFamily="34" charset="0"/>
                <a:ea typeface="Arial" pitchFamily="34" charset="-122"/>
                <a:cs typeface="Arial" pitchFamily="34" charset="-120"/>
              </a:rPr>
              <a:t>Apparatus: stepper feeder and drive, inline tension cell, three channel geometries, pre-terminated 20-conductor bundle, machine vision camera, calibrated scale artefact. Priced core under $3,000 at published catalog prices.</a:t>
            </a:r>
            <a:endParaRPr lang="en-US" sz="950" dirty="0"/>
          </a:p>
          <a:p>
            <a:pPr algn="l" indent="0" marL="0">
              <a:lnSpc>
                <a:spcPct val="108000"/>
              </a:lnSpc>
              <a:spcAft>
                <a:spcPts val="500"/>
              </a:spcAft>
              <a:buNone/>
            </a:pPr>
            <a:r>
              <a:rPr lang="en-US" sz="830" dirty="0">
                <a:solidFill>
                  <a:srgbClr val="A9BDD1"/>
                </a:solidFill>
                <a:latin typeface="Arial" pitchFamily="34" charset="0"/>
                <a:ea typeface="Arial" pitchFamily="34" charset="-122"/>
                <a:cs typeface="Arial" pitchFamily="34" charset="-120"/>
              </a:rPr>
              <a:t>Design: 59 zero-failure trials per geometry — 177 trials — pre-registered before the first trial, with a signed bench hazard assessment and an independent measurement reviewer holding a veto.</a:t>
            </a:r>
            <a:endParaRPr lang="en-US" sz="950" dirty="0"/>
          </a:p>
        </p:txBody>
      </p:sp>
      <p:sp>
        <p:nvSpPr>
          <p:cNvPr id="9" name="Text 7"/>
          <p:cNvSpPr txBox="1"/>
          <p:nvPr/>
        </p:nvSpPr>
        <p:spPr>
          <a:xfrm>
            <a:off x="877824" y="4261104"/>
            <a:ext cx="6400800" cy="603504"/>
          </a:xfrm>
          <a:prstGeom prst="rect">
            <a:avLst/>
          </a:prstGeom>
          <a:noFill/>
          <a:ln/>
        </p:spPr>
        <p:txBody>
          <a:bodyPr wrap="square" lIns="0" tIns="0" rIns="0" bIns="0" rtlCol="0" anchor="t"/>
          <a:lstStyle/>
          <a:p>
            <a:pPr algn="l" indent="0" marL="0">
              <a:lnSpc>
                <a:spcPct val="106000"/>
              </a:lnSpc>
              <a:spcAft>
                <a:spcPts val="300"/>
              </a:spcAft>
              <a:buNone/>
            </a:pPr>
            <a:r>
              <a:rPr lang="en-US" sz="790" b="1" dirty="0">
                <a:solidFill>
                  <a:srgbClr val="EAF2FA"/>
                </a:solidFill>
                <a:latin typeface="Arial" pitchFamily="34" charset="0"/>
                <a:ea typeface="Arial" pitchFamily="34" charset="-122"/>
                <a:cs typeface="Arial" pitchFamily="34" charset="-120"/>
              </a:rPr>
              <a:t>Decision: PASS when the one-sided 95% lower confidence bound on first-pass seating meets the declared pass threshold, scatter within ±3 mm, no insulation damage. CONDITIONAL between the kill and pass thresholds. KILL below the kill threshold, or on any insulation damage — a single occurrence. At a 95% pass threshold, PASS requires zero failures in 59 trials per geometry.</a:t>
            </a:r>
            <a:endParaRPr lang="en-US" sz="790" dirty="0"/>
          </a:p>
          <a:p>
            <a:pPr algn="l" indent="0" marL="0">
              <a:lnSpc>
                <a:spcPct val="106000"/>
              </a:lnSpc>
              <a:buNone/>
            </a:pPr>
            <a:r>
              <a:rPr lang="en-US" sz="820" dirty="0">
                <a:solidFill>
                  <a:srgbClr val="A9BDD1"/>
                </a:solidFill>
                <a:latin typeface="Arial" pitchFamily="34" charset="0"/>
                <a:ea typeface="Arial" pitchFamily="34" charset="-122"/>
                <a:cs typeface="Arial" pitchFamily="34" charset="-120"/>
              </a:rPr>
              <a:t>Programme funded to about $22,000 including two redesign-and-rerun cycles.</a:t>
            </a:r>
            <a:endParaRPr lang="en-US" sz="790" dirty="0"/>
          </a:p>
        </p:txBody>
      </p:sp>
      <p:sp>
        <p:nvSpPr>
          <p:cNvPr id="10" name="Shape 8"/>
          <p:cNvSpPr/>
          <p:nvPr/>
        </p:nvSpPr>
        <p:spPr>
          <a:xfrm>
            <a:off x="7772400" y="1700784"/>
            <a:ext cx="3794760" cy="1554480"/>
          </a:xfrm>
          <a:prstGeom prst="roundRect">
            <a:avLst>
              <a:gd name="adj" fmla="val 5294"/>
            </a:avLst>
          </a:prstGeom>
          <a:solidFill>
            <a:srgbClr val="0F1E31">
              <a:alpha val="68000"/>
            </a:srgbClr>
          </a:solidFill>
          <a:ln w="9525">
            <a:solidFill>
              <a:srgbClr val="2A4A68">
                <a:alpha val="75000"/>
              </a:srgbClr>
            </a:solidFill>
            <a:prstDash val="solid"/>
          </a:ln>
          <a:effectLst>
            <a:outerShdw sx="100000" sy="100000" kx="0" ky="0" algn="bl" rotWithShape="0" blurRad="127000" dist="38100" dir="5400000">
              <a:srgbClr val="000000">
                <a:alpha val="35000"/>
              </a:srgbClr>
            </a:outerShdw>
          </a:effectLst>
        </p:spPr>
      </p:sp>
      <p:sp>
        <p:nvSpPr>
          <p:cNvPr id="11" name="Text 9"/>
          <p:cNvSpPr txBox="1"/>
          <p:nvPr/>
        </p:nvSpPr>
        <p:spPr>
          <a:xfrm>
            <a:off x="7991856" y="1847088"/>
            <a:ext cx="3383280" cy="1371600"/>
          </a:xfrm>
          <a:prstGeom prst="rect">
            <a:avLst/>
          </a:prstGeom>
          <a:noFill/>
          <a:ln/>
        </p:spPr>
        <p:txBody>
          <a:bodyPr wrap="square" lIns="0" tIns="0" rIns="0" bIns="0" rtlCol="0" anchor="t"/>
          <a:lstStyle/>
          <a:p>
            <a:pPr algn="l" indent="0" marL="0">
              <a:lnSpc>
                <a:spcPct val="110000"/>
              </a:lnSpc>
              <a:spcAft>
                <a:spcPts val="400"/>
              </a:spcAft>
              <a:buNone/>
            </a:pPr>
            <a:r>
              <a:rPr lang="en-US" sz="800" b="1" spc="80" kern="0" dirty="0">
                <a:solidFill>
                  <a:srgbClr val="6FD3FF"/>
                </a:solidFill>
                <a:latin typeface="Arial" pitchFamily="34" charset="0"/>
                <a:ea typeface="Arial" pitchFamily="34" charset="-122"/>
                <a:cs typeface="Arial" pitchFamily="34" charset="-120"/>
              </a:rPr>
              <a:t>GATE 2 — FOUNDATIONAL VALIDATION — ~$65,000 — MONTH 9</a:t>
            </a:r>
            <a:endParaRPr lang="en-US" sz="800" dirty="0"/>
          </a:p>
          <a:p>
            <a:pPr algn="l" indent="0" marL="0">
              <a:lnSpc>
                <a:spcPct val="110000"/>
              </a:lnSpc>
              <a:buNone/>
            </a:pPr>
            <a:r>
              <a:rPr lang="en-US" sz="820" dirty="0">
                <a:solidFill>
                  <a:srgbClr val="A9BDD1"/>
                </a:solidFill>
                <a:latin typeface="Arial" pitchFamily="34" charset="0"/>
                <a:ea typeface="Arial" pitchFamily="34" charset="-122"/>
                <a:cs typeface="Arial" pitchFamily="34" charset="-120"/>
              </a:rPr>
              <a:t>Measurement systems analysis, calibration traceability and a measured uncertainty budget on aerospace-relevant hardware; the authorization logic evaluated against real rather than synthetic measurement. No robot required.</a:t>
            </a:r>
            <a:endParaRPr lang="en-US" sz="800" dirty="0"/>
          </a:p>
        </p:txBody>
      </p:sp>
      <p:sp>
        <p:nvSpPr>
          <p:cNvPr id="12" name="Shape 10"/>
          <p:cNvSpPr/>
          <p:nvPr/>
        </p:nvSpPr>
        <p:spPr>
          <a:xfrm>
            <a:off x="7772400" y="3364992"/>
            <a:ext cx="3794760" cy="1371600"/>
          </a:xfrm>
          <a:prstGeom prst="roundRect">
            <a:avLst>
              <a:gd name="adj" fmla="val 6000"/>
            </a:avLst>
          </a:prstGeom>
          <a:solidFill>
            <a:srgbClr val="0F1E31">
              <a:alpha val="68000"/>
            </a:srgbClr>
          </a:solidFill>
          <a:ln w="9525">
            <a:solidFill>
              <a:srgbClr val="2A4A68">
                <a:alpha val="75000"/>
              </a:srgbClr>
            </a:solidFill>
            <a:prstDash val="solid"/>
          </a:ln>
          <a:effectLst>
            <a:outerShdw sx="100000" sy="100000" kx="0" ky="0" algn="bl" rotWithShape="0" blurRad="127000" dist="38100" dir="5400000">
              <a:srgbClr val="000000">
                <a:alpha val="35000"/>
              </a:srgbClr>
            </a:outerShdw>
          </a:effectLst>
        </p:spPr>
      </p:sp>
      <p:sp>
        <p:nvSpPr>
          <p:cNvPr id="13" name="Text 11"/>
          <p:cNvSpPr txBox="1"/>
          <p:nvPr/>
        </p:nvSpPr>
        <p:spPr>
          <a:xfrm>
            <a:off x="7991856" y="3511296"/>
            <a:ext cx="3383280" cy="1188720"/>
          </a:xfrm>
          <a:prstGeom prst="rect">
            <a:avLst/>
          </a:prstGeom>
          <a:noFill/>
          <a:ln/>
        </p:spPr>
        <p:txBody>
          <a:bodyPr wrap="square" lIns="0" tIns="0" rIns="0" bIns="0" rtlCol="0" anchor="t"/>
          <a:lstStyle/>
          <a:p>
            <a:pPr algn="l" indent="0" marL="0">
              <a:lnSpc>
                <a:spcPct val="106000"/>
              </a:lnSpc>
              <a:spcAft>
                <a:spcPts val="400"/>
              </a:spcAft>
              <a:buNone/>
            </a:pPr>
            <a:r>
              <a:rPr lang="en-US" sz="800" b="1" spc="60" kern="0" dirty="0">
                <a:solidFill>
                  <a:srgbClr val="6FD3FF"/>
                </a:solidFill>
                <a:latin typeface="Arial" pitchFamily="34" charset="0"/>
                <a:ea typeface="Arial" pitchFamily="34" charset="-122"/>
                <a:cs typeface="Arial" pitchFamily="34" charset="-120"/>
              </a:rPr>
              <a:t>GATE 3 — INTEGRATED DEMONSTRATOR — $350K BASE, $250K–$450K RANGE — MONTH 13–14</a:t>
            </a:r>
            <a:endParaRPr lang="en-US" sz="800" dirty="0"/>
          </a:p>
          <a:p>
            <a:pPr algn="l" indent="0" marL="0">
              <a:lnSpc>
                <a:spcPct val="106000"/>
              </a:lnSpc>
              <a:buNone/>
            </a:pPr>
            <a:r>
              <a:rPr lang="en-US" sz="800" dirty="0">
                <a:solidFill>
                  <a:srgbClr val="A9BDD1"/>
                </a:solidFill>
                <a:latin typeface="Arial" pitchFamily="34" charset="0"/>
                <a:ea typeface="Arial" pitchFamily="34" charset="-122"/>
                <a:cs typeface="Arial" pitchFamily="34" charset="-120"/>
              </a:rPr>
              <a:t>One operation class end to end in a supervised research cell: correct refusal under marginal conditions, verification independent of the authorizing estimate, an evidence record that survives review, capability held across a working session.</a:t>
            </a:r>
            <a:endParaRPr lang="en-US" sz="800" dirty="0"/>
          </a:p>
        </p:txBody>
      </p:sp>
      <p:sp>
        <p:nvSpPr>
          <p:cNvPr id="14" name="Text 12"/>
          <p:cNvSpPr txBox="1"/>
          <p:nvPr/>
        </p:nvSpPr>
        <p:spPr>
          <a:xfrm>
            <a:off x="7991856" y="4846320"/>
            <a:ext cx="3383280" cy="566928"/>
          </a:xfrm>
          <a:prstGeom prst="rect">
            <a:avLst/>
          </a:prstGeom>
          <a:noFill/>
          <a:ln/>
        </p:spPr>
        <p:txBody>
          <a:bodyPr wrap="square" lIns="0" tIns="0" rIns="0" bIns="0" rtlCol="0" anchor="t"/>
          <a:lstStyle/>
          <a:p>
            <a:pPr algn="l" indent="0" marL="0">
              <a:lnSpc>
                <a:spcPct val="108000"/>
              </a:lnSpc>
              <a:spcAft>
                <a:spcPts val="300"/>
              </a:spcAft>
              <a:buNone/>
            </a:pPr>
            <a:r>
              <a:rPr lang="en-US" sz="750" b="1" spc="160" kern="0" dirty="0">
                <a:solidFill>
                  <a:srgbClr val="72879D"/>
                </a:solidFill>
                <a:latin typeface="Arial" pitchFamily="34" charset="0"/>
                <a:ea typeface="Arial" pitchFamily="34" charset="-122"/>
                <a:cs typeface="Arial" pitchFamily="34" charset="-120"/>
              </a:rPr>
              <a:t>THE HONEST EXPECTATION</a:t>
            </a:r>
            <a:endParaRPr lang="en-US" sz="750" dirty="0"/>
          </a:p>
          <a:p>
            <a:pPr algn="l" indent="0" marL="0">
              <a:lnSpc>
                <a:spcPct val="108000"/>
              </a:lnSpc>
              <a:buNone/>
            </a:pPr>
            <a:r>
              <a:rPr lang="en-US" sz="760" i="1" dirty="0">
                <a:solidFill>
                  <a:srgbClr val="72879D"/>
                </a:solidFill>
                <a:latin typeface="Arial" pitchFamily="34" charset="0"/>
                <a:ea typeface="Arial" pitchFamily="34" charset="-122"/>
                <a:cs typeface="Arial" pitchFamily="34" charset="-120"/>
              </a:rPr>
              <a:t>The nearest published laboratory result in this class reaches 75–80%. Under this rule that result returns KILL. The bar is set above the state of the art on purpose.</a:t>
            </a:r>
            <a:endParaRPr lang="en-US" sz="750" dirty="0"/>
          </a:p>
        </p:txBody>
      </p:sp>
      <p:sp>
        <p:nvSpPr>
          <p:cNvPr id="15" name="Text 13"/>
          <p:cNvSpPr txBox="1"/>
          <p:nvPr/>
        </p:nvSpPr>
        <p:spPr>
          <a:xfrm>
            <a:off x="621792" y="5193792"/>
            <a:ext cx="6766560" cy="274320"/>
          </a:xfrm>
          <a:prstGeom prst="rect">
            <a:avLst/>
          </a:prstGeom>
          <a:noFill/>
          <a:ln/>
        </p:spPr>
        <p:txBody>
          <a:bodyPr wrap="square" lIns="0" tIns="0" rIns="0" bIns="0" rtlCol="0" anchor="ctr"/>
          <a:lstStyle/>
          <a:p>
            <a:pPr indent="0" marL="0">
              <a:lnSpc>
                <a:spcPct val="112000"/>
              </a:lnSpc>
              <a:buNone/>
            </a:pPr>
            <a:r>
              <a:rPr lang="en-US" sz="1050" b="1" dirty="0">
                <a:solidFill>
                  <a:srgbClr val="EAF2FA"/>
                </a:solidFill>
                <a:latin typeface="Arial" pitchFamily="34" charset="0"/>
                <a:ea typeface="Arial" pitchFamily="34" charset="-122"/>
                <a:cs typeface="Arial" pitchFamily="34" charset="-120"/>
              </a:rPr>
              <a:t>A failed $22,000 programme prevents a $350,000 commitment. Capital moves behind evidence, not ahead of it.</a:t>
            </a:r>
            <a:endParaRPr lang="en-US" sz="1050" dirty="0"/>
          </a:p>
        </p:txBody>
      </p:sp>
      <p:sp>
        <p:nvSpPr>
          <p:cNvPr id="16" name="Shape 14"/>
          <p:cNvSpPr/>
          <p:nvPr/>
        </p:nvSpPr>
        <p:spPr>
          <a:xfrm>
            <a:off x="621792" y="5888736"/>
            <a:ext cx="1627632" cy="219456"/>
          </a:xfrm>
          <a:prstGeom prst="rect">
            <a:avLst/>
          </a:prstGeom>
          <a:solidFill>
            <a:srgbClr val="0E2A46">
              <a:alpha val="92000"/>
            </a:srgbClr>
          </a:solidFill>
          <a:ln w="19050">
            <a:solidFill>
              <a:srgbClr val="6FD3FF"/>
            </a:solidFill>
            <a:prstDash val="solid"/>
          </a:ln>
        </p:spPr>
      </p:sp>
      <p:sp>
        <p:nvSpPr>
          <p:cNvPr id="17" name="Text 15"/>
          <p:cNvSpPr txBox="1"/>
          <p:nvPr/>
        </p:nvSpPr>
        <p:spPr>
          <a:xfrm>
            <a:off x="694944" y="5907024"/>
            <a:ext cx="1499616" cy="164592"/>
          </a:xfrm>
          <a:prstGeom prst="rect">
            <a:avLst/>
          </a:prstGeom>
          <a:noFill/>
          <a:ln/>
        </p:spPr>
        <p:txBody>
          <a:bodyPr wrap="square" lIns="0" tIns="0" rIns="0" bIns="0" rtlCol="0" anchor="ctr"/>
          <a:lstStyle/>
          <a:p>
            <a:pPr indent="0" marL="0">
              <a:buNone/>
            </a:pPr>
            <a:r>
              <a:rPr lang="en-US" sz="700" b="1" dirty="0">
                <a:solidFill>
                  <a:srgbClr val="6FD3FF"/>
                </a:solidFill>
                <a:latin typeface="Arial" pitchFamily="34" charset="0"/>
                <a:ea typeface="Arial" pitchFamily="34" charset="-122"/>
                <a:cs typeface="Arial" pitchFamily="34" charset="-120"/>
              </a:rPr>
              <a:t>GATE 1 · $22K</a:t>
            </a:r>
            <a:endParaRPr lang="en-US" sz="700" dirty="0"/>
          </a:p>
        </p:txBody>
      </p:sp>
      <p:sp>
        <p:nvSpPr>
          <p:cNvPr id="18" name="Text 16"/>
          <p:cNvSpPr txBox="1"/>
          <p:nvPr/>
        </p:nvSpPr>
        <p:spPr>
          <a:xfrm>
            <a:off x="694944" y="6126480"/>
            <a:ext cx="1499616" cy="146304"/>
          </a:xfrm>
          <a:prstGeom prst="rect">
            <a:avLst/>
          </a:prstGeom>
          <a:noFill/>
          <a:ln/>
        </p:spPr>
        <p:txBody>
          <a:bodyPr wrap="square" lIns="0" tIns="0" rIns="0" bIns="0" rtlCol="0" anchor="ctr"/>
          <a:lstStyle/>
          <a:p>
            <a:pPr indent="0" marL="0">
              <a:buNone/>
            </a:pPr>
            <a:r>
              <a:rPr lang="en-US" sz="620" dirty="0">
                <a:solidFill>
                  <a:srgbClr val="72879D"/>
                </a:solidFill>
                <a:latin typeface="Arial" pitchFamily="34" charset="0"/>
                <a:ea typeface="Arial" pitchFamily="34" charset="-122"/>
                <a:cs typeface="Arial" pitchFamily="34" charset="-120"/>
              </a:rPr>
              <a:t>M5</a:t>
            </a:r>
            <a:endParaRPr lang="en-US" sz="620" dirty="0"/>
          </a:p>
        </p:txBody>
      </p:sp>
      <p:sp>
        <p:nvSpPr>
          <p:cNvPr id="19" name="Shape 17"/>
          <p:cNvSpPr/>
          <p:nvPr/>
        </p:nvSpPr>
        <p:spPr>
          <a:xfrm>
            <a:off x="2377440" y="5797296"/>
            <a:ext cx="2176272" cy="310896"/>
          </a:xfrm>
          <a:prstGeom prst="rect">
            <a:avLst/>
          </a:prstGeom>
          <a:solidFill>
            <a:srgbClr val="0E2A46">
              <a:alpha val="92000"/>
            </a:srgbClr>
          </a:solidFill>
          <a:ln w="12700">
            <a:solidFill>
              <a:srgbClr val="3D9BD8"/>
            </a:solidFill>
            <a:prstDash val="solid"/>
          </a:ln>
        </p:spPr>
      </p:sp>
      <p:sp>
        <p:nvSpPr>
          <p:cNvPr id="20" name="Text 18"/>
          <p:cNvSpPr txBox="1"/>
          <p:nvPr/>
        </p:nvSpPr>
        <p:spPr>
          <a:xfrm>
            <a:off x="2450592" y="5815584"/>
            <a:ext cx="2048256" cy="164592"/>
          </a:xfrm>
          <a:prstGeom prst="rect">
            <a:avLst/>
          </a:prstGeom>
          <a:noFill/>
          <a:ln/>
        </p:spPr>
        <p:txBody>
          <a:bodyPr wrap="square" lIns="0" tIns="0" rIns="0" bIns="0" rtlCol="0" anchor="ctr"/>
          <a:lstStyle/>
          <a:p>
            <a:pPr indent="0" marL="0">
              <a:buNone/>
            </a:pPr>
            <a:r>
              <a:rPr lang="en-US" sz="700" b="1" dirty="0">
                <a:solidFill>
                  <a:srgbClr val="EAF2FA"/>
                </a:solidFill>
                <a:latin typeface="Arial" pitchFamily="34" charset="0"/>
                <a:ea typeface="Arial" pitchFamily="34" charset="-122"/>
                <a:cs typeface="Arial" pitchFamily="34" charset="-120"/>
              </a:rPr>
              <a:t>GATE 2 · $65K</a:t>
            </a:r>
            <a:endParaRPr lang="en-US" sz="700" dirty="0"/>
          </a:p>
        </p:txBody>
      </p:sp>
      <p:sp>
        <p:nvSpPr>
          <p:cNvPr id="21" name="Text 19"/>
          <p:cNvSpPr txBox="1"/>
          <p:nvPr/>
        </p:nvSpPr>
        <p:spPr>
          <a:xfrm>
            <a:off x="2450592" y="6126480"/>
            <a:ext cx="2048256" cy="146304"/>
          </a:xfrm>
          <a:prstGeom prst="rect">
            <a:avLst/>
          </a:prstGeom>
          <a:noFill/>
          <a:ln/>
        </p:spPr>
        <p:txBody>
          <a:bodyPr wrap="square" lIns="0" tIns="0" rIns="0" bIns="0" rtlCol="0" anchor="ctr"/>
          <a:lstStyle/>
          <a:p>
            <a:pPr indent="0" marL="0">
              <a:buNone/>
            </a:pPr>
            <a:r>
              <a:rPr lang="en-US" sz="620" dirty="0">
                <a:solidFill>
                  <a:srgbClr val="72879D"/>
                </a:solidFill>
                <a:latin typeface="Arial" pitchFamily="34" charset="0"/>
                <a:ea typeface="Arial" pitchFamily="34" charset="-122"/>
                <a:cs typeface="Arial" pitchFamily="34" charset="-120"/>
              </a:rPr>
              <a:t>M9</a:t>
            </a:r>
            <a:endParaRPr lang="en-US" sz="620" dirty="0"/>
          </a:p>
        </p:txBody>
      </p:sp>
      <p:sp>
        <p:nvSpPr>
          <p:cNvPr id="22" name="Shape 20"/>
          <p:cNvSpPr/>
          <p:nvPr/>
        </p:nvSpPr>
        <p:spPr>
          <a:xfrm>
            <a:off x="4681728" y="5650992"/>
            <a:ext cx="3063240" cy="457200"/>
          </a:xfrm>
          <a:prstGeom prst="rect">
            <a:avLst/>
          </a:prstGeom>
          <a:solidFill>
            <a:srgbClr val="10365E">
              <a:alpha val="92000"/>
            </a:srgbClr>
          </a:solidFill>
          <a:ln w="12700">
            <a:solidFill>
              <a:srgbClr val="3D9BD8"/>
            </a:solidFill>
            <a:prstDash val="solid"/>
          </a:ln>
        </p:spPr>
      </p:sp>
      <p:sp>
        <p:nvSpPr>
          <p:cNvPr id="23" name="Text 21"/>
          <p:cNvSpPr txBox="1"/>
          <p:nvPr/>
        </p:nvSpPr>
        <p:spPr>
          <a:xfrm>
            <a:off x="4754880" y="5669280"/>
            <a:ext cx="2935224" cy="164592"/>
          </a:xfrm>
          <a:prstGeom prst="rect">
            <a:avLst/>
          </a:prstGeom>
          <a:noFill/>
          <a:ln/>
        </p:spPr>
        <p:txBody>
          <a:bodyPr wrap="square" lIns="0" tIns="0" rIns="0" bIns="0" rtlCol="0" anchor="ctr"/>
          <a:lstStyle/>
          <a:p>
            <a:pPr indent="0" marL="0">
              <a:buNone/>
            </a:pPr>
            <a:r>
              <a:rPr lang="en-US" sz="700" b="1" dirty="0">
                <a:solidFill>
                  <a:srgbClr val="EAF2FA"/>
                </a:solidFill>
                <a:latin typeface="Arial" pitchFamily="34" charset="0"/>
                <a:ea typeface="Arial" pitchFamily="34" charset="-122"/>
                <a:cs typeface="Arial" pitchFamily="34" charset="-120"/>
              </a:rPr>
              <a:t>GATE 3 · $350K base</a:t>
            </a:r>
            <a:endParaRPr lang="en-US" sz="700" dirty="0"/>
          </a:p>
        </p:txBody>
      </p:sp>
      <p:sp>
        <p:nvSpPr>
          <p:cNvPr id="24" name="Text 22"/>
          <p:cNvSpPr txBox="1"/>
          <p:nvPr/>
        </p:nvSpPr>
        <p:spPr>
          <a:xfrm>
            <a:off x="4754880" y="6126480"/>
            <a:ext cx="2935224" cy="146304"/>
          </a:xfrm>
          <a:prstGeom prst="rect">
            <a:avLst/>
          </a:prstGeom>
          <a:noFill/>
          <a:ln/>
        </p:spPr>
        <p:txBody>
          <a:bodyPr wrap="square" lIns="0" tIns="0" rIns="0" bIns="0" rtlCol="0" anchor="ctr"/>
          <a:lstStyle/>
          <a:p>
            <a:pPr indent="0" marL="0">
              <a:buNone/>
            </a:pPr>
            <a:r>
              <a:rPr lang="en-US" sz="620" dirty="0">
                <a:solidFill>
                  <a:srgbClr val="72879D"/>
                </a:solidFill>
                <a:latin typeface="Arial" pitchFamily="34" charset="0"/>
                <a:ea typeface="Arial" pitchFamily="34" charset="-122"/>
                <a:cs typeface="Arial" pitchFamily="34" charset="-120"/>
              </a:rPr>
              <a:t>M13–14</a:t>
            </a:r>
            <a:endParaRPr lang="en-US" sz="620" dirty="0"/>
          </a:p>
        </p:txBody>
      </p:sp>
      <p:sp>
        <p:nvSpPr>
          <p:cNvPr id="25" name="Text 23"/>
          <p:cNvSpPr txBox="1"/>
          <p:nvPr/>
        </p:nvSpPr>
        <p:spPr>
          <a:xfrm>
            <a:off x="621792" y="6309360"/>
            <a:ext cx="2194560" cy="146304"/>
          </a:xfrm>
          <a:prstGeom prst="rect">
            <a:avLst/>
          </a:prstGeom>
          <a:noFill/>
          <a:ln/>
        </p:spPr>
        <p:txBody>
          <a:bodyPr wrap="square" lIns="0" tIns="0" rIns="0" bIns="0" rtlCol="0" anchor="ctr"/>
          <a:lstStyle/>
          <a:p>
            <a:pPr indent="0" marL="0">
              <a:buNone/>
            </a:pPr>
            <a:r>
              <a:rPr lang="en-US" sz="600" spc="160" kern="0" dirty="0">
                <a:solidFill>
                  <a:srgbClr val="51667C"/>
                </a:solidFill>
                <a:latin typeface="Arial" pitchFamily="34" charset="0"/>
                <a:ea typeface="Arial" pitchFamily="34" charset="-122"/>
                <a:cs typeface="Arial" pitchFamily="34" charset="-120"/>
              </a:rPr>
              <a:t>COST · LOG SCALE</a:t>
            </a:r>
            <a:endParaRPr lang="en-US" sz="600" dirty="0"/>
          </a:p>
        </p:txBody>
      </p:sp>
      <p:sp>
        <p:nvSpPr>
          <p:cNvPr id="26" name="Text 24"/>
          <p:cNvSpPr txBox="1"/>
          <p:nvPr/>
        </p:nvSpPr>
        <p:spPr>
          <a:xfrm>
            <a:off x="7882128" y="5650992"/>
            <a:ext cx="3685032" cy="822960"/>
          </a:xfrm>
          <a:prstGeom prst="rect">
            <a:avLst/>
          </a:prstGeom>
          <a:noFill/>
          <a:ln/>
        </p:spPr>
        <p:txBody>
          <a:bodyPr wrap="square" lIns="0" tIns="0" rIns="0" bIns="0" rtlCol="0" anchor="t"/>
          <a:lstStyle/>
          <a:p>
            <a:pPr algn="l" indent="0" marL="0">
              <a:lnSpc>
                <a:spcPct val="112000"/>
              </a:lnSpc>
              <a:spcAft>
                <a:spcPts val="300"/>
              </a:spcAft>
              <a:buNone/>
            </a:pPr>
            <a:r>
              <a:rPr lang="en-US" sz="640" i="1" dirty="0">
                <a:solidFill>
                  <a:srgbClr val="72879D"/>
                </a:solidFill>
                <a:latin typeface="Arial" pitchFamily="34" charset="0"/>
                <a:ea typeface="Arial" pitchFamily="34" charset="-122"/>
                <a:cs typeface="Arial" pitchFamily="34" charset="-120"/>
              </a:rPr>
              <a:t>Pointer: full experimental design and statistical treatment — A-1. Gate 2 and Gate 3 scope — A-4.</a:t>
            </a:r>
            <a:endParaRPr lang="en-US" sz="640" dirty="0"/>
          </a:p>
          <a:p>
            <a:pPr algn="l" indent="0" marL="0">
              <a:lnSpc>
                <a:spcPct val="112000"/>
              </a:lnSpc>
              <a:buNone/>
            </a:pPr>
            <a:r>
              <a:rPr lang="en-US" sz="610" b="1" dirty="0">
                <a:solidFill>
                  <a:srgbClr val="72879D"/>
                </a:solidFill>
                <a:latin typeface="Arial" pitchFamily="34" charset="0"/>
                <a:ea typeface="Arial" pitchFamily="34" charset="-122"/>
                <a:cs typeface="Arial" pitchFamily="34" charset="-120"/>
              </a:rPr>
              <a:t>PLANNING ESTIMATES. GATE 3 BENCHMARKED AGAINST PUBLISHED 2026 ROBOTICS AND METROLOGY PRICING; VENDOR QUOTES NOT YET HELD. TEST DESIGN AND MEASUREMENT CHAIN: PROPOSED, SUBJECT TO SIGNED TEST OWNERSHIP AND METROLOGY REVIEW.</a:t>
            </a:r>
            <a:endParaRPr lang="en-US" sz="6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09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TWO DIFFERENT QUESTIONS</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400" b="1" dirty="0">
                <a:solidFill>
                  <a:srgbClr val="EAF2FA"/>
                </a:solidFill>
                <a:latin typeface="Arial" pitchFamily="34" charset="0"/>
                <a:ea typeface="Arial" pitchFamily="34" charset="-122"/>
                <a:cs typeface="Arial" pitchFamily="34" charset="-120"/>
              </a:rPr>
              <a:t>The cheapest test and the best first market are not the same thing.</a:t>
            </a:r>
            <a:endParaRPr lang="en-US" sz="2400" dirty="0"/>
          </a:p>
        </p:txBody>
      </p:sp>
      <p:sp>
        <p:nvSpPr>
          <p:cNvPr id="6" name="Shape 4"/>
          <p:cNvSpPr/>
          <p:nvPr/>
        </p:nvSpPr>
        <p:spPr>
          <a:xfrm>
            <a:off x="621792" y="1700784"/>
            <a:ext cx="4480560" cy="3383280"/>
          </a:xfrm>
          <a:prstGeom prst="roundRect">
            <a:avLst>
              <a:gd name="adj" fmla="val 2432"/>
            </a:avLst>
          </a:prstGeom>
          <a:solidFill>
            <a:srgbClr val="0F1E31">
              <a:alpha val="68000"/>
            </a:srgbClr>
          </a:solidFill>
          <a:ln w="9525">
            <a:solidFill>
              <a:srgbClr val="3D9BD8">
                <a:alpha val="75000"/>
              </a:srgbClr>
            </a:solidFill>
            <a:prstDash val="solid"/>
          </a:ln>
          <a:effectLst>
            <a:outerShdw sx="100000" sy="100000" kx="0" ky="0" algn="bl" rotWithShape="0" blurRad="127000" dist="38100" dir="5400000">
              <a:srgbClr val="000000">
                <a:alpha val="35000"/>
              </a:srgbClr>
            </a:outerShdw>
          </a:effectLst>
        </p:spPr>
      </p:sp>
      <p:sp>
        <p:nvSpPr>
          <p:cNvPr id="7" name="Text 5"/>
          <p:cNvSpPr txBox="1"/>
          <p:nvPr/>
        </p:nvSpPr>
        <p:spPr>
          <a:xfrm>
            <a:off x="841248" y="1883664"/>
            <a:ext cx="4041648" cy="3017520"/>
          </a:xfrm>
          <a:prstGeom prst="rect">
            <a:avLst/>
          </a:prstGeom>
          <a:noFill/>
          <a:ln/>
        </p:spPr>
        <p:txBody>
          <a:bodyPr wrap="square" lIns="0" tIns="0" rIns="0" bIns="0" rtlCol="0" anchor="t"/>
          <a:lstStyle/>
          <a:p>
            <a:pPr algn="l" indent="0" marL="0">
              <a:lnSpc>
                <a:spcPct val="114000"/>
              </a:lnSpc>
              <a:spcAft>
                <a:spcPts val="400"/>
              </a:spcAft>
              <a:buNone/>
            </a:pPr>
            <a:r>
              <a:rPr lang="en-US" sz="800" b="1" spc="140" kern="0" dirty="0">
                <a:solidFill>
                  <a:srgbClr val="6FD3FF"/>
                </a:solidFill>
                <a:latin typeface="Arial" pitchFamily="34" charset="0"/>
                <a:ea typeface="Arial" pitchFamily="34" charset="-122"/>
                <a:cs typeface="Arial" pitchFamily="34" charset="-120"/>
              </a:rPr>
              <a:t>FIRST FALSIFICATION TARGET</a:t>
            </a:r>
            <a:endParaRPr lang="en-US" sz="800" dirty="0"/>
          </a:p>
          <a:p>
            <a:pPr algn="l" indent="0" marL="0">
              <a:lnSpc>
                <a:spcPct val="114000"/>
              </a:lnSpc>
              <a:spcAft>
                <a:spcPts val="600"/>
              </a:spcAft>
              <a:buNone/>
            </a:pPr>
            <a:r>
              <a:rPr lang="en-US" sz="1200" b="1" dirty="0">
                <a:solidFill>
                  <a:srgbClr val="EAF2FA"/>
                </a:solidFill>
                <a:latin typeface="Arial" pitchFamily="34" charset="0"/>
                <a:ea typeface="Arial" pitchFamily="34" charset="-122"/>
                <a:cs typeface="Arial" pitchFamily="34" charset="-120"/>
              </a:rPr>
              <a:t>WIRE HARNESS AND</a:t>
            </a:r>
            <a:endParaRPr lang="en-US" sz="800" dirty="0"/>
          </a:p>
          <a:p>
            <a:pPr algn="l" indent="0" marL="0">
              <a:lnSpc>
                <a:spcPct val="114000"/>
              </a:lnSpc>
              <a:spcAft>
                <a:spcPts val="600"/>
              </a:spcAft>
              <a:buNone/>
            </a:pPr>
            <a:r>
              <a:rPr lang="en-US" sz="1200" b="1" dirty="0">
                <a:solidFill>
                  <a:srgbClr val="EAF2FA"/>
                </a:solidFill>
                <a:latin typeface="Arial" pitchFamily="34" charset="0"/>
                <a:ea typeface="Arial" pitchFamily="34" charset="-122"/>
                <a:cs typeface="Arial" pitchFamily="34" charset="-120"/>
              </a:rPr>
              <a:t>BUNDLE ROUTING</a:t>
            </a:r>
            <a:endParaRPr lang="en-US" sz="800" dirty="0"/>
          </a:p>
          <a:p>
            <a:pPr algn="l" indent="0" marL="0">
              <a:lnSpc>
                <a:spcPct val="114000"/>
              </a:lnSpc>
              <a:spcAft>
                <a:spcPts val="600"/>
              </a:spcAft>
              <a:buNone/>
            </a:pPr>
            <a:r>
              <a:rPr lang="en-US" sz="840" dirty="0">
                <a:solidFill>
                  <a:srgbClr val="A9BDD1"/>
                </a:solidFill>
                <a:latin typeface="Arial" pitchFamily="34" charset="0"/>
                <a:ea typeface="Arial" pitchFamily="34" charset="-122"/>
                <a:cs typeface="Arial" pitchFamily="34" charset="-120"/>
              </a:rPr>
              <a:t>The cheapest hard test of the architecture: a compliant part, closed-loop control, real configuration variability, an unambiguous damage criterion, all at bench scale.</a:t>
            </a:r>
            <a:endParaRPr lang="en-US" sz="800" dirty="0"/>
          </a:p>
          <a:p>
            <a:pPr algn="l" indent="0" marL="0">
              <a:lnSpc>
                <a:spcPct val="114000"/>
              </a:lnSpc>
              <a:spcAft>
                <a:spcPts val="800"/>
              </a:spcAft>
              <a:buNone/>
            </a:pPr>
            <a:r>
              <a:rPr lang="en-US" sz="800" dirty="0">
                <a:solidFill>
                  <a:srgbClr val="A9BDD1"/>
                </a:solidFill>
                <a:latin typeface="Arial" pitchFamily="34" charset="0"/>
                <a:ea typeface="Arial" pitchFamily="34" charset="-122"/>
                <a:cs typeface="Arial" pitchFamily="34" charset="-120"/>
              </a:rPr>
              <a:t>Commercially contested. Funded companies pursue it by robotic cell and by software; the best published robotic result is 75–80% in a laboratory and ran slower than manual, with the benefit in attended-operator time.</a:t>
            </a:r>
            <a:endParaRPr lang="en-US" sz="800" dirty="0"/>
          </a:p>
          <a:p>
            <a:pPr algn="l" indent="0" marL="0">
              <a:lnSpc>
                <a:spcPct val="114000"/>
              </a:lnSpc>
              <a:buNone/>
            </a:pPr>
            <a:r>
              <a:rPr lang="en-US" sz="950" b="1" dirty="0">
                <a:solidFill>
                  <a:srgbClr val="6FD3FF"/>
                </a:solidFill>
                <a:latin typeface="Arial" pitchFamily="34" charset="0"/>
                <a:ea typeface="Arial" pitchFamily="34" charset="-122"/>
                <a:cs typeface="Arial" pitchFamily="34" charset="-120"/>
              </a:rPr>
              <a:t>Role: Gate 1. A test, not a product.</a:t>
            </a:r>
            <a:endParaRPr lang="en-US" sz="800" dirty="0"/>
          </a:p>
        </p:txBody>
      </p:sp>
      <p:sp>
        <p:nvSpPr>
          <p:cNvPr id="8" name="Shape 6"/>
          <p:cNvSpPr/>
          <p:nvPr/>
        </p:nvSpPr>
        <p:spPr>
          <a:xfrm>
            <a:off x="6931152" y="1700784"/>
            <a:ext cx="4480560" cy="3383280"/>
          </a:xfrm>
          <a:prstGeom prst="roundRect">
            <a:avLst>
              <a:gd name="adj" fmla="val 2432"/>
            </a:avLst>
          </a:prstGeom>
          <a:solidFill>
            <a:srgbClr val="0F1E31">
              <a:alpha val="68000"/>
            </a:srgbClr>
          </a:solidFill>
          <a:ln w="9525">
            <a:solidFill>
              <a:srgbClr val="3D9BD8">
                <a:alpha val="75000"/>
              </a:srgbClr>
            </a:solidFill>
            <a:prstDash val="solid"/>
          </a:ln>
          <a:effectLst>
            <a:outerShdw sx="100000" sy="100000" kx="0" ky="0" algn="bl" rotWithShape="0" blurRad="127000" dist="38100" dir="5400000">
              <a:srgbClr val="000000">
                <a:alpha val="35000"/>
              </a:srgbClr>
            </a:outerShdw>
          </a:effectLst>
        </p:spPr>
      </p:sp>
      <p:sp>
        <p:nvSpPr>
          <p:cNvPr id="9" name="Text 7"/>
          <p:cNvSpPr txBox="1"/>
          <p:nvPr/>
        </p:nvSpPr>
        <p:spPr>
          <a:xfrm>
            <a:off x="7150608" y="1883664"/>
            <a:ext cx="4041648" cy="3017520"/>
          </a:xfrm>
          <a:prstGeom prst="rect">
            <a:avLst/>
          </a:prstGeom>
          <a:noFill/>
          <a:ln/>
        </p:spPr>
        <p:txBody>
          <a:bodyPr wrap="square" lIns="0" tIns="0" rIns="0" bIns="0" rtlCol="0" anchor="t"/>
          <a:lstStyle/>
          <a:p>
            <a:pPr algn="l" indent="0" marL="0">
              <a:lnSpc>
                <a:spcPct val="110000"/>
              </a:lnSpc>
              <a:spcAft>
                <a:spcPts val="400"/>
              </a:spcAft>
              <a:buNone/>
            </a:pPr>
            <a:r>
              <a:rPr lang="en-US" sz="800" b="1" spc="140" kern="0" dirty="0">
                <a:solidFill>
                  <a:srgbClr val="6FD3FF"/>
                </a:solidFill>
                <a:latin typeface="Arial" pitchFamily="34" charset="0"/>
                <a:ea typeface="Arial" pitchFamily="34" charset="-122"/>
                <a:cs typeface="Arial" pitchFamily="34" charset="-120"/>
              </a:rPr>
              <a:t>PROVISIONAL COMMERCIAL WEDGE</a:t>
            </a:r>
            <a:endParaRPr lang="en-US" sz="800" dirty="0"/>
          </a:p>
          <a:p>
            <a:pPr algn="l" indent="0" marL="0">
              <a:lnSpc>
                <a:spcPct val="110000"/>
              </a:lnSpc>
              <a:spcAft>
                <a:spcPts val="200"/>
              </a:spcAft>
              <a:buNone/>
            </a:pPr>
            <a:r>
              <a:rPr lang="en-US" sz="1150" b="1" dirty="0">
                <a:solidFill>
                  <a:srgbClr val="EAF2FA"/>
                </a:solidFill>
                <a:latin typeface="Arial" pitchFamily="34" charset="0"/>
                <a:ea typeface="Arial" pitchFamily="34" charset="-122"/>
                <a:cs typeface="Arial" pitchFamily="34" charset="-120"/>
              </a:rPr>
              <a:t>HIGH-MIX CNC MACHINING</a:t>
            </a:r>
            <a:endParaRPr lang="en-US" sz="800" dirty="0"/>
          </a:p>
          <a:p>
            <a:pPr algn="l" indent="0" marL="0">
              <a:lnSpc>
                <a:spcPct val="110000"/>
              </a:lnSpc>
              <a:spcAft>
                <a:spcPts val="600"/>
              </a:spcAft>
              <a:buNone/>
            </a:pPr>
            <a:r>
              <a:rPr lang="en-US" sz="860" dirty="0">
                <a:solidFill>
                  <a:srgbClr val="A9BDD1"/>
                </a:solidFill>
                <a:latin typeface="Arial" pitchFamily="34" charset="0"/>
                <a:ea typeface="Arial" pitchFamily="34" charset="-122"/>
                <a:cs typeface="Arial" pitchFamily="34" charset="-120"/>
              </a:rPr>
              <a:t>Setup, introduction and in-process verification</a:t>
            </a:r>
            <a:endParaRPr lang="en-US" sz="800" dirty="0"/>
          </a:p>
          <a:p>
            <a:pPr algn="l" indent="0" marL="0">
              <a:lnSpc>
                <a:spcPct val="110000"/>
              </a:lnSpc>
              <a:spcAft>
                <a:spcPts val="600"/>
              </a:spcAft>
              <a:buNone/>
            </a:pPr>
            <a:r>
              <a:rPr lang="en-US" sz="840" dirty="0">
                <a:solidFill>
                  <a:srgbClr val="A9BDD1"/>
                </a:solidFill>
                <a:latin typeface="Arial" pitchFamily="34" charset="0"/>
                <a:ea typeface="Arial" pitchFamily="34" charset="-122"/>
                <a:cs typeface="Arial" pitchFamily="34" charset="-120"/>
              </a:rPr>
              <a:t>Entered read-only, beside the customer's machines, at the OBSERVE and VERIFY stages.</a:t>
            </a:r>
            <a:endParaRPr lang="en-US" sz="800" dirty="0"/>
          </a:p>
          <a:p>
            <a:pPr algn="l" indent="0" marL="0">
              <a:lnSpc>
                <a:spcPct val="110000"/>
              </a:lnSpc>
              <a:spcAft>
                <a:spcPts val="800"/>
              </a:spcAft>
              <a:buNone/>
            </a:pPr>
            <a:r>
              <a:rPr lang="en-US" sz="760" dirty="0">
                <a:solidFill>
                  <a:srgbClr val="A9BDD1"/>
                </a:solidFill>
                <a:latin typeface="Arial" pitchFamily="34" charset="0"/>
                <a:ea typeface="Arial" pitchFamily="34" charset="-122"/>
                <a:cs typeface="Arial" pitchFamily="34" charset="-120"/>
              </a:rPr>
              <a:t>Why here: the utilisation, supplier-base and contract-vehicle facts are machining-population facts. The sanctioned machine-tool connectivity standard is read-only by design. On-machine probing is mature and produces characteristic-level data. No cell, no process change, no capital on the customer's floor.</a:t>
            </a:r>
            <a:endParaRPr lang="en-US" sz="800" dirty="0"/>
          </a:p>
          <a:p>
            <a:pPr algn="l" indent="0" marL="0">
              <a:lnSpc>
                <a:spcPct val="110000"/>
              </a:lnSpc>
              <a:buNone/>
            </a:pPr>
            <a:r>
              <a:rPr lang="en-US" sz="820" b="1" dirty="0">
                <a:solidFill>
                  <a:srgbClr val="6FD3FF"/>
                </a:solidFill>
                <a:latin typeface="Arial" pitchFamily="34" charset="0"/>
                <a:ea typeface="Arial" pitchFamily="34" charset="-122"/>
                <a:cs typeface="Arial" pitchFamily="34" charset="-120"/>
              </a:rPr>
              <a:t>Status: provisional — ranked first of ten operation classes on eleven criteria; confirmed or reopened by thirty customer interviews in the first 120 days.</a:t>
            </a:r>
            <a:endParaRPr lang="en-US" sz="800" dirty="0"/>
          </a:p>
        </p:txBody>
      </p:sp>
      <p:sp>
        <p:nvSpPr>
          <p:cNvPr id="10" name="Shape 8"/>
          <p:cNvSpPr/>
          <p:nvPr/>
        </p:nvSpPr>
        <p:spPr>
          <a:xfrm>
            <a:off x="5239512" y="2980944"/>
            <a:ext cx="1554480" cy="822960"/>
          </a:xfrm>
          <a:prstGeom prst="roundRect">
            <a:avLst>
              <a:gd name="adj" fmla="val 8889"/>
            </a:avLst>
          </a:prstGeom>
          <a:solidFill>
            <a:srgbClr val="0B1728"/>
          </a:solidFill>
          <a:ln w="15875">
            <a:solidFill>
              <a:srgbClr val="6FD3FF"/>
            </a:solidFill>
            <a:prstDash val="solid"/>
          </a:ln>
        </p:spPr>
      </p:sp>
      <p:sp>
        <p:nvSpPr>
          <p:cNvPr id="11" name="Text 9"/>
          <p:cNvSpPr txBox="1"/>
          <p:nvPr/>
        </p:nvSpPr>
        <p:spPr>
          <a:xfrm>
            <a:off x="5239512" y="2980944"/>
            <a:ext cx="1554480" cy="822960"/>
          </a:xfrm>
          <a:prstGeom prst="rect">
            <a:avLst/>
          </a:prstGeom>
          <a:noFill/>
          <a:ln/>
        </p:spPr>
        <p:txBody>
          <a:bodyPr wrap="square" lIns="0" tIns="0" rIns="0" bIns="0" rtlCol="0" anchor="ctr"/>
          <a:lstStyle/>
          <a:p>
            <a:pPr algn="ctr" indent="0" marL="0">
              <a:lnSpc>
                <a:spcPct val="115000"/>
              </a:lnSpc>
              <a:buNone/>
            </a:pPr>
            <a:r>
              <a:rPr lang="en-US" sz="850" b="1" spc="80" kern="0" dirty="0">
                <a:solidFill>
                  <a:srgbClr val="6FD3FF"/>
                </a:solidFill>
                <a:latin typeface="Arial" pitchFamily="34" charset="0"/>
                <a:ea typeface="Arial" pitchFamily="34" charset="-122"/>
                <a:cs typeface="Arial" pitchFamily="34" charset="-120"/>
              </a:rPr>
              <a:t>AUTHORIZATION</a:t>
            </a:r>
            <a:endParaRPr lang="en-US" sz="850" dirty="0"/>
          </a:p>
          <a:p>
            <a:pPr algn="ctr" indent="0" marL="0">
              <a:lnSpc>
                <a:spcPct val="115000"/>
              </a:lnSpc>
              <a:buNone/>
            </a:pPr>
            <a:r>
              <a:rPr lang="en-US" sz="850" b="1" spc="80" kern="0" dirty="0">
                <a:solidFill>
                  <a:srgbClr val="6FD3FF"/>
                </a:solidFill>
                <a:latin typeface="Arial" pitchFamily="34" charset="0"/>
                <a:ea typeface="Arial" pitchFamily="34" charset="-122"/>
                <a:cs typeface="Arial" pitchFamily="34" charset="-120"/>
              </a:rPr>
              <a:t>AND EVIDENCE</a:t>
            </a:r>
            <a:endParaRPr lang="en-US" sz="850" dirty="0"/>
          </a:p>
          <a:p>
            <a:pPr algn="ctr" indent="0" marL="0">
              <a:lnSpc>
                <a:spcPct val="115000"/>
              </a:lnSpc>
              <a:buNone/>
            </a:pPr>
            <a:r>
              <a:rPr lang="en-US" sz="850" b="1" spc="80" kern="0" dirty="0">
                <a:solidFill>
                  <a:srgbClr val="6FD3FF"/>
                </a:solidFill>
                <a:latin typeface="Arial" pitchFamily="34" charset="0"/>
                <a:ea typeface="Arial" pitchFamily="34" charset="-122"/>
                <a:cs typeface="Arial" pitchFamily="34" charset="-120"/>
              </a:rPr>
              <a:t>LAYER</a:t>
            </a:r>
            <a:endParaRPr lang="en-US" sz="850" dirty="0"/>
          </a:p>
        </p:txBody>
      </p:sp>
      <p:sp>
        <p:nvSpPr>
          <p:cNvPr id="12" name="Shape 10"/>
          <p:cNvSpPr/>
          <p:nvPr/>
        </p:nvSpPr>
        <p:spPr>
          <a:xfrm>
            <a:off x="5102352" y="3392424"/>
            <a:ext cx="137160" cy="0"/>
          </a:xfrm>
          <a:prstGeom prst="line">
            <a:avLst/>
          </a:prstGeom>
          <a:noFill/>
          <a:ln w="12700">
            <a:solidFill>
              <a:srgbClr val="3D9BD8"/>
            </a:solidFill>
            <a:prstDash val="dash"/>
          </a:ln>
        </p:spPr>
      </p:sp>
      <p:sp>
        <p:nvSpPr>
          <p:cNvPr id="13" name="Shape 11"/>
          <p:cNvSpPr/>
          <p:nvPr/>
        </p:nvSpPr>
        <p:spPr>
          <a:xfrm>
            <a:off x="6793992" y="3392424"/>
            <a:ext cx="137160" cy="0"/>
          </a:xfrm>
          <a:prstGeom prst="line">
            <a:avLst/>
          </a:prstGeom>
          <a:noFill/>
          <a:ln w="12700">
            <a:solidFill>
              <a:srgbClr val="3D9BD8"/>
            </a:solidFill>
            <a:prstDash val="dash"/>
          </a:ln>
        </p:spPr>
      </p:sp>
      <p:sp>
        <p:nvSpPr>
          <p:cNvPr id="14" name="Text 12"/>
          <p:cNvSpPr txBox="1"/>
          <p:nvPr/>
        </p:nvSpPr>
        <p:spPr>
          <a:xfrm>
            <a:off x="621792" y="5266944"/>
            <a:ext cx="8022031" cy="777240"/>
          </a:xfrm>
          <a:prstGeom prst="rect">
            <a:avLst/>
          </a:prstGeom>
          <a:noFill/>
          <a:ln/>
        </p:spPr>
        <p:txBody>
          <a:bodyPr wrap="square" lIns="0" tIns="0" rIns="0" bIns="0" rtlCol="0" anchor="t"/>
          <a:lstStyle/>
          <a:p>
            <a:pPr algn="l" indent="0" marL="0">
              <a:lnSpc>
                <a:spcPct val="112000"/>
              </a:lnSpc>
              <a:spcAft>
                <a:spcPts val="500"/>
              </a:spcAft>
              <a:buNone/>
            </a:pPr>
            <a:r>
              <a:rPr lang="en-US" sz="950" b="1" dirty="0">
                <a:solidFill>
                  <a:srgbClr val="EAF2FA"/>
                </a:solidFill>
                <a:latin typeface="Arial" pitchFamily="34" charset="0"/>
                <a:ea typeface="Arial" pitchFamily="34" charset="-122"/>
                <a:cs typeface="Arial" pitchFamily="34" charset="-120"/>
              </a:rPr>
              <a:t>The platform claim is that the authorization and evidence layer survives a change of operation class. If the test class and the commercial class differ, that claim is tested by the first customer, not deferred to a second one.</a:t>
            </a:r>
            <a:endParaRPr lang="en-US" sz="950" dirty="0"/>
          </a:p>
          <a:p>
            <a:pPr algn="l" indent="0" marL="0">
              <a:lnSpc>
                <a:spcPct val="112000"/>
              </a:lnSpc>
              <a:buNone/>
            </a:pPr>
            <a:r>
              <a:rPr lang="en-US" sz="800" i="1" dirty="0">
                <a:solidFill>
                  <a:srgbClr val="72879D"/>
                </a:solidFill>
                <a:latin typeface="Arial" pitchFamily="34" charset="0"/>
                <a:ea typeface="Arial" pitchFamily="34" charset="-122"/>
                <a:cs typeface="Arial" pitchFamily="34" charset="-120"/>
              </a:rPr>
              <a:t>The commercial class is a working hypothesis with stated kill criteria. It does not change what Gate 1 tests. The architecture is intended to generalize beyond any one operation class.</a:t>
            </a:r>
            <a:endParaRPr lang="en-US" sz="950" dirty="0"/>
          </a:p>
        </p:txBody>
      </p:sp>
      <p:sp>
        <p:nvSpPr>
          <p:cNvPr id="15" name="Text 13"/>
          <p:cNvSpPr txBox="1"/>
          <p:nvPr/>
        </p:nvSpPr>
        <p:spPr>
          <a:xfrm>
            <a:off x="8918143" y="5870448"/>
            <a:ext cx="2651760" cy="274320"/>
          </a:xfrm>
          <a:prstGeom prst="rect">
            <a:avLst/>
          </a:prstGeom>
          <a:noFill/>
          <a:ln/>
        </p:spPr>
        <p:txBody>
          <a:bodyPr wrap="square" lIns="0" tIns="0" rIns="0" bIns="0" rtlCol="0" anchor="ctr"/>
          <a:lstStyle/>
          <a:p>
            <a:pPr algn="r" indent="0" marL="0">
              <a:buNone/>
            </a:pPr>
            <a:r>
              <a:rPr lang="en-US" sz="750" i="1" dirty="0">
                <a:solidFill>
                  <a:srgbClr val="72879D"/>
                </a:solidFill>
                <a:latin typeface="Arial" pitchFamily="34" charset="0"/>
                <a:ea typeface="Arial" pitchFamily="34" charset="-122"/>
                <a:cs typeface="Arial" pitchFamily="34" charset="-120"/>
              </a:rPr>
              <a:t>Pointer: eleven-criterion ranking and kill criteria — A-7.</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10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DEPLOYMENT DOCTRINE</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700" b="1" dirty="0">
                <a:solidFill>
                  <a:srgbClr val="EAF2FA"/>
                </a:solidFill>
                <a:latin typeface="Arial" pitchFamily="34" charset="0"/>
                <a:ea typeface="Arial" pitchFamily="34" charset="-122"/>
                <a:cs typeface="Arial" pitchFamily="34" charset="-120"/>
              </a:rPr>
              <a:t>Start beside the process. Earn the right to control it.</a:t>
            </a:r>
            <a:endParaRPr lang="en-US" sz="2700" dirty="0"/>
          </a:p>
        </p:txBody>
      </p:sp>
      <p:sp>
        <p:nvSpPr>
          <p:cNvPr id="6" name="Shape 4"/>
          <p:cNvSpPr/>
          <p:nvPr/>
        </p:nvSpPr>
        <p:spPr>
          <a:xfrm>
            <a:off x="984466" y="1828800"/>
            <a:ext cx="1737360" cy="1234440"/>
          </a:xfrm>
          <a:prstGeom prst="parallelogram">
            <a:avLst/>
          </a:prstGeom>
          <a:solidFill>
            <a:srgbClr val="0F2740">
              <a:alpha val="80000"/>
            </a:srgbClr>
          </a:solidFill>
          <a:ln w="12700">
            <a:solidFill>
              <a:srgbClr val="3D9BD8">
                <a:alpha val="90000"/>
              </a:srgbClr>
            </a:solidFill>
            <a:prstDash val="solid"/>
          </a:ln>
        </p:spPr>
      </p:sp>
      <p:pic>
        <p:nvPicPr>
          <p:cNvPr id="7" name="Image 0" descr="/tmp/claude-0/-home-user-foodiehome/a2788c04-4021-50f7-9e92-8de1b0e68224/scratchpad/syntrex/assets/glowdot.png">    </p:cNvPr>
          <p:cNvPicPr>
            <a:picLocks noChangeAspect="1"/>
          </p:cNvPicPr>
          <p:nvPr/>
        </p:nvPicPr>
        <p:blipFill>
          <a:blip r:embed="rId2"/>
          <a:stretch>
            <a:fillRect/>
          </a:stretch>
        </p:blipFill>
        <p:spPr>
          <a:xfrm>
            <a:off x="600418" y="2272284"/>
            <a:ext cx="347472" cy="347472"/>
          </a:xfrm>
          <a:prstGeom prst="rect">
            <a:avLst/>
          </a:prstGeom>
        </p:spPr>
      </p:pic>
      <p:sp>
        <p:nvSpPr>
          <p:cNvPr id="8" name="Text 5"/>
          <p:cNvSpPr txBox="1"/>
          <p:nvPr/>
        </p:nvSpPr>
        <p:spPr>
          <a:xfrm>
            <a:off x="640080" y="3346704"/>
            <a:ext cx="2416988" cy="256032"/>
          </a:xfrm>
          <a:prstGeom prst="rect">
            <a:avLst/>
          </a:prstGeom>
          <a:noFill/>
          <a:ln/>
        </p:spPr>
        <p:txBody>
          <a:bodyPr wrap="square" lIns="0" tIns="0" rIns="0" bIns="0" rtlCol="0" anchor="ctr"/>
          <a:lstStyle/>
          <a:p>
            <a:pPr indent="0" marL="0">
              <a:buNone/>
            </a:pPr>
            <a:r>
              <a:rPr lang="en-US" sz="1100" b="1" spc="120" kern="0" dirty="0">
                <a:solidFill>
                  <a:srgbClr val="EAF2FA"/>
                </a:solidFill>
                <a:latin typeface="Arial" pitchFamily="34" charset="0"/>
                <a:ea typeface="Arial" pitchFamily="34" charset="-122"/>
                <a:cs typeface="Arial" pitchFamily="34" charset="-120"/>
              </a:rPr>
              <a:t>01 OBSERVE</a:t>
            </a:r>
            <a:endParaRPr lang="en-US" sz="1100" dirty="0"/>
          </a:p>
        </p:txBody>
      </p:sp>
      <p:sp>
        <p:nvSpPr>
          <p:cNvPr id="9" name="Text 6"/>
          <p:cNvSpPr txBox="1"/>
          <p:nvPr/>
        </p:nvSpPr>
        <p:spPr>
          <a:xfrm>
            <a:off x="640080" y="3639312"/>
            <a:ext cx="2371268" cy="914400"/>
          </a:xfrm>
          <a:prstGeom prst="rect">
            <a:avLst/>
          </a:prstGeom>
          <a:noFill/>
          <a:ln/>
        </p:spPr>
        <p:txBody>
          <a:bodyPr wrap="square" lIns="0" tIns="0" rIns="0" bIns="0" rtlCol="0" anchor="ctr"/>
          <a:lstStyle/>
          <a:p>
            <a:pPr indent="0" marL="0">
              <a:lnSpc>
                <a:spcPct val="112000"/>
              </a:lnSpc>
              <a:buNone/>
            </a:pPr>
            <a:r>
              <a:rPr lang="en-US" sz="860" dirty="0">
                <a:solidFill>
                  <a:srgbClr val="A9BDD1"/>
                </a:solidFill>
                <a:latin typeface="Arial" pitchFamily="34" charset="0"/>
                <a:ea typeface="Arial" pitchFamily="34" charset="-122"/>
                <a:cs typeface="Arial" pitchFamily="34" charset="-120"/>
              </a:rPr>
              <a:t>Read-only monitoring through sanctioned interfaces. Independent sensing where appropriate. Process characterization. No production authority.</a:t>
            </a:r>
            <a:endParaRPr lang="en-US" sz="860" dirty="0"/>
          </a:p>
        </p:txBody>
      </p:sp>
      <p:sp>
        <p:nvSpPr>
          <p:cNvPr id="10" name="Shape 7"/>
          <p:cNvSpPr/>
          <p:nvPr/>
        </p:nvSpPr>
        <p:spPr>
          <a:xfrm>
            <a:off x="3776358" y="1883664"/>
            <a:ext cx="1627632" cy="1143000"/>
          </a:xfrm>
          <a:prstGeom prst="parallelogram">
            <a:avLst/>
          </a:prstGeom>
          <a:solidFill>
            <a:srgbClr val="0F2740">
              <a:alpha val="72000"/>
            </a:srgbClr>
          </a:solidFill>
          <a:ln w="12700">
            <a:solidFill>
              <a:srgbClr val="3D9BD8">
                <a:alpha val="75000"/>
              </a:srgbClr>
            </a:solidFill>
            <a:prstDash val="solid"/>
          </a:ln>
        </p:spPr>
      </p:sp>
      <p:pic>
        <p:nvPicPr>
          <p:cNvPr id="11" name="Image 1" descr="/tmp/claude-0/-home-user-foodiehome/a2788c04-4021-50f7-9e92-8de1b0e68224/scratchpad/syntrex/assets/glowdot.png">    </p:cNvPr>
          <p:cNvPicPr>
            <a:picLocks noChangeAspect="1"/>
          </p:cNvPicPr>
          <p:nvPr/>
        </p:nvPicPr>
        <p:blipFill>
          <a:blip r:embed="rId3"/>
          <a:stretch>
            <a:fillRect/>
          </a:stretch>
        </p:blipFill>
        <p:spPr>
          <a:xfrm>
            <a:off x="3684918" y="2281428"/>
            <a:ext cx="347472" cy="347472"/>
          </a:xfrm>
          <a:prstGeom prst="rect">
            <a:avLst/>
          </a:prstGeom>
        </p:spPr>
      </p:pic>
      <p:sp>
        <p:nvSpPr>
          <p:cNvPr id="12" name="Text 8"/>
          <p:cNvSpPr txBox="1"/>
          <p:nvPr/>
        </p:nvSpPr>
        <p:spPr>
          <a:xfrm>
            <a:off x="3377108" y="3346704"/>
            <a:ext cx="2416988" cy="256032"/>
          </a:xfrm>
          <a:prstGeom prst="rect">
            <a:avLst/>
          </a:prstGeom>
          <a:noFill/>
          <a:ln/>
        </p:spPr>
        <p:txBody>
          <a:bodyPr wrap="square" lIns="0" tIns="0" rIns="0" bIns="0" rtlCol="0" anchor="ctr"/>
          <a:lstStyle/>
          <a:p>
            <a:pPr indent="0" marL="0">
              <a:buNone/>
            </a:pPr>
            <a:r>
              <a:rPr lang="en-US" sz="1100" b="1" spc="120" kern="0" dirty="0">
                <a:solidFill>
                  <a:srgbClr val="EAF2FA"/>
                </a:solidFill>
                <a:latin typeface="Arial" pitchFamily="34" charset="0"/>
                <a:ea typeface="Arial" pitchFamily="34" charset="-122"/>
                <a:cs typeface="Arial" pitchFamily="34" charset="-120"/>
              </a:rPr>
              <a:t>02 VERIFY</a:t>
            </a:r>
            <a:endParaRPr lang="en-US" sz="1100" dirty="0"/>
          </a:p>
        </p:txBody>
      </p:sp>
      <p:sp>
        <p:nvSpPr>
          <p:cNvPr id="13" name="Text 9"/>
          <p:cNvSpPr txBox="1"/>
          <p:nvPr/>
        </p:nvSpPr>
        <p:spPr>
          <a:xfrm>
            <a:off x="3377108" y="3639312"/>
            <a:ext cx="2371268" cy="914400"/>
          </a:xfrm>
          <a:prstGeom prst="rect">
            <a:avLst/>
          </a:prstGeom>
          <a:noFill/>
          <a:ln/>
        </p:spPr>
        <p:txBody>
          <a:bodyPr wrap="square" lIns="0" tIns="0" rIns="0" bIns="0" rtlCol="0" anchor="ctr"/>
          <a:lstStyle/>
          <a:p>
            <a:pPr indent="0" marL="0">
              <a:lnSpc>
                <a:spcPct val="112000"/>
              </a:lnSpc>
              <a:buNone/>
            </a:pPr>
            <a:r>
              <a:rPr lang="en-US" sz="860" dirty="0">
                <a:solidFill>
                  <a:srgbClr val="A9BDD1"/>
                </a:solidFill>
                <a:latin typeface="Arial" pitchFamily="34" charset="0"/>
                <a:ea typeface="Arial" pitchFamily="34" charset="-122"/>
                <a:cs typeface="Arial" pitchFamily="34" charset="-120"/>
              </a:rPr>
              <a:t>Generate evidence around existing operations. Compare measured state against expected outcomes.</a:t>
            </a:r>
            <a:endParaRPr lang="en-US" sz="860" dirty="0"/>
          </a:p>
        </p:txBody>
      </p:sp>
      <p:sp>
        <p:nvSpPr>
          <p:cNvPr id="14" name="Shape 10"/>
          <p:cNvSpPr/>
          <p:nvPr/>
        </p:nvSpPr>
        <p:spPr>
          <a:xfrm>
            <a:off x="6568250" y="1938528"/>
            <a:ext cx="1517904" cy="1051560"/>
          </a:xfrm>
          <a:prstGeom prst="parallelogram">
            <a:avLst/>
          </a:prstGeom>
          <a:solidFill>
            <a:srgbClr val="0F2740">
              <a:alpha val="64000"/>
            </a:srgbClr>
          </a:solidFill>
          <a:ln w="12700">
            <a:solidFill>
              <a:srgbClr val="3D9BD8">
                <a:alpha val="60000"/>
              </a:srgbClr>
            </a:solidFill>
            <a:prstDash val="solid"/>
          </a:ln>
        </p:spPr>
      </p:sp>
      <p:pic>
        <p:nvPicPr>
          <p:cNvPr id="15" name="Image 2" descr="/tmp/claude-0/-home-user-foodiehome/a2788c04-4021-50f7-9e92-8de1b0e68224/scratchpad/syntrex/assets/glowdot.png">    </p:cNvPr>
          <p:cNvPicPr>
            <a:picLocks noChangeAspect="1"/>
          </p:cNvPicPr>
          <p:nvPr/>
        </p:nvPicPr>
        <p:blipFill>
          <a:blip r:embed="rId4"/>
          <a:stretch>
            <a:fillRect/>
          </a:stretch>
        </p:blipFill>
        <p:spPr>
          <a:xfrm>
            <a:off x="6714554" y="2290572"/>
            <a:ext cx="347472" cy="347472"/>
          </a:xfrm>
          <a:prstGeom prst="rect">
            <a:avLst/>
          </a:prstGeom>
        </p:spPr>
      </p:pic>
      <p:sp>
        <p:nvSpPr>
          <p:cNvPr id="16" name="Text 11"/>
          <p:cNvSpPr txBox="1"/>
          <p:nvPr/>
        </p:nvSpPr>
        <p:spPr>
          <a:xfrm>
            <a:off x="6114136" y="3346704"/>
            <a:ext cx="2416988" cy="256032"/>
          </a:xfrm>
          <a:prstGeom prst="rect">
            <a:avLst/>
          </a:prstGeom>
          <a:noFill/>
          <a:ln/>
        </p:spPr>
        <p:txBody>
          <a:bodyPr wrap="square" lIns="0" tIns="0" rIns="0" bIns="0" rtlCol="0" anchor="ctr"/>
          <a:lstStyle/>
          <a:p>
            <a:pPr indent="0" marL="0">
              <a:buNone/>
            </a:pPr>
            <a:r>
              <a:rPr lang="en-US" sz="1100" b="1" spc="120" kern="0" dirty="0">
                <a:solidFill>
                  <a:srgbClr val="EAF2FA"/>
                </a:solidFill>
                <a:latin typeface="Arial" pitchFamily="34" charset="0"/>
                <a:ea typeface="Arial" pitchFamily="34" charset="-122"/>
                <a:cs typeface="Arial" pitchFamily="34" charset="-120"/>
              </a:rPr>
              <a:t>03 BOUNDED INTEGRATION</a:t>
            </a:r>
            <a:endParaRPr lang="en-US" sz="1100" dirty="0"/>
          </a:p>
        </p:txBody>
      </p:sp>
      <p:sp>
        <p:nvSpPr>
          <p:cNvPr id="17" name="Text 12"/>
          <p:cNvSpPr txBox="1"/>
          <p:nvPr/>
        </p:nvSpPr>
        <p:spPr>
          <a:xfrm>
            <a:off x="6114136" y="3639312"/>
            <a:ext cx="2371268" cy="914400"/>
          </a:xfrm>
          <a:prstGeom prst="rect">
            <a:avLst/>
          </a:prstGeom>
          <a:noFill/>
          <a:ln/>
        </p:spPr>
        <p:txBody>
          <a:bodyPr wrap="square" lIns="0" tIns="0" rIns="0" bIns="0" rtlCol="0" anchor="ctr"/>
          <a:lstStyle/>
          <a:p>
            <a:pPr indent="0" marL="0">
              <a:lnSpc>
                <a:spcPct val="112000"/>
              </a:lnSpc>
              <a:buNone/>
            </a:pPr>
            <a:r>
              <a:rPr lang="en-US" sz="860" dirty="0">
                <a:solidFill>
                  <a:srgbClr val="A9BDD1"/>
                </a:solidFill>
                <a:latin typeface="Arial" pitchFamily="34" charset="0"/>
                <a:ea typeface="Arial" pitchFamily="34" charset="-122"/>
                <a:cs typeface="Arial" pitchFamily="34" charset="-120"/>
              </a:rPr>
              <a:t>Approved interfaces. Explicitly defined authority. Controlled interaction with customer equipment, inside the customer's configuration control.</a:t>
            </a:r>
            <a:endParaRPr lang="en-US" sz="860" dirty="0"/>
          </a:p>
        </p:txBody>
      </p:sp>
      <p:sp>
        <p:nvSpPr>
          <p:cNvPr id="18" name="Shape 13"/>
          <p:cNvSpPr/>
          <p:nvPr/>
        </p:nvSpPr>
        <p:spPr>
          <a:xfrm>
            <a:off x="9360141" y="1993392"/>
            <a:ext cx="1408176" cy="960120"/>
          </a:xfrm>
          <a:prstGeom prst="parallelogram">
            <a:avLst/>
          </a:prstGeom>
          <a:solidFill>
            <a:srgbClr val="0F2740">
              <a:alpha val="56000"/>
            </a:srgbClr>
          </a:solidFill>
          <a:ln w="12700">
            <a:solidFill>
              <a:srgbClr val="3D9BD8">
                <a:alpha val="45000"/>
              </a:srgbClr>
            </a:solidFill>
            <a:prstDash val="solid"/>
          </a:ln>
        </p:spPr>
      </p:sp>
      <p:pic>
        <p:nvPicPr>
          <p:cNvPr id="19" name="Image 3" descr="/tmp/claude-0/-home-user-foodiehome/a2788c04-4021-50f7-9e92-8de1b0e68224/scratchpad/syntrex/assets/glowdot.png">    </p:cNvPr>
          <p:cNvPicPr>
            <a:picLocks noChangeAspect="1"/>
          </p:cNvPicPr>
          <p:nvPr/>
        </p:nvPicPr>
        <p:blipFill>
          <a:blip r:embed="rId5"/>
          <a:stretch>
            <a:fillRect/>
          </a:stretch>
        </p:blipFill>
        <p:spPr>
          <a:xfrm>
            <a:off x="9945357" y="2299716"/>
            <a:ext cx="347472" cy="347472"/>
          </a:xfrm>
          <a:prstGeom prst="rect">
            <a:avLst/>
          </a:prstGeom>
        </p:spPr>
      </p:pic>
      <p:sp>
        <p:nvSpPr>
          <p:cNvPr id="20" name="Text 14"/>
          <p:cNvSpPr txBox="1"/>
          <p:nvPr/>
        </p:nvSpPr>
        <p:spPr>
          <a:xfrm>
            <a:off x="8851163" y="3346704"/>
            <a:ext cx="2416988" cy="256032"/>
          </a:xfrm>
          <a:prstGeom prst="rect">
            <a:avLst/>
          </a:prstGeom>
          <a:noFill/>
          <a:ln/>
        </p:spPr>
        <p:txBody>
          <a:bodyPr wrap="square" lIns="0" tIns="0" rIns="0" bIns="0" rtlCol="0" anchor="ctr"/>
          <a:lstStyle/>
          <a:p>
            <a:pPr indent="0" marL="0">
              <a:buNone/>
            </a:pPr>
            <a:r>
              <a:rPr lang="en-US" sz="1100" b="1" spc="120" kern="0" dirty="0">
                <a:solidFill>
                  <a:srgbClr val="EAF2FA"/>
                </a:solidFill>
                <a:latin typeface="Arial" pitchFamily="34" charset="0"/>
                <a:ea typeface="Arial" pitchFamily="34" charset="-122"/>
                <a:cs typeface="Arial" pitchFamily="34" charset="-120"/>
              </a:rPr>
              <a:t>04 PERFORM</a:t>
            </a:r>
            <a:endParaRPr lang="en-US" sz="1100" dirty="0"/>
          </a:p>
        </p:txBody>
      </p:sp>
      <p:sp>
        <p:nvSpPr>
          <p:cNvPr id="21" name="Text 15"/>
          <p:cNvSpPr txBox="1"/>
          <p:nvPr/>
        </p:nvSpPr>
        <p:spPr>
          <a:xfrm>
            <a:off x="8851163" y="3639312"/>
            <a:ext cx="2371268" cy="914400"/>
          </a:xfrm>
          <a:prstGeom prst="rect">
            <a:avLst/>
          </a:prstGeom>
          <a:noFill/>
          <a:ln/>
        </p:spPr>
        <p:txBody>
          <a:bodyPr wrap="square" lIns="0" tIns="0" rIns="0" bIns="0" rtlCol="0" anchor="ctr"/>
          <a:lstStyle/>
          <a:p>
            <a:pPr indent="0" marL="0">
              <a:lnSpc>
                <a:spcPct val="112000"/>
              </a:lnSpc>
              <a:buNone/>
            </a:pPr>
            <a:r>
              <a:rPr lang="en-US" sz="860" dirty="0">
                <a:solidFill>
                  <a:srgbClr val="A9BDD1"/>
                </a:solidFill>
                <a:latin typeface="Arial" pitchFamily="34" charset="0"/>
                <a:ea typeface="Arial" pitchFamily="34" charset="-122"/>
                <a:cs typeface="Arial" pitchFamily="34" charset="-120"/>
              </a:rPr>
              <a:t>Bounded physical execution, only after evidence and approvals justify greater authority, with an independent safety layer at the customer's required performance level.</a:t>
            </a:r>
            <a:endParaRPr lang="en-US" sz="860" dirty="0"/>
          </a:p>
        </p:txBody>
      </p:sp>
      <p:sp>
        <p:nvSpPr>
          <p:cNvPr id="22" name="Shape 16"/>
          <p:cNvSpPr/>
          <p:nvPr/>
        </p:nvSpPr>
        <p:spPr>
          <a:xfrm>
            <a:off x="621792" y="4681728"/>
            <a:ext cx="10948111" cy="0"/>
          </a:xfrm>
          <a:prstGeom prst="line">
            <a:avLst/>
          </a:prstGeom>
          <a:noFill/>
          <a:ln w="9525">
            <a:solidFill>
              <a:srgbClr val="23405C"/>
            </a:solidFill>
            <a:prstDash val="solid"/>
          </a:ln>
        </p:spPr>
      </p:sp>
      <p:sp>
        <p:nvSpPr>
          <p:cNvPr id="23" name="Text 17"/>
          <p:cNvSpPr txBox="1"/>
          <p:nvPr/>
        </p:nvSpPr>
        <p:spPr>
          <a:xfrm>
            <a:off x="621792" y="4828032"/>
            <a:ext cx="6949440" cy="1143000"/>
          </a:xfrm>
          <a:prstGeom prst="rect">
            <a:avLst/>
          </a:prstGeom>
          <a:noFill/>
          <a:ln/>
        </p:spPr>
        <p:txBody>
          <a:bodyPr wrap="square" lIns="0" tIns="0" rIns="0" bIns="0" rtlCol="0" anchor="t"/>
          <a:lstStyle/>
          <a:p>
            <a:pPr algn="l" indent="0" marL="0">
              <a:lnSpc>
                <a:spcPct val="114000"/>
              </a:lnSpc>
              <a:spcAft>
                <a:spcPts val="400"/>
              </a:spcAft>
              <a:buNone/>
            </a:pPr>
            <a:r>
              <a:rPr lang="en-US" sz="850" b="1" spc="240" kern="0" dirty="0">
                <a:solidFill>
                  <a:srgbClr val="6FD3FF"/>
                </a:solidFill>
                <a:latin typeface="Arial" pitchFamily="34" charset="0"/>
                <a:ea typeface="Arial" pitchFamily="34" charset="-122"/>
                <a:cs typeface="Arial" pitchFamily="34" charset="-120"/>
              </a:rPr>
              <a:t>WHY IT HAS TO WORK THIS WAY</a:t>
            </a:r>
            <a:endParaRPr lang="en-US" sz="850" dirty="0"/>
          </a:p>
          <a:p>
            <a:pPr algn="l" indent="0" marL="0">
              <a:lnSpc>
                <a:spcPct val="114000"/>
              </a:lnSpc>
              <a:buNone/>
            </a:pPr>
            <a:r>
              <a:rPr lang="en-US" sz="900" dirty="0">
                <a:solidFill>
                  <a:srgbClr val="A9BDD1"/>
                </a:solidFill>
                <a:latin typeface="Arial" pitchFamily="34" charset="0"/>
                <a:ea typeface="Arial" pitchFamily="34" charset="-122"/>
                <a:cs typeface="Arial" pitchFamily="34" charset="-120"/>
              </a:rPr>
              <a:t>Customers own the equipment. Machines may remain under manufacturer warranty. Protected controller parameters are frequently inaccessible by design. Altering how a machine runs is a process change under the customer's quality system, and the customer's quality organisation gates it, not the equipment vendor.</a:t>
            </a:r>
            <a:endParaRPr lang="en-US" sz="850" dirty="0"/>
          </a:p>
        </p:txBody>
      </p:sp>
      <p:sp>
        <p:nvSpPr>
          <p:cNvPr id="24" name="Text 18"/>
          <p:cNvSpPr txBox="1"/>
          <p:nvPr/>
        </p:nvSpPr>
        <p:spPr>
          <a:xfrm>
            <a:off x="7909560" y="4828032"/>
            <a:ext cx="3657600" cy="1143000"/>
          </a:xfrm>
          <a:prstGeom prst="rect">
            <a:avLst/>
          </a:prstGeom>
          <a:noFill/>
          <a:ln/>
        </p:spPr>
        <p:txBody>
          <a:bodyPr wrap="square" lIns="0" tIns="0" rIns="0" bIns="0" rtlCol="0" anchor="t"/>
          <a:lstStyle/>
          <a:p>
            <a:pPr algn="l" indent="0" marL="0">
              <a:lnSpc>
                <a:spcPct val="115000"/>
              </a:lnSpc>
              <a:spcAft>
                <a:spcPts val="600"/>
              </a:spcAft>
              <a:buNone/>
            </a:pPr>
            <a:r>
              <a:rPr lang="en-US" sz="860" i="1" dirty="0">
                <a:solidFill>
                  <a:srgbClr val="EAF2FA"/>
                </a:solidFill>
                <a:latin typeface="Arial" pitchFamily="34" charset="0"/>
                <a:ea typeface="Arial" pitchFamily="34" charset="-122"/>
                <a:cs typeface="Arial" pitchFamily="34" charset="-120"/>
              </a:rPr>
              <a:t>The customer's process is theirs. Their measurement and data are theirs unless expressly agreed otherwise. Their economics are not our moat.</a:t>
            </a:r>
            <a:endParaRPr lang="en-US" sz="860" dirty="0"/>
          </a:p>
          <a:p>
            <a:pPr algn="l" indent="0" marL="0">
              <a:lnSpc>
                <a:spcPct val="115000"/>
              </a:lnSpc>
              <a:buNone/>
            </a:pPr>
            <a:r>
              <a:rPr lang="en-US" sz="1300" b="1" dirty="0">
                <a:solidFill>
                  <a:srgbClr val="6FD3FF"/>
                </a:solidFill>
                <a:latin typeface="Arial" pitchFamily="34" charset="0"/>
                <a:ea typeface="Arial" pitchFamily="34" charset="-122"/>
                <a:cs typeface="Arial" pitchFamily="34" charset="-120"/>
              </a:rPr>
              <a:t>Evidence first. Execution later.</a:t>
            </a:r>
            <a:endParaRPr lang="en-US" sz="860" dirty="0"/>
          </a:p>
        </p:txBody>
      </p:sp>
      <p:sp>
        <p:nvSpPr>
          <p:cNvPr id="25" name="Shape 19"/>
          <p:cNvSpPr/>
          <p:nvPr/>
        </p:nvSpPr>
        <p:spPr>
          <a:xfrm>
            <a:off x="621792" y="6016752"/>
            <a:ext cx="10948111" cy="0"/>
          </a:xfrm>
          <a:prstGeom prst="line">
            <a:avLst/>
          </a:prstGeom>
          <a:noFill/>
          <a:ln w="9525">
            <a:solidFill>
              <a:srgbClr val="23405C"/>
            </a:solidFill>
            <a:prstDash val="solid"/>
          </a:ln>
        </p:spPr>
      </p:sp>
      <p:sp>
        <p:nvSpPr>
          <p:cNvPr id="26" name="Text 20"/>
          <p:cNvSpPr txBox="1"/>
          <p:nvPr/>
        </p:nvSpPr>
        <p:spPr>
          <a:xfrm>
            <a:off x="621792" y="6126480"/>
            <a:ext cx="10948111" cy="457200"/>
          </a:xfrm>
          <a:prstGeom prst="rect">
            <a:avLst/>
          </a:prstGeom>
          <a:noFill/>
          <a:ln/>
        </p:spPr>
        <p:txBody>
          <a:bodyPr wrap="square" lIns="0" tIns="0" rIns="0" bIns="0" rtlCol="0" anchor="t"/>
          <a:lstStyle/>
          <a:p>
            <a:pPr algn="l" indent="0" marL="0">
              <a:lnSpc>
                <a:spcPct val="112000"/>
              </a:lnSpc>
              <a:spcAft>
                <a:spcPts val="300"/>
              </a:spcAft>
              <a:buNone/>
            </a:pPr>
            <a:r>
              <a:rPr lang="en-US" sz="800" dirty="0">
                <a:solidFill>
                  <a:srgbClr val="A9BDD1"/>
                </a:solidFill>
                <a:latin typeface="Arial" pitchFamily="34" charset="0"/>
                <a:ea typeface="Arial" pitchFamily="34" charset="-122"/>
                <a:cs typeface="Arial" pitchFamily="34" charset="-120"/>
              </a:rPr>
              <a:t>WHAT THE HOST GETS — a measured baseline of their own introduction burden and process performance, by configuration, in their format, at no cost to them and under their data-rights terms. Syntrex bears the cost of the engagement.</a:t>
            </a:r>
            <a:endParaRPr lang="en-US" sz="800" dirty="0"/>
          </a:p>
          <a:p>
            <a:pPr algn="l" indent="0" marL="0">
              <a:lnSpc>
                <a:spcPct val="112000"/>
              </a:lnSpc>
              <a:buNone/>
            </a:pPr>
            <a:r>
              <a:rPr lang="en-US" sz="740" i="1" dirty="0">
                <a:solidFill>
                  <a:srgbClr val="72879D"/>
                </a:solidFill>
                <a:latin typeface="Arial" pitchFamily="34" charset="0"/>
                <a:ea typeface="Arial" pitchFamily="34" charset="-122"/>
                <a:cs typeface="Arial" pitchFamily="34" charset="-120"/>
              </a:rPr>
              <a:t>In defense environments, security, data-rights and IT/OT review precede technical evaluation and set the calendar.  Pointer: customer entry and the first ninety days — A-9.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11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THE ECONOMIC MECHANISM</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500" b="1" dirty="0">
                <a:solidFill>
                  <a:srgbClr val="EAF2FA"/>
                </a:solidFill>
                <a:latin typeface="Arial" pitchFamily="34" charset="0"/>
                <a:ea typeface="Arial" pitchFamily="34" charset="-122"/>
                <a:cs typeface="Arial" pitchFamily="34" charset="-120"/>
              </a:rPr>
              <a:t>If introduction cost falls, high-mix automation becomes economic.</a:t>
            </a:r>
            <a:endParaRPr lang="en-US" sz="2500" dirty="0"/>
          </a:p>
        </p:txBody>
      </p:sp>
      <p:sp>
        <p:nvSpPr>
          <p:cNvPr id="6" name="Shape 4"/>
          <p:cNvSpPr/>
          <p:nvPr/>
        </p:nvSpPr>
        <p:spPr>
          <a:xfrm>
            <a:off x="621792" y="5029200"/>
            <a:ext cx="6035040" cy="0"/>
          </a:xfrm>
          <a:prstGeom prst="line">
            <a:avLst/>
          </a:prstGeom>
          <a:noFill/>
          <a:ln w="12700">
            <a:solidFill>
              <a:srgbClr val="23405C"/>
            </a:solidFill>
            <a:prstDash val="solid"/>
          </a:ln>
        </p:spPr>
      </p:sp>
      <p:sp>
        <p:nvSpPr>
          <p:cNvPr id="7" name="Shape 5"/>
          <p:cNvSpPr/>
          <p:nvPr/>
        </p:nvSpPr>
        <p:spPr>
          <a:xfrm>
            <a:off x="621792" y="3474720"/>
            <a:ext cx="0" cy="1554480"/>
          </a:xfrm>
          <a:prstGeom prst="line">
            <a:avLst/>
          </a:prstGeom>
          <a:noFill/>
          <a:ln w="12700">
            <a:solidFill>
              <a:srgbClr val="23405C"/>
            </a:solidFill>
            <a:prstDash val="solid"/>
          </a:ln>
        </p:spPr>
      </p:sp>
      <p:sp>
        <p:nvSpPr>
          <p:cNvPr id="8" name="Shape 6"/>
          <p:cNvSpPr/>
          <p:nvPr/>
        </p:nvSpPr>
        <p:spPr>
          <a:xfrm flipV="1">
            <a:off x="621792" y="3785616"/>
            <a:ext cx="1327709" cy="1243584"/>
          </a:xfrm>
          <a:prstGeom prst="line">
            <a:avLst/>
          </a:prstGeom>
          <a:noFill/>
          <a:ln w="22225">
            <a:solidFill>
              <a:srgbClr val="3D9BD8"/>
            </a:solidFill>
            <a:prstDash val="solid"/>
          </a:ln>
        </p:spPr>
      </p:sp>
      <p:sp>
        <p:nvSpPr>
          <p:cNvPr id="9" name="Shape 7"/>
          <p:cNvSpPr/>
          <p:nvPr/>
        </p:nvSpPr>
        <p:spPr>
          <a:xfrm>
            <a:off x="1949501" y="3785616"/>
            <a:ext cx="0" cy="1243584"/>
          </a:xfrm>
          <a:prstGeom prst="line">
            <a:avLst/>
          </a:prstGeom>
          <a:noFill/>
          <a:ln w="12700">
            <a:solidFill>
              <a:srgbClr val="3D9BD8">
                <a:alpha val="65000"/>
              </a:srgbClr>
            </a:solidFill>
            <a:prstDash val="sysDot"/>
          </a:ln>
        </p:spPr>
      </p:sp>
      <p:sp>
        <p:nvSpPr>
          <p:cNvPr id="10" name="Shape 8"/>
          <p:cNvSpPr/>
          <p:nvPr/>
        </p:nvSpPr>
        <p:spPr>
          <a:xfrm flipV="1">
            <a:off x="2130552" y="3785616"/>
            <a:ext cx="1327709" cy="1243584"/>
          </a:xfrm>
          <a:prstGeom prst="line">
            <a:avLst/>
          </a:prstGeom>
          <a:noFill/>
          <a:ln w="22225">
            <a:solidFill>
              <a:srgbClr val="3D9BD8"/>
            </a:solidFill>
            <a:prstDash val="solid"/>
          </a:ln>
        </p:spPr>
      </p:sp>
      <p:sp>
        <p:nvSpPr>
          <p:cNvPr id="11" name="Shape 9"/>
          <p:cNvSpPr/>
          <p:nvPr/>
        </p:nvSpPr>
        <p:spPr>
          <a:xfrm>
            <a:off x="3458261" y="3785616"/>
            <a:ext cx="0" cy="1243584"/>
          </a:xfrm>
          <a:prstGeom prst="line">
            <a:avLst/>
          </a:prstGeom>
          <a:noFill/>
          <a:ln w="12700">
            <a:solidFill>
              <a:srgbClr val="3D9BD8">
                <a:alpha val="65000"/>
              </a:srgbClr>
            </a:solidFill>
            <a:prstDash val="sysDot"/>
          </a:ln>
        </p:spPr>
      </p:sp>
      <p:sp>
        <p:nvSpPr>
          <p:cNvPr id="12" name="Shape 10"/>
          <p:cNvSpPr/>
          <p:nvPr/>
        </p:nvSpPr>
        <p:spPr>
          <a:xfrm flipV="1">
            <a:off x="3639312" y="3785616"/>
            <a:ext cx="1327709" cy="1243584"/>
          </a:xfrm>
          <a:prstGeom prst="line">
            <a:avLst/>
          </a:prstGeom>
          <a:noFill/>
          <a:ln w="22225">
            <a:solidFill>
              <a:srgbClr val="3D9BD8"/>
            </a:solidFill>
            <a:prstDash val="solid"/>
          </a:ln>
        </p:spPr>
      </p:sp>
      <p:sp>
        <p:nvSpPr>
          <p:cNvPr id="13" name="Shape 11"/>
          <p:cNvSpPr/>
          <p:nvPr/>
        </p:nvSpPr>
        <p:spPr>
          <a:xfrm>
            <a:off x="4967021" y="3785616"/>
            <a:ext cx="0" cy="1243584"/>
          </a:xfrm>
          <a:prstGeom prst="line">
            <a:avLst/>
          </a:prstGeom>
          <a:noFill/>
          <a:ln w="12700">
            <a:solidFill>
              <a:srgbClr val="3D9BD8">
                <a:alpha val="65000"/>
              </a:srgbClr>
            </a:solidFill>
            <a:prstDash val="sysDot"/>
          </a:ln>
        </p:spPr>
      </p:sp>
      <p:sp>
        <p:nvSpPr>
          <p:cNvPr id="14" name="Shape 12"/>
          <p:cNvSpPr/>
          <p:nvPr/>
        </p:nvSpPr>
        <p:spPr>
          <a:xfrm flipV="1">
            <a:off x="5148072" y="3785616"/>
            <a:ext cx="1327709" cy="1243584"/>
          </a:xfrm>
          <a:prstGeom prst="line">
            <a:avLst/>
          </a:prstGeom>
          <a:noFill/>
          <a:ln w="22225">
            <a:solidFill>
              <a:srgbClr val="3D9BD8"/>
            </a:solidFill>
            <a:prstDash val="solid"/>
          </a:ln>
        </p:spPr>
      </p:sp>
      <p:sp>
        <p:nvSpPr>
          <p:cNvPr id="15" name="Shape 13"/>
          <p:cNvSpPr/>
          <p:nvPr/>
        </p:nvSpPr>
        <p:spPr>
          <a:xfrm>
            <a:off x="6475781" y="3785616"/>
            <a:ext cx="0" cy="1243584"/>
          </a:xfrm>
          <a:prstGeom prst="line">
            <a:avLst/>
          </a:prstGeom>
          <a:noFill/>
          <a:ln w="12700">
            <a:solidFill>
              <a:srgbClr val="3D9BD8">
                <a:alpha val="65000"/>
              </a:srgbClr>
            </a:solidFill>
            <a:prstDash val="sysDot"/>
          </a:ln>
        </p:spPr>
      </p:sp>
      <p:sp>
        <p:nvSpPr>
          <p:cNvPr id="16" name="Shape 14"/>
          <p:cNvSpPr/>
          <p:nvPr/>
        </p:nvSpPr>
        <p:spPr>
          <a:xfrm>
            <a:off x="621792" y="4562856"/>
            <a:ext cx="6035040" cy="0"/>
          </a:xfrm>
          <a:prstGeom prst="line">
            <a:avLst/>
          </a:prstGeom>
          <a:noFill/>
          <a:ln w="19050">
            <a:solidFill>
              <a:srgbClr val="6FD3FF"/>
            </a:solidFill>
            <a:prstDash val="dash"/>
          </a:ln>
        </p:spPr>
      </p:sp>
      <p:sp>
        <p:nvSpPr>
          <p:cNvPr id="17" name="Text 15"/>
          <p:cNvSpPr txBox="1"/>
          <p:nvPr/>
        </p:nvSpPr>
        <p:spPr>
          <a:xfrm>
            <a:off x="676656" y="4608576"/>
            <a:ext cx="2057400" cy="182880"/>
          </a:xfrm>
          <a:prstGeom prst="rect">
            <a:avLst/>
          </a:prstGeom>
          <a:noFill/>
          <a:ln/>
        </p:spPr>
        <p:txBody>
          <a:bodyPr wrap="square" lIns="0" tIns="0" rIns="0" bIns="0" rtlCol="0" anchor="ctr"/>
          <a:lstStyle/>
          <a:p>
            <a:pPr indent="0" marL="0">
              <a:buNone/>
            </a:pPr>
            <a:r>
              <a:rPr lang="en-US" sz="750" b="1" spc="160" kern="0" dirty="0">
                <a:solidFill>
                  <a:srgbClr val="6FD3FF"/>
                </a:solidFill>
                <a:latin typeface="Arial" pitchFamily="34" charset="0"/>
                <a:ea typeface="Arial" pitchFamily="34" charset="-122"/>
                <a:cs typeface="Arial" pitchFamily="34" charset="-120"/>
              </a:rPr>
              <a:t>TARGET — TO BE MEASURED</a:t>
            </a:r>
            <a:endParaRPr lang="en-US" sz="750" dirty="0"/>
          </a:p>
        </p:txBody>
      </p:sp>
      <p:sp>
        <p:nvSpPr>
          <p:cNvPr id="18" name="Text 16"/>
          <p:cNvSpPr txBox="1"/>
          <p:nvPr/>
        </p:nvSpPr>
        <p:spPr>
          <a:xfrm>
            <a:off x="566928" y="3218688"/>
            <a:ext cx="4023360" cy="182880"/>
          </a:xfrm>
          <a:prstGeom prst="rect">
            <a:avLst/>
          </a:prstGeom>
          <a:noFill/>
          <a:ln/>
        </p:spPr>
        <p:txBody>
          <a:bodyPr wrap="square" lIns="0" tIns="0" rIns="0" bIns="0" rtlCol="0" anchor="ctr"/>
          <a:lstStyle/>
          <a:p>
            <a:pPr indent="0" marL="0">
              <a:buNone/>
            </a:pPr>
            <a:r>
              <a:rPr lang="en-US" sz="700" spc="180" kern="0" dirty="0">
                <a:solidFill>
                  <a:srgbClr val="72879D"/>
                </a:solidFill>
                <a:latin typeface="Arial" pitchFamily="34" charset="0"/>
                <a:ea typeface="Arial" pitchFamily="34" charset="-122"/>
                <a:cs typeface="Arial" pitchFamily="34" charset="-120"/>
              </a:rPr>
              <a:t>ENGINEERING EFFORT PER INTRODUCTION</a:t>
            </a:r>
            <a:endParaRPr lang="en-US" sz="700" dirty="0"/>
          </a:p>
        </p:txBody>
      </p:sp>
      <p:sp>
        <p:nvSpPr>
          <p:cNvPr id="19" name="Text 17"/>
          <p:cNvSpPr txBox="1"/>
          <p:nvPr/>
        </p:nvSpPr>
        <p:spPr>
          <a:xfrm>
            <a:off x="621792" y="5102352"/>
            <a:ext cx="3657600" cy="182880"/>
          </a:xfrm>
          <a:prstGeom prst="rect">
            <a:avLst/>
          </a:prstGeom>
          <a:noFill/>
          <a:ln/>
        </p:spPr>
        <p:txBody>
          <a:bodyPr wrap="square" lIns="0" tIns="0" rIns="0" bIns="0" rtlCol="0" anchor="ctr"/>
          <a:lstStyle/>
          <a:p>
            <a:pPr indent="0" marL="0">
              <a:buNone/>
            </a:pPr>
            <a:r>
              <a:rPr lang="en-US" sz="700" spc="180" kern="0" dirty="0">
                <a:solidFill>
                  <a:srgbClr val="72879D"/>
                </a:solidFill>
                <a:latin typeface="Arial" pitchFamily="34" charset="0"/>
                <a:ea typeface="Arial" pitchFamily="34" charset="-122"/>
                <a:cs typeface="Arial" pitchFamily="34" charset="-120"/>
              </a:rPr>
              <a:t>CONFIGURATION CHANGES →</a:t>
            </a:r>
            <a:endParaRPr lang="en-US" sz="700" dirty="0"/>
          </a:p>
        </p:txBody>
      </p:sp>
      <p:sp>
        <p:nvSpPr>
          <p:cNvPr id="20" name="Text 18"/>
          <p:cNvSpPr txBox="1"/>
          <p:nvPr/>
        </p:nvSpPr>
        <p:spPr>
          <a:xfrm>
            <a:off x="3639312" y="5102352"/>
            <a:ext cx="3017520" cy="182880"/>
          </a:xfrm>
          <a:prstGeom prst="rect">
            <a:avLst/>
          </a:prstGeom>
          <a:noFill/>
          <a:ln/>
        </p:spPr>
        <p:txBody>
          <a:bodyPr wrap="square" lIns="0" tIns="0" rIns="0" bIns="0" rtlCol="0" anchor="ctr"/>
          <a:lstStyle/>
          <a:p>
            <a:pPr algn="r" indent="0" marL="0">
              <a:buNone/>
            </a:pPr>
            <a:r>
              <a:rPr lang="en-US" sz="700" b="1" spc="140" kern="0" dirty="0">
                <a:solidFill>
                  <a:srgbClr val="51667C"/>
                </a:solidFill>
                <a:latin typeface="Arial" pitchFamily="34" charset="0"/>
                <a:ea typeface="Arial" pitchFamily="34" charset="-122"/>
                <a:cs typeface="Arial" pitchFamily="34" charset="-120"/>
              </a:rPr>
              <a:t>SCHEMATIC — ILLUSTRATIVE, NOT A DATA SERIES</a:t>
            </a:r>
            <a:endParaRPr lang="en-US" sz="700" dirty="0"/>
          </a:p>
        </p:txBody>
      </p:sp>
      <p:sp>
        <p:nvSpPr>
          <p:cNvPr id="21" name="Text 19"/>
          <p:cNvSpPr txBox="1"/>
          <p:nvPr/>
        </p:nvSpPr>
        <p:spPr>
          <a:xfrm>
            <a:off x="621792" y="1517904"/>
            <a:ext cx="6035040" cy="3200400"/>
          </a:xfrm>
          <a:prstGeom prst="rect">
            <a:avLst/>
          </a:prstGeom>
          <a:noFill/>
          <a:ln/>
        </p:spPr>
        <p:txBody>
          <a:bodyPr wrap="square" lIns="0" tIns="0" rIns="0" bIns="0" rtlCol="0" anchor="t"/>
          <a:lstStyle/>
          <a:p>
            <a:pPr algn="l" indent="0" marL="0">
              <a:lnSpc>
                <a:spcPct val="115000"/>
              </a:lnSpc>
              <a:spcAft>
                <a:spcPts val="400"/>
              </a:spcAft>
              <a:buNone/>
            </a:pPr>
            <a:r>
              <a:rPr lang="en-US" sz="800" b="1" spc="220" kern="0" dirty="0">
                <a:solidFill>
                  <a:srgbClr val="6FD3FF"/>
                </a:solidFill>
                <a:latin typeface="Arial" pitchFamily="34" charset="0"/>
                <a:ea typeface="Arial" pitchFamily="34" charset="-122"/>
                <a:cs typeface="Arial" pitchFamily="34" charset="-120"/>
              </a:rPr>
              <a:t>THE MECHANISM</a:t>
            </a:r>
            <a:endParaRPr lang="en-US" sz="800" dirty="0"/>
          </a:p>
          <a:p>
            <a:pPr algn="l" indent="0" marL="0">
              <a:lnSpc>
                <a:spcPct val="115000"/>
              </a:lnSpc>
              <a:spcAft>
                <a:spcPts val="600"/>
              </a:spcAft>
              <a:buNone/>
            </a:pPr>
            <a:r>
              <a:rPr lang="en-US" sz="860" dirty="0">
                <a:solidFill>
                  <a:srgbClr val="A9BDD1"/>
                </a:solidFill>
                <a:latin typeface="Arial" pitchFamily="34" charset="0"/>
                <a:ea typeface="Arial" pitchFamily="34" charset="-122"/>
                <a:cs typeface="Arial" pitchFamily="34" charset="-120"/>
              </a:rPr>
              <a:t>Every configuration change today resets process planning, programming, tooling, inspection planning, commissioning and first article preparation. Syntrex targets how much of that engineering has to reset — by carrying measured state, measured capability, approved limits, bounded authorization and evidence across the change.</a:t>
            </a:r>
            <a:endParaRPr lang="en-US" sz="800" dirty="0"/>
          </a:p>
          <a:p>
            <a:pPr algn="l" indent="0" marL="0">
              <a:lnSpc>
                <a:spcPct val="115000"/>
              </a:lnSpc>
              <a:spcAft>
                <a:spcPts val="400"/>
              </a:spcAft>
              <a:buNone/>
            </a:pPr>
            <a:r>
              <a:rPr lang="en-US" sz="800" b="1" spc="220" kern="0" dirty="0">
                <a:solidFill>
                  <a:srgbClr val="6FD3FF"/>
                </a:solidFill>
                <a:latin typeface="Arial" pitchFamily="34" charset="0"/>
                <a:ea typeface="Arial" pitchFamily="34" charset="-122"/>
                <a:cs typeface="Arial" pitchFamily="34" charset="-120"/>
              </a:rPr>
              <a:t>WHY THE LEVER IS LARGE IF IT EXISTS</a:t>
            </a:r>
            <a:endParaRPr lang="en-US" sz="800" dirty="0"/>
          </a:p>
          <a:p>
            <a:pPr algn="l" indent="0" marL="0">
              <a:lnSpc>
                <a:spcPct val="115000"/>
              </a:lnSpc>
              <a:buNone/>
            </a:pPr>
            <a:r>
              <a:rPr lang="en-US" sz="860" dirty="0">
                <a:solidFill>
                  <a:srgbClr val="A9BDD1"/>
                </a:solidFill>
                <a:latin typeface="Arial" pitchFamily="34" charset="0"/>
                <a:ea typeface="Arial" pitchFamily="34" charset="-122"/>
                <a:cs typeface="Arial" pitchFamily="34" charset="-120"/>
              </a:rPr>
              <a:t>High-mix suppliers introduce new or revised configurations continuously. A reduction that applies per introduction compounds across every part number a shop runs. Installed machines run about a quarter of available hours; how much of the remainder is engineering between configurations is not published, and it is the first thing the customer engagement measures.</a:t>
            </a:r>
            <a:endParaRPr lang="en-US" sz="800" dirty="0"/>
          </a:p>
        </p:txBody>
      </p:sp>
      <p:sp>
        <p:nvSpPr>
          <p:cNvPr id="22" name="Shape 20"/>
          <p:cNvSpPr/>
          <p:nvPr/>
        </p:nvSpPr>
        <p:spPr>
          <a:xfrm>
            <a:off x="7086600" y="1426464"/>
            <a:ext cx="4480560" cy="0"/>
          </a:xfrm>
          <a:prstGeom prst="line">
            <a:avLst/>
          </a:prstGeom>
          <a:noFill/>
          <a:ln w="9525">
            <a:solidFill>
              <a:srgbClr val="23405C"/>
            </a:solidFill>
            <a:prstDash val="solid"/>
          </a:ln>
        </p:spPr>
      </p:sp>
      <p:sp>
        <p:nvSpPr>
          <p:cNvPr id="23" name="Text 21"/>
          <p:cNvSpPr txBox="1"/>
          <p:nvPr/>
        </p:nvSpPr>
        <p:spPr>
          <a:xfrm>
            <a:off x="7086600" y="1517904"/>
            <a:ext cx="4480560" cy="219456"/>
          </a:xfrm>
          <a:prstGeom prst="rect">
            <a:avLst/>
          </a:prstGeom>
          <a:noFill/>
          <a:ln/>
        </p:spPr>
        <p:txBody>
          <a:bodyPr wrap="square" lIns="0" tIns="0" rIns="0" bIns="0" rtlCol="0" anchor="ctr"/>
          <a:lstStyle/>
          <a:p>
            <a:pPr indent="0" marL="0">
              <a:buNone/>
            </a:pPr>
            <a:r>
              <a:rPr lang="en-US" sz="1050" b="1" spc="100" kern="0" dirty="0">
                <a:solidFill>
                  <a:srgbClr val="EAF2FA"/>
                </a:solidFill>
                <a:latin typeface="Arial" pitchFamily="34" charset="0"/>
                <a:ea typeface="Arial" pitchFamily="34" charset="-122"/>
                <a:cs typeface="Arial" pitchFamily="34" charset="-120"/>
              </a:rPr>
              <a:t>DOES THE BURDEN FALL?</a:t>
            </a:r>
            <a:endParaRPr lang="en-US" sz="1050" dirty="0"/>
          </a:p>
        </p:txBody>
      </p:sp>
      <p:sp>
        <p:nvSpPr>
          <p:cNvPr id="24" name="Text 22"/>
          <p:cNvSpPr txBox="1"/>
          <p:nvPr/>
        </p:nvSpPr>
        <p:spPr>
          <a:xfrm>
            <a:off x="7086600" y="1764792"/>
            <a:ext cx="4480560" cy="320040"/>
          </a:xfrm>
          <a:prstGeom prst="rect">
            <a:avLst/>
          </a:prstGeom>
          <a:noFill/>
          <a:ln/>
        </p:spPr>
        <p:txBody>
          <a:bodyPr wrap="square" lIns="0" tIns="0" rIns="0" bIns="0" rtlCol="0" anchor="ctr"/>
          <a:lstStyle/>
          <a:p>
            <a:pPr indent="0" marL="0">
              <a:lnSpc>
                <a:spcPct val="110000"/>
              </a:lnSpc>
              <a:buNone/>
            </a:pPr>
            <a:r>
              <a:rPr lang="en-US" sz="840" dirty="0">
                <a:solidFill>
                  <a:srgbClr val="72879D"/>
                </a:solidFill>
                <a:latin typeface="Arial" pitchFamily="34" charset="0"/>
                <a:ea typeface="Arial" pitchFamily="34" charset="-122"/>
                <a:cs typeface="Arial" pitchFamily="34" charset="-120"/>
              </a:rPr>
              <a:t>engineering hours per configuration, measured on a customer's floor as the customer's data</a:t>
            </a:r>
            <a:endParaRPr lang="en-US" sz="840" dirty="0"/>
          </a:p>
        </p:txBody>
      </p:sp>
      <p:sp>
        <p:nvSpPr>
          <p:cNvPr id="25" name="Shape 23"/>
          <p:cNvSpPr/>
          <p:nvPr/>
        </p:nvSpPr>
        <p:spPr>
          <a:xfrm>
            <a:off x="7086600" y="2084832"/>
            <a:ext cx="4480560" cy="0"/>
          </a:xfrm>
          <a:prstGeom prst="line">
            <a:avLst/>
          </a:prstGeom>
          <a:noFill/>
          <a:ln w="9525">
            <a:solidFill>
              <a:srgbClr val="23405C"/>
            </a:solidFill>
            <a:prstDash val="solid"/>
          </a:ln>
        </p:spPr>
      </p:sp>
      <p:sp>
        <p:nvSpPr>
          <p:cNvPr id="26" name="Text 24"/>
          <p:cNvSpPr txBox="1"/>
          <p:nvPr/>
        </p:nvSpPr>
        <p:spPr>
          <a:xfrm>
            <a:off x="7086600" y="2176272"/>
            <a:ext cx="4480560" cy="219456"/>
          </a:xfrm>
          <a:prstGeom prst="rect">
            <a:avLst/>
          </a:prstGeom>
          <a:noFill/>
          <a:ln/>
        </p:spPr>
        <p:txBody>
          <a:bodyPr wrap="square" lIns="0" tIns="0" rIns="0" bIns="0" rtlCol="0" anchor="ctr"/>
          <a:lstStyle/>
          <a:p>
            <a:pPr indent="0" marL="0">
              <a:buNone/>
            </a:pPr>
            <a:r>
              <a:rPr lang="en-US" sz="1050" b="1" spc="100" kern="0" dirty="0">
                <a:solidFill>
                  <a:srgbClr val="EAF2FA"/>
                </a:solidFill>
                <a:latin typeface="Arial" pitchFamily="34" charset="0"/>
                <a:ea typeface="Arial" pitchFamily="34" charset="-122"/>
                <a:cs typeface="Arial" pitchFamily="34" charset="-120"/>
              </a:rPr>
              <a:t>DOES THE EVIDENCE HOLD?</a:t>
            </a:r>
            <a:endParaRPr lang="en-US" sz="1050" dirty="0"/>
          </a:p>
        </p:txBody>
      </p:sp>
      <p:sp>
        <p:nvSpPr>
          <p:cNvPr id="27" name="Text 25"/>
          <p:cNvSpPr txBox="1"/>
          <p:nvPr/>
        </p:nvSpPr>
        <p:spPr>
          <a:xfrm>
            <a:off x="7086600" y="2423160"/>
            <a:ext cx="4480560" cy="320040"/>
          </a:xfrm>
          <a:prstGeom prst="rect">
            <a:avLst/>
          </a:prstGeom>
          <a:noFill/>
          <a:ln/>
        </p:spPr>
        <p:txBody>
          <a:bodyPr wrap="square" lIns="0" tIns="0" rIns="0" bIns="0" rtlCol="0" anchor="ctr"/>
          <a:lstStyle/>
          <a:p>
            <a:pPr indent="0" marL="0">
              <a:lnSpc>
                <a:spcPct val="110000"/>
              </a:lnSpc>
              <a:buNone/>
            </a:pPr>
            <a:r>
              <a:rPr lang="en-US" sz="840" dirty="0">
                <a:solidFill>
                  <a:srgbClr val="72879D"/>
                </a:solidFill>
                <a:latin typeface="Arial" pitchFamily="34" charset="0"/>
                <a:ea typeface="Arial" pitchFamily="34" charset="-122"/>
                <a:cs typeface="Arial" pitchFamily="34" charset="-120"/>
              </a:rPr>
              <a:t>measured against the customer's quality system</a:t>
            </a:r>
            <a:endParaRPr lang="en-US" sz="840" dirty="0"/>
          </a:p>
        </p:txBody>
      </p:sp>
      <p:sp>
        <p:nvSpPr>
          <p:cNvPr id="28" name="Shape 26"/>
          <p:cNvSpPr/>
          <p:nvPr/>
        </p:nvSpPr>
        <p:spPr>
          <a:xfrm>
            <a:off x="7086600" y="2743200"/>
            <a:ext cx="4480560" cy="0"/>
          </a:xfrm>
          <a:prstGeom prst="line">
            <a:avLst/>
          </a:prstGeom>
          <a:noFill/>
          <a:ln w="9525">
            <a:solidFill>
              <a:srgbClr val="23405C"/>
            </a:solidFill>
            <a:prstDash val="solid"/>
          </a:ln>
        </p:spPr>
      </p:sp>
      <p:sp>
        <p:nvSpPr>
          <p:cNvPr id="29" name="Text 27"/>
          <p:cNvSpPr txBox="1"/>
          <p:nvPr/>
        </p:nvSpPr>
        <p:spPr>
          <a:xfrm>
            <a:off x="7086600" y="2834640"/>
            <a:ext cx="4480560" cy="219456"/>
          </a:xfrm>
          <a:prstGeom prst="rect">
            <a:avLst/>
          </a:prstGeom>
          <a:noFill/>
          <a:ln/>
        </p:spPr>
        <p:txBody>
          <a:bodyPr wrap="square" lIns="0" tIns="0" rIns="0" bIns="0" rtlCol="0" anchor="ctr"/>
          <a:lstStyle/>
          <a:p>
            <a:pPr indent="0" marL="0">
              <a:buNone/>
            </a:pPr>
            <a:r>
              <a:rPr lang="en-US" sz="1050" b="1" spc="100" kern="0" dirty="0">
                <a:solidFill>
                  <a:srgbClr val="EAF2FA"/>
                </a:solidFill>
                <a:latin typeface="Arial" pitchFamily="34" charset="0"/>
                <a:ea typeface="Arial" pitchFamily="34" charset="-122"/>
                <a:cs typeface="Arial" pitchFamily="34" charset="-120"/>
              </a:rPr>
              <a:t>DOES IT TRANSFER?</a:t>
            </a:r>
            <a:endParaRPr lang="en-US" sz="1050" dirty="0"/>
          </a:p>
        </p:txBody>
      </p:sp>
      <p:sp>
        <p:nvSpPr>
          <p:cNvPr id="30" name="Text 28"/>
          <p:cNvSpPr txBox="1"/>
          <p:nvPr/>
        </p:nvSpPr>
        <p:spPr>
          <a:xfrm>
            <a:off x="7086600" y="3081528"/>
            <a:ext cx="4480560" cy="320040"/>
          </a:xfrm>
          <a:prstGeom prst="rect">
            <a:avLst/>
          </a:prstGeom>
          <a:noFill/>
          <a:ln/>
        </p:spPr>
        <p:txBody>
          <a:bodyPr wrap="square" lIns="0" tIns="0" rIns="0" bIns="0" rtlCol="0" anchor="ctr"/>
          <a:lstStyle/>
          <a:p>
            <a:pPr indent="0" marL="0">
              <a:lnSpc>
                <a:spcPct val="110000"/>
              </a:lnSpc>
              <a:buNone/>
            </a:pPr>
            <a:r>
              <a:rPr lang="en-US" sz="840" dirty="0">
                <a:solidFill>
                  <a:srgbClr val="72879D"/>
                </a:solidFill>
                <a:latin typeface="Arial" pitchFamily="34" charset="0"/>
                <a:ea typeface="Arial" pitchFamily="34" charset="-122"/>
                <a:cs typeface="Arial" pitchFamily="34" charset="-120"/>
              </a:rPr>
              <a:t>measured across a second configuration and a second operation class</a:t>
            </a:r>
            <a:endParaRPr lang="en-US" sz="840" dirty="0"/>
          </a:p>
        </p:txBody>
      </p:sp>
      <p:sp>
        <p:nvSpPr>
          <p:cNvPr id="31" name="Shape 29"/>
          <p:cNvSpPr/>
          <p:nvPr/>
        </p:nvSpPr>
        <p:spPr>
          <a:xfrm>
            <a:off x="7086600" y="3767328"/>
            <a:ext cx="4480560" cy="1481328"/>
          </a:xfrm>
          <a:prstGeom prst="roundRect">
            <a:avLst>
              <a:gd name="adj" fmla="val 5556"/>
            </a:avLst>
          </a:prstGeom>
          <a:solidFill>
            <a:srgbClr val="0F1E31">
              <a:alpha val="68000"/>
            </a:srgbClr>
          </a:solidFill>
          <a:ln w="9525">
            <a:solidFill>
              <a:srgbClr val="3D9BD8">
                <a:alpha val="75000"/>
              </a:srgbClr>
            </a:solidFill>
            <a:prstDash val="solid"/>
          </a:ln>
          <a:effectLst>
            <a:outerShdw sx="100000" sy="100000" kx="0" ky="0" algn="bl" rotWithShape="0" blurRad="127000" dist="38100" dir="5400000">
              <a:srgbClr val="000000">
                <a:alpha val="35000"/>
              </a:srgbClr>
            </a:outerShdw>
          </a:effectLst>
        </p:spPr>
      </p:sp>
      <p:sp>
        <p:nvSpPr>
          <p:cNvPr id="32" name="Text 30"/>
          <p:cNvSpPr txBox="1"/>
          <p:nvPr/>
        </p:nvSpPr>
        <p:spPr>
          <a:xfrm>
            <a:off x="7315200" y="3931920"/>
            <a:ext cx="4023360" cy="1371600"/>
          </a:xfrm>
          <a:prstGeom prst="rect">
            <a:avLst/>
          </a:prstGeom>
          <a:noFill/>
          <a:ln/>
        </p:spPr>
        <p:txBody>
          <a:bodyPr wrap="square" lIns="0" tIns="0" rIns="0" bIns="0" rtlCol="0" anchor="t"/>
          <a:lstStyle/>
          <a:p>
            <a:pPr algn="l" indent="0" marL="0">
              <a:lnSpc>
                <a:spcPct val="108000"/>
              </a:lnSpc>
              <a:spcAft>
                <a:spcPts val="400"/>
              </a:spcAft>
              <a:buNone/>
            </a:pPr>
            <a:r>
              <a:rPr lang="en-US" sz="800" b="1" spc="220" kern="0" dirty="0">
                <a:solidFill>
                  <a:srgbClr val="6FD3FF"/>
                </a:solidFill>
                <a:latin typeface="Arial" pitchFamily="34" charset="0"/>
                <a:ea typeface="Arial" pitchFamily="34" charset="-122"/>
                <a:cs typeface="Arial" pitchFamily="34" charset="-120"/>
              </a:rPr>
              <a:t>THE DISCIPLINE</a:t>
            </a:r>
            <a:endParaRPr lang="en-US" sz="800" dirty="0"/>
          </a:p>
          <a:p>
            <a:pPr algn="l" indent="0" marL="0">
              <a:lnSpc>
                <a:spcPct val="108000"/>
              </a:lnSpc>
              <a:spcAft>
                <a:spcPts val="500"/>
              </a:spcAft>
              <a:buNone/>
            </a:pPr>
            <a:r>
              <a:rPr lang="en-US" sz="820" dirty="0">
                <a:solidFill>
                  <a:srgbClr val="A9BDD1"/>
                </a:solidFill>
                <a:latin typeface="Arial" pitchFamily="34" charset="0"/>
                <a:ea typeface="Arial" pitchFamily="34" charset="-122"/>
                <a:cs typeface="Arial" pitchFamily="34" charset="-120"/>
              </a:rPr>
              <a:t>There is no public benchmark for engineering hours per new part number in aerospace. The peer-reviewed literature states that no consolidated cost theory exists. We will not borrow a number. We will measure our own, with a customer, and report it.</a:t>
            </a:r>
            <a:endParaRPr lang="en-US" sz="800" dirty="0"/>
          </a:p>
          <a:p>
            <a:pPr algn="l" indent="0" marL="0">
              <a:lnSpc>
                <a:spcPct val="108000"/>
              </a:lnSpc>
              <a:buNone/>
            </a:pPr>
            <a:r>
              <a:rPr lang="en-US" sz="780" i="1" dirty="0">
                <a:solidFill>
                  <a:srgbClr val="72879D"/>
                </a:solidFill>
                <a:latin typeface="Arial" pitchFamily="34" charset="0"/>
                <a:ea typeface="Arial" pitchFamily="34" charset="-122"/>
                <a:cs typeface="Arial" pitchFamily="34" charset="-120"/>
              </a:rPr>
              <a:t>What we expect to sell: first, a bounded validation and evidence engagement; then a licence for the authorization and evidence layer with integration services, priced only if the customer's measured burden supports it. No price has been set.</a:t>
            </a:r>
            <a:endParaRPr lang="en-US" sz="800" dirty="0"/>
          </a:p>
        </p:txBody>
      </p:sp>
      <p:sp>
        <p:nvSpPr>
          <p:cNvPr id="33" name="Text 31"/>
          <p:cNvSpPr txBox="1"/>
          <p:nvPr/>
        </p:nvSpPr>
        <p:spPr>
          <a:xfrm>
            <a:off x="621792" y="5815584"/>
            <a:ext cx="7315200" cy="310896"/>
          </a:xfrm>
          <a:prstGeom prst="rect">
            <a:avLst/>
          </a:prstGeom>
          <a:noFill/>
          <a:ln/>
        </p:spPr>
        <p:txBody>
          <a:bodyPr wrap="square" lIns="0" tIns="0" rIns="0" bIns="0" rtlCol="0" anchor="ctr"/>
          <a:lstStyle/>
          <a:p>
            <a:pPr indent="0" marL="0">
              <a:buNone/>
            </a:pPr>
            <a:r>
              <a:rPr lang="en-US" sz="1400" b="1" dirty="0">
                <a:solidFill>
                  <a:srgbClr val="6FD3FF"/>
                </a:solidFill>
                <a:latin typeface="Arial" pitchFamily="34" charset="0"/>
                <a:ea typeface="Arial" pitchFamily="34" charset="-122"/>
                <a:cs typeface="Arial" pitchFamily="34" charset="-120"/>
              </a:rPr>
              <a:t>Customer-measured values. Not assumed savings.</a:t>
            </a:r>
            <a:endParaRPr lang="en-US" sz="1400" dirty="0"/>
          </a:p>
        </p:txBody>
      </p:sp>
      <p:sp>
        <p:nvSpPr>
          <p:cNvPr id="34" name="Text 32"/>
          <p:cNvSpPr txBox="1"/>
          <p:nvPr/>
        </p:nvSpPr>
        <p:spPr>
          <a:xfrm>
            <a:off x="621792" y="6236208"/>
            <a:ext cx="10948111" cy="256032"/>
          </a:xfrm>
          <a:prstGeom prst="rect">
            <a:avLst/>
          </a:prstGeom>
          <a:noFill/>
          <a:ln/>
        </p:spPr>
        <p:txBody>
          <a:bodyPr wrap="square" lIns="0" tIns="0" rIns="0" bIns="0" rtlCol="0" anchor="ctr"/>
          <a:lstStyle/>
          <a:p>
            <a:pPr indent="0" marL="0">
              <a:lnSpc>
                <a:spcPct val="105000"/>
              </a:lnSpc>
              <a:buNone/>
            </a:pPr>
            <a:r>
              <a:rPr lang="en-US" sz="650" dirty="0">
                <a:solidFill>
                  <a:srgbClr val="51667C"/>
                </a:solidFill>
                <a:latin typeface="Arial" pitchFamily="34" charset="0"/>
                <a:ea typeface="Arial" pitchFamily="34" charset="-122"/>
                <a:cs typeface="Arial" pitchFamily="34" charset="-120"/>
              </a:rPr>
              <a:t>Sources: Della Vecchia, Mandorino, Cusati and Nicolosi, Retrofitting Cost Modeling in Aircraft Design, Aerospace 9(7):349, 2022 · APQC, Manufacturing Key Benchmarks: Aerospace Industry, 2026 · confirmed absence of a per-part-number NRE benchmark, dedicated search, Sep 2026</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12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THE INDUSTRIAL RACE IS ALREADY UNDERWAY</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600" b="1" dirty="0">
                <a:solidFill>
                  <a:srgbClr val="EAF2FA"/>
                </a:solidFill>
                <a:latin typeface="Arial" pitchFamily="34" charset="0"/>
                <a:ea typeface="Arial" pitchFamily="34" charset="-122"/>
                <a:cs typeface="Arial" pitchFamily="34" charset="-120"/>
              </a:rPr>
              <a:t>The category is real and well capitalized.</a:t>
            </a:r>
            <a:endParaRPr lang="en-US" sz="2600" dirty="0"/>
          </a:p>
        </p:txBody>
      </p:sp>
      <p:sp>
        <p:nvSpPr>
          <p:cNvPr id="6" name="Text 4"/>
          <p:cNvSpPr txBox="1"/>
          <p:nvPr/>
        </p:nvSpPr>
        <p:spPr>
          <a:xfrm>
            <a:off x="621792" y="1243584"/>
            <a:ext cx="1920240" cy="182880"/>
          </a:xfrm>
          <a:prstGeom prst="rect">
            <a:avLst/>
          </a:prstGeom>
          <a:noFill/>
          <a:ln/>
        </p:spPr>
        <p:txBody>
          <a:bodyPr wrap="square" lIns="0" tIns="0" rIns="0" bIns="0" rtlCol="0" anchor="ctr"/>
          <a:lstStyle/>
          <a:p>
            <a:pPr indent="0" marL="0">
              <a:buNone/>
            </a:pPr>
            <a:r>
              <a:rPr lang="en-US" sz="750" b="1" spc="220" kern="0" dirty="0">
                <a:solidFill>
                  <a:srgbClr val="72879D"/>
                </a:solidFill>
                <a:latin typeface="Arial" pitchFamily="34" charset="0"/>
                <a:ea typeface="Arial" pitchFamily="34" charset="-122"/>
                <a:cs typeface="Arial" pitchFamily="34" charset="-120"/>
              </a:rPr>
              <a:t>COMPANY</a:t>
            </a:r>
            <a:endParaRPr lang="en-US" sz="750" dirty="0"/>
          </a:p>
        </p:txBody>
      </p:sp>
      <p:sp>
        <p:nvSpPr>
          <p:cNvPr id="7" name="Text 5"/>
          <p:cNvSpPr txBox="1"/>
          <p:nvPr/>
        </p:nvSpPr>
        <p:spPr>
          <a:xfrm>
            <a:off x="2679192" y="1243584"/>
            <a:ext cx="5486400" cy="182880"/>
          </a:xfrm>
          <a:prstGeom prst="rect">
            <a:avLst/>
          </a:prstGeom>
          <a:noFill/>
          <a:ln/>
        </p:spPr>
        <p:txBody>
          <a:bodyPr wrap="square" lIns="0" tIns="0" rIns="0" bIns="0" rtlCol="0" anchor="ctr"/>
          <a:lstStyle/>
          <a:p>
            <a:pPr indent="0" marL="0">
              <a:buNone/>
            </a:pPr>
            <a:r>
              <a:rPr lang="en-US" sz="750" b="1" spc="220" kern="0" dirty="0">
                <a:solidFill>
                  <a:srgbClr val="72879D"/>
                </a:solidFill>
                <a:latin typeface="Arial" pitchFamily="34" charset="0"/>
                <a:ea typeface="Arial" pitchFamily="34" charset="-122"/>
                <a:cs typeface="Arial" pitchFamily="34" charset="-120"/>
              </a:rPr>
              <a:t>WHAT THEY HAVE ESTABLISHED</a:t>
            </a:r>
            <a:endParaRPr lang="en-US" sz="750" dirty="0"/>
          </a:p>
        </p:txBody>
      </p:sp>
      <p:sp>
        <p:nvSpPr>
          <p:cNvPr id="8" name="Text 6"/>
          <p:cNvSpPr txBox="1"/>
          <p:nvPr/>
        </p:nvSpPr>
        <p:spPr>
          <a:xfrm>
            <a:off x="8348472" y="1243584"/>
            <a:ext cx="3200400" cy="182880"/>
          </a:xfrm>
          <a:prstGeom prst="rect">
            <a:avLst/>
          </a:prstGeom>
          <a:noFill/>
          <a:ln/>
        </p:spPr>
        <p:txBody>
          <a:bodyPr wrap="square" lIns="0" tIns="0" rIns="0" bIns="0" rtlCol="0" anchor="ctr"/>
          <a:lstStyle/>
          <a:p>
            <a:pPr indent="0" marL="0">
              <a:buNone/>
            </a:pPr>
            <a:r>
              <a:rPr lang="en-US" sz="750" b="1" spc="220" kern="0" dirty="0">
                <a:solidFill>
                  <a:srgbClr val="72879D"/>
                </a:solidFill>
                <a:latin typeface="Arial" pitchFamily="34" charset="0"/>
                <a:ea typeface="Arial" pitchFamily="34" charset="-122"/>
                <a:cs typeface="Arial" pitchFamily="34" charset="-120"/>
              </a:rPr>
              <a:t>STATUS, 2026</a:t>
            </a:r>
            <a:endParaRPr lang="en-US" sz="750" dirty="0"/>
          </a:p>
        </p:txBody>
      </p:sp>
      <p:sp>
        <p:nvSpPr>
          <p:cNvPr id="9" name="Shape 7"/>
          <p:cNvSpPr/>
          <p:nvPr/>
        </p:nvSpPr>
        <p:spPr>
          <a:xfrm>
            <a:off x="621792" y="1444752"/>
            <a:ext cx="10948111" cy="0"/>
          </a:xfrm>
          <a:prstGeom prst="line">
            <a:avLst/>
          </a:prstGeom>
          <a:noFill/>
          <a:ln w="9525">
            <a:solidFill>
              <a:srgbClr val="23405C"/>
            </a:solidFill>
            <a:prstDash val="solid"/>
          </a:ln>
        </p:spPr>
      </p:sp>
      <p:sp>
        <p:nvSpPr>
          <p:cNvPr id="10" name="Text 8"/>
          <p:cNvSpPr txBox="1"/>
          <p:nvPr/>
        </p:nvSpPr>
        <p:spPr>
          <a:xfrm>
            <a:off x="621792" y="1527048"/>
            <a:ext cx="1965960" cy="256032"/>
          </a:xfrm>
          <a:prstGeom prst="rect">
            <a:avLst/>
          </a:prstGeom>
          <a:noFill/>
          <a:ln/>
        </p:spPr>
        <p:txBody>
          <a:bodyPr wrap="square" lIns="0" tIns="0" rIns="0" bIns="0" rtlCol="0" anchor="ctr"/>
          <a:lstStyle/>
          <a:p>
            <a:pPr indent="0" marL="0">
              <a:buNone/>
            </a:pPr>
            <a:r>
              <a:rPr lang="en-US" sz="970" b="1" spc="120" kern="0" dirty="0">
                <a:solidFill>
                  <a:srgbClr val="EAF2FA"/>
                </a:solidFill>
                <a:latin typeface="Arial" pitchFamily="34" charset="0"/>
                <a:ea typeface="Arial" pitchFamily="34" charset="-122"/>
                <a:cs typeface="Arial" pitchFamily="34" charset="-120"/>
              </a:rPr>
              <a:t>ELECTROIMPACT</a:t>
            </a:r>
            <a:endParaRPr lang="en-US" sz="970" dirty="0"/>
          </a:p>
        </p:txBody>
      </p:sp>
      <p:sp>
        <p:nvSpPr>
          <p:cNvPr id="11" name="Text 9"/>
          <p:cNvSpPr txBox="1"/>
          <p:nvPr/>
        </p:nvSpPr>
        <p:spPr>
          <a:xfrm>
            <a:off x="2679192" y="1508760"/>
            <a:ext cx="5486400" cy="530352"/>
          </a:xfrm>
          <a:prstGeom prst="rect">
            <a:avLst/>
          </a:prstGeom>
          <a:noFill/>
          <a:ln/>
        </p:spPr>
        <p:txBody>
          <a:bodyPr wrap="square" lIns="0" tIns="0" rIns="0" bIns="0" rtlCol="0" anchor="ctr"/>
          <a:lstStyle/>
          <a:p>
            <a:pPr indent="0" marL="0">
              <a:lnSpc>
                <a:spcPct val="106000"/>
              </a:lnSpc>
              <a:buNone/>
            </a:pPr>
            <a:r>
              <a:rPr lang="en-US" sz="790" dirty="0">
                <a:solidFill>
                  <a:srgbClr val="A9BDD1"/>
                </a:solidFill>
                <a:latin typeface="Arial" pitchFamily="34" charset="0"/>
                <a:ea typeface="Arial" pitchFamily="34" charset="-122"/>
                <a:cs typeface="Arial" pitchFamily="34" charset="-120"/>
              </a:rPr>
              <a:t>Metrology-driven, sensor-corrected robotic assembly, drilling and fibre placement in customer factories. Documented ±0.08 mm at three sigma versus ±0.45 mm for a standard robot.</a:t>
            </a:r>
            <a:endParaRPr lang="en-US" sz="790" dirty="0"/>
          </a:p>
        </p:txBody>
      </p:sp>
      <p:sp>
        <p:nvSpPr>
          <p:cNvPr id="12" name="Text 10"/>
          <p:cNvSpPr txBox="1"/>
          <p:nvPr/>
        </p:nvSpPr>
        <p:spPr>
          <a:xfrm>
            <a:off x="8348472" y="1508760"/>
            <a:ext cx="3246120" cy="530352"/>
          </a:xfrm>
          <a:prstGeom prst="rect">
            <a:avLst/>
          </a:prstGeom>
          <a:noFill/>
          <a:ln/>
        </p:spPr>
        <p:txBody>
          <a:bodyPr wrap="square" lIns="0" tIns="0" rIns="0" bIns="0" rtlCol="0" anchor="ctr"/>
          <a:lstStyle/>
          <a:p>
            <a:pPr indent="0" marL="0">
              <a:lnSpc>
                <a:spcPct val="106000"/>
              </a:lnSpc>
              <a:buNone/>
            </a:pPr>
            <a:r>
              <a:rPr lang="en-US" sz="790" dirty="0">
                <a:solidFill>
                  <a:srgbClr val="A9BDD1"/>
                </a:solidFill>
                <a:latin typeface="Arial" pitchFamily="34" charset="0"/>
                <a:ea typeface="Arial" pitchFamily="34" charset="-122"/>
                <a:cs typeface="Arial" pitchFamily="34" charset="-120"/>
              </a:rPr>
              <a:t>Production-proven for over a decade; 2026 FANUC partnership standardising airframe drilling cells</a:t>
            </a:r>
            <a:endParaRPr lang="en-US" sz="790" dirty="0"/>
          </a:p>
        </p:txBody>
      </p:sp>
      <p:sp>
        <p:nvSpPr>
          <p:cNvPr id="13" name="Shape 11"/>
          <p:cNvSpPr/>
          <p:nvPr/>
        </p:nvSpPr>
        <p:spPr>
          <a:xfrm>
            <a:off x="621792" y="2048256"/>
            <a:ext cx="10948111" cy="0"/>
          </a:xfrm>
          <a:prstGeom prst="line">
            <a:avLst/>
          </a:prstGeom>
          <a:noFill/>
          <a:ln w="9525">
            <a:solidFill>
              <a:srgbClr val="23405C"/>
            </a:solidFill>
            <a:prstDash val="solid"/>
          </a:ln>
        </p:spPr>
      </p:sp>
      <p:sp>
        <p:nvSpPr>
          <p:cNvPr id="14" name="Text 12"/>
          <p:cNvSpPr txBox="1"/>
          <p:nvPr/>
        </p:nvSpPr>
        <p:spPr>
          <a:xfrm>
            <a:off x="621792" y="2130552"/>
            <a:ext cx="1965960" cy="256032"/>
          </a:xfrm>
          <a:prstGeom prst="rect">
            <a:avLst/>
          </a:prstGeom>
          <a:noFill/>
          <a:ln/>
        </p:spPr>
        <p:txBody>
          <a:bodyPr wrap="square" lIns="0" tIns="0" rIns="0" bIns="0" rtlCol="0" anchor="ctr"/>
          <a:lstStyle/>
          <a:p>
            <a:pPr indent="0" marL="0">
              <a:buNone/>
            </a:pPr>
            <a:r>
              <a:rPr lang="en-US" sz="970" b="1" spc="120" kern="0" dirty="0">
                <a:solidFill>
                  <a:srgbClr val="EAF2FA"/>
                </a:solidFill>
                <a:latin typeface="Arial" pitchFamily="34" charset="0"/>
                <a:ea typeface="Arial" pitchFamily="34" charset="-122"/>
                <a:cs typeface="Arial" pitchFamily="34" charset="-120"/>
              </a:rPr>
              <a:t>HADRIAN</a:t>
            </a:r>
            <a:endParaRPr lang="en-US" sz="970" dirty="0"/>
          </a:p>
        </p:txBody>
      </p:sp>
      <p:sp>
        <p:nvSpPr>
          <p:cNvPr id="15" name="Text 13"/>
          <p:cNvSpPr txBox="1"/>
          <p:nvPr/>
        </p:nvSpPr>
        <p:spPr>
          <a:xfrm>
            <a:off x="2679192" y="2112264"/>
            <a:ext cx="5486400" cy="530352"/>
          </a:xfrm>
          <a:prstGeom prst="rect">
            <a:avLst/>
          </a:prstGeom>
          <a:noFill/>
          <a:ln/>
        </p:spPr>
        <p:txBody>
          <a:bodyPr wrap="square" lIns="0" tIns="0" rIns="0" bIns="0" rtlCol="0" anchor="ctr"/>
          <a:lstStyle/>
          <a:p>
            <a:pPr indent="0" marL="0">
              <a:lnSpc>
                <a:spcPct val="106000"/>
              </a:lnSpc>
              <a:buNone/>
            </a:pPr>
            <a:r>
              <a:rPr lang="en-US" sz="790" dirty="0">
                <a:solidFill>
                  <a:srgbClr val="A9BDD1"/>
                </a:solidFill>
                <a:latin typeface="Arial" pitchFamily="34" charset="0"/>
                <a:ea typeface="Arial" pitchFamily="34" charset="-122"/>
                <a:cs typeface="Arial" pitchFamily="34" charset="-120"/>
              </a:rPr>
              <a:t>Automated precision machining and inspection, in its own factories and as cells at customer sites.</a:t>
            </a:r>
            <a:endParaRPr lang="en-US" sz="790" dirty="0"/>
          </a:p>
        </p:txBody>
      </p:sp>
      <p:sp>
        <p:nvSpPr>
          <p:cNvPr id="16" name="Text 14"/>
          <p:cNvSpPr txBox="1"/>
          <p:nvPr/>
        </p:nvSpPr>
        <p:spPr>
          <a:xfrm>
            <a:off x="8348472" y="2112264"/>
            <a:ext cx="3246120" cy="530352"/>
          </a:xfrm>
          <a:prstGeom prst="rect">
            <a:avLst/>
          </a:prstGeom>
          <a:noFill/>
          <a:ln/>
        </p:spPr>
        <p:txBody>
          <a:bodyPr wrap="square" lIns="0" tIns="0" rIns="0" bIns="0" rtlCol="0" anchor="ctr"/>
          <a:lstStyle/>
          <a:p>
            <a:pPr indent="0" marL="0">
              <a:lnSpc>
                <a:spcPct val="106000"/>
              </a:lnSpc>
              <a:buNone/>
            </a:pPr>
            <a:r>
              <a:rPr lang="en-US" sz="790" dirty="0">
                <a:solidFill>
                  <a:srgbClr val="A9BDD1"/>
                </a:solidFill>
                <a:latin typeface="Arial" pitchFamily="34" charset="0"/>
                <a:ea typeface="Arial" pitchFamily="34" charset="-122"/>
                <a:cs typeface="Arial" pitchFamily="34" charset="-120"/>
              </a:rPr>
              <a:t>$1.37B Series D at $7.87B, August 2026; Lockheed Martin MOU</a:t>
            </a:r>
            <a:endParaRPr lang="en-US" sz="790" dirty="0"/>
          </a:p>
        </p:txBody>
      </p:sp>
      <p:sp>
        <p:nvSpPr>
          <p:cNvPr id="17" name="Shape 15"/>
          <p:cNvSpPr/>
          <p:nvPr/>
        </p:nvSpPr>
        <p:spPr>
          <a:xfrm>
            <a:off x="621792" y="2651760"/>
            <a:ext cx="10948111" cy="0"/>
          </a:xfrm>
          <a:prstGeom prst="line">
            <a:avLst/>
          </a:prstGeom>
          <a:noFill/>
          <a:ln w="9525">
            <a:solidFill>
              <a:srgbClr val="23405C"/>
            </a:solidFill>
            <a:prstDash val="solid"/>
          </a:ln>
        </p:spPr>
      </p:sp>
      <p:sp>
        <p:nvSpPr>
          <p:cNvPr id="18" name="Text 16"/>
          <p:cNvSpPr txBox="1"/>
          <p:nvPr/>
        </p:nvSpPr>
        <p:spPr>
          <a:xfrm>
            <a:off x="621792" y="2734056"/>
            <a:ext cx="1965960" cy="256032"/>
          </a:xfrm>
          <a:prstGeom prst="rect">
            <a:avLst/>
          </a:prstGeom>
          <a:noFill/>
          <a:ln/>
        </p:spPr>
        <p:txBody>
          <a:bodyPr wrap="square" lIns="0" tIns="0" rIns="0" bIns="0" rtlCol="0" anchor="ctr"/>
          <a:lstStyle/>
          <a:p>
            <a:pPr indent="0" marL="0">
              <a:buNone/>
            </a:pPr>
            <a:r>
              <a:rPr lang="en-US" sz="970" b="1" spc="120" kern="0" dirty="0">
                <a:solidFill>
                  <a:srgbClr val="EAF2FA"/>
                </a:solidFill>
                <a:latin typeface="Arial" pitchFamily="34" charset="0"/>
                <a:ea typeface="Arial" pitchFamily="34" charset="-122"/>
                <a:cs typeface="Arial" pitchFamily="34" charset="-120"/>
              </a:rPr>
              <a:t>DIVERGENT · MACHINA LABS</a:t>
            </a:r>
            <a:endParaRPr lang="en-US" sz="970" dirty="0"/>
          </a:p>
        </p:txBody>
      </p:sp>
      <p:sp>
        <p:nvSpPr>
          <p:cNvPr id="19" name="Text 17"/>
          <p:cNvSpPr txBox="1"/>
          <p:nvPr/>
        </p:nvSpPr>
        <p:spPr>
          <a:xfrm>
            <a:off x="2679192" y="2715768"/>
            <a:ext cx="5486400" cy="530352"/>
          </a:xfrm>
          <a:prstGeom prst="rect">
            <a:avLst/>
          </a:prstGeom>
          <a:noFill/>
          <a:ln/>
        </p:spPr>
        <p:txBody>
          <a:bodyPr wrap="square" lIns="0" tIns="0" rIns="0" bIns="0" rtlCol="0" anchor="ctr"/>
          <a:lstStyle/>
          <a:p>
            <a:pPr indent="0" marL="0">
              <a:lnSpc>
                <a:spcPct val="106000"/>
              </a:lnSpc>
              <a:buNone/>
            </a:pPr>
            <a:r>
              <a:rPr lang="en-US" sz="790" dirty="0">
                <a:solidFill>
                  <a:srgbClr val="A9BDD1"/>
                </a:solidFill>
                <a:latin typeface="Arial" pitchFamily="34" charset="0"/>
                <a:ea typeface="Arial" pitchFamily="34" charset="-122"/>
                <a:cs typeface="Arial" pitchFamily="34" charset="-120"/>
              </a:rPr>
              <a:t>Measured-state fabrication — additive with fixtureless assembly; dieless robotic forming with in-process sensing.</a:t>
            </a:r>
            <a:endParaRPr lang="en-US" sz="790" dirty="0"/>
          </a:p>
        </p:txBody>
      </p:sp>
      <p:sp>
        <p:nvSpPr>
          <p:cNvPr id="20" name="Text 18"/>
          <p:cNvSpPr txBox="1"/>
          <p:nvPr/>
        </p:nvSpPr>
        <p:spPr>
          <a:xfrm>
            <a:off x="8348472" y="2715768"/>
            <a:ext cx="3246120" cy="530352"/>
          </a:xfrm>
          <a:prstGeom prst="rect">
            <a:avLst/>
          </a:prstGeom>
          <a:noFill/>
          <a:ln/>
        </p:spPr>
        <p:txBody>
          <a:bodyPr wrap="square" lIns="0" tIns="0" rIns="0" bIns="0" rtlCol="0" anchor="ctr"/>
          <a:lstStyle/>
          <a:p>
            <a:pPr indent="0" marL="0">
              <a:lnSpc>
                <a:spcPct val="106000"/>
              </a:lnSpc>
              <a:buNone/>
            </a:pPr>
            <a:r>
              <a:rPr lang="en-US" sz="790" dirty="0">
                <a:solidFill>
                  <a:srgbClr val="A9BDD1"/>
                </a:solidFill>
                <a:latin typeface="Arial" pitchFamily="34" charset="0"/>
                <a:ea typeface="Arial" pitchFamily="34" charset="-122"/>
                <a:cs typeface="Arial" pitchFamily="34" charset="-120"/>
              </a:rPr>
              <a:t>Divergent: Nadcap-accredited for additive; Saab demonstrator fuselage passed proof loading. Machina: $124M Series C; JASSM qualification contract, Jul 2026</a:t>
            </a:r>
            <a:endParaRPr lang="en-US" sz="790" dirty="0"/>
          </a:p>
        </p:txBody>
      </p:sp>
      <p:sp>
        <p:nvSpPr>
          <p:cNvPr id="21" name="Shape 19"/>
          <p:cNvSpPr/>
          <p:nvPr/>
        </p:nvSpPr>
        <p:spPr>
          <a:xfrm>
            <a:off x="621792" y="3255264"/>
            <a:ext cx="10948111" cy="0"/>
          </a:xfrm>
          <a:prstGeom prst="line">
            <a:avLst/>
          </a:prstGeom>
          <a:noFill/>
          <a:ln w="9525">
            <a:solidFill>
              <a:srgbClr val="23405C"/>
            </a:solidFill>
            <a:prstDash val="solid"/>
          </a:ln>
        </p:spPr>
      </p:sp>
      <p:sp>
        <p:nvSpPr>
          <p:cNvPr id="22" name="Text 20"/>
          <p:cNvSpPr txBox="1"/>
          <p:nvPr/>
        </p:nvSpPr>
        <p:spPr>
          <a:xfrm>
            <a:off x="621792" y="3337560"/>
            <a:ext cx="1965960" cy="256032"/>
          </a:xfrm>
          <a:prstGeom prst="rect">
            <a:avLst/>
          </a:prstGeom>
          <a:noFill/>
          <a:ln/>
        </p:spPr>
        <p:txBody>
          <a:bodyPr wrap="square" lIns="0" tIns="0" rIns="0" bIns="0" rtlCol="0" anchor="ctr"/>
          <a:lstStyle/>
          <a:p>
            <a:pPr indent="0" marL="0">
              <a:buNone/>
            </a:pPr>
            <a:r>
              <a:rPr lang="en-US" sz="970" b="1" spc="120" kern="0" dirty="0">
                <a:solidFill>
                  <a:srgbClr val="EAF2FA"/>
                </a:solidFill>
                <a:latin typeface="Arial" pitchFamily="34" charset="0"/>
                <a:ea typeface="Arial" pitchFamily="34" charset="-122"/>
                <a:cs typeface="Arial" pitchFamily="34" charset="-120"/>
              </a:rPr>
              <a:t>CLOUDNC</a:t>
            </a:r>
            <a:endParaRPr lang="en-US" sz="970" dirty="0"/>
          </a:p>
        </p:txBody>
      </p:sp>
      <p:sp>
        <p:nvSpPr>
          <p:cNvPr id="23" name="Text 21"/>
          <p:cNvSpPr txBox="1"/>
          <p:nvPr/>
        </p:nvSpPr>
        <p:spPr>
          <a:xfrm>
            <a:off x="2679192" y="3319272"/>
            <a:ext cx="5486400" cy="530352"/>
          </a:xfrm>
          <a:prstGeom prst="rect">
            <a:avLst/>
          </a:prstGeom>
          <a:noFill/>
          <a:ln/>
        </p:spPr>
        <p:txBody>
          <a:bodyPr wrap="square" lIns="0" tIns="0" rIns="0" bIns="0" rtlCol="0" anchor="ctr"/>
          <a:lstStyle/>
          <a:p>
            <a:pPr indent="0" marL="0">
              <a:lnSpc>
                <a:spcPct val="106000"/>
              </a:lnSpc>
              <a:buNone/>
            </a:pPr>
            <a:r>
              <a:rPr lang="en-US" sz="790" dirty="0">
                <a:solidFill>
                  <a:srgbClr val="A9BDD1"/>
                </a:solidFill>
                <a:latin typeface="Arial" pitchFamily="34" charset="0"/>
                <a:ea typeface="Arial" pitchFamily="34" charset="-122"/>
                <a:cs typeface="Arial" pitchFamily="34" charset="-120"/>
              </a:rPr>
              <a:t>AI-assisted CNC programming, claiming up to 80% of a CAM program automated.</a:t>
            </a:r>
            <a:endParaRPr lang="en-US" sz="790" dirty="0"/>
          </a:p>
        </p:txBody>
      </p:sp>
      <p:sp>
        <p:nvSpPr>
          <p:cNvPr id="24" name="Text 22"/>
          <p:cNvSpPr txBox="1"/>
          <p:nvPr/>
        </p:nvSpPr>
        <p:spPr>
          <a:xfrm>
            <a:off x="8348472" y="3319272"/>
            <a:ext cx="3246120" cy="530352"/>
          </a:xfrm>
          <a:prstGeom prst="rect">
            <a:avLst/>
          </a:prstGeom>
          <a:noFill/>
          <a:ln/>
        </p:spPr>
        <p:txBody>
          <a:bodyPr wrap="square" lIns="0" tIns="0" rIns="0" bIns="0" rtlCol="0" anchor="ctr"/>
          <a:lstStyle/>
          <a:p>
            <a:pPr indent="0" marL="0">
              <a:lnSpc>
                <a:spcPct val="106000"/>
              </a:lnSpc>
              <a:buNone/>
            </a:pPr>
            <a:r>
              <a:rPr lang="en-US" sz="790" dirty="0">
                <a:solidFill>
                  <a:srgbClr val="A9BDD1"/>
                </a:solidFill>
                <a:latin typeface="Arial" pitchFamily="34" charset="0"/>
                <a:ea typeface="Arial" pitchFamily="34" charset="-122"/>
                <a:cs typeface="Arial" pitchFamily="34" charset="-120"/>
              </a:rPr>
              <a:t>1,000+ factories; $20M extension, Sep 2026, with a Lockheed Martin fund participating. Three-axis and 3+2 only</a:t>
            </a:r>
            <a:endParaRPr lang="en-US" sz="790" dirty="0"/>
          </a:p>
        </p:txBody>
      </p:sp>
      <p:sp>
        <p:nvSpPr>
          <p:cNvPr id="25" name="Shape 23"/>
          <p:cNvSpPr/>
          <p:nvPr/>
        </p:nvSpPr>
        <p:spPr>
          <a:xfrm>
            <a:off x="621792" y="3858768"/>
            <a:ext cx="10948111" cy="0"/>
          </a:xfrm>
          <a:prstGeom prst="line">
            <a:avLst/>
          </a:prstGeom>
          <a:noFill/>
          <a:ln w="9525">
            <a:solidFill>
              <a:srgbClr val="23405C"/>
            </a:solidFill>
            <a:prstDash val="solid"/>
          </a:ln>
        </p:spPr>
      </p:sp>
      <p:sp>
        <p:nvSpPr>
          <p:cNvPr id="26" name="Text 24"/>
          <p:cNvSpPr txBox="1"/>
          <p:nvPr/>
        </p:nvSpPr>
        <p:spPr>
          <a:xfrm>
            <a:off x="621792" y="3941064"/>
            <a:ext cx="1965960" cy="256032"/>
          </a:xfrm>
          <a:prstGeom prst="rect">
            <a:avLst/>
          </a:prstGeom>
          <a:noFill/>
          <a:ln/>
        </p:spPr>
        <p:txBody>
          <a:bodyPr wrap="square" lIns="0" tIns="0" rIns="0" bIns="0" rtlCol="0" anchor="ctr"/>
          <a:lstStyle/>
          <a:p>
            <a:pPr indent="0" marL="0">
              <a:buNone/>
            </a:pPr>
            <a:r>
              <a:rPr lang="en-US" sz="970" b="1" spc="120" kern="0" dirty="0">
                <a:solidFill>
                  <a:srgbClr val="EAF2FA"/>
                </a:solidFill>
                <a:latin typeface="Arial" pitchFamily="34" charset="0"/>
                <a:ea typeface="Arial" pitchFamily="34" charset="-122"/>
                <a:cs typeface="Arial" pitchFamily="34" charset="-120"/>
              </a:rPr>
              <a:t>Q5D · SENRA</a:t>
            </a:r>
            <a:endParaRPr lang="en-US" sz="970" dirty="0"/>
          </a:p>
        </p:txBody>
      </p:sp>
      <p:sp>
        <p:nvSpPr>
          <p:cNvPr id="27" name="Text 25"/>
          <p:cNvSpPr txBox="1"/>
          <p:nvPr/>
        </p:nvSpPr>
        <p:spPr>
          <a:xfrm>
            <a:off x="2679192" y="3922776"/>
            <a:ext cx="5486400" cy="530352"/>
          </a:xfrm>
          <a:prstGeom prst="rect">
            <a:avLst/>
          </a:prstGeom>
          <a:noFill/>
          <a:ln/>
        </p:spPr>
        <p:txBody>
          <a:bodyPr wrap="square" lIns="0" tIns="0" rIns="0" bIns="0" rtlCol="0" anchor="ctr"/>
          <a:lstStyle/>
          <a:p>
            <a:pPr indent="0" marL="0">
              <a:lnSpc>
                <a:spcPct val="106000"/>
              </a:lnSpc>
              <a:buNone/>
            </a:pPr>
            <a:r>
              <a:rPr lang="en-US" sz="790" dirty="0">
                <a:solidFill>
                  <a:srgbClr val="A9BDD1"/>
                </a:solidFill>
                <a:latin typeface="Arial" pitchFamily="34" charset="0"/>
                <a:ea typeface="Arial" pitchFamily="34" charset="-122"/>
                <a:cs typeface="Arial" pitchFamily="34" charset="-120"/>
              </a:rPr>
              <a:t>Wire harness — one by robotic cell, one by software for human technicians.</a:t>
            </a:r>
            <a:endParaRPr lang="en-US" sz="790" dirty="0"/>
          </a:p>
        </p:txBody>
      </p:sp>
      <p:sp>
        <p:nvSpPr>
          <p:cNvPr id="28" name="Text 26"/>
          <p:cNvSpPr txBox="1"/>
          <p:nvPr/>
        </p:nvSpPr>
        <p:spPr>
          <a:xfrm>
            <a:off x="8348472" y="3922776"/>
            <a:ext cx="3246120" cy="530352"/>
          </a:xfrm>
          <a:prstGeom prst="rect">
            <a:avLst/>
          </a:prstGeom>
          <a:noFill/>
          <a:ln/>
        </p:spPr>
        <p:txBody>
          <a:bodyPr wrap="square" lIns="0" tIns="0" rIns="0" bIns="0" rtlCol="0" anchor="ctr"/>
          <a:lstStyle/>
          <a:p>
            <a:pPr indent="0" marL="0">
              <a:lnSpc>
                <a:spcPct val="106000"/>
              </a:lnSpc>
              <a:buNone/>
            </a:pPr>
            <a:r>
              <a:rPr lang="en-US" sz="790" dirty="0">
                <a:solidFill>
                  <a:srgbClr val="A9BDD1"/>
                </a:solidFill>
                <a:latin typeface="Arial" pitchFamily="34" charset="0"/>
                <a:ea typeface="Arial" pitchFamily="34" charset="-122"/>
                <a:cs typeface="Arial" pitchFamily="34" charset="-120"/>
              </a:rPr>
              <a:t>Q5D: Series A co-led by Lockheed Martin Ventures; cells delivered to the US Army, 2026. Senra: $65M Series B, Jul 2026; 1,000 harnesses a month</a:t>
            </a:r>
            <a:endParaRPr lang="en-US" sz="790" dirty="0"/>
          </a:p>
        </p:txBody>
      </p:sp>
      <p:sp>
        <p:nvSpPr>
          <p:cNvPr id="29" name="Text 27"/>
          <p:cNvSpPr txBox="1"/>
          <p:nvPr/>
        </p:nvSpPr>
        <p:spPr>
          <a:xfrm>
            <a:off x="2679192" y="4334256"/>
            <a:ext cx="4114800" cy="146304"/>
          </a:xfrm>
          <a:prstGeom prst="rect">
            <a:avLst/>
          </a:prstGeom>
          <a:noFill/>
          <a:ln/>
        </p:spPr>
        <p:txBody>
          <a:bodyPr wrap="square" lIns="0" tIns="0" rIns="0" bIns="0" rtlCol="0" anchor="ctr"/>
          <a:lstStyle/>
          <a:p>
            <a:pPr indent="0" marL="0">
              <a:buNone/>
            </a:pPr>
            <a:r>
              <a:rPr lang="en-US" sz="640" i="1" dirty="0">
                <a:solidFill>
                  <a:srgbClr val="6FD3FF"/>
                </a:solidFill>
                <a:latin typeface="Arial" pitchFamily="34" charset="0"/>
                <a:ea typeface="Arial" pitchFamily="34" charset="-122"/>
                <a:cs typeface="Arial" pitchFamily="34" charset="-120"/>
              </a:rPr>
              <a:t>↑ the operation class of our first test</a:t>
            </a:r>
            <a:endParaRPr lang="en-US" sz="640" dirty="0"/>
          </a:p>
        </p:txBody>
      </p:sp>
      <p:sp>
        <p:nvSpPr>
          <p:cNvPr id="30" name="Shape 28"/>
          <p:cNvSpPr/>
          <p:nvPr/>
        </p:nvSpPr>
        <p:spPr>
          <a:xfrm>
            <a:off x="621792" y="4462272"/>
            <a:ext cx="10948111" cy="0"/>
          </a:xfrm>
          <a:prstGeom prst="line">
            <a:avLst/>
          </a:prstGeom>
          <a:noFill/>
          <a:ln w="9525">
            <a:solidFill>
              <a:srgbClr val="23405C"/>
            </a:solidFill>
            <a:prstDash val="solid"/>
          </a:ln>
        </p:spPr>
      </p:sp>
      <p:sp>
        <p:nvSpPr>
          <p:cNvPr id="31" name="Text 29"/>
          <p:cNvSpPr txBox="1"/>
          <p:nvPr/>
        </p:nvSpPr>
        <p:spPr>
          <a:xfrm>
            <a:off x="621792" y="4544568"/>
            <a:ext cx="1965960" cy="256032"/>
          </a:xfrm>
          <a:prstGeom prst="rect">
            <a:avLst/>
          </a:prstGeom>
          <a:noFill/>
          <a:ln/>
        </p:spPr>
        <p:txBody>
          <a:bodyPr wrap="square" lIns="0" tIns="0" rIns="0" bIns="0" rtlCol="0" anchor="ctr"/>
          <a:lstStyle/>
          <a:p>
            <a:pPr indent="0" marL="0">
              <a:buNone/>
            </a:pPr>
            <a:r>
              <a:rPr lang="en-US" sz="970" b="1" spc="120" kern="0" dirty="0">
                <a:solidFill>
                  <a:srgbClr val="EAF2FA"/>
                </a:solidFill>
                <a:latin typeface="Arial" pitchFamily="34" charset="0"/>
                <a:ea typeface="Arial" pitchFamily="34" charset="-122"/>
                <a:cs typeface="Arial" pitchFamily="34" charset="-120"/>
              </a:rPr>
              <a:t>PATH · GRAYMATTER</a:t>
            </a:r>
            <a:endParaRPr lang="en-US" sz="970" dirty="0"/>
          </a:p>
        </p:txBody>
      </p:sp>
      <p:sp>
        <p:nvSpPr>
          <p:cNvPr id="32" name="Text 30"/>
          <p:cNvSpPr txBox="1"/>
          <p:nvPr/>
        </p:nvSpPr>
        <p:spPr>
          <a:xfrm>
            <a:off x="2679192" y="4526280"/>
            <a:ext cx="5486400" cy="530352"/>
          </a:xfrm>
          <a:prstGeom prst="rect">
            <a:avLst/>
          </a:prstGeom>
          <a:noFill/>
          <a:ln/>
        </p:spPr>
        <p:txBody>
          <a:bodyPr wrap="square" lIns="0" tIns="0" rIns="0" bIns="0" rtlCol="0" anchor="ctr"/>
          <a:lstStyle/>
          <a:p>
            <a:pPr indent="0" marL="0">
              <a:lnSpc>
                <a:spcPct val="106000"/>
              </a:lnSpc>
              <a:buNone/>
            </a:pPr>
            <a:r>
              <a:rPr lang="en-US" sz="790" dirty="0">
                <a:solidFill>
                  <a:srgbClr val="A9BDD1"/>
                </a:solidFill>
                <a:latin typeface="Arial" pitchFamily="34" charset="0"/>
                <a:ea typeface="Arial" pitchFamily="34" charset="-122"/>
                <a:cs typeface="Arial" pitchFamily="34" charset="-120"/>
              </a:rPr>
              <a:t>Physical-AI welding and self-programming surface finishing for high-mix environments.</a:t>
            </a:r>
            <a:endParaRPr lang="en-US" sz="790" dirty="0"/>
          </a:p>
        </p:txBody>
      </p:sp>
      <p:sp>
        <p:nvSpPr>
          <p:cNvPr id="33" name="Text 31"/>
          <p:cNvSpPr txBox="1"/>
          <p:nvPr/>
        </p:nvSpPr>
        <p:spPr>
          <a:xfrm>
            <a:off x="8348472" y="4526280"/>
            <a:ext cx="3246120" cy="530352"/>
          </a:xfrm>
          <a:prstGeom prst="rect">
            <a:avLst/>
          </a:prstGeom>
          <a:noFill/>
          <a:ln/>
        </p:spPr>
        <p:txBody>
          <a:bodyPr wrap="square" lIns="0" tIns="0" rIns="0" bIns="0" rtlCol="0" anchor="ctr"/>
          <a:lstStyle/>
          <a:p>
            <a:pPr indent="0" marL="0">
              <a:lnSpc>
                <a:spcPct val="106000"/>
              </a:lnSpc>
              <a:buNone/>
            </a:pPr>
            <a:r>
              <a:rPr lang="en-US" sz="790" dirty="0">
                <a:solidFill>
                  <a:srgbClr val="A9BDD1"/>
                </a:solidFill>
                <a:latin typeface="Arial" pitchFamily="34" charset="0"/>
                <a:ea typeface="Arial" pitchFamily="34" charset="-122"/>
                <a:cs typeface="Arial" pitchFamily="34" charset="-120"/>
              </a:rPr>
              <a:t>Performance-based production agreements with HII worth up to $900M over seven years, August 2026</a:t>
            </a:r>
            <a:endParaRPr lang="en-US" sz="790" dirty="0"/>
          </a:p>
        </p:txBody>
      </p:sp>
      <p:sp>
        <p:nvSpPr>
          <p:cNvPr id="34" name="Shape 32"/>
          <p:cNvSpPr/>
          <p:nvPr/>
        </p:nvSpPr>
        <p:spPr>
          <a:xfrm>
            <a:off x="621792" y="5065776"/>
            <a:ext cx="10948111" cy="0"/>
          </a:xfrm>
          <a:prstGeom prst="line">
            <a:avLst/>
          </a:prstGeom>
          <a:noFill/>
          <a:ln w="9525">
            <a:solidFill>
              <a:srgbClr val="23405C"/>
            </a:solidFill>
            <a:prstDash val="solid"/>
          </a:ln>
        </p:spPr>
      </p:sp>
      <p:sp>
        <p:nvSpPr>
          <p:cNvPr id="35" name="Text 33"/>
          <p:cNvSpPr txBox="1"/>
          <p:nvPr/>
        </p:nvSpPr>
        <p:spPr>
          <a:xfrm>
            <a:off x="621792" y="5148072"/>
            <a:ext cx="1965960" cy="256032"/>
          </a:xfrm>
          <a:prstGeom prst="rect">
            <a:avLst/>
          </a:prstGeom>
          <a:noFill/>
          <a:ln/>
        </p:spPr>
        <p:txBody>
          <a:bodyPr wrap="square" lIns="0" tIns="0" rIns="0" bIns="0" rtlCol="0" anchor="ctr"/>
          <a:lstStyle/>
          <a:p>
            <a:pPr indent="0" marL="0">
              <a:buNone/>
            </a:pPr>
            <a:r>
              <a:rPr lang="en-US" sz="970" b="1" spc="120" kern="0" dirty="0">
                <a:solidFill>
                  <a:srgbClr val="72879D"/>
                </a:solidFill>
                <a:latin typeface="Arial" pitchFamily="34" charset="0"/>
                <a:ea typeface="Arial" pitchFamily="34" charset="-122"/>
                <a:cs typeface="Arial" pitchFamily="34" charset="-120"/>
              </a:rPr>
              <a:t>SYNTREX</a:t>
            </a:r>
            <a:endParaRPr lang="en-US" sz="970" dirty="0"/>
          </a:p>
        </p:txBody>
      </p:sp>
      <p:sp>
        <p:nvSpPr>
          <p:cNvPr id="36" name="Text 34"/>
          <p:cNvSpPr txBox="1"/>
          <p:nvPr/>
        </p:nvSpPr>
        <p:spPr>
          <a:xfrm>
            <a:off x="2679192" y="5129784"/>
            <a:ext cx="5486400" cy="530352"/>
          </a:xfrm>
          <a:prstGeom prst="rect">
            <a:avLst/>
          </a:prstGeom>
          <a:noFill/>
          <a:ln/>
        </p:spPr>
        <p:txBody>
          <a:bodyPr wrap="square" lIns="0" tIns="0" rIns="0" bIns="0" rtlCol="0" anchor="ctr"/>
          <a:lstStyle/>
          <a:p>
            <a:pPr indent="0" marL="0">
              <a:lnSpc>
                <a:spcPct val="106000"/>
              </a:lnSpc>
              <a:buNone/>
            </a:pPr>
            <a:r>
              <a:rPr lang="en-US" sz="790" dirty="0">
                <a:solidFill>
                  <a:srgbClr val="72879D"/>
                </a:solidFill>
                <a:latin typeface="Arial" pitchFamily="34" charset="0"/>
                <a:ea typeface="Arial" pitchFamily="34" charset="-122"/>
                <a:cs typeface="Arial" pitchFamily="34" charset="-120"/>
              </a:rPr>
              <a:t>Bounded authorization and evidence carried across configuration change, class-agnostic by design, tested first where it is cheapest to falsify.</a:t>
            </a:r>
            <a:endParaRPr lang="en-US" sz="790" dirty="0"/>
          </a:p>
        </p:txBody>
      </p:sp>
      <p:sp>
        <p:nvSpPr>
          <p:cNvPr id="37" name="Text 35"/>
          <p:cNvSpPr txBox="1"/>
          <p:nvPr/>
        </p:nvSpPr>
        <p:spPr>
          <a:xfrm>
            <a:off x="8348472" y="5129784"/>
            <a:ext cx="3246120" cy="530352"/>
          </a:xfrm>
          <a:prstGeom prst="rect">
            <a:avLst/>
          </a:prstGeom>
          <a:noFill/>
          <a:ln/>
        </p:spPr>
        <p:txBody>
          <a:bodyPr wrap="square" lIns="0" tIns="0" rIns="0" bIns="0" rtlCol="0" anchor="ctr"/>
          <a:lstStyle/>
          <a:p>
            <a:pPr indent="0" marL="0">
              <a:lnSpc>
                <a:spcPct val="106000"/>
              </a:lnSpc>
              <a:buNone/>
            </a:pPr>
            <a:r>
              <a:rPr lang="en-US" sz="790" i="1" dirty="0">
                <a:solidFill>
                  <a:srgbClr val="72879D"/>
                </a:solidFill>
                <a:latin typeface="Arial" pitchFamily="34" charset="0"/>
                <a:ea typeface="Arial" pitchFamily="34" charset="-122"/>
                <a:cs typeface="Arial" pitchFamily="34" charset="-120"/>
              </a:rPr>
              <a:t>Architecture stage. To be proven</a:t>
            </a:r>
            <a:endParaRPr lang="en-US" sz="790" dirty="0"/>
          </a:p>
        </p:txBody>
      </p:sp>
      <p:sp>
        <p:nvSpPr>
          <p:cNvPr id="38" name="Shape 36"/>
          <p:cNvSpPr/>
          <p:nvPr/>
        </p:nvSpPr>
        <p:spPr>
          <a:xfrm>
            <a:off x="621792" y="5669280"/>
            <a:ext cx="10948111" cy="0"/>
          </a:xfrm>
          <a:prstGeom prst="line">
            <a:avLst/>
          </a:prstGeom>
          <a:noFill/>
          <a:ln w="9525">
            <a:solidFill>
              <a:srgbClr val="23405C"/>
            </a:solidFill>
            <a:prstDash val="solid"/>
          </a:ln>
        </p:spPr>
      </p:sp>
      <p:sp>
        <p:nvSpPr>
          <p:cNvPr id="39" name="Text 37"/>
          <p:cNvSpPr txBox="1"/>
          <p:nvPr/>
        </p:nvSpPr>
        <p:spPr>
          <a:xfrm>
            <a:off x="621792" y="5797296"/>
            <a:ext cx="10948111" cy="621792"/>
          </a:xfrm>
          <a:prstGeom prst="rect">
            <a:avLst/>
          </a:prstGeom>
          <a:noFill/>
          <a:ln/>
        </p:spPr>
        <p:txBody>
          <a:bodyPr wrap="square" lIns="0" tIns="0" rIns="0" bIns="0" rtlCol="0" anchor="t"/>
          <a:lstStyle/>
          <a:p>
            <a:pPr algn="l" indent="0" marL="0">
              <a:lnSpc>
                <a:spcPct val="110000"/>
              </a:lnSpc>
              <a:spcAft>
                <a:spcPts val="400"/>
              </a:spcAft>
              <a:buNone/>
            </a:pPr>
            <a:r>
              <a:rPr lang="en-US" sz="1150" b="1" dirty="0">
                <a:solidFill>
                  <a:srgbClr val="EAF2FA"/>
                </a:solidFill>
                <a:latin typeface="Arial" pitchFamily="34" charset="0"/>
                <a:ea typeface="Arial" pitchFamily="34" charset="-122"/>
                <a:cs typeface="Arial" pitchFamily="34" charset="-120"/>
              </a:rPr>
              <a:t>They validate the direction of travel. They do not validate the Syntrex architecture.</a:t>
            </a:r>
            <a:endParaRPr lang="en-US" sz="1150" dirty="0"/>
          </a:p>
          <a:p>
            <a:pPr algn="l" indent="0" marL="0">
              <a:lnSpc>
                <a:spcPct val="110000"/>
              </a:lnSpc>
              <a:buNone/>
            </a:pPr>
            <a:r>
              <a:rPr lang="en-US" sz="900" dirty="0">
                <a:solidFill>
                  <a:srgbClr val="A9BDD1"/>
                </a:solidFill>
                <a:latin typeface="Arial" pitchFamily="34" charset="0"/>
                <a:ea typeface="Arial" pitchFamily="34" charset="-122"/>
                <a:cs typeface="Arial" pitchFamily="34" charset="-120"/>
              </a:rPr>
              <a:t>Each engineers one process into a repeatable production system. The open question is what happens when configuration change stops the next part number inheriting the previous recipe.</a:t>
            </a:r>
            <a:endParaRPr lang="en-US" sz="1150" dirty="0"/>
          </a:p>
        </p:txBody>
      </p:sp>
      <p:sp>
        <p:nvSpPr>
          <p:cNvPr id="40" name="Text 38"/>
          <p:cNvSpPr txBox="1"/>
          <p:nvPr/>
        </p:nvSpPr>
        <p:spPr>
          <a:xfrm>
            <a:off x="621792" y="6355080"/>
            <a:ext cx="10948111" cy="256032"/>
          </a:xfrm>
          <a:prstGeom prst="rect">
            <a:avLst/>
          </a:prstGeom>
          <a:noFill/>
          <a:ln/>
        </p:spPr>
        <p:txBody>
          <a:bodyPr wrap="square" lIns="0" tIns="0" rIns="0" bIns="0" rtlCol="0" anchor="ctr"/>
          <a:lstStyle/>
          <a:p>
            <a:pPr indent="0" marL="0">
              <a:lnSpc>
                <a:spcPct val="105000"/>
              </a:lnSpc>
              <a:buNone/>
            </a:pPr>
            <a:r>
              <a:rPr lang="en-US" sz="650" dirty="0">
                <a:solidFill>
                  <a:srgbClr val="51667C"/>
                </a:solidFill>
                <a:latin typeface="Arial" pitchFamily="34" charset="0"/>
                <a:ea typeface="Arial" pitchFamily="34" charset="-122"/>
                <a:cs typeface="Arial" pitchFamily="34" charset="-120"/>
              </a:rPr>
              <a:t>Sources: company announcements and primary press releases, December 2024 to September 2026. Full citations and the wider set, including Augmentus and the Anduril precedent: A-6.</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13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THE UNSOLVED BOUNDARY</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400" b="1" dirty="0">
                <a:solidFill>
                  <a:srgbClr val="EAF2FA"/>
                </a:solidFill>
                <a:latin typeface="Arial" pitchFamily="34" charset="0"/>
                <a:ea typeface="Arial" pitchFamily="34" charset="-122"/>
                <a:cs typeface="Arial" pitchFamily="34" charset="-120"/>
              </a:rPr>
              <a:t>Four gaps, stated narrowly. One position, stated carefully.</a:t>
            </a:r>
            <a:endParaRPr lang="en-US" sz="2400" dirty="0"/>
          </a:p>
        </p:txBody>
      </p:sp>
      <p:sp>
        <p:nvSpPr>
          <p:cNvPr id="6" name="Text 4"/>
          <p:cNvSpPr txBox="1"/>
          <p:nvPr/>
        </p:nvSpPr>
        <p:spPr>
          <a:xfrm>
            <a:off x="621792" y="1353312"/>
            <a:ext cx="10948111" cy="274320"/>
          </a:xfrm>
          <a:prstGeom prst="rect">
            <a:avLst/>
          </a:prstGeom>
          <a:noFill/>
          <a:ln/>
        </p:spPr>
        <p:txBody>
          <a:bodyPr wrap="square" lIns="0" tIns="0" rIns="0" bIns="0" rtlCol="0" anchor="ctr"/>
          <a:lstStyle/>
          <a:p>
            <a:pPr indent="0" marL="0">
              <a:buNone/>
            </a:pPr>
            <a:r>
              <a:rPr lang="en-US" sz="1050" i="1" dirty="0">
                <a:solidFill>
                  <a:srgbClr val="72879D"/>
                </a:solidFill>
                <a:latin typeface="Arial" pitchFamily="34" charset="0"/>
                <a:ea typeface="Arial" pitchFamily="34" charset="-122"/>
                <a:cs typeface="Arial" pitchFamily="34" charset="-120"/>
              </a:rPr>
              <a:t>Based on the public record we have been able to verify. A working thesis, not exhaustive knowledge of the market.</a:t>
            </a:r>
            <a:endParaRPr lang="en-US" sz="1050" dirty="0"/>
          </a:p>
        </p:txBody>
      </p:sp>
      <p:sp>
        <p:nvSpPr>
          <p:cNvPr id="7" name="Text 5"/>
          <p:cNvSpPr txBox="1"/>
          <p:nvPr/>
        </p:nvSpPr>
        <p:spPr>
          <a:xfrm>
            <a:off x="621792" y="1792224"/>
            <a:ext cx="685800" cy="457200"/>
          </a:xfrm>
          <a:prstGeom prst="rect">
            <a:avLst/>
          </a:prstGeom>
          <a:noFill/>
          <a:ln/>
        </p:spPr>
        <p:txBody>
          <a:bodyPr wrap="square" lIns="0" tIns="0" rIns="0" bIns="0" rtlCol="0" anchor="ctr"/>
          <a:lstStyle/>
          <a:p>
            <a:pPr indent="0" marL="0">
              <a:buNone/>
            </a:pPr>
            <a:r>
              <a:rPr lang="en-US" sz="1900" b="1" dirty="0">
                <a:solidFill>
                  <a:srgbClr val="6FD3FF"/>
                </a:solidFill>
                <a:latin typeface="Arial" pitchFamily="34" charset="0"/>
                <a:ea typeface="Arial" pitchFamily="34" charset="-122"/>
                <a:cs typeface="Arial" pitchFamily="34" charset="-120"/>
              </a:rPr>
              <a:t>01</a:t>
            </a:r>
            <a:endParaRPr lang="en-US" sz="1900" dirty="0"/>
          </a:p>
        </p:txBody>
      </p:sp>
      <p:sp>
        <p:nvSpPr>
          <p:cNvPr id="8" name="Text 6"/>
          <p:cNvSpPr txBox="1"/>
          <p:nvPr/>
        </p:nvSpPr>
        <p:spPr>
          <a:xfrm>
            <a:off x="1188720" y="1810512"/>
            <a:ext cx="4696816" cy="1371600"/>
          </a:xfrm>
          <a:prstGeom prst="rect">
            <a:avLst/>
          </a:prstGeom>
          <a:noFill/>
          <a:ln/>
        </p:spPr>
        <p:txBody>
          <a:bodyPr wrap="square" lIns="0" tIns="0" rIns="0" bIns="0" rtlCol="0" anchor="t"/>
          <a:lstStyle/>
          <a:p>
            <a:pPr algn="l" indent="0" marL="0">
              <a:lnSpc>
                <a:spcPct val="108000"/>
              </a:lnSpc>
              <a:spcAft>
                <a:spcPts val="400"/>
              </a:spcAft>
              <a:buNone/>
            </a:pPr>
            <a:r>
              <a:rPr lang="en-US" sz="970" b="1" spc="40" kern="0" dirty="0">
                <a:solidFill>
                  <a:srgbClr val="EAF2FA"/>
                </a:solidFill>
                <a:latin typeface="Arial" pitchFamily="34" charset="0"/>
                <a:ea typeface="Arial" pitchFamily="34" charset="-122"/>
                <a:cs typeface="Arial" pitchFamily="34" charset="-120"/>
              </a:rPr>
              <a:t>PROGRAMMING AUTOMATION STOPS AT THREE AXES — FOR NOW</a:t>
            </a:r>
            <a:endParaRPr lang="en-US" sz="970" dirty="0"/>
          </a:p>
          <a:p>
            <a:pPr algn="l" indent="0" marL="0">
              <a:lnSpc>
                <a:spcPct val="108000"/>
              </a:lnSpc>
              <a:buNone/>
            </a:pPr>
            <a:r>
              <a:rPr lang="en-US" sz="840" dirty="0">
                <a:solidFill>
                  <a:srgbClr val="A9BDD1"/>
                </a:solidFill>
                <a:latin typeface="Arial" pitchFamily="34" charset="0"/>
                <a:ea typeface="Arial" pitchFamily="34" charset="-122"/>
                <a:cs typeface="Arial" pitchFamily="34" charset="-120"/>
              </a:rPr>
              <a:t>The leading CNC programming automation covers three-axis and 3+2 work and excludes lathes and mill-turn. Most aerospace complexity lives beyond that boundary. The company is raising to widen its scope; this gap is time-limited.</a:t>
            </a:r>
            <a:endParaRPr lang="en-US" sz="970" dirty="0"/>
          </a:p>
        </p:txBody>
      </p:sp>
      <p:sp>
        <p:nvSpPr>
          <p:cNvPr id="9" name="Text 7"/>
          <p:cNvSpPr txBox="1"/>
          <p:nvPr/>
        </p:nvSpPr>
        <p:spPr>
          <a:xfrm>
            <a:off x="6187288" y="1792224"/>
            <a:ext cx="685800" cy="457200"/>
          </a:xfrm>
          <a:prstGeom prst="rect">
            <a:avLst/>
          </a:prstGeom>
          <a:noFill/>
          <a:ln/>
        </p:spPr>
        <p:txBody>
          <a:bodyPr wrap="square" lIns="0" tIns="0" rIns="0" bIns="0" rtlCol="0" anchor="ctr"/>
          <a:lstStyle/>
          <a:p>
            <a:pPr indent="0" marL="0">
              <a:buNone/>
            </a:pPr>
            <a:r>
              <a:rPr lang="en-US" sz="1900" b="1" dirty="0">
                <a:solidFill>
                  <a:srgbClr val="6FD3FF"/>
                </a:solidFill>
                <a:latin typeface="Arial" pitchFamily="34" charset="0"/>
                <a:ea typeface="Arial" pitchFamily="34" charset="-122"/>
                <a:cs typeface="Arial" pitchFamily="34" charset="-120"/>
              </a:rPr>
              <a:t>02</a:t>
            </a:r>
            <a:endParaRPr lang="en-US" sz="1900" dirty="0"/>
          </a:p>
        </p:txBody>
      </p:sp>
      <p:sp>
        <p:nvSpPr>
          <p:cNvPr id="10" name="Text 8"/>
          <p:cNvSpPr txBox="1"/>
          <p:nvPr/>
        </p:nvSpPr>
        <p:spPr>
          <a:xfrm>
            <a:off x="6754216" y="1810512"/>
            <a:ext cx="4696816" cy="1371600"/>
          </a:xfrm>
          <a:prstGeom prst="rect">
            <a:avLst/>
          </a:prstGeom>
          <a:noFill/>
          <a:ln/>
        </p:spPr>
        <p:txBody>
          <a:bodyPr wrap="square" lIns="0" tIns="0" rIns="0" bIns="0" rtlCol="0" anchor="t"/>
          <a:lstStyle/>
          <a:p>
            <a:pPr algn="l" indent="0" marL="0">
              <a:lnSpc>
                <a:spcPct val="108000"/>
              </a:lnSpc>
              <a:spcAft>
                <a:spcPts val="400"/>
              </a:spcAft>
              <a:buNone/>
            </a:pPr>
            <a:r>
              <a:rPr lang="en-US" sz="970" b="1" spc="40" kern="0" dirty="0">
                <a:solidFill>
                  <a:srgbClr val="EAF2FA"/>
                </a:solidFill>
                <a:latin typeface="Arial" pitchFamily="34" charset="0"/>
                <a:ea typeface="Arial" pitchFamily="34" charset="-122"/>
                <a:cs typeface="Arial" pitchFamily="34" charset="-120"/>
              </a:rPr>
              <a:t>ADAPTIVE ASSEMBLY IS PRICED FOR HIGH RATE, NOT HIGH MIX</a:t>
            </a:r>
            <a:endParaRPr lang="en-US" sz="970" dirty="0"/>
          </a:p>
          <a:p>
            <a:pPr algn="l" indent="0" marL="0">
              <a:lnSpc>
                <a:spcPct val="108000"/>
              </a:lnSpc>
              <a:buNone/>
            </a:pPr>
            <a:r>
              <a:rPr lang="en-US" sz="840" dirty="0">
                <a:solidFill>
                  <a:srgbClr val="A9BDD1"/>
                </a:solidFill>
                <a:latin typeface="Arial" pitchFamily="34" charset="0"/>
                <a:ea typeface="Arial" pitchFamily="34" charset="-122"/>
                <a:cs typeface="Arial" pitchFamily="34" charset="-120"/>
              </a:rPr>
              <a:t>Production-proven adaptive assembly exists as bespoke capital equipment amortized across a single high-rate program. That model does not reach low volume per part number.</a:t>
            </a:r>
            <a:endParaRPr lang="en-US" sz="970" dirty="0"/>
          </a:p>
        </p:txBody>
      </p:sp>
      <p:sp>
        <p:nvSpPr>
          <p:cNvPr id="11" name="Text 9"/>
          <p:cNvSpPr txBox="1"/>
          <p:nvPr/>
        </p:nvSpPr>
        <p:spPr>
          <a:xfrm>
            <a:off x="621792" y="3255264"/>
            <a:ext cx="685800" cy="457200"/>
          </a:xfrm>
          <a:prstGeom prst="rect">
            <a:avLst/>
          </a:prstGeom>
          <a:noFill/>
          <a:ln/>
        </p:spPr>
        <p:txBody>
          <a:bodyPr wrap="square" lIns="0" tIns="0" rIns="0" bIns="0" rtlCol="0" anchor="ctr"/>
          <a:lstStyle/>
          <a:p>
            <a:pPr indent="0" marL="0">
              <a:buNone/>
            </a:pPr>
            <a:r>
              <a:rPr lang="en-US" sz="1900" b="1" dirty="0">
                <a:solidFill>
                  <a:srgbClr val="6FD3FF"/>
                </a:solidFill>
                <a:latin typeface="Arial" pitchFamily="34" charset="0"/>
                <a:ea typeface="Arial" pitchFamily="34" charset="-122"/>
                <a:cs typeface="Arial" pitchFamily="34" charset="-120"/>
              </a:rPr>
              <a:t>03</a:t>
            </a:r>
            <a:endParaRPr lang="en-US" sz="1900" dirty="0"/>
          </a:p>
        </p:txBody>
      </p:sp>
      <p:sp>
        <p:nvSpPr>
          <p:cNvPr id="12" name="Text 10"/>
          <p:cNvSpPr txBox="1"/>
          <p:nvPr/>
        </p:nvSpPr>
        <p:spPr>
          <a:xfrm>
            <a:off x="1188720" y="3273552"/>
            <a:ext cx="4696816" cy="1371600"/>
          </a:xfrm>
          <a:prstGeom prst="rect">
            <a:avLst/>
          </a:prstGeom>
          <a:noFill/>
          <a:ln/>
        </p:spPr>
        <p:txBody>
          <a:bodyPr wrap="square" lIns="0" tIns="0" rIns="0" bIns="0" rtlCol="0" anchor="t"/>
          <a:lstStyle/>
          <a:p>
            <a:pPr algn="l" indent="0" marL="0">
              <a:lnSpc>
                <a:spcPct val="108000"/>
              </a:lnSpc>
              <a:spcAft>
                <a:spcPts val="400"/>
              </a:spcAft>
              <a:buNone/>
            </a:pPr>
            <a:r>
              <a:rPr lang="en-US" sz="970" b="1" spc="40" kern="0" dirty="0">
                <a:solidFill>
                  <a:srgbClr val="EAF2FA"/>
                </a:solidFill>
                <a:latin typeface="Arial" pitchFamily="34" charset="0"/>
                <a:ea typeface="Arial" pitchFamily="34" charset="-122"/>
                <a:cs typeface="Arial" pitchFamily="34" charset="-120"/>
              </a:rPr>
              <a:t>THE CAPABILITY IS SPLIT BY OPERATION</a:t>
            </a:r>
            <a:endParaRPr lang="en-US" sz="970" dirty="0"/>
          </a:p>
          <a:p>
            <a:pPr algn="l" indent="0" marL="0">
              <a:lnSpc>
                <a:spcPct val="108000"/>
              </a:lnSpc>
              <a:buNone/>
            </a:pPr>
            <a:r>
              <a:rPr lang="en-US" sz="840" dirty="0">
                <a:solidFill>
                  <a:srgbClr val="A9BDD1"/>
                </a:solidFill>
                <a:latin typeface="Arial" pitchFamily="34" charset="0"/>
                <a:ea typeface="Arial" pitchFamily="34" charset="-122"/>
                <a:cs typeface="Arial" pitchFamily="34" charset="-120"/>
              </a:rPr>
              <a:t>Programming, or welding, or finishing, or forming, or drilling, or harness. Among the companies we have verified, each owns one operation. We have not identified one that reduces recurring engineering setup across machining, assembly and inspection for the same part family.</a:t>
            </a:r>
            <a:endParaRPr lang="en-US" sz="970" dirty="0"/>
          </a:p>
        </p:txBody>
      </p:sp>
      <p:sp>
        <p:nvSpPr>
          <p:cNvPr id="13" name="Text 11"/>
          <p:cNvSpPr txBox="1"/>
          <p:nvPr/>
        </p:nvSpPr>
        <p:spPr>
          <a:xfrm>
            <a:off x="6187288" y="3255264"/>
            <a:ext cx="685800" cy="457200"/>
          </a:xfrm>
          <a:prstGeom prst="rect">
            <a:avLst/>
          </a:prstGeom>
          <a:noFill/>
          <a:ln/>
        </p:spPr>
        <p:txBody>
          <a:bodyPr wrap="square" lIns="0" tIns="0" rIns="0" bIns="0" rtlCol="0" anchor="ctr"/>
          <a:lstStyle/>
          <a:p>
            <a:pPr indent="0" marL="0">
              <a:buNone/>
            </a:pPr>
            <a:r>
              <a:rPr lang="en-US" sz="1900" b="1" dirty="0">
                <a:solidFill>
                  <a:srgbClr val="6FD3FF"/>
                </a:solidFill>
                <a:latin typeface="Arial" pitchFamily="34" charset="0"/>
                <a:ea typeface="Arial" pitchFamily="34" charset="-122"/>
                <a:cs typeface="Arial" pitchFamily="34" charset="-120"/>
              </a:rPr>
              <a:t>04</a:t>
            </a:r>
            <a:endParaRPr lang="en-US" sz="1900" dirty="0"/>
          </a:p>
        </p:txBody>
      </p:sp>
      <p:sp>
        <p:nvSpPr>
          <p:cNvPr id="14" name="Text 12"/>
          <p:cNvSpPr txBox="1"/>
          <p:nvPr/>
        </p:nvSpPr>
        <p:spPr>
          <a:xfrm>
            <a:off x="6754216" y="3273552"/>
            <a:ext cx="4696816" cy="1371600"/>
          </a:xfrm>
          <a:prstGeom prst="rect">
            <a:avLst/>
          </a:prstGeom>
          <a:noFill/>
          <a:ln/>
        </p:spPr>
        <p:txBody>
          <a:bodyPr wrap="square" lIns="0" tIns="0" rIns="0" bIns="0" rtlCol="0" anchor="t"/>
          <a:lstStyle/>
          <a:p>
            <a:pPr algn="l" indent="0" marL="0">
              <a:lnSpc>
                <a:spcPct val="108000"/>
              </a:lnSpc>
              <a:spcAft>
                <a:spcPts val="400"/>
              </a:spcAft>
              <a:buNone/>
            </a:pPr>
            <a:r>
              <a:rPr lang="en-US" sz="970" b="1" spc="40" kern="0" dirty="0">
                <a:solidFill>
                  <a:srgbClr val="EAF2FA"/>
                </a:solidFill>
                <a:latin typeface="Arial" pitchFamily="34" charset="0"/>
                <a:ea typeface="Arial" pitchFamily="34" charset="-122"/>
                <a:cs typeface="Arial" pitchFamily="34" charset="-120"/>
              </a:rPr>
              <a:t>THE QUALIFICATION PATH GETS LESS ATTENTION THAN THE PHYSICS</a:t>
            </a:r>
            <a:endParaRPr lang="en-US" sz="970" dirty="0"/>
          </a:p>
          <a:p>
            <a:pPr algn="l" indent="0" marL="0">
              <a:lnSpc>
                <a:spcPct val="108000"/>
              </a:lnSpc>
              <a:buNone/>
            </a:pPr>
            <a:r>
              <a:rPr lang="en-US" sz="840" dirty="0">
                <a:solidFill>
                  <a:srgbClr val="A9BDD1"/>
                </a:solidFill>
                <a:latin typeface="Arial" pitchFamily="34" charset="0"/>
                <a:ea typeface="Arial" pitchFamily="34" charset="-122"/>
                <a:cs typeface="Arial" pitchFamily="34" charset="-120"/>
              </a:rPr>
              <a:t>The evidence a quality organisation will accept is still assembled by hand, per part number. We have found little public evidence of anyone attacking that burden directly, and qualification is where high-mix programs stall.</a:t>
            </a:r>
            <a:endParaRPr lang="en-US" sz="970" dirty="0"/>
          </a:p>
        </p:txBody>
      </p:sp>
      <p:sp>
        <p:nvSpPr>
          <p:cNvPr id="15" name="Shape 13"/>
          <p:cNvSpPr/>
          <p:nvPr/>
        </p:nvSpPr>
        <p:spPr>
          <a:xfrm>
            <a:off x="621792" y="4791456"/>
            <a:ext cx="10948111" cy="0"/>
          </a:xfrm>
          <a:prstGeom prst="line">
            <a:avLst/>
          </a:prstGeom>
          <a:noFill/>
          <a:ln w="9525">
            <a:solidFill>
              <a:srgbClr val="23405C"/>
            </a:solidFill>
            <a:prstDash val="solid"/>
          </a:ln>
        </p:spPr>
      </p:sp>
      <p:sp>
        <p:nvSpPr>
          <p:cNvPr id="16" name="Text 14"/>
          <p:cNvSpPr txBox="1"/>
          <p:nvPr/>
        </p:nvSpPr>
        <p:spPr>
          <a:xfrm>
            <a:off x="621792" y="4937760"/>
            <a:ext cx="10948111" cy="868680"/>
          </a:xfrm>
          <a:prstGeom prst="rect">
            <a:avLst/>
          </a:prstGeom>
          <a:noFill/>
          <a:ln/>
        </p:spPr>
        <p:txBody>
          <a:bodyPr wrap="square" lIns="0" tIns="0" rIns="0" bIns="0" rtlCol="0" anchor="t"/>
          <a:lstStyle/>
          <a:p>
            <a:pPr algn="l" indent="0" marL="0">
              <a:lnSpc>
                <a:spcPct val="115000"/>
              </a:lnSpc>
              <a:spcAft>
                <a:spcPts val="400"/>
              </a:spcAft>
              <a:buNone/>
            </a:pPr>
            <a:r>
              <a:rPr lang="en-US" sz="800" b="1" spc="240" kern="0" dirty="0">
                <a:solidFill>
                  <a:srgbClr val="6FD3FF"/>
                </a:solidFill>
                <a:latin typeface="Arial" pitchFamily="34" charset="0"/>
                <a:ea typeface="Arial" pitchFamily="34" charset="-122"/>
                <a:cs typeface="Arial" pitchFamily="34" charset="-120"/>
              </a:rPr>
              <a:t>THE POSITION</a:t>
            </a:r>
            <a:endParaRPr lang="en-US" sz="800" dirty="0"/>
          </a:p>
          <a:p>
            <a:pPr algn="l" indent="0" marL="0">
              <a:lnSpc>
                <a:spcPct val="115000"/>
              </a:lnSpc>
              <a:buNone/>
            </a:pPr>
            <a:r>
              <a:rPr lang="en-US" sz="1000" dirty="0">
                <a:solidFill>
                  <a:srgbClr val="EAF2FA"/>
                </a:solidFill>
                <a:latin typeface="Arial" pitchFamily="34" charset="0"/>
                <a:ea typeface="Arial" pitchFamily="34" charset="-122"/>
                <a:cs typeface="Arial" pitchFamily="34" charset="-120"/>
              </a:rPr>
              <a:t>A dedicated search of the 2025–26 literature found active runtime-assurance work in flight and autonomy, and no published application of runtime assurance to a manufacturing cell. We found no company selling a manufacturing decision, authorization and evidence layer as such. That is the least-occupied position we hold.</a:t>
            </a:r>
            <a:endParaRPr lang="en-US" sz="800" dirty="0"/>
          </a:p>
        </p:txBody>
      </p:sp>
      <p:sp>
        <p:nvSpPr>
          <p:cNvPr id="17" name="Shape 15"/>
          <p:cNvSpPr/>
          <p:nvPr/>
        </p:nvSpPr>
        <p:spPr>
          <a:xfrm>
            <a:off x="621792" y="5870448"/>
            <a:ext cx="10948111" cy="0"/>
          </a:xfrm>
          <a:prstGeom prst="line">
            <a:avLst/>
          </a:prstGeom>
          <a:noFill/>
          <a:ln w="9525">
            <a:solidFill>
              <a:srgbClr val="23405C"/>
            </a:solidFill>
            <a:prstDash val="solid"/>
          </a:ln>
        </p:spPr>
      </p:sp>
      <p:sp>
        <p:nvSpPr>
          <p:cNvPr id="18" name="Text 16"/>
          <p:cNvSpPr txBox="1"/>
          <p:nvPr/>
        </p:nvSpPr>
        <p:spPr>
          <a:xfrm>
            <a:off x="621792" y="5980176"/>
            <a:ext cx="10948111" cy="548640"/>
          </a:xfrm>
          <a:prstGeom prst="rect">
            <a:avLst/>
          </a:prstGeom>
          <a:noFill/>
          <a:ln/>
        </p:spPr>
        <p:txBody>
          <a:bodyPr wrap="square" lIns="0" tIns="0" rIns="0" bIns="0" rtlCol="0" anchor="t"/>
          <a:lstStyle/>
          <a:p>
            <a:pPr algn="l" indent="0" marL="0">
              <a:lnSpc>
                <a:spcPct val="110000"/>
              </a:lnSpc>
              <a:spcAft>
                <a:spcPts val="300"/>
              </a:spcAft>
              <a:buNone/>
            </a:pPr>
            <a:r>
              <a:rPr lang="en-US" sz="800" dirty="0">
                <a:solidFill>
                  <a:srgbClr val="A9BDD1"/>
                </a:solidFill>
                <a:latin typeface="Arial" pitchFamily="34" charset="0"/>
                <a:ea typeface="Arial" pitchFamily="34" charset="-122"/>
                <a:cs typeface="Arial" pitchFamily="34" charset="-120"/>
              </a:rPr>
              <a:t>THE SYNTREX THESIS — reduce how much engineering has to reset when the configuration changes, by carrying measured state, measured capability, approved limits, bounded authorization and evidence across the change.</a:t>
            </a:r>
            <a:endParaRPr lang="en-US" sz="800" dirty="0"/>
          </a:p>
          <a:p>
            <a:pPr algn="l" indent="0" marL="0">
              <a:lnSpc>
                <a:spcPct val="110000"/>
              </a:lnSpc>
              <a:buNone/>
            </a:pPr>
            <a:r>
              <a:rPr lang="en-US" sz="760" i="1" dirty="0">
                <a:solidFill>
                  <a:srgbClr val="72879D"/>
                </a:solidFill>
                <a:latin typeface="Arial" pitchFamily="34" charset="0"/>
                <a:ea typeface="Arial" pitchFamily="34" charset="-122"/>
                <a:cs typeface="Arial" pitchFamily="34" charset="-120"/>
              </a:rPr>
              <a:t>An opening, not a moat.  Pointer: qualification framework — A-5.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14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TECHNICAL AUTHORITY</a:t>
            </a:r>
            <a:endParaRPr lang="en-US" sz="1000" dirty="0"/>
          </a:p>
        </p:txBody>
      </p:sp>
      <p:sp>
        <p:nvSpPr>
          <p:cNvPr id="5" name="Text 3"/>
          <p:cNvSpPr txBox="1"/>
          <p:nvPr/>
        </p:nvSpPr>
        <p:spPr>
          <a:xfrm>
            <a:off x="621792" y="786384"/>
            <a:ext cx="10948111" cy="868680"/>
          </a:xfrm>
          <a:prstGeom prst="rect">
            <a:avLst/>
          </a:prstGeom>
          <a:noFill/>
          <a:ln/>
        </p:spPr>
        <p:txBody>
          <a:bodyPr wrap="square" lIns="0" tIns="0" rIns="0" bIns="0" rtlCol="0" anchor="t"/>
          <a:lstStyle/>
          <a:p>
            <a:pPr indent="0" marL="0">
              <a:lnSpc>
                <a:spcPct val="102000"/>
              </a:lnSpc>
              <a:buNone/>
            </a:pPr>
            <a:r>
              <a:rPr lang="en-US" sz="2400" b="1" dirty="0">
                <a:solidFill>
                  <a:srgbClr val="EAF2FA"/>
                </a:solidFill>
                <a:latin typeface="Arial" pitchFamily="34" charset="0"/>
                <a:ea typeface="Arial" pitchFamily="34" charset="-122"/>
                <a:cs typeface="Arial" pitchFamily="34" charset="-120"/>
              </a:rPr>
              <a:t>The architecture identified the risks.</a:t>
            </a:r>
            <a:endParaRPr lang="en-US" sz="2400" dirty="0"/>
          </a:p>
          <a:p>
            <a:pPr indent="0" marL="0">
              <a:lnSpc>
                <a:spcPct val="102000"/>
              </a:lnSpc>
              <a:buNone/>
            </a:pPr>
            <a:r>
              <a:rPr lang="en-US" sz="2400" dirty="0">
                <a:solidFill>
                  <a:srgbClr val="A9BDD1"/>
                </a:solidFill>
                <a:latin typeface="Arial" pitchFamily="34" charset="0"/>
                <a:ea typeface="Arial" pitchFamily="34" charset="-122"/>
                <a:cs typeface="Arial" pitchFamily="34" charset="-120"/>
              </a:rPr>
              <a:t>Senior outside authority is being built around them — and reported exactly.</a:t>
            </a:r>
            <a:endParaRPr lang="en-US" sz="2400" dirty="0"/>
          </a:p>
        </p:txBody>
      </p:sp>
      <p:sp>
        <p:nvSpPr>
          <p:cNvPr id="6" name="Text 4"/>
          <p:cNvSpPr txBox="1"/>
          <p:nvPr/>
        </p:nvSpPr>
        <p:spPr>
          <a:xfrm>
            <a:off x="621792" y="1700784"/>
            <a:ext cx="10948111" cy="237744"/>
          </a:xfrm>
          <a:prstGeom prst="rect">
            <a:avLst/>
          </a:prstGeom>
          <a:noFill/>
          <a:ln/>
        </p:spPr>
        <p:txBody>
          <a:bodyPr wrap="square" lIns="0" tIns="0" rIns="0" bIns="0" rtlCol="0" anchor="ctr"/>
          <a:lstStyle/>
          <a:p>
            <a:pPr indent="0" marL="0">
              <a:buNone/>
            </a:pPr>
            <a:r>
              <a:rPr lang="en-US" sz="900" b="1" spc="220" kern="0" dirty="0">
                <a:solidFill>
                  <a:srgbClr val="6FD3FF"/>
                </a:solidFill>
                <a:latin typeface="Arial" pitchFamily="34" charset="0"/>
                <a:ea typeface="Arial" pitchFamily="34" charset="-122"/>
                <a:cs typeface="Arial" pitchFamily="34" charset="-120"/>
              </a:rPr>
              <a:t>SIX DOMAINS · TWO FORMALIZED · TWO IN FORMATION · TWO OPEN</a:t>
            </a:r>
            <a:endParaRPr lang="en-US" sz="900" dirty="0"/>
          </a:p>
        </p:txBody>
      </p:sp>
      <p:sp>
        <p:nvSpPr>
          <p:cNvPr id="7" name="Text 5"/>
          <p:cNvSpPr txBox="1"/>
          <p:nvPr/>
        </p:nvSpPr>
        <p:spPr>
          <a:xfrm>
            <a:off x="621792" y="2011680"/>
            <a:ext cx="10948111" cy="182880"/>
          </a:xfrm>
          <a:prstGeom prst="rect">
            <a:avLst/>
          </a:prstGeom>
          <a:noFill/>
          <a:ln/>
        </p:spPr>
        <p:txBody>
          <a:bodyPr wrap="square" lIns="0" tIns="0" rIns="0" bIns="0" rtlCol="0" anchor="ctr"/>
          <a:lstStyle/>
          <a:p>
            <a:pPr indent="0" marL="0">
              <a:buNone/>
            </a:pPr>
            <a:r>
              <a:rPr lang="en-US" sz="750" b="1" spc="200" kern="0" dirty="0">
                <a:solidFill>
                  <a:srgbClr val="72879D"/>
                </a:solidFill>
                <a:latin typeface="Arial" pitchFamily="34" charset="0"/>
                <a:ea typeface="Arial" pitchFamily="34" charset="-122"/>
                <a:cs typeface="Arial" pitchFamily="34" charset="-120"/>
              </a:rPr>
              <a:t>FORMALIZED — EXECUTED ADVISORY AGREEMENTS</a:t>
            </a:r>
            <a:endParaRPr lang="en-US" sz="750" dirty="0"/>
          </a:p>
        </p:txBody>
      </p:sp>
      <p:sp>
        <p:nvSpPr>
          <p:cNvPr id="8" name="Shape 6"/>
          <p:cNvSpPr/>
          <p:nvPr/>
        </p:nvSpPr>
        <p:spPr>
          <a:xfrm>
            <a:off x="621792" y="2194560"/>
            <a:ext cx="10948111" cy="0"/>
          </a:xfrm>
          <a:prstGeom prst="line">
            <a:avLst/>
          </a:prstGeom>
          <a:noFill/>
          <a:ln w="9525">
            <a:solidFill>
              <a:srgbClr val="23405C"/>
            </a:solidFill>
            <a:prstDash val="solid"/>
          </a:ln>
        </p:spPr>
      </p:sp>
      <p:sp>
        <p:nvSpPr>
          <p:cNvPr id="9" name="Shape 7"/>
          <p:cNvSpPr/>
          <p:nvPr/>
        </p:nvSpPr>
        <p:spPr>
          <a:xfrm>
            <a:off x="640080" y="2286000"/>
            <a:ext cx="100584" cy="100584"/>
          </a:xfrm>
          <a:prstGeom prst="ellipse">
            <a:avLst/>
          </a:prstGeom>
          <a:solidFill>
            <a:srgbClr val="6FD3FF"/>
          </a:solidFill>
          <a:ln w="12700">
            <a:solidFill>
              <a:srgbClr val="6FD3FF"/>
            </a:solidFill>
            <a:prstDash val="solid"/>
          </a:ln>
        </p:spPr>
      </p:sp>
      <p:sp>
        <p:nvSpPr>
          <p:cNvPr id="10" name="Text 8"/>
          <p:cNvSpPr txBox="1"/>
          <p:nvPr/>
        </p:nvSpPr>
        <p:spPr>
          <a:xfrm>
            <a:off x="896112" y="2231136"/>
            <a:ext cx="2148840" cy="237744"/>
          </a:xfrm>
          <a:prstGeom prst="rect">
            <a:avLst/>
          </a:prstGeom>
          <a:noFill/>
          <a:ln/>
        </p:spPr>
        <p:txBody>
          <a:bodyPr wrap="square" lIns="0" tIns="0" rIns="0" bIns="0" rtlCol="0" anchor="ctr"/>
          <a:lstStyle/>
          <a:p>
            <a:pPr indent="0" marL="0">
              <a:buNone/>
            </a:pPr>
            <a:r>
              <a:rPr lang="en-US" sz="1000" b="1" dirty="0">
                <a:solidFill>
                  <a:srgbClr val="EAF2FA"/>
                </a:solidFill>
                <a:latin typeface="Arial" pitchFamily="34" charset="0"/>
                <a:ea typeface="Arial" pitchFamily="34" charset="-122"/>
                <a:cs typeface="Arial" pitchFamily="34" charset="-120"/>
              </a:rPr>
              <a:t>Michael Zervos</a:t>
            </a:r>
            <a:endParaRPr lang="en-US" sz="1000" dirty="0"/>
          </a:p>
        </p:txBody>
      </p:sp>
      <p:sp>
        <p:nvSpPr>
          <p:cNvPr id="11" name="Text 9"/>
          <p:cNvSpPr txBox="1"/>
          <p:nvPr/>
        </p:nvSpPr>
        <p:spPr>
          <a:xfrm>
            <a:off x="896112" y="2487168"/>
            <a:ext cx="2148840" cy="274320"/>
          </a:xfrm>
          <a:prstGeom prst="rect">
            <a:avLst/>
          </a:prstGeom>
          <a:noFill/>
          <a:ln/>
        </p:spPr>
        <p:txBody>
          <a:bodyPr wrap="square" lIns="0" tIns="0" rIns="0" bIns="0" rtlCol="0" anchor="ctr"/>
          <a:lstStyle/>
          <a:p>
            <a:pPr indent="0" marL="0">
              <a:lnSpc>
                <a:spcPct val="105000"/>
              </a:lnSpc>
              <a:buNone/>
            </a:pPr>
            <a:r>
              <a:rPr lang="en-US" sz="660" b="1" spc="80" kern="0" dirty="0">
                <a:solidFill>
                  <a:srgbClr val="6FD3FF"/>
                </a:solidFill>
                <a:latin typeface="Arial" pitchFamily="34" charset="0"/>
                <a:ea typeface="Arial" pitchFamily="34" charset="-122"/>
                <a:cs typeface="Arial" pitchFamily="34" charset="-120"/>
              </a:rPr>
              <a:t>AEROSPACE QUALITY AND QUALIFICATION</a:t>
            </a:r>
            <a:endParaRPr lang="en-US" sz="660" dirty="0"/>
          </a:p>
        </p:txBody>
      </p:sp>
      <p:sp>
        <p:nvSpPr>
          <p:cNvPr id="12" name="Text 10"/>
          <p:cNvSpPr txBox="1"/>
          <p:nvPr/>
        </p:nvSpPr>
        <p:spPr>
          <a:xfrm>
            <a:off x="3273552" y="2212848"/>
            <a:ext cx="6675120" cy="530352"/>
          </a:xfrm>
          <a:prstGeom prst="rect">
            <a:avLst/>
          </a:prstGeom>
          <a:noFill/>
          <a:ln/>
        </p:spPr>
        <p:txBody>
          <a:bodyPr wrap="square" lIns="0" tIns="0" rIns="0" bIns="0" rtlCol="0" anchor="ctr"/>
          <a:lstStyle/>
          <a:p>
            <a:pPr indent="0" marL="0">
              <a:lnSpc>
                <a:spcPct val="105000"/>
              </a:lnSpc>
              <a:buNone/>
            </a:pPr>
            <a:r>
              <a:rPr lang="en-US" sz="740" dirty="0">
                <a:solidFill>
                  <a:srgbClr val="A9BDD1"/>
                </a:solidFill>
                <a:latin typeface="Arial" pitchFamily="34" charset="0"/>
                <a:ea typeface="Arial" pitchFamily="34" charset="-122"/>
                <a:cs typeface="Arial" pitchFamily="34" charset="-120"/>
              </a:rPr>
              <a:t>Senior aerospace engineer with three decades in aerospace quality, qualification, supplier quality, MRB and failure analysis. Advises on quality systems, first article inspection, configuration control, evidence credibility and production readiness.</a:t>
            </a:r>
            <a:endParaRPr lang="en-US" sz="740" dirty="0"/>
          </a:p>
        </p:txBody>
      </p:sp>
      <p:sp>
        <p:nvSpPr>
          <p:cNvPr id="13" name="Text 11"/>
          <p:cNvSpPr txBox="1"/>
          <p:nvPr/>
        </p:nvSpPr>
        <p:spPr>
          <a:xfrm>
            <a:off x="10085832" y="2249424"/>
            <a:ext cx="1508760" cy="457200"/>
          </a:xfrm>
          <a:prstGeom prst="rect">
            <a:avLst/>
          </a:prstGeom>
          <a:noFill/>
          <a:ln/>
        </p:spPr>
        <p:txBody>
          <a:bodyPr wrap="square" lIns="0" tIns="0" rIns="0" bIns="0" rtlCol="0" anchor="ctr"/>
          <a:lstStyle/>
          <a:p>
            <a:pPr indent="0" marL="0">
              <a:lnSpc>
                <a:spcPct val="110000"/>
              </a:lnSpc>
              <a:buNone/>
            </a:pPr>
            <a:r>
              <a:rPr lang="en-US" sz="660" b="1" spc="40" kern="0" dirty="0">
                <a:solidFill>
                  <a:srgbClr val="6FD3FF"/>
                </a:solidFill>
                <a:latin typeface="Arial" pitchFamily="34" charset="0"/>
                <a:ea typeface="Arial" pitchFamily="34" charset="-122"/>
                <a:cs typeface="Arial" pitchFamily="34" charset="-120"/>
              </a:rPr>
              <a:t>ADVISOR · AGREEMENT EXECUTED, AUGUST 2026</a:t>
            </a:r>
            <a:endParaRPr lang="en-US" sz="660" dirty="0"/>
          </a:p>
        </p:txBody>
      </p:sp>
      <p:sp>
        <p:nvSpPr>
          <p:cNvPr id="14" name="Shape 12"/>
          <p:cNvSpPr/>
          <p:nvPr/>
        </p:nvSpPr>
        <p:spPr>
          <a:xfrm>
            <a:off x="621792" y="2761488"/>
            <a:ext cx="10948111" cy="0"/>
          </a:xfrm>
          <a:prstGeom prst="line">
            <a:avLst/>
          </a:prstGeom>
          <a:noFill/>
          <a:ln w="9525">
            <a:solidFill>
              <a:srgbClr val="23405C"/>
            </a:solidFill>
            <a:prstDash val="solid"/>
          </a:ln>
        </p:spPr>
      </p:sp>
      <p:sp>
        <p:nvSpPr>
          <p:cNvPr id="15" name="Shape 13"/>
          <p:cNvSpPr/>
          <p:nvPr/>
        </p:nvSpPr>
        <p:spPr>
          <a:xfrm>
            <a:off x="640080" y="2852928"/>
            <a:ext cx="100584" cy="100584"/>
          </a:xfrm>
          <a:prstGeom prst="ellipse">
            <a:avLst/>
          </a:prstGeom>
          <a:solidFill>
            <a:srgbClr val="6FD3FF"/>
          </a:solidFill>
          <a:ln w="12700">
            <a:solidFill>
              <a:srgbClr val="6FD3FF"/>
            </a:solidFill>
            <a:prstDash val="solid"/>
          </a:ln>
        </p:spPr>
      </p:sp>
      <p:sp>
        <p:nvSpPr>
          <p:cNvPr id="16" name="Text 14"/>
          <p:cNvSpPr txBox="1"/>
          <p:nvPr/>
        </p:nvSpPr>
        <p:spPr>
          <a:xfrm>
            <a:off x="896112" y="2798064"/>
            <a:ext cx="2148840" cy="237744"/>
          </a:xfrm>
          <a:prstGeom prst="rect">
            <a:avLst/>
          </a:prstGeom>
          <a:noFill/>
          <a:ln/>
        </p:spPr>
        <p:txBody>
          <a:bodyPr wrap="square" lIns="0" tIns="0" rIns="0" bIns="0" rtlCol="0" anchor="ctr"/>
          <a:lstStyle/>
          <a:p>
            <a:pPr indent="0" marL="0">
              <a:buNone/>
            </a:pPr>
            <a:r>
              <a:rPr lang="en-US" sz="1000" b="1" dirty="0">
                <a:solidFill>
                  <a:srgbClr val="EAF2FA"/>
                </a:solidFill>
                <a:latin typeface="Arial" pitchFamily="34" charset="0"/>
                <a:ea typeface="Arial" pitchFamily="34" charset="-122"/>
                <a:cs typeface="Arial" pitchFamily="34" charset="-120"/>
              </a:rPr>
              <a:t>Mark McElroy, PhD</a:t>
            </a:r>
            <a:endParaRPr lang="en-US" sz="1000" dirty="0"/>
          </a:p>
        </p:txBody>
      </p:sp>
      <p:sp>
        <p:nvSpPr>
          <p:cNvPr id="17" name="Text 15"/>
          <p:cNvSpPr txBox="1"/>
          <p:nvPr/>
        </p:nvSpPr>
        <p:spPr>
          <a:xfrm>
            <a:off x="896112" y="3054096"/>
            <a:ext cx="2148840" cy="274320"/>
          </a:xfrm>
          <a:prstGeom prst="rect">
            <a:avLst/>
          </a:prstGeom>
          <a:noFill/>
          <a:ln/>
        </p:spPr>
        <p:txBody>
          <a:bodyPr wrap="square" lIns="0" tIns="0" rIns="0" bIns="0" rtlCol="0" anchor="ctr"/>
          <a:lstStyle/>
          <a:p>
            <a:pPr indent="0" marL="0">
              <a:lnSpc>
                <a:spcPct val="105000"/>
              </a:lnSpc>
              <a:buNone/>
            </a:pPr>
            <a:r>
              <a:rPr lang="en-US" sz="660" b="1" spc="80" kern="0" dirty="0">
                <a:solidFill>
                  <a:srgbClr val="6FD3FF"/>
                </a:solidFill>
                <a:latin typeface="Arial" pitchFamily="34" charset="0"/>
                <a:ea typeface="Arial" pitchFamily="34" charset="-122"/>
                <a:cs typeface="Arial" pitchFamily="34" charset="-120"/>
              </a:rPr>
              <a:t>SYSTEMS ENGINEERING AND PHYSICAL VALIDATION</a:t>
            </a:r>
            <a:endParaRPr lang="en-US" sz="660" dirty="0"/>
          </a:p>
        </p:txBody>
      </p:sp>
      <p:sp>
        <p:nvSpPr>
          <p:cNvPr id="18" name="Text 16"/>
          <p:cNvSpPr txBox="1"/>
          <p:nvPr/>
        </p:nvSpPr>
        <p:spPr>
          <a:xfrm>
            <a:off x="3273552" y="2779776"/>
            <a:ext cx="6675120" cy="530352"/>
          </a:xfrm>
          <a:prstGeom prst="rect">
            <a:avLst/>
          </a:prstGeom>
          <a:noFill/>
          <a:ln/>
        </p:spPr>
        <p:txBody>
          <a:bodyPr wrap="square" lIns="0" tIns="0" rIns="0" bIns="0" rtlCol="0" anchor="ctr"/>
          <a:lstStyle/>
          <a:p>
            <a:pPr indent="0" marL="0">
              <a:lnSpc>
                <a:spcPct val="105000"/>
              </a:lnSpc>
              <a:buNone/>
            </a:pPr>
            <a:r>
              <a:rPr lang="en-US" sz="740" dirty="0">
                <a:solidFill>
                  <a:srgbClr val="A9BDD1"/>
                </a:solidFill>
                <a:latin typeface="Arial" pitchFamily="34" charset="0"/>
                <a:ea typeface="Arial" pitchFamily="34" charset="-122"/>
                <a:cs typeface="Arial" pitchFamily="34" charset="-120"/>
              </a:rPr>
              <a:t>Chief engineer in space systems, with prior experience in flight hardware, structural integrity and qualification. Advises on architecture challenge, validation sequencing, evidence required before capital advances, technical governance and the founding engineering organisation. Engaged through his own consulting entity.</a:t>
            </a:r>
            <a:endParaRPr lang="en-US" sz="740" dirty="0"/>
          </a:p>
        </p:txBody>
      </p:sp>
      <p:sp>
        <p:nvSpPr>
          <p:cNvPr id="19" name="Text 17"/>
          <p:cNvSpPr txBox="1"/>
          <p:nvPr/>
        </p:nvSpPr>
        <p:spPr>
          <a:xfrm>
            <a:off x="10085832" y="2816352"/>
            <a:ext cx="1508760" cy="457200"/>
          </a:xfrm>
          <a:prstGeom prst="rect">
            <a:avLst/>
          </a:prstGeom>
          <a:noFill/>
          <a:ln/>
        </p:spPr>
        <p:txBody>
          <a:bodyPr wrap="square" lIns="0" tIns="0" rIns="0" bIns="0" rtlCol="0" anchor="ctr"/>
          <a:lstStyle/>
          <a:p>
            <a:pPr indent="0" marL="0">
              <a:lnSpc>
                <a:spcPct val="110000"/>
              </a:lnSpc>
              <a:buNone/>
            </a:pPr>
            <a:r>
              <a:rPr lang="en-US" sz="660" b="1" spc="40" kern="0" dirty="0">
                <a:solidFill>
                  <a:srgbClr val="6FD3FF"/>
                </a:solidFill>
                <a:latin typeface="Arial" pitchFamily="34" charset="0"/>
                <a:ea typeface="Arial" pitchFamily="34" charset="-122"/>
                <a:cs typeface="Arial" pitchFamily="34" charset="-120"/>
              </a:rPr>
              <a:t>ADVISOR · AGREEMENT EXECUTED, AUGUST 2026</a:t>
            </a:r>
            <a:endParaRPr lang="en-US" sz="660" dirty="0"/>
          </a:p>
        </p:txBody>
      </p:sp>
      <p:sp>
        <p:nvSpPr>
          <p:cNvPr id="20" name="Text 18"/>
          <p:cNvSpPr txBox="1"/>
          <p:nvPr/>
        </p:nvSpPr>
        <p:spPr>
          <a:xfrm>
            <a:off x="621792" y="3456432"/>
            <a:ext cx="10948111" cy="182880"/>
          </a:xfrm>
          <a:prstGeom prst="rect">
            <a:avLst/>
          </a:prstGeom>
          <a:noFill/>
          <a:ln/>
        </p:spPr>
        <p:txBody>
          <a:bodyPr wrap="square" lIns="0" tIns="0" rIns="0" bIns="0" rtlCol="0" anchor="ctr"/>
          <a:lstStyle/>
          <a:p>
            <a:pPr indent="0" marL="0">
              <a:buNone/>
            </a:pPr>
            <a:r>
              <a:rPr lang="en-US" sz="750" b="1" spc="160" kern="0" dirty="0">
                <a:solidFill>
                  <a:srgbClr val="72879D"/>
                </a:solidFill>
                <a:latin typeface="Arial" pitchFamily="34" charset="0"/>
                <a:ea typeface="Arial" pitchFamily="34" charset="-122"/>
                <a:cs typeface="Arial" pitchFamily="34" charset="-120"/>
              </a:rPr>
              <a:t>IN FORMATION — INSTRUMENTS DRAFTED, NOT EXECUTED; INDIVIDUALS NOT NAMED</a:t>
            </a:r>
            <a:endParaRPr lang="en-US" sz="750" dirty="0"/>
          </a:p>
        </p:txBody>
      </p:sp>
      <p:sp>
        <p:nvSpPr>
          <p:cNvPr id="21" name="Shape 19"/>
          <p:cNvSpPr/>
          <p:nvPr/>
        </p:nvSpPr>
        <p:spPr>
          <a:xfrm>
            <a:off x="621792" y="3639312"/>
            <a:ext cx="10948111" cy="0"/>
          </a:xfrm>
          <a:prstGeom prst="line">
            <a:avLst/>
          </a:prstGeom>
          <a:noFill/>
          <a:ln w="9525">
            <a:solidFill>
              <a:srgbClr val="23405C"/>
            </a:solidFill>
            <a:prstDash val="solid"/>
          </a:ln>
        </p:spPr>
      </p:sp>
      <p:sp>
        <p:nvSpPr>
          <p:cNvPr id="22" name="Shape 20"/>
          <p:cNvSpPr/>
          <p:nvPr/>
        </p:nvSpPr>
        <p:spPr>
          <a:xfrm>
            <a:off x="640080" y="3712464"/>
            <a:ext cx="100584" cy="100584"/>
          </a:xfrm>
          <a:prstGeom prst="ellipse">
            <a:avLst/>
          </a:prstGeom>
          <a:solidFill>
            <a:srgbClr val="0F1E31">
              <a:alpha val="0"/>
            </a:srgbClr>
          </a:solidFill>
          <a:ln w="12700">
            <a:solidFill>
              <a:srgbClr val="3D9BD8"/>
            </a:solidFill>
            <a:prstDash val="solid"/>
          </a:ln>
        </p:spPr>
      </p:sp>
      <p:sp>
        <p:nvSpPr>
          <p:cNvPr id="23" name="Text 21"/>
          <p:cNvSpPr txBox="1"/>
          <p:nvPr/>
        </p:nvSpPr>
        <p:spPr>
          <a:xfrm>
            <a:off x="896112" y="3657600"/>
            <a:ext cx="3840480" cy="384048"/>
          </a:xfrm>
          <a:prstGeom prst="rect">
            <a:avLst/>
          </a:prstGeom>
          <a:noFill/>
          <a:ln/>
        </p:spPr>
        <p:txBody>
          <a:bodyPr wrap="square" lIns="0" tIns="0" rIns="0" bIns="0" rtlCol="0" anchor="ctr"/>
          <a:lstStyle/>
          <a:p>
            <a:pPr indent="0" marL="0">
              <a:lnSpc>
                <a:spcPct val="105000"/>
              </a:lnSpc>
              <a:buNone/>
            </a:pPr>
            <a:r>
              <a:rPr lang="en-US" sz="760" b="1" dirty="0">
                <a:solidFill>
                  <a:srgbClr val="EAF2FA"/>
                </a:solidFill>
                <a:latin typeface="Arial" pitchFamily="34" charset="0"/>
                <a:ea typeface="Arial" pitchFamily="34" charset="-122"/>
                <a:cs typeface="Arial" pitchFamily="34" charset="-120"/>
              </a:rPr>
              <a:t>SENSING, CONTROLS AND INDEPENDENT MEASUREMENT</a:t>
            </a:r>
            <a:endParaRPr lang="en-US" sz="760" dirty="0"/>
          </a:p>
        </p:txBody>
      </p:sp>
      <p:sp>
        <p:nvSpPr>
          <p:cNvPr id="24" name="Text 22"/>
          <p:cNvSpPr txBox="1"/>
          <p:nvPr/>
        </p:nvSpPr>
        <p:spPr>
          <a:xfrm>
            <a:off x="4873752" y="3657600"/>
            <a:ext cx="6903720" cy="384048"/>
          </a:xfrm>
          <a:prstGeom prst="rect">
            <a:avLst/>
          </a:prstGeom>
          <a:noFill/>
          <a:ln/>
        </p:spPr>
        <p:txBody>
          <a:bodyPr wrap="square" lIns="0" tIns="0" rIns="0" bIns="0" rtlCol="0" anchor="ctr"/>
          <a:lstStyle/>
          <a:p>
            <a:pPr indent="0" marL="0">
              <a:lnSpc>
                <a:spcPct val="105000"/>
              </a:lnSpc>
              <a:buNone/>
            </a:pPr>
            <a:r>
              <a:rPr lang="en-US" sz="760" dirty="0">
                <a:solidFill>
                  <a:srgbClr val="A9BDD1"/>
                </a:solidFill>
                <a:latin typeface="Arial" pitchFamily="34" charset="0"/>
                <a:ea typeface="Arial" pitchFamily="34" charset="-122"/>
                <a:cs typeface="Arial" pitchFamily="34" charset="-120"/>
              </a:rPr>
              <a:t>Ground truth, confounders, calibration and drift, observability and refusal, design of the first falsifying experiment.</a:t>
            </a:r>
            <a:endParaRPr lang="en-US" sz="760" dirty="0"/>
          </a:p>
        </p:txBody>
      </p:sp>
      <p:sp>
        <p:nvSpPr>
          <p:cNvPr id="25" name="Shape 23"/>
          <p:cNvSpPr/>
          <p:nvPr/>
        </p:nvSpPr>
        <p:spPr>
          <a:xfrm>
            <a:off x="621792" y="4096512"/>
            <a:ext cx="10948111" cy="0"/>
          </a:xfrm>
          <a:prstGeom prst="line">
            <a:avLst/>
          </a:prstGeom>
          <a:noFill/>
          <a:ln w="9525">
            <a:solidFill>
              <a:srgbClr val="23405C"/>
            </a:solidFill>
            <a:prstDash val="solid"/>
          </a:ln>
        </p:spPr>
      </p:sp>
      <p:sp>
        <p:nvSpPr>
          <p:cNvPr id="26" name="Shape 24"/>
          <p:cNvSpPr/>
          <p:nvPr/>
        </p:nvSpPr>
        <p:spPr>
          <a:xfrm>
            <a:off x="640080" y="4169664"/>
            <a:ext cx="100584" cy="100584"/>
          </a:xfrm>
          <a:prstGeom prst="ellipse">
            <a:avLst/>
          </a:prstGeom>
          <a:solidFill>
            <a:srgbClr val="0F1E31">
              <a:alpha val="0"/>
            </a:srgbClr>
          </a:solidFill>
          <a:ln w="12700">
            <a:solidFill>
              <a:srgbClr val="3D9BD8"/>
            </a:solidFill>
            <a:prstDash val="solid"/>
          </a:ln>
        </p:spPr>
      </p:sp>
      <p:sp>
        <p:nvSpPr>
          <p:cNvPr id="27" name="Text 25"/>
          <p:cNvSpPr txBox="1"/>
          <p:nvPr/>
        </p:nvSpPr>
        <p:spPr>
          <a:xfrm>
            <a:off x="896112" y="4114800"/>
            <a:ext cx="3840480" cy="384048"/>
          </a:xfrm>
          <a:prstGeom prst="rect">
            <a:avLst/>
          </a:prstGeom>
          <a:noFill/>
          <a:ln/>
        </p:spPr>
        <p:txBody>
          <a:bodyPr wrap="square" lIns="0" tIns="0" rIns="0" bIns="0" rtlCol="0" anchor="ctr"/>
          <a:lstStyle/>
          <a:p>
            <a:pPr indent="0" marL="0">
              <a:lnSpc>
                <a:spcPct val="105000"/>
              </a:lnSpc>
              <a:buNone/>
            </a:pPr>
            <a:r>
              <a:rPr lang="en-US" sz="760" b="1" dirty="0">
                <a:solidFill>
                  <a:srgbClr val="EAF2FA"/>
                </a:solidFill>
                <a:latin typeface="Arial" pitchFamily="34" charset="0"/>
                <a:ea typeface="Arial" pitchFamily="34" charset="-122"/>
                <a:cs typeface="Arial" pitchFamily="34" charset="-120"/>
              </a:rPr>
              <a:t>DIGITAL MANUFACTURING AND FACTORY INTEGRATION</a:t>
            </a:r>
            <a:endParaRPr lang="en-US" sz="760" dirty="0"/>
          </a:p>
        </p:txBody>
      </p:sp>
      <p:sp>
        <p:nvSpPr>
          <p:cNvPr id="28" name="Text 26"/>
          <p:cNvSpPr txBox="1"/>
          <p:nvPr/>
        </p:nvSpPr>
        <p:spPr>
          <a:xfrm>
            <a:off x="4873752" y="4114800"/>
            <a:ext cx="6903720" cy="384048"/>
          </a:xfrm>
          <a:prstGeom prst="rect">
            <a:avLst/>
          </a:prstGeom>
          <a:noFill/>
          <a:ln/>
        </p:spPr>
        <p:txBody>
          <a:bodyPr wrap="square" lIns="0" tIns="0" rIns="0" bIns="0" rtlCol="0" anchor="ctr"/>
          <a:lstStyle/>
          <a:p>
            <a:pPr indent="0" marL="0">
              <a:lnSpc>
                <a:spcPct val="105000"/>
              </a:lnSpc>
              <a:buNone/>
            </a:pPr>
            <a:r>
              <a:rPr lang="en-US" sz="760" dirty="0">
                <a:solidFill>
                  <a:srgbClr val="A9BDD1"/>
                </a:solidFill>
                <a:latin typeface="Arial" pitchFamily="34" charset="0"/>
                <a:ea typeface="Arial" pitchFamily="34" charset="-122"/>
                <a:cs typeface="Arial" pitchFamily="34" charset="-120"/>
              </a:rPr>
              <a:t>ERP/MES/QMS/PLM integration map, evidence and traceability flow, the IT/OT and cybersecurity boundary.</a:t>
            </a:r>
            <a:endParaRPr lang="en-US" sz="760" dirty="0"/>
          </a:p>
        </p:txBody>
      </p:sp>
      <p:sp>
        <p:nvSpPr>
          <p:cNvPr id="29" name="Text 27"/>
          <p:cNvSpPr txBox="1"/>
          <p:nvPr/>
        </p:nvSpPr>
        <p:spPr>
          <a:xfrm>
            <a:off x="621792" y="4443984"/>
            <a:ext cx="10948111" cy="182880"/>
          </a:xfrm>
          <a:prstGeom prst="rect">
            <a:avLst/>
          </a:prstGeom>
          <a:noFill/>
          <a:ln/>
        </p:spPr>
        <p:txBody>
          <a:bodyPr wrap="square" lIns="0" tIns="0" rIns="0" bIns="0" rtlCol="0" anchor="ctr"/>
          <a:lstStyle/>
          <a:p>
            <a:pPr indent="0" marL="0">
              <a:buNone/>
            </a:pPr>
            <a:r>
              <a:rPr lang="en-US" sz="750" b="1" spc="160" kern="0" dirty="0">
                <a:solidFill>
                  <a:srgbClr val="72879D"/>
                </a:solidFill>
                <a:latin typeface="Arial" pitchFamily="34" charset="0"/>
                <a:ea typeface="Arial" pitchFamily="34" charset="-122"/>
                <a:cs typeface="Arial" pitchFamily="34" charset="-120"/>
              </a:rPr>
              <a:t>OPEN — NAMED AUTHORITY STILL REQUIRED</a:t>
            </a:r>
            <a:endParaRPr lang="en-US" sz="750" dirty="0"/>
          </a:p>
        </p:txBody>
      </p:sp>
      <p:sp>
        <p:nvSpPr>
          <p:cNvPr id="30" name="Shape 28"/>
          <p:cNvSpPr/>
          <p:nvPr/>
        </p:nvSpPr>
        <p:spPr>
          <a:xfrm>
            <a:off x="621792" y="4626864"/>
            <a:ext cx="10948111" cy="0"/>
          </a:xfrm>
          <a:prstGeom prst="line">
            <a:avLst/>
          </a:prstGeom>
          <a:noFill/>
          <a:ln w="9525">
            <a:solidFill>
              <a:srgbClr val="23405C"/>
            </a:solidFill>
            <a:prstDash val="solid"/>
          </a:ln>
        </p:spPr>
      </p:sp>
      <p:sp>
        <p:nvSpPr>
          <p:cNvPr id="31" name="Shape 29"/>
          <p:cNvSpPr/>
          <p:nvPr/>
        </p:nvSpPr>
        <p:spPr>
          <a:xfrm>
            <a:off x="640080" y="4700016"/>
            <a:ext cx="100584" cy="100584"/>
          </a:xfrm>
          <a:prstGeom prst="ellipse">
            <a:avLst/>
          </a:prstGeom>
          <a:solidFill>
            <a:srgbClr val="0F1E31">
              <a:alpha val="0"/>
            </a:srgbClr>
          </a:solidFill>
          <a:ln w="12700">
            <a:solidFill>
              <a:srgbClr val="72879D"/>
            </a:solidFill>
            <a:prstDash val="dash"/>
          </a:ln>
        </p:spPr>
      </p:sp>
      <p:sp>
        <p:nvSpPr>
          <p:cNvPr id="32" name="Text 30"/>
          <p:cNvSpPr txBox="1"/>
          <p:nvPr/>
        </p:nvSpPr>
        <p:spPr>
          <a:xfrm>
            <a:off x="896112" y="4645152"/>
            <a:ext cx="3840480" cy="384048"/>
          </a:xfrm>
          <a:prstGeom prst="rect">
            <a:avLst/>
          </a:prstGeom>
          <a:noFill/>
          <a:ln/>
        </p:spPr>
        <p:txBody>
          <a:bodyPr wrap="square" lIns="0" tIns="0" rIns="0" bIns="0" rtlCol="0" anchor="ctr"/>
          <a:lstStyle/>
          <a:p>
            <a:pPr indent="0" marL="0">
              <a:lnSpc>
                <a:spcPct val="105000"/>
              </a:lnSpc>
              <a:buNone/>
            </a:pPr>
            <a:r>
              <a:rPr lang="en-US" sz="760" b="1" dirty="0">
                <a:solidFill>
                  <a:srgbClr val="A9BDD1"/>
                </a:solidFill>
                <a:latin typeface="Arial" pitchFamily="34" charset="0"/>
                <a:ea typeface="Arial" pitchFamily="34" charset="-122"/>
                <a:cs typeface="Arial" pitchFamily="34" charset="-120"/>
              </a:rPr>
              <a:t>DIMENSIONAL METROLOGY FOR PART ACCEPTANCE</a:t>
            </a:r>
            <a:endParaRPr lang="en-US" sz="760" dirty="0"/>
          </a:p>
        </p:txBody>
      </p:sp>
      <p:sp>
        <p:nvSpPr>
          <p:cNvPr id="33" name="Text 31"/>
          <p:cNvSpPr txBox="1"/>
          <p:nvPr/>
        </p:nvSpPr>
        <p:spPr>
          <a:xfrm>
            <a:off x="4873752" y="4645152"/>
            <a:ext cx="6903720" cy="384048"/>
          </a:xfrm>
          <a:prstGeom prst="rect">
            <a:avLst/>
          </a:prstGeom>
          <a:noFill/>
          <a:ln/>
        </p:spPr>
        <p:txBody>
          <a:bodyPr wrap="square" lIns="0" tIns="0" rIns="0" bIns="0" rtlCol="0" anchor="ctr"/>
          <a:lstStyle/>
          <a:p>
            <a:pPr indent="0" marL="0">
              <a:lnSpc>
                <a:spcPct val="105000"/>
              </a:lnSpc>
              <a:buNone/>
            </a:pPr>
            <a:r>
              <a:rPr lang="en-US" sz="760" dirty="0">
                <a:solidFill>
                  <a:srgbClr val="72879D"/>
                </a:solidFill>
                <a:latin typeface="Arial" pitchFamily="34" charset="0"/>
                <a:ea typeface="Arial" pitchFamily="34" charset="-122"/>
                <a:cs typeface="Arial" pitchFamily="34" charset="-120"/>
              </a:rPr>
              <a:t>Expressly outside every advisor's scope. A contracted metrology reviewer holding a written veto over measurement design is funded from month 1; a resident metrology and quality engineer from month 7.</a:t>
            </a:r>
            <a:endParaRPr lang="en-US" sz="760" dirty="0"/>
          </a:p>
        </p:txBody>
      </p:sp>
      <p:sp>
        <p:nvSpPr>
          <p:cNvPr id="34" name="Shape 32"/>
          <p:cNvSpPr/>
          <p:nvPr/>
        </p:nvSpPr>
        <p:spPr>
          <a:xfrm>
            <a:off x="621792" y="5084064"/>
            <a:ext cx="10948111" cy="0"/>
          </a:xfrm>
          <a:prstGeom prst="line">
            <a:avLst/>
          </a:prstGeom>
          <a:noFill/>
          <a:ln w="9525">
            <a:solidFill>
              <a:srgbClr val="23405C"/>
            </a:solidFill>
            <a:prstDash val="solid"/>
          </a:ln>
        </p:spPr>
      </p:sp>
      <p:sp>
        <p:nvSpPr>
          <p:cNvPr id="35" name="Shape 33"/>
          <p:cNvSpPr/>
          <p:nvPr/>
        </p:nvSpPr>
        <p:spPr>
          <a:xfrm>
            <a:off x="640080" y="5157216"/>
            <a:ext cx="100584" cy="100584"/>
          </a:xfrm>
          <a:prstGeom prst="ellipse">
            <a:avLst/>
          </a:prstGeom>
          <a:solidFill>
            <a:srgbClr val="0F1E31">
              <a:alpha val="0"/>
            </a:srgbClr>
          </a:solidFill>
          <a:ln w="12700">
            <a:solidFill>
              <a:srgbClr val="72879D"/>
            </a:solidFill>
            <a:prstDash val="dash"/>
          </a:ln>
        </p:spPr>
      </p:sp>
      <p:sp>
        <p:nvSpPr>
          <p:cNvPr id="36" name="Text 34"/>
          <p:cNvSpPr txBox="1"/>
          <p:nvPr/>
        </p:nvSpPr>
        <p:spPr>
          <a:xfrm>
            <a:off x="896112" y="5102352"/>
            <a:ext cx="3840480" cy="384048"/>
          </a:xfrm>
          <a:prstGeom prst="rect">
            <a:avLst/>
          </a:prstGeom>
          <a:noFill/>
          <a:ln/>
        </p:spPr>
        <p:txBody>
          <a:bodyPr wrap="square" lIns="0" tIns="0" rIns="0" bIns="0" rtlCol="0" anchor="ctr"/>
          <a:lstStyle/>
          <a:p>
            <a:pPr indent="0" marL="0">
              <a:lnSpc>
                <a:spcPct val="105000"/>
              </a:lnSpc>
              <a:buNone/>
            </a:pPr>
            <a:r>
              <a:rPr lang="en-US" sz="760" b="1" dirty="0">
                <a:solidFill>
                  <a:srgbClr val="A9BDD1"/>
                </a:solidFill>
                <a:latin typeface="Arial" pitchFamily="34" charset="0"/>
                <a:ea typeface="Arial" pitchFamily="34" charset="-122"/>
                <a:cs typeface="Arial" pitchFamily="34" charset="-120"/>
              </a:rPr>
              <a:t>DEFENSE PRODUCTION AND PRODUCIBILITY</a:t>
            </a:r>
            <a:endParaRPr lang="en-US" sz="760" dirty="0"/>
          </a:p>
        </p:txBody>
      </p:sp>
      <p:sp>
        <p:nvSpPr>
          <p:cNvPr id="37" name="Text 35"/>
          <p:cNvSpPr txBox="1"/>
          <p:nvPr/>
        </p:nvSpPr>
        <p:spPr>
          <a:xfrm>
            <a:off x="4873752" y="5102352"/>
            <a:ext cx="6903720" cy="384048"/>
          </a:xfrm>
          <a:prstGeom prst="rect">
            <a:avLst/>
          </a:prstGeom>
          <a:noFill/>
          <a:ln/>
        </p:spPr>
        <p:txBody>
          <a:bodyPr wrap="square" lIns="0" tIns="0" rIns="0" bIns="0" rtlCol="0" anchor="ctr"/>
          <a:lstStyle/>
          <a:p>
            <a:pPr indent="0" marL="0">
              <a:lnSpc>
                <a:spcPct val="105000"/>
              </a:lnSpc>
              <a:buNone/>
            </a:pPr>
            <a:r>
              <a:rPr lang="en-US" sz="760" dirty="0">
                <a:solidFill>
                  <a:srgbClr val="72879D"/>
                </a:solidFill>
                <a:latin typeface="Arial" pitchFamily="34" charset="0"/>
                <a:ea typeface="Arial" pitchFamily="34" charset="-122"/>
                <a:cs typeface="Arial" pitchFamily="34" charset="-120"/>
              </a:rPr>
              <a:t>Sought; no instrument exists.</a:t>
            </a:r>
            <a:endParaRPr lang="en-US" sz="760" dirty="0"/>
          </a:p>
        </p:txBody>
      </p:sp>
      <p:sp>
        <p:nvSpPr>
          <p:cNvPr id="38" name="Shape 36"/>
          <p:cNvSpPr/>
          <p:nvPr/>
        </p:nvSpPr>
        <p:spPr>
          <a:xfrm>
            <a:off x="621792" y="5431536"/>
            <a:ext cx="10948111" cy="0"/>
          </a:xfrm>
          <a:prstGeom prst="line">
            <a:avLst/>
          </a:prstGeom>
          <a:noFill/>
          <a:ln w="9525">
            <a:solidFill>
              <a:srgbClr val="23405C"/>
            </a:solidFill>
            <a:prstDash val="solid"/>
          </a:ln>
        </p:spPr>
      </p:sp>
      <p:sp>
        <p:nvSpPr>
          <p:cNvPr id="39" name="Text 37"/>
          <p:cNvSpPr txBox="1"/>
          <p:nvPr/>
        </p:nvSpPr>
        <p:spPr>
          <a:xfrm>
            <a:off x="621792" y="5559552"/>
            <a:ext cx="7863840" cy="777240"/>
          </a:xfrm>
          <a:prstGeom prst="rect">
            <a:avLst/>
          </a:prstGeom>
          <a:noFill/>
          <a:ln/>
        </p:spPr>
        <p:txBody>
          <a:bodyPr wrap="square" lIns="0" tIns="0" rIns="0" bIns="0" rtlCol="0" anchor="t"/>
          <a:lstStyle/>
          <a:p>
            <a:pPr algn="l" indent="0" marL="0">
              <a:lnSpc>
                <a:spcPct val="112000"/>
              </a:lnSpc>
              <a:spcAft>
                <a:spcPts val="400"/>
              </a:spcAft>
              <a:buNone/>
            </a:pPr>
            <a:r>
              <a:rPr lang="en-US" sz="800" dirty="0">
                <a:solidFill>
                  <a:srgbClr val="A9BDD1"/>
                </a:solidFill>
                <a:latin typeface="Arial" pitchFamily="34" charset="0"/>
                <a:ea typeface="Arial" pitchFamily="34" charset="-122"/>
                <a:cs typeface="Arial" pitchFamily="34" charset="-120"/>
              </a:rPr>
              <a:t>Every advisor's agreement disclaims engineering release, certification, airworthiness, safety and quality-acceptance authority. Advisors challenge; they do not validate.</a:t>
            </a:r>
            <a:endParaRPr lang="en-US" sz="800" dirty="0"/>
          </a:p>
          <a:p>
            <a:pPr algn="l" indent="0" marL="0">
              <a:lnSpc>
                <a:spcPct val="112000"/>
              </a:lnSpc>
              <a:buNone/>
            </a:pPr>
            <a:r>
              <a:rPr lang="en-US" sz="1150" b="1" dirty="0">
                <a:solidFill>
                  <a:srgbClr val="6FD3FF"/>
                </a:solidFill>
                <a:latin typeface="Arial" pitchFamily="34" charset="0"/>
                <a:ea typeface="Arial" pitchFamily="34" charset="-122"/>
                <a:cs typeface="Arial" pitchFamily="34" charset="-120"/>
              </a:rPr>
              <a:t>External experience shapes the test. Physical evidence decides.</a:t>
            </a:r>
            <a:endParaRPr lang="en-US" sz="800" dirty="0"/>
          </a:p>
        </p:txBody>
      </p:sp>
      <p:sp>
        <p:nvSpPr>
          <p:cNvPr id="40" name="Text 38"/>
          <p:cNvSpPr txBox="1"/>
          <p:nvPr/>
        </p:nvSpPr>
        <p:spPr>
          <a:xfrm>
            <a:off x="8686800" y="5577840"/>
            <a:ext cx="2880360" cy="640080"/>
          </a:xfrm>
          <a:prstGeom prst="rect">
            <a:avLst/>
          </a:prstGeom>
          <a:noFill/>
          <a:ln/>
        </p:spPr>
        <p:txBody>
          <a:bodyPr wrap="square" lIns="0" tIns="0" rIns="0" bIns="0" rtlCol="0" anchor="t"/>
          <a:lstStyle/>
          <a:p>
            <a:pPr algn="l" indent="0" marL="0">
              <a:lnSpc>
                <a:spcPct val="115000"/>
              </a:lnSpc>
              <a:spcAft>
                <a:spcPts val="200"/>
              </a:spcAft>
              <a:buNone/>
            </a:pPr>
            <a:r>
              <a:rPr lang="en-US" sz="680" dirty="0">
                <a:solidFill>
                  <a:srgbClr val="72879D"/>
                </a:solidFill>
                <a:latin typeface="Arial" pitchFamily="34" charset="0"/>
                <a:ea typeface="Arial" pitchFamily="34" charset="-122"/>
                <a:cs typeface="Arial" pitchFamily="34" charset="-120"/>
              </a:rPr>
              <a:t>Advisory relationships. No advisor endorses or has validated Syntrex technology.</a:t>
            </a:r>
            <a:endParaRPr lang="en-US" sz="680" dirty="0"/>
          </a:p>
          <a:p>
            <a:pPr algn="l" indent="0" marL="0">
              <a:lnSpc>
                <a:spcPct val="115000"/>
              </a:lnSpc>
              <a:buNone/>
            </a:pPr>
            <a:r>
              <a:rPr lang="en-US" sz="680" dirty="0">
                <a:solidFill>
                  <a:srgbClr val="72879D"/>
                </a:solidFill>
                <a:latin typeface="Arial" pitchFamily="34" charset="0"/>
                <a:ea typeface="Arial" pitchFamily="34" charset="-122"/>
                <a:cs typeface="Arial" pitchFamily="34" charset="-120"/>
              </a:rPr>
              <a:t>No employer or institution is a party to, associated with, or endorses Syntrex.</a:t>
            </a:r>
            <a:endParaRPr lang="en-US" sz="6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15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EXTERNAL CHALLENGE</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400" b="1" dirty="0">
                <a:solidFill>
                  <a:srgbClr val="EAF2FA"/>
                </a:solidFill>
                <a:latin typeface="Arial" pitchFamily="34" charset="0"/>
                <a:ea typeface="Arial" pitchFamily="34" charset="-122"/>
                <a:cs typeface="Arial" pitchFamily="34" charset="-120"/>
              </a:rPr>
              <a:t>Two senior practitioners have already changed the programme.</a:t>
            </a:r>
            <a:endParaRPr lang="en-US" sz="2400" dirty="0"/>
          </a:p>
        </p:txBody>
      </p:sp>
      <p:sp>
        <p:nvSpPr>
          <p:cNvPr id="6" name="Text 4"/>
          <p:cNvSpPr txBox="1"/>
          <p:nvPr/>
        </p:nvSpPr>
        <p:spPr>
          <a:xfrm>
            <a:off x="621792" y="1353312"/>
            <a:ext cx="10948111" cy="310896"/>
          </a:xfrm>
          <a:prstGeom prst="rect">
            <a:avLst/>
          </a:prstGeom>
          <a:noFill/>
          <a:ln/>
        </p:spPr>
        <p:txBody>
          <a:bodyPr wrap="square" lIns="0" tIns="0" rIns="0" bIns="0" rtlCol="0" anchor="ctr"/>
          <a:lstStyle/>
          <a:p>
            <a:pPr indent="0" marL="0">
              <a:lnSpc>
                <a:spcPct val="115000"/>
              </a:lnSpc>
              <a:buNone/>
            </a:pPr>
            <a:r>
              <a:rPr lang="en-US" sz="1150" dirty="0">
                <a:solidFill>
                  <a:srgbClr val="A9BDD1"/>
                </a:solidFill>
                <a:latin typeface="Arial" pitchFamily="34" charset="0"/>
                <a:ea typeface="Arial" pitchFamily="34" charset="-122"/>
                <a:cs typeface="Arial" pitchFamily="34" charset="-120"/>
              </a:rPr>
              <a:t>Both hold advisory instruments. Zero customer interviews have been completed — the first thirty are line one of the plan.</a:t>
            </a:r>
            <a:endParaRPr lang="en-US" sz="1150" dirty="0"/>
          </a:p>
        </p:txBody>
      </p:sp>
      <p:sp>
        <p:nvSpPr>
          <p:cNvPr id="7" name="Text 5"/>
          <p:cNvSpPr txBox="1"/>
          <p:nvPr/>
        </p:nvSpPr>
        <p:spPr>
          <a:xfrm>
            <a:off x="621792" y="2011680"/>
            <a:ext cx="4971136" cy="3566160"/>
          </a:xfrm>
          <a:prstGeom prst="rect">
            <a:avLst/>
          </a:prstGeom>
          <a:noFill/>
          <a:ln/>
        </p:spPr>
        <p:txBody>
          <a:bodyPr wrap="square" lIns="0" tIns="0" rIns="0" bIns="0" rtlCol="0" anchor="t"/>
          <a:lstStyle/>
          <a:p>
            <a:pPr algn="l" indent="0" marL="0">
              <a:lnSpc>
                <a:spcPct val="114000"/>
              </a:lnSpc>
              <a:spcAft>
                <a:spcPts val="800"/>
              </a:spcAft>
              <a:buNone/>
            </a:pPr>
            <a:r>
              <a:rPr lang="en-US" sz="1100" b="1" spc="60" kern="0" dirty="0">
                <a:solidFill>
                  <a:srgbClr val="EAF2FA"/>
                </a:solidFill>
                <a:latin typeface="Arial" pitchFamily="34" charset="0"/>
                <a:ea typeface="Arial" pitchFamily="34" charset="-122"/>
                <a:cs typeface="Arial" pitchFamily="34" charset="-120"/>
              </a:rPr>
              <a:t>01 · SENIOR AEROSPACE QUALITY AND QUALIFICATION ENGINEER</a:t>
            </a:r>
            <a:endParaRPr lang="en-US" sz="1100" dirty="0"/>
          </a:p>
          <a:p>
            <a:pPr algn="l" indent="0" marL="0">
              <a:lnSpc>
                <a:spcPct val="114000"/>
              </a:lnSpc>
              <a:spcAft>
                <a:spcPts val="1000"/>
              </a:spcAft>
              <a:buNone/>
            </a:pPr>
            <a:r>
              <a:rPr lang="en-US" sz="900" dirty="0">
                <a:solidFill>
                  <a:srgbClr val="A9BDD1"/>
                </a:solidFill>
                <a:latin typeface="Arial" pitchFamily="34" charset="0"/>
                <a:ea typeface="Arial" pitchFamily="34" charset="-122"/>
                <a:cs typeface="Arial" pitchFamily="34" charset="-120"/>
              </a:rPr>
              <a:t>Asked: how does this deploy onto equipment the customer already owns — warranty implications, where parameter-change and control boundaries sit; what is the readiness level, by system element; and whether a part working is the same as a process being trusted, given that a new part number requires its own first article inspection.</a:t>
            </a:r>
            <a:endParaRPr lang="en-US" sz="1100" dirty="0"/>
          </a:p>
          <a:p>
            <a:pPr algn="l" indent="0" marL="0">
              <a:lnSpc>
                <a:spcPct val="114000"/>
              </a:lnSpc>
              <a:spcAft>
                <a:spcPts val="400"/>
              </a:spcAft>
              <a:buNone/>
            </a:pPr>
            <a:r>
              <a:rPr lang="en-US" sz="800" b="1" spc="240" kern="0" dirty="0">
                <a:solidFill>
                  <a:srgbClr val="6FD3FF"/>
                </a:solidFill>
                <a:latin typeface="Arial" pitchFamily="34" charset="0"/>
                <a:ea typeface="Arial" pitchFamily="34" charset="-122"/>
                <a:cs typeface="Arial" pitchFamily="34" charset="-120"/>
              </a:rPr>
              <a:t>WHAT CHANGED</a:t>
            </a:r>
            <a:endParaRPr lang="en-US" sz="1100" dirty="0"/>
          </a:p>
          <a:p>
            <a:pPr algn="l" indent="0" marL="0">
              <a:lnSpc>
                <a:spcPct val="114000"/>
              </a:lnSpc>
              <a:buNone/>
            </a:pPr>
            <a:r>
              <a:rPr lang="en-US" sz="1000" b="1" dirty="0">
                <a:solidFill>
                  <a:srgbClr val="EAF2FA"/>
                </a:solidFill>
                <a:latin typeface="Arial" pitchFamily="34" charset="0"/>
                <a:ea typeface="Arial" pitchFamily="34" charset="-122"/>
                <a:cs typeface="Arial" pitchFamily="34" charset="-120"/>
              </a:rPr>
              <a:t>A staged OBSERVE → VERIFY → BOUNDED INTEGRATION → PERFORM doctrine with explicit equipment, warranty and configuration-control boundaries and read-only entry through sanctioned interfaces · a twenty-element subsystem readiness assessment with system TRL held at 2 by rule and the evidence for each element mapped to a gate · the thesis that one qualified envelope could reduce part-specific FAI killed · sensing and tool-condition failure modes moved higher in the validation plan.</a:t>
            </a:r>
            <a:endParaRPr lang="en-US" sz="1100" dirty="0"/>
          </a:p>
        </p:txBody>
      </p:sp>
      <p:sp>
        <p:nvSpPr>
          <p:cNvPr id="8" name="Shape 6"/>
          <p:cNvSpPr/>
          <p:nvPr/>
        </p:nvSpPr>
        <p:spPr>
          <a:xfrm>
            <a:off x="6077560" y="2011680"/>
            <a:ext cx="0" cy="3566160"/>
          </a:xfrm>
          <a:prstGeom prst="line">
            <a:avLst/>
          </a:prstGeom>
          <a:noFill/>
          <a:ln w="9525">
            <a:solidFill>
              <a:srgbClr val="23405C"/>
            </a:solidFill>
            <a:prstDash val="solid"/>
          </a:ln>
        </p:spPr>
      </p:sp>
      <p:sp>
        <p:nvSpPr>
          <p:cNvPr id="9" name="Text 7"/>
          <p:cNvSpPr txBox="1"/>
          <p:nvPr/>
        </p:nvSpPr>
        <p:spPr>
          <a:xfrm>
            <a:off x="6461608" y="2011680"/>
            <a:ext cx="4971136" cy="3566160"/>
          </a:xfrm>
          <a:prstGeom prst="rect">
            <a:avLst/>
          </a:prstGeom>
          <a:noFill/>
          <a:ln/>
        </p:spPr>
        <p:txBody>
          <a:bodyPr wrap="square" lIns="0" tIns="0" rIns="0" bIns="0" rtlCol="0" anchor="t"/>
          <a:lstStyle/>
          <a:p>
            <a:pPr algn="l" indent="0" marL="0">
              <a:lnSpc>
                <a:spcPct val="114000"/>
              </a:lnSpc>
              <a:spcAft>
                <a:spcPts val="800"/>
              </a:spcAft>
              <a:buNone/>
            </a:pPr>
            <a:r>
              <a:rPr lang="en-US" sz="1100" b="1" spc="60" kern="0" dirty="0">
                <a:solidFill>
                  <a:srgbClr val="EAF2FA"/>
                </a:solidFill>
                <a:latin typeface="Arial" pitchFamily="34" charset="0"/>
                <a:ea typeface="Arial" pitchFamily="34" charset="-122"/>
                <a:cs typeface="Arial" pitchFamily="34" charset="-120"/>
              </a:rPr>
              <a:t>02 · SENIOR SYSTEMS ENGINEER, SPACE HARDWARE</a:t>
            </a:r>
            <a:endParaRPr lang="en-US" sz="1100" dirty="0"/>
          </a:p>
          <a:p>
            <a:pPr algn="l" indent="0" marL="0">
              <a:lnSpc>
                <a:spcPct val="114000"/>
              </a:lnSpc>
              <a:spcAft>
                <a:spcPts val="1000"/>
              </a:spcAft>
              <a:buNone/>
            </a:pPr>
            <a:r>
              <a:rPr lang="en-US" sz="900" dirty="0">
                <a:solidFill>
                  <a:srgbClr val="A9BDD1"/>
                </a:solidFill>
                <a:latin typeface="Arial" pitchFamily="34" charset="0"/>
                <a:ea typeface="Arial" pitchFamily="34" charset="-122"/>
                <a:cs typeface="Arial" pitchFamily="34" charset="-120"/>
              </a:rPr>
              <a:t>Declined to review what he could not picture: paused before the review modules because the physical system was not concrete enough to challenge, and asked for validation sequencing and the evidence required before capital advances.</a:t>
            </a:r>
            <a:endParaRPr lang="en-US" sz="1100" dirty="0"/>
          </a:p>
          <a:p>
            <a:pPr algn="l" indent="0" marL="0">
              <a:lnSpc>
                <a:spcPct val="114000"/>
              </a:lnSpc>
              <a:spcAft>
                <a:spcPts val="400"/>
              </a:spcAft>
              <a:buNone/>
            </a:pPr>
            <a:r>
              <a:rPr lang="en-US" sz="800" b="1" spc="240" kern="0" dirty="0">
                <a:solidFill>
                  <a:srgbClr val="6FD3FF"/>
                </a:solidFill>
                <a:latin typeface="Arial" pitchFamily="34" charset="0"/>
                <a:ea typeface="Arial" pitchFamily="34" charset="-122"/>
                <a:cs typeface="Arial" pitchFamily="34" charset="-120"/>
              </a:rPr>
              <a:t>WHAT CHANGED</a:t>
            </a:r>
            <a:endParaRPr lang="en-US" sz="1100" dirty="0"/>
          </a:p>
          <a:p>
            <a:pPr algn="l" indent="0" marL="0">
              <a:lnSpc>
                <a:spcPct val="114000"/>
              </a:lnSpc>
              <a:buNone/>
            </a:pPr>
            <a:r>
              <a:rPr lang="en-US" sz="1000" b="1" dirty="0">
                <a:solidFill>
                  <a:srgbClr val="EAF2FA"/>
                </a:solidFill>
                <a:latin typeface="Arial" pitchFamily="34" charset="0"/>
                <a:ea typeface="Arial" pitchFamily="34" charset="-122"/>
                <a:cs typeface="Arial" pitchFamily="34" charset="-120"/>
              </a:rPr>
              <a:t>A technical architecture and operating-concept memo now describes the physical cell, the interfaces and what is deliberately unfrozen · the freeze order is a stated design decision · the gate ladder carries what each gate must produce before the next spends.</a:t>
            </a:r>
            <a:endParaRPr lang="en-US" sz="1100" dirty="0"/>
          </a:p>
        </p:txBody>
      </p:sp>
      <p:sp>
        <p:nvSpPr>
          <p:cNvPr id="10" name="Shape 8"/>
          <p:cNvSpPr/>
          <p:nvPr/>
        </p:nvSpPr>
        <p:spPr>
          <a:xfrm>
            <a:off x="621792" y="5742432"/>
            <a:ext cx="10948111" cy="0"/>
          </a:xfrm>
          <a:prstGeom prst="line">
            <a:avLst/>
          </a:prstGeom>
          <a:noFill/>
          <a:ln w="9525">
            <a:solidFill>
              <a:srgbClr val="23405C"/>
            </a:solidFill>
            <a:prstDash val="solid"/>
          </a:ln>
        </p:spPr>
      </p:sp>
      <p:sp>
        <p:nvSpPr>
          <p:cNvPr id="11" name="Text 9"/>
          <p:cNvSpPr txBox="1"/>
          <p:nvPr/>
        </p:nvSpPr>
        <p:spPr>
          <a:xfrm>
            <a:off x="621792" y="5870448"/>
            <a:ext cx="7772400" cy="292608"/>
          </a:xfrm>
          <a:prstGeom prst="rect">
            <a:avLst/>
          </a:prstGeom>
          <a:noFill/>
          <a:ln/>
        </p:spPr>
        <p:txBody>
          <a:bodyPr wrap="square" lIns="0" tIns="0" rIns="0" bIns="0" rtlCol="0" anchor="ctr"/>
          <a:lstStyle/>
          <a:p>
            <a:pPr indent="0" marL="0">
              <a:buNone/>
            </a:pPr>
            <a:r>
              <a:rPr lang="en-US" sz="1350" b="1" dirty="0">
                <a:solidFill>
                  <a:srgbClr val="6FD3FF"/>
                </a:solidFill>
                <a:latin typeface="Arial" pitchFamily="34" charset="0"/>
                <a:ea typeface="Arial" pitchFamily="34" charset="-122"/>
                <a:cs typeface="Arial" pitchFamily="34" charset="-120"/>
              </a:rPr>
              <a:t>Industry input sharpens the test. Physical evidence still decides.</a:t>
            </a:r>
            <a:endParaRPr lang="en-US" sz="1350" dirty="0"/>
          </a:p>
        </p:txBody>
      </p:sp>
      <p:sp>
        <p:nvSpPr>
          <p:cNvPr id="12" name="Text 10"/>
          <p:cNvSpPr txBox="1"/>
          <p:nvPr/>
        </p:nvSpPr>
        <p:spPr>
          <a:xfrm>
            <a:off x="621792" y="6291072"/>
            <a:ext cx="10948111" cy="256032"/>
          </a:xfrm>
          <a:prstGeom prst="rect">
            <a:avLst/>
          </a:prstGeom>
          <a:noFill/>
          <a:ln/>
        </p:spPr>
        <p:txBody>
          <a:bodyPr wrap="square" lIns="0" tIns="0" rIns="0" bIns="0" rtlCol="0" anchor="ctr"/>
          <a:lstStyle/>
          <a:p>
            <a:pPr indent="0" marL="0">
              <a:lnSpc>
                <a:spcPct val="105000"/>
              </a:lnSpc>
              <a:buNone/>
            </a:pPr>
            <a:r>
              <a:rPr lang="en-US" sz="650" dirty="0">
                <a:solidFill>
                  <a:srgbClr val="51667C"/>
                </a:solidFill>
                <a:latin typeface="Arial" pitchFamily="34" charset="0"/>
                <a:ea typeface="Arial" pitchFamily="34" charset="-122"/>
                <a:cs typeface="Arial" pitchFamily="34" charset="-120"/>
              </a:rPr>
              <a:t>External practitioner input. Not customer validation, technical endorsement, or proof of performance.</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16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WHAT COMPOUNDS</a:t>
            </a:r>
            <a:endParaRPr lang="en-US" sz="1000" dirty="0"/>
          </a:p>
        </p:txBody>
      </p:sp>
      <p:sp>
        <p:nvSpPr>
          <p:cNvPr id="5" name="Text 3"/>
          <p:cNvSpPr txBox="1"/>
          <p:nvPr/>
        </p:nvSpPr>
        <p:spPr>
          <a:xfrm>
            <a:off x="621792" y="786384"/>
            <a:ext cx="10948111" cy="1051560"/>
          </a:xfrm>
          <a:prstGeom prst="rect">
            <a:avLst/>
          </a:prstGeom>
          <a:noFill/>
          <a:ln/>
        </p:spPr>
        <p:txBody>
          <a:bodyPr wrap="square" lIns="0" tIns="0" rIns="0" bIns="0" rtlCol="0" anchor="t"/>
          <a:lstStyle/>
          <a:p>
            <a:pPr indent="0" marL="0">
              <a:lnSpc>
                <a:spcPct val="102000"/>
              </a:lnSpc>
              <a:buNone/>
            </a:pPr>
            <a:r>
              <a:rPr lang="en-US" sz="2600" b="1" dirty="0">
                <a:solidFill>
                  <a:srgbClr val="EAF2FA"/>
                </a:solidFill>
                <a:latin typeface="Arial" pitchFamily="34" charset="0"/>
                <a:ea typeface="Arial" pitchFamily="34" charset="-122"/>
                <a:cs typeface="Arial" pitchFamily="34" charset="-120"/>
              </a:rPr>
              <a:t>The hardware stack can be bought.</a:t>
            </a:r>
            <a:endParaRPr lang="en-US" sz="2600" dirty="0"/>
          </a:p>
          <a:p>
            <a:pPr indent="0" marL="0">
              <a:lnSpc>
                <a:spcPct val="102000"/>
              </a:lnSpc>
              <a:buNone/>
            </a:pPr>
            <a:r>
              <a:rPr lang="en-US" sz="2200" dirty="0">
                <a:solidFill>
                  <a:srgbClr val="A9BDD1"/>
                </a:solidFill>
                <a:latin typeface="Arial" pitchFamily="34" charset="0"/>
                <a:ea typeface="Arial" pitchFamily="34" charset="-122"/>
                <a:cs typeface="Arial" pitchFamily="34" charset="-120"/>
              </a:rPr>
              <a:t>The record of what held, and the right to build on it, has to be earned.</a:t>
            </a:r>
            <a:endParaRPr lang="en-US" sz="2600" dirty="0"/>
          </a:p>
        </p:txBody>
      </p:sp>
      <p:sp>
        <p:nvSpPr>
          <p:cNvPr id="6" name="Text 4"/>
          <p:cNvSpPr txBox="1"/>
          <p:nvPr/>
        </p:nvSpPr>
        <p:spPr>
          <a:xfrm>
            <a:off x="621792" y="2157984"/>
            <a:ext cx="4206240" cy="219456"/>
          </a:xfrm>
          <a:prstGeom prst="rect">
            <a:avLst/>
          </a:prstGeom>
          <a:noFill/>
          <a:ln/>
        </p:spPr>
        <p:txBody>
          <a:bodyPr wrap="square" lIns="0" tIns="0" rIns="0" bIns="0" rtlCol="0" anchor="ctr"/>
          <a:lstStyle/>
          <a:p>
            <a:pPr indent="0" marL="0">
              <a:buNone/>
            </a:pPr>
            <a:r>
              <a:rPr lang="en-US" sz="950" b="1" spc="220" kern="0" dirty="0">
                <a:solidFill>
                  <a:srgbClr val="A9BDD1"/>
                </a:solidFill>
                <a:latin typeface="Arial" pitchFamily="34" charset="0"/>
                <a:ea typeface="Arial" pitchFamily="34" charset="-122"/>
                <a:cs typeface="Arial" pitchFamily="34" charset="-120"/>
              </a:rPr>
              <a:t>AVAILABLE AND REPLACEABLE</a:t>
            </a:r>
            <a:endParaRPr lang="en-US" sz="950" dirty="0"/>
          </a:p>
        </p:txBody>
      </p:sp>
      <p:sp>
        <p:nvSpPr>
          <p:cNvPr id="7" name="Shape 5"/>
          <p:cNvSpPr/>
          <p:nvPr/>
        </p:nvSpPr>
        <p:spPr>
          <a:xfrm>
            <a:off x="621792" y="2487168"/>
            <a:ext cx="3657600" cy="365760"/>
          </a:xfrm>
          <a:prstGeom prst="roundRect">
            <a:avLst>
              <a:gd name="adj" fmla="val 12500"/>
            </a:avLst>
          </a:prstGeom>
          <a:solidFill>
            <a:srgbClr val="0F1E31">
              <a:alpha val="70000"/>
            </a:srgbClr>
          </a:solidFill>
          <a:ln w="9525">
            <a:solidFill>
              <a:srgbClr val="23405C"/>
            </a:solidFill>
            <a:prstDash val="solid"/>
          </a:ln>
        </p:spPr>
      </p:sp>
      <p:sp>
        <p:nvSpPr>
          <p:cNvPr id="8" name="Text 6"/>
          <p:cNvSpPr txBox="1"/>
          <p:nvPr/>
        </p:nvSpPr>
        <p:spPr>
          <a:xfrm>
            <a:off x="822960" y="2487168"/>
            <a:ext cx="3383280" cy="365760"/>
          </a:xfrm>
          <a:prstGeom prst="rect">
            <a:avLst/>
          </a:prstGeom>
          <a:noFill/>
          <a:ln/>
        </p:spPr>
        <p:txBody>
          <a:bodyPr wrap="square" lIns="0" tIns="0" rIns="0" bIns="0" rtlCol="0" anchor="ctr"/>
          <a:lstStyle/>
          <a:p>
            <a:pPr indent="0" marL="0">
              <a:buNone/>
            </a:pPr>
            <a:r>
              <a:rPr lang="en-US" sz="950" dirty="0">
                <a:solidFill>
                  <a:srgbClr val="EAF2FA"/>
                </a:solidFill>
                <a:latin typeface="Arial" pitchFamily="34" charset="0"/>
                <a:ea typeface="Arial" pitchFamily="34" charset="-122"/>
                <a:cs typeface="Arial" pitchFamily="34" charset="-120"/>
              </a:rPr>
              <a:t>Industrial robots</a:t>
            </a:r>
            <a:endParaRPr lang="en-US" sz="950" dirty="0"/>
          </a:p>
        </p:txBody>
      </p:sp>
      <p:sp>
        <p:nvSpPr>
          <p:cNvPr id="9" name="Shape 7"/>
          <p:cNvSpPr/>
          <p:nvPr/>
        </p:nvSpPr>
        <p:spPr>
          <a:xfrm>
            <a:off x="621792" y="2944368"/>
            <a:ext cx="3657600" cy="365760"/>
          </a:xfrm>
          <a:prstGeom prst="roundRect">
            <a:avLst>
              <a:gd name="adj" fmla="val 12500"/>
            </a:avLst>
          </a:prstGeom>
          <a:solidFill>
            <a:srgbClr val="0F1E31">
              <a:alpha val="70000"/>
            </a:srgbClr>
          </a:solidFill>
          <a:ln w="9525">
            <a:solidFill>
              <a:srgbClr val="23405C"/>
            </a:solidFill>
            <a:prstDash val="solid"/>
          </a:ln>
        </p:spPr>
      </p:sp>
      <p:sp>
        <p:nvSpPr>
          <p:cNvPr id="10" name="Text 8"/>
          <p:cNvSpPr txBox="1"/>
          <p:nvPr/>
        </p:nvSpPr>
        <p:spPr>
          <a:xfrm>
            <a:off x="822960" y="2944368"/>
            <a:ext cx="3383280" cy="365760"/>
          </a:xfrm>
          <a:prstGeom prst="rect">
            <a:avLst/>
          </a:prstGeom>
          <a:noFill/>
          <a:ln/>
        </p:spPr>
        <p:txBody>
          <a:bodyPr wrap="square" lIns="0" tIns="0" rIns="0" bIns="0" rtlCol="0" anchor="ctr"/>
          <a:lstStyle/>
          <a:p>
            <a:pPr indent="0" marL="0">
              <a:buNone/>
            </a:pPr>
            <a:r>
              <a:rPr lang="en-US" sz="950" dirty="0">
                <a:solidFill>
                  <a:srgbClr val="EAF2FA"/>
                </a:solidFill>
                <a:latin typeface="Arial" pitchFamily="34" charset="0"/>
                <a:ea typeface="Arial" pitchFamily="34" charset="-122"/>
                <a:cs typeface="Arial" pitchFamily="34" charset="-120"/>
              </a:rPr>
              <a:t>Cameras and sensors</a:t>
            </a:r>
            <a:endParaRPr lang="en-US" sz="950" dirty="0"/>
          </a:p>
        </p:txBody>
      </p:sp>
      <p:sp>
        <p:nvSpPr>
          <p:cNvPr id="11" name="Shape 9"/>
          <p:cNvSpPr/>
          <p:nvPr/>
        </p:nvSpPr>
        <p:spPr>
          <a:xfrm>
            <a:off x="621792" y="3401568"/>
            <a:ext cx="3657600" cy="365760"/>
          </a:xfrm>
          <a:prstGeom prst="roundRect">
            <a:avLst>
              <a:gd name="adj" fmla="val 12500"/>
            </a:avLst>
          </a:prstGeom>
          <a:solidFill>
            <a:srgbClr val="0F1E31">
              <a:alpha val="70000"/>
            </a:srgbClr>
          </a:solidFill>
          <a:ln w="9525">
            <a:solidFill>
              <a:srgbClr val="23405C"/>
            </a:solidFill>
            <a:prstDash val="solid"/>
          </a:ln>
        </p:spPr>
      </p:sp>
      <p:sp>
        <p:nvSpPr>
          <p:cNvPr id="12" name="Text 10"/>
          <p:cNvSpPr txBox="1"/>
          <p:nvPr/>
        </p:nvSpPr>
        <p:spPr>
          <a:xfrm>
            <a:off x="822960" y="3401568"/>
            <a:ext cx="3383280" cy="365760"/>
          </a:xfrm>
          <a:prstGeom prst="rect">
            <a:avLst/>
          </a:prstGeom>
          <a:noFill/>
          <a:ln/>
        </p:spPr>
        <p:txBody>
          <a:bodyPr wrap="square" lIns="0" tIns="0" rIns="0" bIns="0" rtlCol="0" anchor="ctr"/>
          <a:lstStyle/>
          <a:p>
            <a:pPr indent="0" marL="0">
              <a:buNone/>
            </a:pPr>
            <a:r>
              <a:rPr lang="en-US" sz="950" dirty="0">
                <a:solidFill>
                  <a:srgbClr val="EAF2FA"/>
                </a:solidFill>
                <a:latin typeface="Arial" pitchFamily="34" charset="0"/>
                <a:ea typeface="Arial" pitchFamily="34" charset="-122"/>
                <a:cs typeface="Arial" pitchFamily="34" charset="-120"/>
              </a:rPr>
              <a:t>Compute</a:t>
            </a:r>
            <a:endParaRPr lang="en-US" sz="950" dirty="0"/>
          </a:p>
        </p:txBody>
      </p:sp>
      <p:sp>
        <p:nvSpPr>
          <p:cNvPr id="13" name="Shape 11"/>
          <p:cNvSpPr/>
          <p:nvPr/>
        </p:nvSpPr>
        <p:spPr>
          <a:xfrm>
            <a:off x="621792" y="3858768"/>
            <a:ext cx="3657600" cy="365760"/>
          </a:xfrm>
          <a:prstGeom prst="roundRect">
            <a:avLst>
              <a:gd name="adj" fmla="val 12500"/>
            </a:avLst>
          </a:prstGeom>
          <a:solidFill>
            <a:srgbClr val="0F1E31">
              <a:alpha val="70000"/>
            </a:srgbClr>
          </a:solidFill>
          <a:ln w="9525">
            <a:solidFill>
              <a:srgbClr val="23405C"/>
            </a:solidFill>
            <a:prstDash val="solid"/>
          </a:ln>
        </p:spPr>
      </p:sp>
      <p:sp>
        <p:nvSpPr>
          <p:cNvPr id="14" name="Text 12"/>
          <p:cNvSpPr txBox="1"/>
          <p:nvPr/>
        </p:nvSpPr>
        <p:spPr>
          <a:xfrm>
            <a:off x="822960" y="3858768"/>
            <a:ext cx="3383280" cy="365760"/>
          </a:xfrm>
          <a:prstGeom prst="rect">
            <a:avLst/>
          </a:prstGeom>
          <a:noFill/>
          <a:ln/>
        </p:spPr>
        <p:txBody>
          <a:bodyPr wrap="square" lIns="0" tIns="0" rIns="0" bIns="0" rtlCol="0" anchor="ctr"/>
          <a:lstStyle/>
          <a:p>
            <a:pPr indent="0" marL="0">
              <a:buNone/>
            </a:pPr>
            <a:r>
              <a:rPr lang="en-US" sz="950" dirty="0">
                <a:solidFill>
                  <a:srgbClr val="EAF2FA"/>
                </a:solidFill>
                <a:latin typeface="Arial" pitchFamily="34" charset="0"/>
                <a:ea typeface="Arial" pitchFamily="34" charset="-122"/>
                <a:cs typeface="Arial" pitchFamily="34" charset="-120"/>
              </a:rPr>
              <a:t>AI models</a:t>
            </a:r>
            <a:endParaRPr lang="en-US" sz="950" dirty="0"/>
          </a:p>
        </p:txBody>
      </p:sp>
      <p:sp>
        <p:nvSpPr>
          <p:cNvPr id="15" name="Shape 13"/>
          <p:cNvSpPr/>
          <p:nvPr/>
        </p:nvSpPr>
        <p:spPr>
          <a:xfrm>
            <a:off x="621792" y="4315968"/>
            <a:ext cx="3657600" cy="365760"/>
          </a:xfrm>
          <a:prstGeom prst="roundRect">
            <a:avLst>
              <a:gd name="adj" fmla="val 12500"/>
            </a:avLst>
          </a:prstGeom>
          <a:solidFill>
            <a:srgbClr val="0F1E31">
              <a:alpha val="70000"/>
            </a:srgbClr>
          </a:solidFill>
          <a:ln w="9525">
            <a:solidFill>
              <a:srgbClr val="23405C"/>
            </a:solidFill>
            <a:prstDash val="solid"/>
          </a:ln>
        </p:spPr>
      </p:sp>
      <p:sp>
        <p:nvSpPr>
          <p:cNvPr id="16" name="Text 14"/>
          <p:cNvSpPr txBox="1"/>
          <p:nvPr/>
        </p:nvSpPr>
        <p:spPr>
          <a:xfrm>
            <a:off x="822960" y="4315968"/>
            <a:ext cx="3383280" cy="365760"/>
          </a:xfrm>
          <a:prstGeom prst="rect">
            <a:avLst/>
          </a:prstGeom>
          <a:noFill/>
          <a:ln/>
        </p:spPr>
        <p:txBody>
          <a:bodyPr wrap="square" lIns="0" tIns="0" rIns="0" bIns="0" rtlCol="0" anchor="ctr"/>
          <a:lstStyle/>
          <a:p>
            <a:pPr indent="0" marL="0">
              <a:buNone/>
            </a:pPr>
            <a:r>
              <a:rPr lang="en-US" sz="950" dirty="0">
                <a:solidFill>
                  <a:srgbClr val="EAF2FA"/>
                </a:solidFill>
                <a:latin typeface="Arial" pitchFamily="34" charset="0"/>
                <a:ea typeface="Arial" pitchFamily="34" charset="-122"/>
                <a:cs typeface="Arial" pitchFamily="34" charset="-120"/>
              </a:rPr>
              <a:t>Planning and CAM software</a:t>
            </a:r>
            <a:endParaRPr lang="en-US" sz="950" dirty="0"/>
          </a:p>
        </p:txBody>
      </p:sp>
      <p:sp>
        <p:nvSpPr>
          <p:cNvPr id="17" name="Shape 15"/>
          <p:cNvSpPr/>
          <p:nvPr/>
        </p:nvSpPr>
        <p:spPr>
          <a:xfrm>
            <a:off x="621792" y="4773168"/>
            <a:ext cx="3657600" cy="365760"/>
          </a:xfrm>
          <a:prstGeom prst="roundRect">
            <a:avLst>
              <a:gd name="adj" fmla="val 12500"/>
            </a:avLst>
          </a:prstGeom>
          <a:solidFill>
            <a:srgbClr val="0F1E31">
              <a:alpha val="70000"/>
            </a:srgbClr>
          </a:solidFill>
          <a:ln w="9525">
            <a:solidFill>
              <a:srgbClr val="23405C"/>
            </a:solidFill>
            <a:prstDash val="solid"/>
          </a:ln>
        </p:spPr>
      </p:sp>
      <p:sp>
        <p:nvSpPr>
          <p:cNvPr id="18" name="Text 16"/>
          <p:cNvSpPr txBox="1"/>
          <p:nvPr/>
        </p:nvSpPr>
        <p:spPr>
          <a:xfrm>
            <a:off x="822960" y="4773168"/>
            <a:ext cx="3383280" cy="365760"/>
          </a:xfrm>
          <a:prstGeom prst="rect">
            <a:avLst/>
          </a:prstGeom>
          <a:noFill/>
          <a:ln/>
        </p:spPr>
        <p:txBody>
          <a:bodyPr wrap="square" lIns="0" tIns="0" rIns="0" bIns="0" rtlCol="0" anchor="ctr"/>
          <a:lstStyle/>
          <a:p>
            <a:pPr indent="0" marL="0">
              <a:buNone/>
            </a:pPr>
            <a:r>
              <a:rPr lang="en-US" sz="950" dirty="0">
                <a:solidFill>
                  <a:srgbClr val="EAF2FA"/>
                </a:solidFill>
                <a:latin typeface="Arial" pitchFamily="34" charset="0"/>
                <a:ea typeface="Arial" pitchFamily="34" charset="-122"/>
                <a:cs typeface="Arial" pitchFamily="34" charset="-120"/>
              </a:rPr>
              <a:t>Machine interfaces</a:t>
            </a:r>
            <a:endParaRPr lang="en-US" sz="950" dirty="0"/>
          </a:p>
        </p:txBody>
      </p:sp>
      <p:sp>
        <p:nvSpPr>
          <p:cNvPr id="19" name="Text 17"/>
          <p:cNvSpPr txBox="1"/>
          <p:nvPr/>
        </p:nvSpPr>
        <p:spPr>
          <a:xfrm>
            <a:off x="4480560" y="3520440"/>
            <a:ext cx="2286000" cy="640080"/>
          </a:xfrm>
          <a:prstGeom prst="rect">
            <a:avLst/>
          </a:prstGeom>
          <a:noFill/>
          <a:ln/>
        </p:spPr>
        <p:txBody>
          <a:bodyPr wrap="square" lIns="0" tIns="0" rIns="0" bIns="0" rtlCol="0" anchor="ctr"/>
          <a:lstStyle/>
          <a:p>
            <a:pPr algn="ctr" indent="0" marL="0">
              <a:lnSpc>
                <a:spcPct val="120000"/>
              </a:lnSpc>
              <a:buNone/>
            </a:pPr>
            <a:r>
              <a:rPr lang="en-US" sz="760" b="1" spc="140" kern="0" dirty="0">
                <a:solidFill>
                  <a:srgbClr val="6FD3FF"/>
                </a:solidFill>
                <a:latin typeface="Arial" pitchFamily="34" charset="0"/>
                <a:ea typeface="Arial" pitchFamily="34" charset="-122"/>
                <a:cs typeface="Arial" pitchFamily="34" charset="-120"/>
              </a:rPr>
              <a:t>PHYSICAL EXECUTION</a:t>
            </a:r>
            <a:endParaRPr lang="en-US" sz="760" dirty="0"/>
          </a:p>
          <a:p>
            <a:pPr algn="ctr" indent="0" marL="0">
              <a:lnSpc>
                <a:spcPct val="120000"/>
              </a:lnSpc>
              <a:buNone/>
            </a:pPr>
            <a:r>
              <a:rPr lang="en-US" sz="760" b="1" spc="140" kern="0" dirty="0">
                <a:solidFill>
                  <a:srgbClr val="6FD3FF"/>
                </a:solidFill>
                <a:latin typeface="Arial" pitchFamily="34" charset="0"/>
                <a:ea typeface="Arial" pitchFamily="34" charset="-122"/>
                <a:cs typeface="Arial" pitchFamily="34" charset="-120"/>
              </a:rPr>
              <a:t>AND VERIFIED OUTCOMES</a:t>
            </a:r>
            <a:endParaRPr lang="en-US" sz="760" dirty="0"/>
          </a:p>
        </p:txBody>
      </p:sp>
      <p:sp>
        <p:nvSpPr>
          <p:cNvPr id="20" name="Shape 18"/>
          <p:cNvSpPr/>
          <p:nvPr/>
        </p:nvSpPr>
        <p:spPr>
          <a:xfrm>
            <a:off x="4709160" y="3364992"/>
            <a:ext cx="1828800" cy="0"/>
          </a:xfrm>
          <a:prstGeom prst="line">
            <a:avLst/>
          </a:prstGeom>
          <a:noFill/>
          <a:ln w="12700">
            <a:solidFill>
              <a:srgbClr val="3D9BD8"/>
            </a:solidFill>
            <a:prstDash val="dash"/>
          </a:ln>
        </p:spPr>
      </p:sp>
      <p:sp>
        <p:nvSpPr>
          <p:cNvPr id="21" name="Shape 19"/>
          <p:cNvSpPr/>
          <p:nvPr/>
        </p:nvSpPr>
        <p:spPr>
          <a:xfrm>
            <a:off x="4709160" y="4279392"/>
            <a:ext cx="1828800" cy="0"/>
          </a:xfrm>
          <a:prstGeom prst="line">
            <a:avLst/>
          </a:prstGeom>
          <a:noFill/>
          <a:ln w="12700">
            <a:solidFill>
              <a:srgbClr val="3D9BD8"/>
            </a:solidFill>
            <a:prstDash val="dash"/>
          </a:ln>
        </p:spPr>
      </p:sp>
      <p:sp>
        <p:nvSpPr>
          <p:cNvPr id="22" name="Text 20"/>
          <p:cNvSpPr txBox="1"/>
          <p:nvPr/>
        </p:nvSpPr>
        <p:spPr>
          <a:xfrm>
            <a:off x="6949440" y="2157984"/>
            <a:ext cx="4754880" cy="219456"/>
          </a:xfrm>
          <a:prstGeom prst="rect">
            <a:avLst/>
          </a:prstGeom>
          <a:noFill/>
          <a:ln/>
        </p:spPr>
        <p:txBody>
          <a:bodyPr wrap="square" lIns="0" tIns="0" rIns="0" bIns="0" rtlCol="0" anchor="ctr"/>
          <a:lstStyle/>
          <a:p>
            <a:pPr indent="0" marL="0">
              <a:buNone/>
            </a:pPr>
            <a:r>
              <a:rPr lang="en-US" sz="900" b="1" spc="140" kern="0" dirty="0">
                <a:solidFill>
                  <a:srgbClr val="6FD3FF"/>
                </a:solidFill>
                <a:latin typeface="Arial" pitchFamily="34" charset="0"/>
                <a:ea typeface="Arial" pitchFamily="34" charset="-122"/>
                <a:cs typeface="Arial" pitchFamily="34" charset="-120"/>
              </a:rPr>
              <a:t>POTENTIALLY COMPOUNDING, IF THE ARCHITECTURE WORKS</a:t>
            </a:r>
            <a:endParaRPr lang="en-US" sz="900" dirty="0"/>
          </a:p>
        </p:txBody>
      </p:sp>
      <p:sp>
        <p:nvSpPr>
          <p:cNvPr id="23" name="Shape 21"/>
          <p:cNvSpPr/>
          <p:nvPr/>
        </p:nvSpPr>
        <p:spPr>
          <a:xfrm>
            <a:off x="6949440" y="2487168"/>
            <a:ext cx="3017520" cy="365760"/>
          </a:xfrm>
          <a:prstGeom prst="rect">
            <a:avLst/>
          </a:prstGeom>
          <a:solidFill>
            <a:srgbClr val="0F2E4E">
              <a:alpha val="60000"/>
            </a:srgbClr>
          </a:solidFill>
          <a:ln w="12700">
            <a:solidFill>
              <a:srgbClr val="0F2E4E"/>
            </a:solidFill>
            <a:prstDash val="solid"/>
          </a:ln>
        </p:spPr>
      </p:sp>
      <p:sp>
        <p:nvSpPr>
          <p:cNvPr id="24" name="Text 22"/>
          <p:cNvSpPr txBox="1"/>
          <p:nvPr/>
        </p:nvSpPr>
        <p:spPr>
          <a:xfrm>
            <a:off x="7150608" y="2487168"/>
            <a:ext cx="2697480" cy="365760"/>
          </a:xfrm>
          <a:prstGeom prst="rect">
            <a:avLst/>
          </a:prstGeom>
          <a:noFill/>
          <a:ln/>
        </p:spPr>
        <p:txBody>
          <a:bodyPr wrap="square" lIns="0" tIns="0" rIns="0" bIns="0" rtlCol="0" anchor="ctr"/>
          <a:lstStyle/>
          <a:p>
            <a:pPr indent="0" marL="0">
              <a:lnSpc>
                <a:spcPct val="98000"/>
              </a:lnSpc>
              <a:buNone/>
            </a:pPr>
            <a:r>
              <a:rPr lang="en-US" sz="760" dirty="0">
                <a:solidFill>
                  <a:srgbClr val="EAF2FA"/>
                </a:solidFill>
                <a:latin typeface="Arial" pitchFamily="34" charset="0"/>
                <a:ea typeface="Arial" pitchFamily="34" charset="-122"/>
                <a:cs typeface="Arial" pitchFamily="34" charset="-120"/>
              </a:rPr>
              <a:t>The authorization and evidence architecture, demonstrated across more than one operation class</a:t>
            </a:r>
            <a:endParaRPr lang="en-US" sz="760" dirty="0"/>
          </a:p>
        </p:txBody>
      </p:sp>
      <p:sp>
        <p:nvSpPr>
          <p:cNvPr id="25" name="Shape 23"/>
          <p:cNvSpPr/>
          <p:nvPr/>
        </p:nvSpPr>
        <p:spPr>
          <a:xfrm>
            <a:off x="6949440" y="2944368"/>
            <a:ext cx="3236976" cy="365760"/>
          </a:xfrm>
          <a:prstGeom prst="rect">
            <a:avLst/>
          </a:prstGeom>
          <a:solidFill>
            <a:srgbClr val="0F2E4E">
              <a:alpha val="65000"/>
            </a:srgbClr>
          </a:solidFill>
          <a:ln w="12700">
            <a:solidFill>
              <a:srgbClr val="0F2E4E"/>
            </a:solidFill>
            <a:prstDash val="solid"/>
          </a:ln>
        </p:spPr>
      </p:sp>
      <p:sp>
        <p:nvSpPr>
          <p:cNvPr id="26" name="Text 24"/>
          <p:cNvSpPr txBox="1"/>
          <p:nvPr/>
        </p:nvSpPr>
        <p:spPr>
          <a:xfrm>
            <a:off x="7150608" y="2944368"/>
            <a:ext cx="2916936" cy="365760"/>
          </a:xfrm>
          <a:prstGeom prst="rect">
            <a:avLst/>
          </a:prstGeom>
          <a:noFill/>
          <a:ln/>
        </p:spPr>
        <p:txBody>
          <a:bodyPr wrap="square" lIns="0" tIns="0" rIns="0" bIns="0" rtlCol="0" anchor="ctr"/>
          <a:lstStyle/>
          <a:p>
            <a:pPr indent="0" marL="0">
              <a:lnSpc>
                <a:spcPct val="98000"/>
              </a:lnSpc>
              <a:buNone/>
            </a:pPr>
            <a:r>
              <a:rPr lang="en-US" sz="760" dirty="0">
                <a:solidFill>
                  <a:srgbClr val="EAF2FA"/>
                </a:solidFill>
                <a:latin typeface="Arial" pitchFamily="34" charset="0"/>
                <a:ea typeface="Arial" pitchFamily="34" charset="-122"/>
                <a:cs typeface="Arial" pitchFamily="34" charset="-120"/>
              </a:rPr>
              <a:t>Evidence formats a quality organisation has accepted, and the qualification precedent that follows</a:t>
            </a:r>
            <a:endParaRPr lang="en-US" sz="760" dirty="0"/>
          </a:p>
        </p:txBody>
      </p:sp>
      <p:sp>
        <p:nvSpPr>
          <p:cNvPr id="27" name="Shape 25"/>
          <p:cNvSpPr/>
          <p:nvPr/>
        </p:nvSpPr>
        <p:spPr>
          <a:xfrm>
            <a:off x="6949440" y="3401568"/>
            <a:ext cx="3456432" cy="365760"/>
          </a:xfrm>
          <a:prstGeom prst="rect">
            <a:avLst/>
          </a:prstGeom>
          <a:solidFill>
            <a:srgbClr val="0F2E4E">
              <a:alpha val="70000"/>
            </a:srgbClr>
          </a:solidFill>
          <a:ln w="12700">
            <a:solidFill>
              <a:srgbClr val="0F2E4E"/>
            </a:solidFill>
            <a:prstDash val="solid"/>
          </a:ln>
        </p:spPr>
      </p:sp>
      <p:sp>
        <p:nvSpPr>
          <p:cNvPr id="28" name="Text 26"/>
          <p:cNvSpPr txBox="1"/>
          <p:nvPr/>
        </p:nvSpPr>
        <p:spPr>
          <a:xfrm>
            <a:off x="7150608" y="3401568"/>
            <a:ext cx="3136392" cy="365760"/>
          </a:xfrm>
          <a:prstGeom prst="rect">
            <a:avLst/>
          </a:prstGeom>
          <a:noFill/>
          <a:ln/>
        </p:spPr>
        <p:txBody>
          <a:bodyPr wrap="square" lIns="0" tIns="0" rIns="0" bIns="0" rtlCol="0" anchor="ctr"/>
          <a:lstStyle/>
          <a:p>
            <a:pPr indent="0" marL="0">
              <a:lnSpc>
                <a:spcPct val="98000"/>
              </a:lnSpc>
              <a:buNone/>
            </a:pPr>
            <a:r>
              <a:rPr lang="en-US" sz="760" dirty="0">
                <a:solidFill>
                  <a:srgbClr val="EAF2FA"/>
                </a:solidFill>
                <a:latin typeface="Arial" pitchFamily="34" charset="0"/>
                <a:ea typeface="Arial" pitchFamily="34" charset="-122"/>
                <a:cs typeface="Arial" pitchFamily="34" charset="-120"/>
              </a:rPr>
              <a:t>Cross-class engineering knowledge and validated process abstractions, where rights are expressly retained</a:t>
            </a:r>
            <a:endParaRPr lang="en-US" sz="760" dirty="0"/>
          </a:p>
        </p:txBody>
      </p:sp>
      <p:sp>
        <p:nvSpPr>
          <p:cNvPr id="29" name="Shape 27"/>
          <p:cNvSpPr/>
          <p:nvPr/>
        </p:nvSpPr>
        <p:spPr>
          <a:xfrm>
            <a:off x="6949440" y="3858768"/>
            <a:ext cx="3675888" cy="365760"/>
          </a:xfrm>
          <a:prstGeom prst="rect">
            <a:avLst/>
          </a:prstGeom>
          <a:solidFill>
            <a:srgbClr val="0F2E4E">
              <a:alpha val="75000"/>
            </a:srgbClr>
          </a:solidFill>
          <a:ln w="12700">
            <a:solidFill>
              <a:srgbClr val="0F2E4E"/>
            </a:solidFill>
            <a:prstDash val="solid"/>
          </a:ln>
        </p:spPr>
      </p:sp>
      <p:sp>
        <p:nvSpPr>
          <p:cNvPr id="30" name="Text 28"/>
          <p:cNvSpPr txBox="1"/>
          <p:nvPr/>
        </p:nvSpPr>
        <p:spPr>
          <a:xfrm>
            <a:off x="7150608" y="3858768"/>
            <a:ext cx="3355848" cy="365760"/>
          </a:xfrm>
          <a:prstGeom prst="rect">
            <a:avLst/>
          </a:prstGeom>
          <a:noFill/>
          <a:ln/>
        </p:spPr>
        <p:txBody>
          <a:bodyPr wrap="square" lIns="0" tIns="0" rIns="0" bIns="0" rtlCol="0" anchor="ctr"/>
          <a:lstStyle/>
          <a:p>
            <a:pPr indent="0" marL="0">
              <a:lnSpc>
                <a:spcPct val="98000"/>
              </a:lnSpc>
              <a:buNone/>
            </a:pPr>
            <a:r>
              <a:rPr lang="en-US" sz="760" dirty="0">
                <a:solidFill>
                  <a:srgbClr val="EAF2FA"/>
                </a:solidFill>
                <a:latin typeface="Arial" pitchFamily="34" charset="0"/>
                <a:ea typeface="Arial" pitchFamily="34" charset="-122"/>
                <a:cs typeface="Arial" pitchFamily="34" charset="-120"/>
              </a:rPr>
              <a:t>Integration, configuration-change and requalification know-how</a:t>
            </a:r>
            <a:endParaRPr lang="en-US" sz="760" dirty="0"/>
          </a:p>
        </p:txBody>
      </p:sp>
      <p:sp>
        <p:nvSpPr>
          <p:cNvPr id="31" name="Shape 29"/>
          <p:cNvSpPr/>
          <p:nvPr/>
        </p:nvSpPr>
        <p:spPr>
          <a:xfrm>
            <a:off x="6949440" y="4315968"/>
            <a:ext cx="3895344" cy="365760"/>
          </a:xfrm>
          <a:prstGeom prst="rect">
            <a:avLst/>
          </a:prstGeom>
          <a:solidFill>
            <a:srgbClr val="0F2E4E">
              <a:alpha val="80000"/>
            </a:srgbClr>
          </a:solidFill>
          <a:ln w="12700">
            <a:solidFill>
              <a:srgbClr val="0F2E4E"/>
            </a:solidFill>
            <a:prstDash val="solid"/>
          </a:ln>
        </p:spPr>
      </p:sp>
      <p:sp>
        <p:nvSpPr>
          <p:cNvPr id="32" name="Text 30"/>
          <p:cNvSpPr txBox="1"/>
          <p:nvPr/>
        </p:nvSpPr>
        <p:spPr>
          <a:xfrm>
            <a:off x="7150608" y="4315968"/>
            <a:ext cx="3575304" cy="365760"/>
          </a:xfrm>
          <a:prstGeom prst="rect">
            <a:avLst/>
          </a:prstGeom>
          <a:noFill/>
          <a:ln/>
        </p:spPr>
        <p:txBody>
          <a:bodyPr wrap="square" lIns="0" tIns="0" rIns="0" bIns="0" rtlCol="0" anchor="ctr"/>
          <a:lstStyle/>
          <a:p>
            <a:pPr indent="0" marL="0">
              <a:lnSpc>
                <a:spcPct val="98000"/>
              </a:lnSpc>
              <a:buNone/>
            </a:pPr>
            <a:r>
              <a:rPr lang="en-US" sz="760" dirty="0">
                <a:solidFill>
                  <a:srgbClr val="EAF2FA"/>
                </a:solidFill>
                <a:latin typeface="Arial" pitchFamily="34" charset="0"/>
                <a:ea typeface="Arial" pitchFamily="34" charset="-122"/>
                <a:cs typeface="Arial" pitchFamily="34" charset="-120"/>
              </a:rPr>
              <a:t>Proprietary implementation and hardware designed around the manufacturing system</a:t>
            </a:r>
            <a:endParaRPr lang="en-US" sz="760" dirty="0"/>
          </a:p>
        </p:txBody>
      </p:sp>
      <p:sp>
        <p:nvSpPr>
          <p:cNvPr id="33" name="Shape 31"/>
          <p:cNvSpPr/>
          <p:nvPr/>
        </p:nvSpPr>
        <p:spPr>
          <a:xfrm>
            <a:off x="6949440" y="4773168"/>
            <a:ext cx="4114800" cy="365760"/>
          </a:xfrm>
          <a:prstGeom prst="rect">
            <a:avLst/>
          </a:prstGeom>
          <a:solidFill>
            <a:srgbClr val="0F2E4E">
              <a:alpha val="85000"/>
            </a:srgbClr>
          </a:solidFill>
          <a:ln w="12700">
            <a:solidFill>
              <a:srgbClr val="0F2E4E"/>
            </a:solidFill>
            <a:prstDash val="solid"/>
          </a:ln>
        </p:spPr>
      </p:sp>
      <p:sp>
        <p:nvSpPr>
          <p:cNvPr id="34" name="Text 32"/>
          <p:cNvSpPr txBox="1"/>
          <p:nvPr/>
        </p:nvSpPr>
        <p:spPr>
          <a:xfrm>
            <a:off x="7150608" y="4773168"/>
            <a:ext cx="3794760" cy="365760"/>
          </a:xfrm>
          <a:prstGeom prst="rect">
            <a:avLst/>
          </a:prstGeom>
          <a:noFill/>
          <a:ln/>
        </p:spPr>
        <p:txBody>
          <a:bodyPr wrap="square" lIns="0" tIns="0" rIns="0" bIns="0" rtlCol="0" anchor="ctr"/>
          <a:lstStyle/>
          <a:p>
            <a:pPr indent="0" marL="0">
              <a:lnSpc>
                <a:spcPct val="98000"/>
              </a:lnSpc>
              <a:buNone/>
            </a:pPr>
            <a:r>
              <a:rPr lang="en-US" sz="760" dirty="0">
                <a:solidFill>
                  <a:srgbClr val="EAF2FA"/>
                </a:solidFill>
                <a:latin typeface="Arial" pitchFamily="34" charset="0"/>
                <a:ea typeface="Arial" pitchFamily="34" charset="-122"/>
                <a:cs typeface="Arial" pitchFamily="34" charset="-120"/>
              </a:rPr>
              <a:t>Owned manufacturing capability and production, if Syntrex later becomes a manufacturer</a:t>
            </a:r>
            <a:endParaRPr lang="en-US" sz="760" dirty="0"/>
          </a:p>
        </p:txBody>
      </p:sp>
      <p:sp>
        <p:nvSpPr>
          <p:cNvPr id="35" name="Shape 33"/>
          <p:cNvSpPr/>
          <p:nvPr/>
        </p:nvSpPr>
        <p:spPr>
          <a:xfrm>
            <a:off x="621792" y="5394960"/>
            <a:ext cx="10948111" cy="0"/>
          </a:xfrm>
          <a:prstGeom prst="line">
            <a:avLst/>
          </a:prstGeom>
          <a:noFill/>
          <a:ln w="9525">
            <a:solidFill>
              <a:srgbClr val="23405C"/>
            </a:solidFill>
            <a:prstDash val="solid"/>
          </a:ln>
        </p:spPr>
      </p:sp>
      <p:sp>
        <p:nvSpPr>
          <p:cNvPr id="36" name="Text 34"/>
          <p:cNvSpPr txBox="1"/>
          <p:nvPr/>
        </p:nvSpPr>
        <p:spPr>
          <a:xfrm>
            <a:off x="621792" y="5504688"/>
            <a:ext cx="10948111" cy="365760"/>
          </a:xfrm>
          <a:prstGeom prst="rect">
            <a:avLst/>
          </a:prstGeom>
          <a:noFill/>
          <a:ln/>
        </p:spPr>
        <p:txBody>
          <a:bodyPr wrap="square" lIns="0" tIns="0" rIns="0" bIns="0" rtlCol="0" anchor="t"/>
          <a:lstStyle/>
          <a:p>
            <a:pPr algn="l" indent="0" marL="0">
              <a:lnSpc>
                <a:spcPct val="110000"/>
              </a:lnSpc>
              <a:buNone/>
            </a:pPr>
            <a:r>
              <a:rPr lang="en-US" sz="1050" b="1" dirty="0">
                <a:solidFill>
                  <a:srgbClr val="EAF2FA"/>
                </a:solidFill>
                <a:latin typeface="Arial" pitchFamily="34" charset="0"/>
                <a:ea typeface="Arial" pitchFamily="34" charset="-122"/>
                <a:cs typeface="Arial" pitchFamily="34" charset="-120"/>
              </a:rPr>
              <a:t>The customer's process is theirs. Their measurement and data are theirs unless expressly agreed otherwise. Syntrex retains only what is negotiated and paid for.</a:t>
            </a:r>
            <a:endParaRPr lang="en-US" sz="1050" dirty="0"/>
          </a:p>
        </p:txBody>
      </p:sp>
      <p:sp>
        <p:nvSpPr>
          <p:cNvPr id="37" name="Text 35"/>
          <p:cNvSpPr txBox="1"/>
          <p:nvPr/>
        </p:nvSpPr>
        <p:spPr>
          <a:xfrm>
            <a:off x="621792" y="5870448"/>
            <a:ext cx="10948111" cy="292608"/>
          </a:xfrm>
          <a:prstGeom prst="rect">
            <a:avLst/>
          </a:prstGeom>
          <a:noFill/>
          <a:ln/>
        </p:spPr>
        <p:txBody>
          <a:bodyPr wrap="square" lIns="0" tIns="0" rIns="0" bIns="0" rtlCol="0" anchor="ctr"/>
          <a:lstStyle/>
          <a:p>
            <a:pPr indent="0" marL="0">
              <a:lnSpc>
                <a:spcPct val="110000"/>
              </a:lnSpc>
              <a:buNone/>
            </a:pPr>
            <a:r>
              <a:rPr lang="en-US" sz="760" dirty="0">
                <a:solidFill>
                  <a:srgbClr val="72879D"/>
                </a:solidFill>
                <a:latin typeface="Arial" pitchFamily="34" charset="0"/>
                <a:ea typeface="Arial" pitchFamily="34" charset="-122"/>
                <a:cs typeface="Arial" pitchFamily="34" charset="-120"/>
              </a:rPr>
              <a:t>No patent application is on file. Prior-art search, two provisionals and a freedom-to-operate opinion are funded in the first months; priority is established before the first customer disclosure.</a:t>
            </a:r>
            <a:endParaRPr lang="en-US" sz="760" dirty="0"/>
          </a:p>
        </p:txBody>
      </p:sp>
      <p:sp>
        <p:nvSpPr>
          <p:cNvPr id="38" name="Text 36"/>
          <p:cNvSpPr txBox="1"/>
          <p:nvPr/>
        </p:nvSpPr>
        <p:spPr>
          <a:xfrm>
            <a:off x="621792" y="6199632"/>
            <a:ext cx="10948111" cy="237744"/>
          </a:xfrm>
          <a:prstGeom prst="rect">
            <a:avLst/>
          </a:prstGeom>
          <a:noFill/>
          <a:ln/>
        </p:spPr>
        <p:txBody>
          <a:bodyPr wrap="square" lIns="0" tIns="0" rIns="0" bIns="0" rtlCol="0" anchor="ctr"/>
          <a:lstStyle/>
          <a:p>
            <a:pPr indent="0" marL="0">
              <a:buNone/>
            </a:pPr>
            <a:r>
              <a:rPr lang="en-US" sz="1000" b="1" spc="160" kern="0" dirty="0">
                <a:solidFill>
                  <a:srgbClr val="72879D"/>
                </a:solidFill>
                <a:latin typeface="Arial" pitchFamily="34" charset="0"/>
                <a:ea typeface="Arial" pitchFamily="34" charset="-122"/>
                <a:cs typeface="Arial" pitchFamily="34" charset="-120"/>
              </a:rPr>
              <a:t>POTENTIAL MOAT, TO BE EARNED. NONE OF THESE ASSETS EXISTS TODAY.</a:t>
            </a:r>
            <a:endParaRPr lang="en-US" sz="1000" dirty="0"/>
          </a:p>
        </p:txBody>
      </p:sp>
      <p:sp>
        <p:nvSpPr>
          <p:cNvPr id="39" name="Text 37"/>
          <p:cNvSpPr txBox="1"/>
          <p:nvPr/>
        </p:nvSpPr>
        <p:spPr>
          <a:xfrm>
            <a:off x="621792" y="6455664"/>
            <a:ext cx="10948111" cy="274320"/>
          </a:xfrm>
          <a:prstGeom prst="rect">
            <a:avLst/>
          </a:prstGeom>
          <a:noFill/>
          <a:ln/>
        </p:spPr>
        <p:txBody>
          <a:bodyPr wrap="square" lIns="0" tIns="0" rIns="0" bIns="0" rtlCol="0" anchor="ctr"/>
          <a:lstStyle/>
          <a:p>
            <a:pPr indent="0" marL="0">
              <a:lnSpc>
                <a:spcPct val="105000"/>
              </a:lnSpc>
              <a:buNone/>
            </a:pPr>
            <a:r>
              <a:rPr lang="en-US" sz="900" b="1" dirty="0">
                <a:solidFill>
                  <a:srgbClr val="6FD3FF"/>
                </a:solidFill>
                <a:latin typeface="Arial" pitchFamily="34" charset="0"/>
                <a:ea typeface="Arial" pitchFamily="34" charset="-122"/>
                <a:cs typeface="Arial" pitchFamily="34" charset="-120"/>
              </a:rPr>
              <a:t>Capital can buy equivalent hardware. It cannot buy a record, accepted by a quality organisation, of what a process actually held across configurations.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17 / 19</a:t>
            </a:r>
            <a:endParaRPr lang="en-US" sz="700" dirty="0"/>
          </a:p>
        </p:txBody>
      </p:sp>
      <p:pic>
        <p:nvPicPr>
          <p:cNvPr id="4" name="Image 0" descr="/tmp/claude-0/-home-user-foodiehome/a2788c04-4021-50f7-9e92-8de1b0e68224/scratchpad/syntrex/assets/fins.png">    </p:cNvPr>
          <p:cNvPicPr>
            <a:picLocks noChangeAspect="1"/>
          </p:cNvPicPr>
          <p:nvPr/>
        </p:nvPicPr>
        <p:blipFill>
          <a:blip r:embed="rId2">
            <a:alphaModFix amt="16000"/>
          </a:blip>
          <a:stretch>
            <a:fillRect/>
          </a:stretch>
        </p:blipFill>
        <p:spPr>
          <a:xfrm>
            <a:off x="9052560" y="-1280160"/>
            <a:ext cx="4754880" cy="4754880"/>
          </a:xfrm>
          <a:prstGeom prst="rect">
            <a:avLst/>
          </a:prstGeom>
        </p:spPr>
      </p:pic>
      <p:sp>
        <p:nvSpPr>
          <p:cNvPr id="5"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LONG-TERM STRATEGY, NOT FORECAST</a:t>
            </a:r>
            <a:endParaRPr lang="en-US" sz="1000" dirty="0"/>
          </a:p>
        </p:txBody>
      </p:sp>
      <p:sp>
        <p:nvSpPr>
          <p:cNvPr id="6"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600" b="1" dirty="0">
                <a:solidFill>
                  <a:srgbClr val="EAF2FA"/>
                </a:solidFill>
                <a:latin typeface="Arial" pitchFamily="34" charset="0"/>
                <a:ea typeface="Arial" pitchFamily="34" charset="-122"/>
                <a:cs typeface="Arial" pitchFamily="34" charset="-120"/>
              </a:rPr>
              <a:t>A narrow entry. A large company.</a:t>
            </a:r>
            <a:endParaRPr lang="en-US" sz="2600" dirty="0"/>
          </a:p>
        </p:txBody>
      </p:sp>
      <p:sp>
        <p:nvSpPr>
          <p:cNvPr id="7" name="Text 4"/>
          <p:cNvSpPr txBox="1"/>
          <p:nvPr/>
        </p:nvSpPr>
        <p:spPr>
          <a:xfrm>
            <a:off x="621792" y="1316736"/>
            <a:ext cx="10948111" cy="274320"/>
          </a:xfrm>
          <a:prstGeom prst="rect">
            <a:avLst/>
          </a:prstGeom>
          <a:noFill/>
          <a:ln/>
        </p:spPr>
        <p:txBody>
          <a:bodyPr wrap="square" lIns="0" tIns="0" rIns="0" bIns="0" rtlCol="0" anchor="ctr"/>
          <a:lstStyle/>
          <a:p>
            <a:pPr indent="0" marL="0">
              <a:buNone/>
            </a:pPr>
            <a:r>
              <a:rPr lang="en-US" sz="1050" dirty="0">
                <a:solidFill>
                  <a:srgbClr val="A9BDD1"/>
                </a:solidFill>
                <a:latin typeface="Arial" pitchFamily="34" charset="0"/>
                <a:ea typeface="Arial" pitchFamily="34" charset="-122"/>
                <a:cs typeface="Arial" pitchFamily="34" charset="-120"/>
              </a:rPr>
              <a:t>AutoForge is the programme. Syntrex Advanced Systems is the company it is meant to found.</a:t>
            </a:r>
            <a:endParaRPr lang="en-US" sz="1050" dirty="0"/>
          </a:p>
        </p:txBody>
      </p:sp>
      <p:sp>
        <p:nvSpPr>
          <p:cNvPr id="8" name="Shape 5"/>
          <p:cNvSpPr/>
          <p:nvPr/>
        </p:nvSpPr>
        <p:spPr>
          <a:xfrm>
            <a:off x="621792" y="4023360"/>
            <a:ext cx="1307592" cy="566928"/>
          </a:xfrm>
          <a:prstGeom prst="rect">
            <a:avLst/>
          </a:prstGeom>
          <a:solidFill>
            <a:srgbClr val="12395F">
              <a:alpha val="94000"/>
            </a:srgbClr>
          </a:solidFill>
          <a:ln w="17780">
            <a:solidFill>
              <a:srgbClr val="6FD3FF"/>
            </a:solidFill>
            <a:prstDash val="solid"/>
          </a:ln>
        </p:spPr>
      </p:sp>
      <p:sp>
        <p:nvSpPr>
          <p:cNvPr id="9" name="Text 6"/>
          <p:cNvSpPr txBox="1"/>
          <p:nvPr/>
        </p:nvSpPr>
        <p:spPr>
          <a:xfrm>
            <a:off x="694944" y="4069080"/>
            <a:ext cx="548640" cy="219456"/>
          </a:xfrm>
          <a:prstGeom prst="rect">
            <a:avLst/>
          </a:prstGeom>
          <a:noFill/>
          <a:ln/>
        </p:spPr>
        <p:txBody>
          <a:bodyPr wrap="square" lIns="0" tIns="0" rIns="0" bIns="0" rtlCol="0" anchor="ctr"/>
          <a:lstStyle/>
          <a:p>
            <a:pPr indent="0" marL="0">
              <a:buNone/>
            </a:pPr>
            <a:r>
              <a:rPr lang="en-US" sz="1100" b="1" dirty="0">
                <a:solidFill>
                  <a:srgbClr val="6FD3FF"/>
                </a:solidFill>
                <a:latin typeface="Arial" pitchFamily="34" charset="0"/>
                <a:ea typeface="Arial" pitchFamily="34" charset="-122"/>
                <a:cs typeface="Arial" pitchFamily="34" charset="-120"/>
              </a:rPr>
              <a:t>01</a:t>
            </a:r>
            <a:endParaRPr lang="en-US" sz="1100" dirty="0"/>
          </a:p>
        </p:txBody>
      </p:sp>
      <p:sp>
        <p:nvSpPr>
          <p:cNvPr id="10" name="Text 7"/>
          <p:cNvSpPr txBox="1"/>
          <p:nvPr/>
        </p:nvSpPr>
        <p:spPr>
          <a:xfrm>
            <a:off x="694944" y="4297680"/>
            <a:ext cx="1161288" cy="457200"/>
          </a:xfrm>
          <a:prstGeom prst="rect">
            <a:avLst/>
          </a:prstGeom>
          <a:noFill/>
          <a:ln/>
        </p:spPr>
        <p:txBody>
          <a:bodyPr wrap="square" lIns="0" tIns="0" rIns="0" bIns="0" rtlCol="0" anchor="ctr"/>
          <a:lstStyle/>
          <a:p>
            <a:pPr indent="0" marL="0">
              <a:lnSpc>
                <a:spcPct val="102000"/>
              </a:lnSpc>
              <a:buNone/>
            </a:pPr>
            <a:r>
              <a:rPr lang="en-US" sz="630" b="1" spc="20" kern="0" dirty="0">
                <a:solidFill>
                  <a:srgbClr val="EAF2FA"/>
                </a:solidFill>
                <a:latin typeface="Arial" pitchFamily="34" charset="0"/>
                <a:ea typeface="Arial" pitchFamily="34" charset="-122"/>
                <a:cs typeface="Arial" pitchFamily="34" charset="-120"/>
              </a:rPr>
              <a:t>ADVANCED MANUFACTURING ARCHITECTURE</a:t>
            </a:r>
            <a:endParaRPr lang="en-US" sz="630" dirty="0"/>
          </a:p>
        </p:txBody>
      </p:sp>
      <p:sp>
        <p:nvSpPr>
          <p:cNvPr id="11" name="Shape 8"/>
          <p:cNvSpPr/>
          <p:nvPr/>
        </p:nvSpPr>
        <p:spPr>
          <a:xfrm>
            <a:off x="1979676" y="3694176"/>
            <a:ext cx="1307592" cy="896112"/>
          </a:xfrm>
          <a:prstGeom prst="rect">
            <a:avLst/>
          </a:prstGeom>
          <a:solidFill>
            <a:srgbClr val="0F1E31">
              <a:alpha val="20000"/>
            </a:srgbClr>
          </a:solidFill>
          <a:ln w="10160">
            <a:solidFill>
              <a:srgbClr val="3D9BD8">
                <a:alpha val="60000"/>
              </a:srgbClr>
            </a:solidFill>
            <a:prstDash val="solid"/>
          </a:ln>
        </p:spPr>
      </p:sp>
      <p:sp>
        <p:nvSpPr>
          <p:cNvPr id="12" name="Text 9"/>
          <p:cNvSpPr txBox="1"/>
          <p:nvPr/>
        </p:nvSpPr>
        <p:spPr>
          <a:xfrm>
            <a:off x="2052828" y="3739896"/>
            <a:ext cx="548640" cy="219456"/>
          </a:xfrm>
          <a:prstGeom prst="rect">
            <a:avLst/>
          </a:prstGeom>
          <a:noFill/>
          <a:ln/>
        </p:spPr>
        <p:txBody>
          <a:bodyPr wrap="square" lIns="0" tIns="0" rIns="0" bIns="0" rtlCol="0" anchor="ctr"/>
          <a:lstStyle/>
          <a:p>
            <a:pPr indent="0" marL="0">
              <a:buNone/>
            </a:pPr>
            <a:r>
              <a:rPr lang="en-US" sz="1100" b="1" dirty="0">
                <a:solidFill>
                  <a:srgbClr val="72879D"/>
                </a:solidFill>
                <a:latin typeface="Arial" pitchFamily="34" charset="0"/>
                <a:ea typeface="Arial" pitchFamily="34" charset="-122"/>
                <a:cs typeface="Arial" pitchFamily="34" charset="-120"/>
              </a:rPr>
              <a:t>02</a:t>
            </a:r>
            <a:endParaRPr lang="en-US" sz="1100" dirty="0"/>
          </a:p>
        </p:txBody>
      </p:sp>
      <p:sp>
        <p:nvSpPr>
          <p:cNvPr id="13" name="Text 10"/>
          <p:cNvSpPr txBox="1"/>
          <p:nvPr/>
        </p:nvSpPr>
        <p:spPr>
          <a:xfrm>
            <a:off x="2052828" y="3968496"/>
            <a:ext cx="1161288" cy="457200"/>
          </a:xfrm>
          <a:prstGeom prst="rect">
            <a:avLst/>
          </a:prstGeom>
          <a:noFill/>
          <a:ln/>
        </p:spPr>
        <p:txBody>
          <a:bodyPr wrap="square" lIns="0" tIns="0" rIns="0" bIns="0" rtlCol="0" anchor="ctr"/>
          <a:lstStyle/>
          <a:p>
            <a:pPr indent="0" marL="0">
              <a:lnSpc>
                <a:spcPct val="102000"/>
              </a:lnSpc>
              <a:buNone/>
            </a:pPr>
            <a:r>
              <a:rPr lang="en-US" sz="630" b="1" spc="20" kern="0" dirty="0">
                <a:solidFill>
                  <a:srgbClr val="A9BDD1"/>
                </a:solidFill>
                <a:latin typeface="Arial" pitchFamily="34" charset="0"/>
                <a:ea typeface="Arial" pitchFamily="34" charset="-122"/>
                <a:cs typeface="Arial" pitchFamily="34" charset="-120"/>
              </a:rPr>
              <a:t>PROPRIETARY MANUFACTURING CAPABILITY</a:t>
            </a:r>
            <a:endParaRPr lang="en-US" sz="630" dirty="0"/>
          </a:p>
        </p:txBody>
      </p:sp>
      <p:sp>
        <p:nvSpPr>
          <p:cNvPr id="14" name="Shape 11"/>
          <p:cNvSpPr/>
          <p:nvPr/>
        </p:nvSpPr>
        <p:spPr>
          <a:xfrm>
            <a:off x="3337560" y="3364992"/>
            <a:ext cx="1307592" cy="1225296"/>
          </a:xfrm>
          <a:prstGeom prst="rect">
            <a:avLst/>
          </a:prstGeom>
          <a:solidFill>
            <a:srgbClr val="0F1E31">
              <a:alpha val="20000"/>
            </a:srgbClr>
          </a:solidFill>
          <a:ln w="10160">
            <a:solidFill>
              <a:srgbClr val="3D9BD8">
                <a:alpha val="60000"/>
              </a:srgbClr>
            </a:solidFill>
            <a:prstDash val="solid"/>
          </a:ln>
        </p:spPr>
      </p:sp>
      <p:sp>
        <p:nvSpPr>
          <p:cNvPr id="15" name="Text 12"/>
          <p:cNvSpPr txBox="1"/>
          <p:nvPr/>
        </p:nvSpPr>
        <p:spPr>
          <a:xfrm>
            <a:off x="3410712" y="3410712"/>
            <a:ext cx="548640" cy="219456"/>
          </a:xfrm>
          <a:prstGeom prst="rect">
            <a:avLst/>
          </a:prstGeom>
          <a:noFill/>
          <a:ln/>
        </p:spPr>
        <p:txBody>
          <a:bodyPr wrap="square" lIns="0" tIns="0" rIns="0" bIns="0" rtlCol="0" anchor="ctr"/>
          <a:lstStyle/>
          <a:p>
            <a:pPr indent="0" marL="0">
              <a:buNone/>
            </a:pPr>
            <a:r>
              <a:rPr lang="en-US" sz="1100" b="1" dirty="0">
                <a:solidFill>
                  <a:srgbClr val="72879D"/>
                </a:solidFill>
                <a:latin typeface="Arial" pitchFamily="34" charset="0"/>
                <a:ea typeface="Arial" pitchFamily="34" charset="-122"/>
                <a:cs typeface="Arial" pitchFamily="34" charset="-120"/>
              </a:rPr>
              <a:t>03</a:t>
            </a:r>
            <a:endParaRPr lang="en-US" sz="1100" dirty="0"/>
          </a:p>
        </p:txBody>
      </p:sp>
      <p:sp>
        <p:nvSpPr>
          <p:cNvPr id="16" name="Text 13"/>
          <p:cNvSpPr txBox="1"/>
          <p:nvPr/>
        </p:nvSpPr>
        <p:spPr>
          <a:xfrm>
            <a:off x="3410712" y="3639312"/>
            <a:ext cx="1161288" cy="457200"/>
          </a:xfrm>
          <a:prstGeom prst="rect">
            <a:avLst/>
          </a:prstGeom>
          <a:noFill/>
          <a:ln/>
        </p:spPr>
        <p:txBody>
          <a:bodyPr wrap="square" lIns="0" tIns="0" rIns="0" bIns="0" rtlCol="0" anchor="ctr"/>
          <a:lstStyle/>
          <a:p>
            <a:pPr indent="0" marL="0">
              <a:lnSpc>
                <a:spcPct val="102000"/>
              </a:lnSpc>
              <a:buNone/>
            </a:pPr>
            <a:r>
              <a:rPr lang="en-US" sz="630" b="1" spc="20" kern="0" dirty="0">
                <a:solidFill>
                  <a:srgbClr val="A9BDD1"/>
                </a:solidFill>
                <a:latin typeface="Arial" pitchFamily="34" charset="0"/>
                <a:ea typeface="Arial" pitchFamily="34" charset="-122"/>
                <a:cs typeface="Arial" pitchFamily="34" charset="-120"/>
              </a:rPr>
              <a:t>SYNTREX-OPERATED MANUFACTURING</a:t>
            </a:r>
            <a:endParaRPr lang="en-US" sz="630" dirty="0"/>
          </a:p>
        </p:txBody>
      </p:sp>
      <p:sp>
        <p:nvSpPr>
          <p:cNvPr id="17" name="Text 14"/>
          <p:cNvSpPr txBox="1"/>
          <p:nvPr/>
        </p:nvSpPr>
        <p:spPr>
          <a:xfrm>
            <a:off x="3410712" y="4078224"/>
            <a:ext cx="1161288" cy="438912"/>
          </a:xfrm>
          <a:prstGeom prst="rect">
            <a:avLst/>
          </a:prstGeom>
          <a:noFill/>
          <a:ln/>
        </p:spPr>
        <p:txBody>
          <a:bodyPr wrap="square" lIns="0" tIns="0" rIns="0" bIns="0" rtlCol="0" anchor="ctr"/>
          <a:lstStyle/>
          <a:p>
            <a:pPr indent="0" marL="0">
              <a:lnSpc>
                <a:spcPct val="105000"/>
              </a:lnSpc>
              <a:buNone/>
            </a:pPr>
            <a:r>
              <a:rPr lang="en-US" sz="580" dirty="0">
                <a:solidFill>
                  <a:srgbClr val="72879D"/>
                </a:solidFill>
                <a:latin typeface="Arial" pitchFamily="34" charset="0"/>
                <a:ea typeface="Arial" pitchFamily="34" charset="-122"/>
                <a:cs typeface="Arial" pitchFamily="34" charset="-120"/>
              </a:rPr>
              <a:t>Cells run by Syntrex, at a customer or a pilot cell</a:t>
            </a:r>
            <a:endParaRPr lang="en-US" sz="580" dirty="0"/>
          </a:p>
        </p:txBody>
      </p:sp>
      <p:sp>
        <p:nvSpPr>
          <p:cNvPr id="18" name="Shape 15"/>
          <p:cNvSpPr/>
          <p:nvPr/>
        </p:nvSpPr>
        <p:spPr>
          <a:xfrm>
            <a:off x="4695444" y="3035808"/>
            <a:ext cx="1307592" cy="1554480"/>
          </a:xfrm>
          <a:prstGeom prst="rect">
            <a:avLst/>
          </a:prstGeom>
          <a:solidFill>
            <a:srgbClr val="0F1E31">
              <a:alpha val="20000"/>
            </a:srgbClr>
          </a:solidFill>
          <a:ln w="10160">
            <a:solidFill>
              <a:srgbClr val="3D9BD8">
                <a:alpha val="60000"/>
              </a:srgbClr>
            </a:solidFill>
            <a:prstDash val="solid"/>
          </a:ln>
        </p:spPr>
      </p:sp>
      <p:sp>
        <p:nvSpPr>
          <p:cNvPr id="19" name="Shape 16"/>
          <p:cNvSpPr/>
          <p:nvPr/>
        </p:nvSpPr>
        <p:spPr>
          <a:xfrm>
            <a:off x="4670298" y="4608576"/>
            <a:ext cx="0" cy="128016"/>
          </a:xfrm>
          <a:prstGeom prst="line">
            <a:avLst/>
          </a:prstGeom>
          <a:noFill/>
          <a:ln w="12700">
            <a:solidFill>
              <a:srgbClr val="6FD3FF"/>
            </a:solidFill>
            <a:prstDash val="solid"/>
          </a:ln>
        </p:spPr>
      </p:sp>
      <p:sp>
        <p:nvSpPr>
          <p:cNvPr id="20" name="Text 17"/>
          <p:cNvSpPr txBox="1"/>
          <p:nvPr/>
        </p:nvSpPr>
        <p:spPr>
          <a:xfrm>
            <a:off x="3689604" y="4626864"/>
            <a:ext cx="2011680" cy="164592"/>
          </a:xfrm>
          <a:prstGeom prst="rect">
            <a:avLst/>
          </a:prstGeom>
          <a:noFill/>
          <a:ln/>
        </p:spPr>
        <p:txBody>
          <a:bodyPr wrap="square" lIns="0" tIns="0" rIns="0" bIns="0" rtlCol="0" anchor="ctr"/>
          <a:lstStyle/>
          <a:p>
            <a:pPr algn="ctr" indent="0" marL="0">
              <a:buNone/>
            </a:pPr>
            <a:r>
              <a:rPr lang="en-US" sz="560" i="1" dirty="0">
                <a:solidFill>
                  <a:srgbClr val="6FD3FF"/>
                </a:solidFill>
                <a:latin typeface="Arial" pitchFamily="34" charset="0"/>
                <a:ea typeface="Arial" pitchFamily="34" charset="-122"/>
                <a:cs typeface="Arial" pitchFamily="34" charset="-120"/>
              </a:rPr>
              <a:t>a manufacturer's obligations begin here</a:t>
            </a:r>
            <a:endParaRPr lang="en-US" sz="560" dirty="0"/>
          </a:p>
        </p:txBody>
      </p:sp>
      <p:sp>
        <p:nvSpPr>
          <p:cNvPr id="21" name="Text 18"/>
          <p:cNvSpPr txBox="1"/>
          <p:nvPr/>
        </p:nvSpPr>
        <p:spPr>
          <a:xfrm>
            <a:off x="4768596" y="3081528"/>
            <a:ext cx="548640" cy="219456"/>
          </a:xfrm>
          <a:prstGeom prst="rect">
            <a:avLst/>
          </a:prstGeom>
          <a:noFill/>
          <a:ln/>
        </p:spPr>
        <p:txBody>
          <a:bodyPr wrap="square" lIns="0" tIns="0" rIns="0" bIns="0" rtlCol="0" anchor="ctr"/>
          <a:lstStyle/>
          <a:p>
            <a:pPr indent="0" marL="0">
              <a:buNone/>
            </a:pPr>
            <a:r>
              <a:rPr lang="en-US" sz="1100" b="1" dirty="0">
                <a:solidFill>
                  <a:srgbClr val="72879D"/>
                </a:solidFill>
                <a:latin typeface="Arial" pitchFamily="34" charset="0"/>
                <a:ea typeface="Arial" pitchFamily="34" charset="-122"/>
                <a:cs typeface="Arial" pitchFamily="34" charset="-120"/>
              </a:rPr>
              <a:t>04</a:t>
            </a:r>
            <a:endParaRPr lang="en-US" sz="1100" dirty="0"/>
          </a:p>
        </p:txBody>
      </p:sp>
      <p:sp>
        <p:nvSpPr>
          <p:cNvPr id="22" name="Text 19"/>
          <p:cNvSpPr txBox="1"/>
          <p:nvPr/>
        </p:nvSpPr>
        <p:spPr>
          <a:xfrm>
            <a:off x="4768596" y="3310128"/>
            <a:ext cx="1161288" cy="457200"/>
          </a:xfrm>
          <a:prstGeom prst="rect">
            <a:avLst/>
          </a:prstGeom>
          <a:noFill/>
          <a:ln/>
        </p:spPr>
        <p:txBody>
          <a:bodyPr wrap="square" lIns="0" tIns="0" rIns="0" bIns="0" rtlCol="0" anchor="ctr"/>
          <a:lstStyle/>
          <a:p>
            <a:pPr indent="0" marL="0">
              <a:lnSpc>
                <a:spcPct val="102000"/>
              </a:lnSpc>
              <a:buNone/>
            </a:pPr>
            <a:r>
              <a:rPr lang="en-US" sz="630" b="1" spc="20" kern="0" dirty="0">
                <a:solidFill>
                  <a:srgbClr val="A9BDD1"/>
                </a:solidFill>
                <a:latin typeface="Arial" pitchFamily="34" charset="0"/>
                <a:ea typeface="Arial" pitchFamily="34" charset="-122"/>
                <a:cs typeface="Arial" pitchFamily="34" charset="-120"/>
              </a:rPr>
              <a:t>SYNTREX-OWNED PRODUCTION</a:t>
            </a:r>
            <a:endParaRPr lang="en-US" sz="630" dirty="0"/>
          </a:p>
        </p:txBody>
      </p:sp>
      <p:sp>
        <p:nvSpPr>
          <p:cNvPr id="23" name="Text 20"/>
          <p:cNvSpPr txBox="1"/>
          <p:nvPr/>
        </p:nvSpPr>
        <p:spPr>
          <a:xfrm>
            <a:off x="4768596" y="3749040"/>
            <a:ext cx="1161288" cy="768096"/>
          </a:xfrm>
          <a:prstGeom prst="rect">
            <a:avLst/>
          </a:prstGeom>
          <a:noFill/>
          <a:ln/>
        </p:spPr>
        <p:txBody>
          <a:bodyPr wrap="square" lIns="0" tIns="0" rIns="0" bIns="0" rtlCol="0" anchor="ctr"/>
          <a:lstStyle/>
          <a:p>
            <a:pPr indent="0" marL="0">
              <a:lnSpc>
                <a:spcPct val="105000"/>
              </a:lnSpc>
              <a:buNone/>
            </a:pPr>
            <a:r>
              <a:rPr lang="en-US" sz="580" dirty="0">
                <a:solidFill>
                  <a:srgbClr val="72879D"/>
                </a:solidFill>
                <a:latin typeface="Arial" pitchFamily="34" charset="0"/>
                <a:ea typeface="Arial" pitchFamily="34" charset="-122"/>
                <a:cs typeface="Arial" pitchFamily="34" charset="-120"/>
              </a:rPr>
              <a:t>A site, own AS9100, Nadcap where required</a:t>
            </a:r>
            <a:endParaRPr lang="en-US" sz="580" dirty="0"/>
          </a:p>
        </p:txBody>
      </p:sp>
      <p:sp>
        <p:nvSpPr>
          <p:cNvPr id="24" name="Shape 21"/>
          <p:cNvSpPr/>
          <p:nvPr/>
        </p:nvSpPr>
        <p:spPr>
          <a:xfrm>
            <a:off x="6053328" y="2706624"/>
            <a:ext cx="1307592" cy="1883664"/>
          </a:xfrm>
          <a:prstGeom prst="rect">
            <a:avLst/>
          </a:prstGeom>
          <a:solidFill>
            <a:srgbClr val="0F1E31">
              <a:alpha val="20000"/>
            </a:srgbClr>
          </a:solidFill>
          <a:ln w="10160">
            <a:solidFill>
              <a:srgbClr val="3D9BD8">
                <a:alpha val="60000"/>
              </a:srgbClr>
            </a:solidFill>
            <a:prstDash val="solid"/>
          </a:ln>
        </p:spPr>
      </p:sp>
      <p:sp>
        <p:nvSpPr>
          <p:cNvPr id="25" name="Text 22"/>
          <p:cNvSpPr txBox="1"/>
          <p:nvPr/>
        </p:nvSpPr>
        <p:spPr>
          <a:xfrm>
            <a:off x="6126480" y="2752344"/>
            <a:ext cx="548640" cy="219456"/>
          </a:xfrm>
          <a:prstGeom prst="rect">
            <a:avLst/>
          </a:prstGeom>
          <a:noFill/>
          <a:ln/>
        </p:spPr>
        <p:txBody>
          <a:bodyPr wrap="square" lIns="0" tIns="0" rIns="0" bIns="0" rtlCol="0" anchor="ctr"/>
          <a:lstStyle/>
          <a:p>
            <a:pPr indent="0" marL="0">
              <a:buNone/>
            </a:pPr>
            <a:r>
              <a:rPr lang="en-US" sz="1100" b="1" dirty="0">
                <a:solidFill>
                  <a:srgbClr val="72879D"/>
                </a:solidFill>
                <a:latin typeface="Arial" pitchFamily="34" charset="0"/>
                <a:ea typeface="Arial" pitchFamily="34" charset="-122"/>
                <a:cs typeface="Arial" pitchFamily="34" charset="-120"/>
              </a:rPr>
              <a:t>05</a:t>
            </a:r>
            <a:endParaRPr lang="en-US" sz="1100" dirty="0"/>
          </a:p>
        </p:txBody>
      </p:sp>
      <p:sp>
        <p:nvSpPr>
          <p:cNvPr id="26" name="Text 23"/>
          <p:cNvSpPr txBox="1"/>
          <p:nvPr/>
        </p:nvSpPr>
        <p:spPr>
          <a:xfrm>
            <a:off x="6126480" y="2980944"/>
            <a:ext cx="1161288" cy="457200"/>
          </a:xfrm>
          <a:prstGeom prst="rect">
            <a:avLst/>
          </a:prstGeom>
          <a:noFill/>
          <a:ln/>
        </p:spPr>
        <p:txBody>
          <a:bodyPr wrap="square" lIns="0" tIns="0" rIns="0" bIns="0" rtlCol="0" anchor="ctr"/>
          <a:lstStyle/>
          <a:p>
            <a:pPr indent="0" marL="0">
              <a:lnSpc>
                <a:spcPct val="102000"/>
              </a:lnSpc>
              <a:buNone/>
            </a:pPr>
            <a:r>
              <a:rPr lang="en-US" sz="630" b="1" spc="20" kern="0" dirty="0">
                <a:solidFill>
                  <a:srgbClr val="A9BDD1"/>
                </a:solidFill>
                <a:latin typeface="Arial" pitchFamily="34" charset="0"/>
                <a:ea typeface="Arial" pitchFamily="34" charset="-122"/>
                <a:cs typeface="Arial" pitchFamily="34" charset="-120"/>
              </a:rPr>
              <a:t>AEROSPACE COMPONENTS AND PARTS</a:t>
            </a:r>
            <a:endParaRPr lang="en-US" sz="630" dirty="0"/>
          </a:p>
        </p:txBody>
      </p:sp>
      <p:sp>
        <p:nvSpPr>
          <p:cNvPr id="27" name="Text 24"/>
          <p:cNvSpPr txBox="1"/>
          <p:nvPr/>
        </p:nvSpPr>
        <p:spPr>
          <a:xfrm>
            <a:off x="6126480" y="3419856"/>
            <a:ext cx="1161288" cy="1097280"/>
          </a:xfrm>
          <a:prstGeom prst="rect">
            <a:avLst/>
          </a:prstGeom>
          <a:noFill/>
          <a:ln/>
        </p:spPr>
        <p:txBody>
          <a:bodyPr wrap="square" lIns="0" tIns="0" rIns="0" bIns="0" rtlCol="0" anchor="ctr"/>
          <a:lstStyle/>
          <a:p>
            <a:pPr indent="0" marL="0">
              <a:lnSpc>
                <a:spcPct val="105000"/>
              </a:lnSpc>
              <a:buNone/>
            </a:pPr>
            <a:r>
              <a:rPr lang="en-US" sz="580" dirty="0">
                <a:solidFill>
                  <a:srgbClr val="72879D"/>
                </a:solidFill>
                <a:latin typeface="Arial" pitchFamily="34" charset="0"/>
                <a:ea typeface="Arial" pitchFamily="34" charset="-122"/>
                <a:cs typeface="Arial" pitchFamily="34" charset="-120"/>
              </a:rPr>
              <a:t>A supplier of record on programmes</a:t>
            </a:r>
            <a:endParaRPr lang="en-US" sz="580" dirty="0"/>
          </a:p>
        </p:txBody>
      </p:sp>
      <p:sp>
        <p:nvSpPr>
          <p:cNvPr id="28" name="Shape 25"/>
          <p:cNvSpPr/>
          <p:nvPr/>
        </p:nvSpPr>
        <p:spPr>
          <a:xfrm>
            <a:off x="7411212" y="2377440"/>
            <a:ext cx="1307592" cy="2212848"/>
          </a:xfrm>
          <a:prstGeom prst="rect">
            <a:avLst/>
          </a:prstGeom>
          <a:solidFill>
            <a:srgbClr val="0F1E31">
              <a:alpha val="20000"/>
            </a:srgbClr>
          </a:solidFill>
          <a:ln w="10160">
            <a:solidFill>
              <a:srgbClr val="3D9BD8">
                <a:alpha val="60000"/>
              </a:srgbClr>
            </a:solidFill>
            <a:prstDash val="solid"/>
          </a:ln>
        </p:spPr>
      </p:sp>
      <p:sp>
        <p:nvSpPr>
          <p:cNvPr id="29" name="Text 26"/>
          <p:cNvSpPr txBox="1"/>
          <p:nvPr/>
        </p:nvSpPr>
        <p:spPr>
          <a:xfrm>
            <a:off x="7484364" y="2423160"/>
            <a:ext cx="548640" cy="219456"/>
          </a:xfrm>
          <a:prstGeom prst="rect">
            <a:avLst/>
          </a:prstGeom>
          <a:noFill/>
          <a:ln/>
        </p:spPr>
        <p:txBody>
          <a:bodyPr wrap="square" lIns="0" tIns="0" rIns="0" bIns="0" rtlCol="0" anchor="ctr"/>
          <a:lstStyle/>
          <a:p>
            <a:pPr indent="0" marL="0">
              <a:buNone/>
            </a:pPr>
            <a:r>
              <a:rPr lang="en-US" sz="1100" b="1" dirty="0">
                <a:solidFill>
                  <a:srgbClr val="72879D"/>
                </a:solidFill>
                <a:latin typeface="Arial" pitchFamily="34" charset="0"/>
                <a:ea typeface="Arial" pitchFamily="34" charset="-122"/>
                <a:cs typeface="Arial" pitchFamily="34" charset="-120"/>
              </a:rPr>
              <a:t>06</a:t>
            </a:r>
            <a:endParaRPr lang="en-US" sz="1100" dirty="0"/>
          </a:p>
        </p:txBody>
      </p:sp>
      <p:sp>
        <p:nvSpPr>
          <p:cNvPr id="30" name="Text 27"/>
          <p:cNvSpPr txBox="1"/>
          <p:nvPr/>
        </p:nvSpPr>
        <p:spPr>
          <a:xfrm>
            <a:off x="7484364" y="2651760"/>
            <a:ext cx="1161288" cy="457200"/>
          </a:xfrm>
          <a:prstGeom prst="rect">
            <a:avLst/>
          </a:prstGeom>
          <a:noFill/>
          <a:ln/>
        </p:spPr>
        <p:txBody>
          <a:bodyPr wrap="square" lIns="0" tIns="0" rIns="0" bIns="0" rtlCol="0" anchor="ctr"/>
          <a:lstStyle/>
          <a:p>
            <a:pPr indent="0" marL="0">
              <a:lnSpc>
                <a:spcPct val="102000"/>
              </a:lnSpc>
              <a:buNone/>
            </a:pPr>
            <a:r>
              <a:rPr lang="en-US" sz="630" b="1" spc="20" kern="0" dirty="0">
                <a:solidFill>
                  <a:srgbClr val="A9BDD1"/>
                </a:solidFill>
                <a:latin typeface="Arial" pitchFamily="34" charset="0"/>
                <a:ea typeface="Arial" pitchFamily="34" charset="-122"/>
                <a:cs typeface="Arial" pitchFamily="34" charset="-120"/>
              </a:rPr>
              <a:t>INCREASINGLY COMPLEX SUBASSEMBLIES</a:t>
            </a:r>
            <a:endParaRPr lang="en-US" sz="630" dirty="0"/>
          </a:p>
        </p:txBody>
      </p:sp>
      <p:sp>
        <p:nvSpPr>
          <p:cNvPr id="31" name="Text 28"/>
          <p:cNvSpPr txBox="1"/>
          <p:nvPr/>
        </p:nvSpPr>
        <p:spPr>
          <a:xfrm>
            <a:off x="7484364" y="3090672"/>
            <a:ext cx="1161288" cy="1426464"/>
          </a:xfrm>
          <a:prstGeom prst="rect">
            <a:avLst/>
          </a:prstGeom>
          <a:noFill/>
          <a:ln/>
        </p:spPr>
        <p:txBody>
          <a:bodyPr wrap="square" lIns="0" tIns="0" rIns="0" bIns="0" rtlCol="0" anchor="ctr"/>
          <a:lstStyle/>
          <a:p>
            <a:pPr indent="0" marL="0">
              <a:lnSpc>
                <a:spcPct val="105000"/>
              </a:lnSpc>
              <a:buNone/>
            </a:pPr>
            <a:r>
              <a:rPr lang="en-US" sz="580" dirty="0">
                <a:solidFill>
                  <a:srgbClr val="72879D"/>
                </a:solidFill>
                <a:latin typeface="Arial" pitchFamily="34" charset="0"/>
                <a:ea typeface="Arial" pitchFamily="34" charset="-122"/>
                <a:cs typeface="Arial" pitchFamily="34" charset="-120"/>
              </a:rPr>
              <a:t>Integration and design authority</a:t>
            </a:r>
            <a:endParaRPr lang="en-US" sz="580" dirty="0"/>
          </a:p>
        </p:txBody>
      </p:sp>
      <p:sp>
        <p:nvSpPr>
          <p:cNvPr id="32" name="Shape 29"/>
          <p:cNvSpPr/>
          <p:nvPr/>
        </p:nvSpPr>
        <p:spPr>
          <a:xfrm>
            <a:off x="8769096" y="2048256"/>
            <a:ext cx="1307592" cy="2542032"/>
          </a:xfrm>
          <a:prstGeom prst="rect">
            <a:avLst/>
          </a:prstGeom>
          <a:solidFill>
            <a:srgbClr val="0F1E31">
              <a:alpha val="20000"/>
            </a:srgbClr>
          </a:solidFill>
          <a:ln w="10160">
            <a:solidFill>
              <a:srgbClr val="3D9BD8">
                <a:alpha val="60000"/>
              </a:srgbClr>
            </a:solidFill>
            <a:prstDash val="solid"/>
          </a:ln>
        </p:spPr>
      </p:sp>
      <p:sp>
        <p:nvSpPr>
          <p:cNvPr id="33" name="Text 30"/>
          <p:cNvSpPr txBox="1"/>
          <p:nvPr/>
        </p:nvSpPr>
        <p:spPr>
          <a:xfrm>
            <a:off x="8842248" y="2093976"/>
            <a:ext cx="548640" cy="219456"/>
          </a:xfrm>
          <a:prstGeom prst="rect">
            <a:avLst/>
          </a:prstGeom>
          <a:noFill/>
          <a:ln/>
        </p:spPr>
        <p:txBody>
          <a:bodyPr wrap="square" lIns="0" tIns="0" rIns="0" bIns="0" rtlCol="0" anchor="ctr"/>
          <a:lstStyle/>
          <a:p>
            <a:pPr indent="0" marL="0">
              <a:buNone/>
            </a:pPr>
            <a:r>
              <a:rPr lang="en-US" sz="1100" b="1" dirty="0">
                <a:solidFill>
                  <a:srgbClr val="72879D"/>
                </a:solidFill>
                <a:latin typeface="Arial" pitchFamily="34" charset="0"/>
                <a:ea typeface="Arial" pitchFamily="34" charset="-122"/>
                <a:cs typeface="Arial" pitchFamily="34" charset="-120"/>
              </a:rPr>
              <a:t>07</a:t>
            </a:r>
            <a:endParaRPr lang="en-US" sz="1100" dirty="0"/>
          </a:p>
        </p:txBody>
      </p:sp>
      <p:sp>
        <p:nvSpPr>
          <p:cNvPr id="34" name="Text 31"/>
          <p:cNvSpPr txBox="1"/>
          <p:nvPr/>
        </p:nvSpPr>
        <p:spPr>
          <a:xfrm>
            <a:off x="8842248" y="2322576"/>
            <a:ext cx="1161288" cy="457200"/>
          </a:xfrm>
          <a:prstGeom prst="rect">
            <a:avLst/>
          </a:prstGeom>
          <a:noFill/>
          <a:ln/>
        </p:spPr>
        <p:txBody>
          <a:bodyPr wrap="square" lIns="0" tIns="0" rIns="0" bIns="0" rtlCol="0" anchor="ctr"/>
          <a:lstStyle/>
          <a:p>
            <a:pPr indent="0" marL="0">
              <a:lnSpc>
                <a:spcPct val="102000"/>
              </a:lnSpc>
              <a:buNone/>
            </a:pPr>
            <a:r>
              <a:rPr lang="en-US" sz="630" b="1" spc="20" kern="0" dirty="0">
                <a:solidFill>
                  <a:srgbClr val="A9BDD1"/>
                </a:solidFill>
                <a:latin typeface="Arial" pitchFamily="34" charset="0"/>
                <a:ea typeface="Arial" pitchFamily="34" charset="-122"/>
                <a:cs typeface="Arial" pitchFamily="34" charset="-120"/>
              </a:rPr>
              <a:t>INTEGRATED AEROSPACE AND DEFENSE SYSTEMS</a:t>
            </a:r>
            <a:endParaRPr lang="en-US" sz="630" dirty="0"/>
          </a:p>
        </p:txBody>
      </p:sp>
      <p:sp>
        <p:nvSpPr>
          <p:cNvPr id="35" name="Text 32"/>
          <p:cNvSpPr txBox="1"/>
          <p:nvPr/>
        </p:nvSpPr>
        <p:spPr>
          <a:xfrm>
            <a:off x="8842248" y="2761488"/>
            <a:ext cx="1161288" cy="1755648"/>
          </a:xfrm>
          <a:prstGeom prst="rect">
            <a:avLst/>
          </a:prstGeom>
          <a:noFill/>
          <a:ln/>
        </p:spPr>
        <p:txBody>
          <a:bodyPr wrap="square" lIns="0" tIns="0" rIns="0" bIns="0" rtlCol="0" anchor="ctr"/>
          <a:lstStyle/>
          <a:p>
            <a:pPr indent="0" marL="0">
              <a:lnSpc>
                <a:spcPct val="105000"/>
              </a:lnSpc>
              <a:buNone/>
            </a:pPr>
            <a:r>
              <a:rPr lang="en-US" sz="580" dirty="0">
                <a:solidFill>
                  <a:srgbClr val="72879D"/>
                </a:solidFill>
                <a:latin typeface="Arial" pitchFamily="34" charset="0"/>
                <a:ea typeface="Arial" pitchFamily="34" charset="-122"/>
                <a:cs typeface="Arial" pitchFamily="34" charset="-120"/>
              </a:rPr>
              <a:t>A systems house</a:t>
            </a:r>
            <a:endParaRPr lang="en-US" sz="580" dirty="0"/>
          </a:p>
        </p:txBody>
      </p:sp>
      <p:sp>
        <p:nvSpPr>
          <p:cNvPr id="36" name="Shape 33"/>
          <p:cNvSpPr/>
          <p:nvPr/>
        </p:nvSpPr>
        <p:spPr>
          <a:xfrm>
            <a:off x="10126980" y="1719072"/>
            <a:ext cx="1307592" cy="2871216"/>
          </a:xfrm>
          <a:prstGeom prst="rect">
            <a:avLst/>
          </a:prstGeom>
          <a:solidFill>
            <a:srgbClr val="0F1E31">
              <a:alpha val="20000"/>
            </a:srgbClr>
          </a:solidFill>
          <a:ln w="10160">
            <a:solidFill>
              <a:srgbClr val="3D9BD8">
                <a:alpha val="60000"/>
              </a:srgbClr>
            </a:solidFill>
            <a:prstDash val="solid"/>
          </a:ln>
        </p:spPr>
      </p:sp>
      <p:sp>
        <p:nvSpPr>
          <p:cNvPr id="37" name="Text 34"/>
          <p:cNvSpPr txBox="1"/>
          <p:nvPr/>
        </p:nvSpPr>
        <p:spPr>
          <a:xfrm>
            <a:off x="10200132" y="1764792"/>
            <a:ext cx="548640" cy="219456"/>
          </a:xfrm>
          <a:prstGeom prst="rect">
            <a:avLst/>
          </a:prstGeom>
          <a:noFill/>
          <a:ln/>
        </p:spPr>
        <p:txBody>
          <a:bodyPr wrap="square" lIns="0" tIns="0" rIns="0" bIns="0" rtlCol="0" anchor="ctr"/>
          <a:lstStyle/>
          <a:p>
            <a:pPr indent="0" marL="0">
              <a:buNone/>
            </a:pPr>
            <a:r>
              <a:rPr lang="en-US" sz="1100" b="1" dirty="0">
                <a:solidFill>
                  <a:srgbClr val="72879D"/>
                </a:solidFill>
                <a:latin typeface="Arial" pitchFamily="34" charset="0"/>
                <a:ea typeface="Arial" pitchFamily="34" charset="-122"/>
                <a:cs typeface="Arial" pitchFamily="34" charset="-120"/>
              </a:rPr>
              <a:t>08</a:t>
            </a:r>
            <a:endParaRPr lang="en-US" sz="1100" dirty="0"/>
          </a:p>
        </p:txBody>
      </p:sp>
      <p:sp>
        <p:nvSpPr>
          <p:cNvPr id="38" name="Text 35"/>
          <p:cNvSpPr txBox="1"/>
          <p:nvPr/>
        </p:nvSpPr>
        <p:spPr>
          <a:xfrm>
            <a:off x="10200132" y="1993392"/>
            <a:ext cx="1161288" cy="457200"/>
          </a:xfrm>
          <a:prstGeom prst="rect">
            <a:avLst/>
          </a:prstGeom>
          <a:noFill/>
          <a:ln/>
        </p:spPr>
        <p:txBody>
          <a:bodyPr wrap="square" lIns="0" tIns="0" rIns="0" bIns="0" rtlCol="0" anchor="ctr"/>
          <a:lstStyle/>
          <a:p>
            <a:pPr indent="0" marL="0">
              <a:lnSpc>
                <a:spcPct val="102000"/>
              </a:lnSpc>
              <a:buNone/>
            </a:pPr>
            <a:r>
              <a:rPr lang="en-US" sz="630" b="1" spc="20" kern="0" dirty="0">
                <a:solidFill>
                  <a:srgbClr val="A9BDD1"/>
                </a:solidFill>
                <a:latin typeface="Arial" pitchFamily="34" charset="0"/>
                <a:ea typeface="Arial" pitchFamily="34" charset="-122"/>
                <a:cs typeface="Arial" pitchFamily="34" charset="-120"/>
              </a:rPr>
              <a:t>COMPLETE PLATFORMS</a:t>
            </a:r>
            <a:endParaRPr lang="en-US" sz="630" dirty="0"/>
          </a:p>
        </p:txBody>
      </p:sp>
      <p:sp>
        <p:nvSpPr>
          <p:cNvPr id="39" name="Text 36"/>
          <p:cNvSpPr txBox="1"/>
          <p:nvPr/>
        </p:nvSpPr>
        <p:spPr>
          <a:xfrm>
            <a:off x="10200132" y="2432304"/>
            <a:ext cx="1161288" cy="2084832"/>
          </a:xfrm>
          <a:prstGeom prst="rect">
            <a:avLst/>
          </a:prstGeom>
          <a:noFill/>
          <a:ln/>
        </p:spPr>
        <p:txBody>
          <a:bodyPr wrap="square" lIns="0" tIns="0" rIns="0" bIns="0" rtlCol="0" anchor="ctr"/>
          <a:lstStyle/>
          <a:p>
            <a:pPr indent="0" marL="0">
              <a:lnSpc>
                <a:spcPct val="105000"/>
              </a:lnSpc>
              <a:buNone/>
            </a:pPr>
            <a:r>
              <a:rPr lang="en-US" sz="580" dirty="0">
                <a:solidFill>
                  <a:srgbClr val="72879D"/>
                </a:solidFill>
                <a:latin typeface="Arial" pitchFamily="34" charset="0"/>
                <a:ea typeface="Arial" pitchFamily="34" charset="-122"/>
                <a:cs typeface="Arial" pitchFamily="34" charset="-120"/>
              </a:rPr>
              <a:t>Only if every prior rung produces the economics required</a:t>
            </a:r>
            <a:endParaRPr lang="en-US" sz="580" dirty="0"/>
          </a:p>
        </p:txBody>
      </p:sp>
      <p:sp>
        <p:nvSpPr>
          <p:cNvPr id="40" name="Shape 37"/>
          <p:cNvSpPr/>
          <p:nvPr/>
        </p:nvSpPr>
        <p:spPr>
          <a:xfrm>
            <a:off x="621792" y="4809744"/>
            <a:ext cx="10948111" cy="384048"/>
          </a:xfrm>
          <a:prstGeom prst="roundRect">
            <a:avLst>
              <a:gd name="adj" fmla="val 21429"/>
            </a:avLst>
          </a:prstGeom>
          <a:solidFill>
            <a:srgbClr val="0D2036">
              <a:alpha val="85000"/>
            </a:srgbClr>
          </a:solidFill>
          <a:ln w="9525">
            <a:solidFill>
              <a:srgbClr val="3D9BD8">
                <a:alpha val="75000"/>
              </a:srgbClr>
            </a:solidFill>
            <a:prstDash val="solid"/>
          </a:ln>
          <a:effectLst>
            <a:outerShdw sx="100000" sy="100000" kx="0" ky="0" algn="bl" rotWithShape="0" blurRad="127000" dist="38100" dir="5400000">
              <a:srgbClr val="000000">
                <a:alpha val="35000"/>
              </a:srgbClr>
            </a:outerShdw>
          </a:effectLst>
        </p:spPr>
      </p:sp>
      <p:sp>
        <p:nvSpPr>
          <p:cNvPr id="41" name="Text 38"/>
          <p:cNvSpPr txBox="1"/>
          <p:nvPr/>
        </p:nvSpPr>
        <p:spPr>
          <a:xfrm>
            <a:off x="841248" y="4809744"/>
            <a:ext cx="10509199" cy="384048"/>
          </a:xfrm>
          <a:prstGeom prst="rect">
            <a:avLst/>
          </a:prstGeom>
          <a:noFill/>
          <a:ln/>
        </p:spPr>
        <p:txBody>
          <a:bodyPr wrap="square" lIns="0" tIns="0" rIns="0" bIns="0" rtlCol="0" anchor="ctr"/>
          <a:lstStyle/>
          <a:p>
            <a:pPr indent="0" marL="0">
              <a:lnSpc>
                <a:spcPct val="105000"/>
              </a:lnSpc>
              <a:buNone/>
            </a:pPr>
            <a:r>
              <a:rPr lang="en-US" sz="840" b="1" dirty="0">
                <a:solidFill>
                  <a:srgbClr val="EAF2FA"/>
                </a:solidFill>
                <a:latin typeface="Arial" pitchFamily="34" charset="0"/>
                <a:ea typeface="Arial" pitchFamily="34" charset="-122"/>
                <a:cs typeface="Arial" pitchFamily="34" charset="-120"/>
              </a:rPr>
              <a:t>The outcome becomes large only if Syntrex moves from selling a tool to owning increasingly valuable manufacturing capability and, eventually, production. The comparables that reached the largest scale did that. Nothing above rung one is achieved, promised or dated.</a:t>
            </a:r>
            <a:endParaRPr lang="en-US" sz="840" dirty="0"/>
          </a:p>
        </p:txBody>
      </p:sp>
      <p:sp>
        <p:nvSpPr>
          <p:cNvPr id="42" name="Shape 39"/>
          <p:cNvSpPr/>
          <p:nvPr/>
        </p:nvSpPr>
        <p:spPr>
          <a:xfrm>
            <a:off x="621792" y="5321808"/>
            <a:ext cx="10948111" cy="914400"/>
          </a:xfrm>
          <a:prstGeom prst="roundRect">
            <a:avLst>
              <a:gd name="adj" fmla="val 9000"/>
            </a:avLst>
          </a:prstGeom>
          <a:solidFill>
            <a:srgbClr val="0D2036">
              <a:alpha val="88000"/>
            </a:srgbClr>
          </a:solidFill>
          <a:ln w="12700">
            <a:solidFill>
              <a:srgbClr val="3D9BD8">
                <a:alpha val="75000"/>
              </a:srgbClr>
            </a:solidFill>
            <a:prstDash val="solid"/>
          </a:ln>
          <a:effectLst>
            <a:outerShdw sx="100000" sy="100000" kx="0" ky="0" algn="bl" rotWithShape="0" blurRad="127000" dist="38100" dir="5400000">
              <a:srgbClr val="000000">
                <a:alpha val="35000"/>
              </a:srgbClr>
            </a:outerShdw>
          </a:effectLst>
        </p:spPr>
      </p:sp>
      <p:sp>
        <p:nvSpPr>
          <p:cNvPr id="43" name="Text 40"/>
          <p:cNvSpPr txBox="1"/>
          <p:nvPr/>
        </p:nvSpPr>
        <p:spPr>
          <a:xfrm>
            <a:off x="896112" y="5468112"/>
            <a:ext cx="3146450" cy="201168"/>
          </a:xfrm>
          <a:prstGeom prst="rect">
            <a:avLst/>
          </a:prstGeom>
          <a:noFill/>
          <a:ln/>
        </p:spPr>
        <p:txBody>
          <a:bodyPr wrap="square" lIns="0" tIns="0" rIns="0" bIns="0" rtlCol="0" anchor="ctr"/>
          <a:lstStyle/>
          <a:p>
            <a:pPr indent="0" marL="0">
              <a:buNone/>
            </a:pPr>
            <a:r>
              <a:rPr lang="en-US" sz="800" b="1" spc="120" kern="0" dirty="0">
                <a:solidFill>
                  <a:srgbClr val="6FD3FF"/>
                </a:solidFill>
                <a:latin typeface="Arial" pitchFamily="34" charset="0"/>
                <a:ea typeface="Arial" pitchFamily="34" charset="-122"/>
                <a:cs typeface="Arial" pitchFamily="34" charset="-120"/>
              </a:rPr>
              <a:t>WHAT EXISTS TODAY</a:t>
            </a:r>
            <a:endParaRPr lang="en-US" sz="800" dirty="0"/>
          </a:p>
        </p:txBody>
      </p:sp>
      <p:sp>
        <p:nvSpPr>
          <p:cNvPr id="44" name="Text 41"/>
          <p:cNvSpPr txBox="1"/>
          <p:nvPr/>
        </p:nvSpPr>
        <p:spPr>
          <a:xfrm>
            <a:off x="896112" y="5687568"/>
            <a:ext cx="3146450" cy="502920"/>
          </a:xfrm>
          <a:prstGeom prst="rect">
            <a:avLst/>
          </a:prstGeom>
          <a:noFill/>
          <a:ln/>
        </p:spPr>
        <p:txBody>
          <a:bodyPr wrap="square" lIns="0" tIns="0" rIns="0" bIns="0" rtlCol="0" anchor="ctr"/>
          <a:lstStyle/>
          <a:p>
            <a:pPr indent="0" marL="0">
              <a:lnSpc>
                <a:spcPct val="110000"/>
              </a:lnSpc>
              <a:buNone/>
            </a:pPr>
            <a:r>
              <a:rPr lang="en-US" sz="800" dirty="0">
                <a:solidFill>
                  <a:srgbClr val="A9BDD1"/>
                </a:solidFill>
                <a:latin typeface="Arial" pitchFamily="34" charset="0"/>
                <a:ea typeface="Arial" pitchFamily="34" charset="-122"/>
                <a:cs typeface="Arial" pitchFamily="34" charset="-120"/>
              </a:rPr>
              <a:t>An architecture, a validation programme, senior technical authority.</a:t>
            </a:r>
            <a:endParaRPr lang="en-US" sz="800" dirty="0"/>
          </a:p>
        </p:txBody>
      </p:sp>
      <p:sp>
        <p:nvSpPr>
          <p:cNvPr id="45" name="Shape 42"/>
          <p:cNvSpPr/>
          <p:nvPr/>
        </p:nvSpPr>
        <p:spPr>
          <a:xfrm>
            <a:off x="4216298" y="5468112"/>
            <a:ext cx="0" cy="621792"/>
          </a:xfrm>
          <a:prstGeom prst="line">
            <a:avLst/>
          </a:prstGeom>
          <a:noFill/>
          <a:ln w="9525">
            <a:solidFill>
              <a:srgbClr val="23405C"/>
            </a:solidFill>
            <a:prstDash val="solid"/>
          </a:ln>
        </p:spPr>
      </p:sp>
      <p:sp>
        <p:nvSpPr>
          <p:cNvPr id="46" name="Text 43"/>
          <p:cNvSpPr txBox="1"/>
          <p:nvPr/>
        </p:nvSpPr>
        <p:spPr>
          <a:xfrm>
            <a:off x="4362602" y="5468112"/>
            <a:ext cx="3146450" cy="201168"/>
          </a:xfrm>
          <a:prstGeom prst="rect">
            <a:avLst/>
          </a:prstGeom>
          <a:noFill/>
          <a:ln/>
        </p:spPr>
        <p:txBody>
          <a:bodyPr wrap="square" lIns="0" tIns="0" rIns="0" bIns="0" rtlCol="0" anchor="ctr"/>
          <a:lstStyle/>
          <a:p>
            <a:pPr indent="0" marL="0">
              <a:buNone/>
            </a:pPr>
            <a:r>
              <a:rPr lang="en-US" sz="800" b="1" spc="120" kern="0" dirty="0">
                <a:solidFill>
                  <a:srgbClr val="6FD3FF"/>
                </a:solidFill>
                <a:latin typeface="Arial" pitchFamily="34" charset="0"/>
                <a:ea typeface="Arial" pitchFamily="34" charset="-122"/>
                <a:cs typeface="Arial" pitchFamily="34" charset="-120"/>
              </a:rPr>
              <a:t>THE EVIDENCE THIS ROUND FUNDS</a:t>
            </a:r>
            <a:endParaRPr lang="en-US" sz="800" dirty="0"/>
          </a:p>
        </p:txBody>
      </p:sp>
      <p:sp>
        <p:nvSpPr>
          <p:cNvPr id="47" name="Text 44"/>
          <p:cNvSpPr txBox="1"/>
          <p:nvPr/>
        </p:nvSpPr>
        <p:spPr>
          <a:xfrm>
            <a:off x="4362602" y="5687568"/>
            <a:ext cx="3146450" cy="502920"/>
          </a:xfrm>
          <a:prstGeom prst="rect">
            <a:avLst/>
          </a:prstGeom>
          <a:noFill/>
          <a:ln/>
        </p:spPr>
        <p:txBody>
          <a:bodyPr wrap="square" lIns="0" tIns="0" rIns="0" bIns="0" rtlCol="0" anchor="ctr"/>
          <a:lstStyle/>
          <a:p>
            <a:pPr indent="0" marL="0">
              <a:lnSpc>
                <a:spcPct val="110000"/>
              </a:lnSpc>
              <a:buNone/>
            </a:pPr>
            <a:r>
              <a:rPr lang="en-US" sz="800" dirty="0">
                <a:solidFill>
                  <a:srgbClr val="A9BDD1"/>
                </a:solidFill>
                <a:latin typeface="Arial" pitchFamily="34" charset="0"/>
                <a:ea typeface="Arial" pitchFamily="34" charset="-122"/>
                <a:cs typeface="Arial" pitchFamily="34" charset="-120"/>
              </a:rPr>
              <a:t>One operation class end to end, a measured uncertainty budget, one bounded customer engagement.</a:t>
            </a:r>
            <a:endParaRPr lang="en-US" sz="800" dirty="0"/>
          </a:p>
        </p:txBody>
      </p:sp>
      <p:sp>
        <p:nvSpPr>
          <p:cNvPr id="48" name="Shape 45"/>
          <p:cNvSpPr/>
          <p:nvPr/>
        </p:nvSpPr>
        <p:spPr>
          <a:xfrm>
            <a:off x="7682789" y="5468112"/>
            <a:ext cx="0" cy="621792"/>
          </a:xfrm>
          <a:prstGeom prst="line">
            <a:avLst/>
          </a:prstGeom>
          <a:noFill/>
          <a:ln w="9525">
            <a:solidFill>
              <a:srgbClr val="23405C"/>
            </a:solidFill>
            <a:prstDash val="solid"/>
          </a:ln>
        </p:spPr>
      </p:sp>
      <p:sp>
        <p:nvSpPr>
          <p:cNvPr id="49" name="Text 46"/>
          <p:cNvSpPr txBox="1"/>
          <p:nvPr/>
        </p:nvSpPr>
        <p:spPr>
          <a:xfrm>
            <a:off x="7829093" y="5468112"/>
            <a:ext cx="3146450" cy="201168"/>
          </a:xfrm>
          <a:prstGeom prst="rect">
            <a:avLst/>
          </a:prstGeom>
          <a:noFill/>
          <a:ln/>
        </p:spPr>
        <p:txBody>
          <a:bodyPr wrap="square" lIns="0" tIns="0" rIns="0" bIns="0" rtlCol="0" anchor="ctr"/>
          <a:lstStyle/>
          <a:p>
            <a:pPr indent="0" marL="0">
              <a:buNone/>
            </a:pPr>
            <a:r>
              <a:rPr lang="en-US" sz="800" b="1" spc="120" kern="0" dirty="0">
                <a:solidFill>
                  <a:srgbClr val="6FD3FF"/>
                </a:solidFill>
                <a:latin typeface="Arial" pitchFamily="34" charset="0"/>
                <a:ea typeface="Arial" pitchFamily="34" charset="-122"/>
                <a:cs typeface="Arial" pitchFamily="34" charset="-120"/>
              </a:rPr>
              <a:t>WHAT BECOMES POSSIBLE</a:t>
            </a:r>
            <a:endParaRPr lang="en-US" sz="800" dirty="0"/>
          </a:p>
        </p:txBody>
      </p:sp>
      <p:sp>
        <p:nvSpPr>
          <p:cNvPr id="50" name="Text 47"/>
          <p:cNvSpPr txBox="1"/>
          <p:nvPr/>
        </p:nvSpPr>
        <p:spPr>
          <a:xfrm>
            <a:off x="7829093" y="5687568"/>
            <a:ext cx="3146450" cy="502920"/>
          </a:xfrm>
          <a:prstGeom prst="rect">
            <a:avLst/>
          </a:prstGeom>
          <a:noFill/>
          <a:ln/>
        </p:spPr>
        <p:txBody>
          <a:bodyPr wrap="square" lIns="0" tIns="0" rIns="0" bIns="0" rtlCol="0" anchor="ctr"/>
          <a:lstStyle/>
          <a:p>
            <a:pPr indent="0" marL="0">
              <a:lnSpc>
                <a:spcPct val="110000"/>
              </a:lnSpc>
              <a:buNone/>
            </a:pPr>
            <a:r>
              <a:rPr lang="en-US" sz="800" dirty="0">
                <a:solidFill>
                  <a:srgbClr val="A9BDD1"/>
                </a:solidFill>
                <a:latin typeface="Arial" pitchFamily="34" charset="0"/>
                <a:ea typeface="Arial" pitchFamily="34" charset="-122"/>
                <a:cs typeface="Arial" pitchFamily="34" charset="-120"/>
              </a:rPr>
              <a:t>Rungs two through eight, each conditional on the evidence and obligations of the rung below.</a:t>
            </a:r>
            <a:endParaRPr lang="en-US" sz="800" dirty="0"/>
          </a:p>
        </p:txBody>
      </p:sp>
      <p:sp>
        <p:nvSpPr>
          <p:cNvPr id="51" name="Text 48"/>
          <p:cNvSpPr txBox="1"/>
          <p:nvPr/>
        </p:nvSpPr>
        <p:spPr>
          <a:xfrm>
            <a:off x="621792" y="6345936"/>
            <a:ext cx="10948111" cy="274320"/>
          </a:xfrm>
          <a:prstGeom prst="rect">
            <a:avLst/>
          </a:prstGeom>
          <a:noFill/>
          <a:ln/>
        </p:spPr>
        <p:txBody>
          <a:bodyPr wrap="square" lIns="0" tIns="0" rIns="0" bIns="0" rtlCol="0" anchor="ctr"/>
          <a:lstStyle/>
          <a:p>
            <a:pPr indent="0" marL="0">
              <a:buNone/>
            </a:pPr>
            <a:r>
              <a:rPr lang="en-US" sz="1000" b="1" dirty="0">
                <a:solidFill>
                  <a:srgbClr val="EAF2FA"/>
                </a:solidFill>
                <a:latin typeface="Arial" pitchFamily="34" charset="0"/>
                <a:ea typeface="Arial" pitchFamily="34" charset="-122"/>
                <a:cs typeface="Arial" pitchFamily="34" charset="-120"/>
              </a:rPr>
              <a:t>Every rung above the first depends on physical evidence that does not exist yet — and from rung four the company changes kind.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18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850" b="1" spc="160" kern="0" dirty="0">
                <a:solidFill>
                  <a:srgbClr val="6FD3FF"/>
                </a:solidFill>
                <a:latin typeface="Arial" pitchFamily="34" charset="0"/>
                <a:ea typeface="Arial" pitchFamily="34" charset="-122"/>
                <a:cs typeface="Arial" pitchFamily="34" charset="-120"/>
              </a:rPr>
              <a:t>TEAM · CADENCE · THE TWELVE-MONTH EVIDENCE SPRINT</a:t>
            </a:r>
            <a:endParaRPr lang="en-US" sz="850" dirty="0"/>
          </a:p>
        </p:txBody>
      </p:sp>
      <p:sp>
        <p:nvSpPr>
          <p:cNvPr id="5" name="Text 3"/>
          <p:cNvSpPr txBox="1"/>
          <p:nvPr/>
        </p:nvSpPr>
        <p:spPr>
          <a:xfrm>
            <a:off x="621792" y="786384"/>
            <a:ext cx="10948111" cy="822960"/>
          </a:xfrm>
          <a:prstGeom prst="rect">
            <a:avLst/>
          </a:prstGeom>
          <a:noFill/>
          <a:ln/>
        </p:spPr>
        <p:txBody>
          <a:bodyPr wrap="square" lIns="0" tIns="0" rIns="0" bIns="0" rtlCol="0" anchor="t"/>
          <a:lstStyle/>
          <a:p>
            <a:pPr indent="0" marL="0">
              <a:lnSpc>
                <a:spcPct val="102000"/>
              </a:lnSpc>
              <a:buNone/>
            </a:pPr>
            <a:r>
              <a:rPr lang="en-US" sz="2200" b="1" dirty="0">
                <a:solidFill>
                  <a:srgbClr val="EAF2FA"/>
                </a:solidFill>
                <a:latin typeface="Arial" pitchFamily="34" charset="0"/>
                <a:ea typeface="Arial" pitchFamily="34" charset="-122"/>
                <a:cs typeface="Arial" pitchFamily="34" charset="-120"/>
              </a:rPr>
              <a:t>A small core, organised for evidence velocity.</a:t>
            </a:r>
            <a:endParaRPr lang="en-US" sz="2200" dirty="0"/>
          </a:p>
          <a:p>
            <a:pPr indent="0" marL="0">
              <a:lnSpc>
                <a:spcPct val="102000"/>
              </a:lnSpc>
              <a:buNone/>
            </a:pPr>
            <a:r>
              <a:rPr lang="en-US" sz="2200" dirty="0">
                <a:solidFill>
                  <a:srgbClr val="A9BDD1"/>
                </a:solidFill>
                <a:latin typeface="Arial" pitchFamily="34" charset="0"/>
                <a:ea typeface="Arial" pitchFamily="34" charset="-122"/>
                <a:cs typeface="Arial" pitchFamily="34" charset="-120"/>
              </a:rPr>
              <a:t>The engineering nucleus is what this round hires.</a:t>
            </a:r>
            <a:endParaRPr lang="en-US" sz="2200" dirty="0"/>
          </a:p>
        </p:txBody>
      </p:sp>
      <p:sp>
        <p:nvSpPr>
          <p:cNvPr id="6" name="Text 4"/>
          <p:cNvSpPr txBox="1"/>
          <p:nvPr/>
        </p:nvSpPr>
        <p:spPr>
          <a:xfrm>
            <a:off x="621792" y="1664208"/>
            <a:ext cx="7315200" cy="201168"/>
          </a:xfrm>
          <a:prstGeom prst="rect">
            <a:avLst/>
          </a:prstGeom>
          <a:noFill/>
          <a:ln/>
        </p:spPr>
        <p:txBody>
          <a:bodyPr wrap="square" lIns="0" tIns="0" rIns="0" bIns="0" rtlCol="0" anchor="ctr"/>
          <a:lstStyle/>
          <a:p>
            <a:pPr indent="0" marL="0">
              <a:buNone/>
            </a:pPr>
            <a:r>
              <a:rPr lang="en-US" sz="800" b="1" spc="100" kern="0" dirty="0">
                <a:solidFill>
                  <a:srgbClr val="6FD3FF"/>
                </a:solidFill>
                <a:latin typeface="Arial" pitchFamily="34" charset="0"/>
                <a:ea typeface="Arial" pitchFamily="34" charset="-122"/>
                <a:cs typeface="Arial" pitchFamily="34" charset="-120"/>
              </a:rPr>
              <a:t>OPERATING CORE — one full-time founder today. No full-time technical staff.</a:t>
            </a:r>
            <a:endParaRPr lang="en-US" sz="800" dirty="0"/>
          </a:p>
        </p:txBody>
      </p:sp>
      <p:sp>
        <p:nvSpPr>
          <p:cNvPr id="7" name="Shape 5"/>
          <p:cNvSpPr/>
          <p:nvPr/>
        </p:nvSpPr>
        <p:spPr>
          <a:xfrm>
            <a:off x="621792" y="1901952"/>
            <a:ext cx="2249424" cy="969264"/>
          </a:xfrm>
          <a:prstGeom prst="roundRect">
            <a:avLst>
              <a:gd name="adj" fmla="val 5660"/>
            </a:avLst>
          </a:prstGeom>
          <a:solidFill>
            <a:srgbClr val="10304F">
              <a:alpha val="84000"/>
            </a:srgbClr>
          </a:solidFill>
          <a:ln w="12700">
            <a:solidFill>
              <a:srgbClr val="3D9BD8"/>
            </a:solidFill>
            <a:prstDash val="solid"/>
          </a:ln>
        </p:spPr>
      </p:sp>
      <p:sp>
        <p:nvSpPr>
          <p:cNvPr id="8" name="Text 6"/>
          <p:cNvSpPr txBox="1"/>
          <p:nvPr/>
        </p:nvSpPr>
        <p:spPr>
          <a:xfrm>
            <a:off x="749808" y="1975104"/>
            <a:ext cx="2011680" cy="219456"/>
          </a:xfrm>
          <a:prstGeom prst="rect">
            <a:avLst/>
          </a:prstGeom>
          <a:noFill/>
          <a:ln/>
        </p:spPr>
        <p:txBody>
          <a:bodyPr wrap="square" lIns="0" tIns="0" rIns="0" bIns="0" rtlCol="0" anchor="ctr"/>
          <a:lstStyle/>
          <a:p>
            <a:pPr indent="0" marL="0">
              <a:buNone/>
            </a:pPr>
            <a:r>
              <a:rPr lang="en-US" sz="950" b="1" dirty="0">
                <a:solidFill>
                  <a:srgbClr val="EAF2FA"/>
                </a:solidFill>
                <a:latin typeface="Arial" pitchFamily="34" charset="0"/>
                <a:ea typeface="Arial" pitchFamily="34" charset="-122"/>
                <a:cs typeface="Arial" pitchFamily="34" charset="-120"/>
              </a:rPr>
              <a:t>Henry Bello</a:t>
            </a:r>
            <a:endParaRPr lang="en-US" sz="950" dirty="0"/>
          </a:p>
        </p:txBody>
      </p:sp>
      <p:sp>
        <p:nvSpPr>
          <p:cNvPr id="9" name="Text 7"/>
          <p:cNvSpPr txBox="1"/>
          <p:nvPr/>
        </p:nvSpPr>
        <p:spPr>
          <a:xfrm>
            <a:off x="749808" y="2194560"/>
            <a:ext cx="2011680" cy="292608"/>
          </a:xfrm>
          <a:prstGeom prst="rect">
            <a:avLst/>
          </a:prstGeom>
          <a:noFill/>
          <a:ln/>
        </p:spPr>
        <p:txBody>
          <a:bodyPr wrap="square" lIns="0" tIns="0" rIns="0" bIns="0" rtlCol="0" anchor="ctr"/>
          <a:lstStyle/>
          <a:p>
            <a:pPr indent="0" marL="0">
              <a:lnSpc>
                <a:spcPct val="105000"/>
              </a:lnSpc>
              <a:buNone/>
            </a:pPr>
            <a:r>
              <a:rPr lang="en-US" sz="620" b="1" spc="80" kern="0" dirty="0">
                <a:solidFill>
                  <a:srgbClr val="6FD3FF"/>
                </a:solidFill>
                <a:latin typeface="Arial" pitchFamily="34" charset="0"/>
                <a:ea typeface="Arial" pitchFamily="34" charset="-122"/>
                <a:cs typeface="Arial" pitchFamily="34" charset="-120"/>
              </a:rPr>
              <a:t>FOUNDER &amp; CEO</a:t>
            </a:r>
            <a:endParaRPr lang="en-US" sz="620" dirty="0"/>
          </a:p>
        </p:txBody>
      </p:sp>
      <p:sp>
        <p:nvSpPr>
          <p:cNvPr id="10" name="Text 8"/>
          <p:cNvSpPr txBox="1"/>
          <p:nvPr/>
        </p:nvSpPr>
        <p:spPr>
          <a:xfrm>
            <a:off x="749808" y="2432304"/>
            <a:ext cx="2011680" cy="402336"/>
          </a:xfrm>
          <a:prstGeom prst="rect">
            <a:avLst/>
          </a:prstGeom>
          <a:noFill/>
          <a:ln/>
        </p:spPr>
        <p:txBody>
          <a:bodyPr wrap="square" lIns="0" tIns="0" rIns="0" bIns="0" rtlCol="0" anchor="ctr"/>
          <a:lstStyle/>
          <a:p>
            <a:pPr indent="0" marL="0">
              <a:lnSpc>
                <a:spcPct val="100000"/>
              </a:lnSpc>
              <a:buNone/>
            </a:pPr>
            <a:r>
              <a:rPr lang="en-US" sz="640" dirty="0">
                <a:solidFill>
                  <a:srgbClr val="A9BDD1"/>
                </a:solidFill>
                <a:latin typeface="Arial" pitchFamily="34" charset="0"/>
                <a:ea typeface="Arial" pitchFamily="34" charset="-122"/>
                <a:cs typeface="Arial" pitchFamily="34" charset="-120"/>
              </a:rPr>
              <a:t>Strategy, capital allocation, recruiting, organisational design, customer relationships, decision-making, technical synthesis across specialist authority.</a:t>
            </a:r>
            <a:endParaRPr lang="en-US" sz="640" dirty="0"/>
          </a:p>
        </p:txBody>
      </p:sp>
      <p:sp>
        <p:nvSpPr>
          <p:cNvPr id="11" name="Shape 9"/>
          <p:cNvSpPr/>
          <p:nvPr/>
        </p:nvSpPr>
        <p:spPr>
          <a:xfrm>
            <a:off x="2999232" y="1901952"/>
            <a:ext cx="2249424" cy="969264"/>
          </a:xfrm>
          <a:prstGeom prst="roundRect">
            <a:avLst>
              <a:gd name="adj" fmla="val 5660"/>
            </a:avLst>
          </a:prstGeom>
          <a:solidFill>
            <a:srgbClr val="10304F">
              <a:alpha val="84000"/>
            </a:srgbClr>
          </a:solidFill>
          <a:ln w="12700">
            <a:solidFill>
              <a:srgbClr val="3D9BD8"/>
            </a:solidFill>
            <a:prstDash val="solid"/>
          </a:ln>
        </p:spPr>
      </p:sp>
      <p:sp>
        <p:nvSpPr>
          <p:cNvPr id="12" name="Text 10"/>
          <p:cNvSpPr txBox="1"/>
          <p:nvPr/>
        </p:nvSpPr>
        <p:spPr>
          <a:xfrm>
            <a:off x="3127248" y="1975104"/>
            <a:ext cx="2011680" cy="219456"/>
          </a:xfrm>
          <a:prstGeom prst="rect">
            <a:avLst/>
          </a:prstGeom>
          <a:noFill/>
          <a:ln/>
        </p:spPr>
        <p:txBody>
          <a:bodyPr wrap="square" lIns="0" tIns="0" rIns="0" bIns="0" rtlCol="0" anchor="ctr"/>
          <a:lstStyle/>
          <a:p>
            <a:pPr indent="0" marL="0">
              <a:buNone/>
            </a:pPr>
            <a:r>
              <a:rPr lang="en-US" sz="950" b="1" dirty="0">
                <a:solidFill>
                  <a:srgbClr val="EAF2FA"/>
                </a:solidFill>
                <a:latin typeface="Arial" pitchFamily="34" charset="0"/>
                <a:ea typeface="Arial" pitchFamily="34" charset="-122"/>
                <a:cs typeface="Arial" pitchFamily="34" charset="-120"/>
              </a:rPr>
              <a:t>Sofia Weeden</a:t>
            </a:r>
            <a:endParaRPr lang="en-US" sz="950" dirty="0"/>
          </a:p>
        </p:txBody>
      </p:sp>
      <p:sp>
        <p:nvSpPr>
          <p:cNvPr id="13" name="Text 11"/>
          <p:cNvSpPr txBox="1"/>
          <p:nvPr/>
        </p:nvSpPr>
        <p:spPr>
          <a:xfrm>
            <a:off x="3127248" y="2194560"/>
            <a:ext cx="2011680" cy="292608"/>
          </a:xfrm>
          <a:prstGeom prst="rect">
            <a:avLst/>
          </a:prstGeom>
          <a:noFill/>
          <a:ln/>
        </p:spPr>
        <p:txBody>
          <a:bodyPr wrap="square" lIns="0" tIns="0" rIns="0" bIns="0" rtlCol="0" anchor="ctr"/>
          <a:lstStyle/>
          <a:p>
            <a:pPr indent="0" marL="0">
              <a:lnSpc>
                <a:spcPct val="105000"/>
              </a:lnSpc>
              <a:buNone/>
            </a:pPr>
            <a:r>
              <a:rPr lang="en-US" sz="620" b="1" spc="80" kern="0" dirty="0">
                <a:solidFill>
                  <a:srgbClr val="6FD3FF"/>
                </a:solidFill>
                <a:latin typeface="Arial" pitchFamily="34" charset="0"/>
                <a:ea typeface="Arial" pitchFamily="34" charset="-122"/>
                <a:cs typeface="Arial" pitchFamily="34" charset="-120"/>
              </a:rPr>
              <a:t>CFO, FRACTIONAL</a:t>
            </a:r>
            <a:endParaRPr lang="en-US" sz="620" dirty="0"/>
          </a:p>
        </p:txBody>
      </p:sp>
      <p:sp>
        <p:nvSpPr>
          <p:cNvPr id="14" name="Text 12"/>
          <p:cNvSpPr txBox="1"/>
          <p:nvPr/>
        </p:nvSpPr>
        <p:spPr>
          <a:xfrm>
            <a:off x="3127248" y="2432304"/>
            <a:ext cx="2011680" cy="402336"/>
          </a:xfrm>
          <a:prstGeom prst="rect">
            <a:avLst/>
          </a:prstGeom>
          <a:noFill/>
          <a:ln/>
        </p:spPr>
        <p:txBody>
          <a:bodyPr wrap="square" lIns="0" tIns="0" rIns="0" bIns="0" rtlCol="0" anchor="ctr"/>
          <a:lstStyle/>
          <a:p>
            <a:pPr indent="0" marL="0">
              <a:lnSpc>
                <a:spcPct val="100000"/>
              </a:lnSpc>
              <a:buNone/>
            </a:pPr>
            <a:r>
              <a:rPr lang="en-US" sz="640" dirty="0">
                <a:solidFill>
                  <a:srgbClr val="A9BDD1"/>
                </a:solidFill>
                <a:latin typeface="Arial" pitchFamily="34" charset="0"/>
                <a:ea typeface="Arial" pitchFamily="34" charset="-122"/>
                <a:cs typeface="Arial" pitchFamily="34" charset="-120"/>
              </a:rPr>
              <a:t>Financial strategy, capital planning, investor readiness, operating infrastructure.</a:t>
            </a:r>
            <a:endParaRPr lang="en-US" sz="640" dirty="0"/>
          </a:p>
        </p:txBody>
      </p:sp>
      <p:sp>
        <p:nvSpPr>
          <p:cNvPr id="15" name="Shape 13"/>
          <p:cNvSpPr/>
          <p:nvPr/>
        </p:nvSpPr>
        <p:spPr>
          <a:xfrm>
            <a:off x="5376672" y="1901952"/>
            <a:ext cx="2249424" cy="969264"/>
          </a:xfrm>
          <a:prstGeom prst="roundRect">
            <a:avLst>
              <a:gd name="adj" fmla="val 5660"/>
            </a:avLst>
          </a:prstGeom>
          <a:solidFill>
            <a:srgbClr val="10304F">
              <a:alpha val="84000"/>
            </a:srgbClr>
          </a:solidFill>
          <a:ln w="12700">
            <a:solidFill>
              <a:srgbClr val="3D9BD8"/>
            </a:solidFill>
            <a:prstDash val="solid"/>
          </a:ln>
        </p:spPr>
      </p:sp>
      <p:sp>
        <p:nvSpPr>
          <p:cNvPr id="16" name="Text 14"/>
          <p:cNvSpPr txBox="1"/>
          <p:nvPr/>
        </p:nvSpPr>
        <p:spPr>
          <a:xfrm>
            <a:off x="5504688" y="1975104"/>
            <a:ext cx="2011680" cy="219456"/>
          </a:xfrm>
          <a:prstGeom prst="rect">
            <a:avLst/>
          </a:prstGeom>
          <a:noFill/>
          <a:ln/>
        </p:spPr>
        <p:txBody>
          <a:bodyPr wrap="square" lIns="0" tIns="0" rIns="0" bIns="0" rtlCol="0" anchor="ctr"/>
          <a:lstStyle/>
          <a:p>
            <a:pPr indent="0" marL="0">
              <a:buNone/>
            </a:pPr>
            <a:r>
              <a:rPr lang="en-US" sz="950" b="1" dirty="0">
                <a:solidFill>
                  <a:srgbClr val="EAF2FA"/>
                </a:solidFill>
                <a:latin typeface="Arial" pitchFamily="34" charset="0"/>
                <a:ea typeface="Arial" pitchFamily="34" charset="-122"/>
                <a:cs typeface="Arial" pitchFamily="34" charset="-120"/>
              </a:rPr>
              <a:t>Alexander Ohmer</a:t>
            </a:r>
            <a:endParaRPr lang="en-US" sz="950" dirty="0"/>
          </a:p>
        </p:txBody>
      </p:sp>
      <p:sp>
        <p:nvSpPr>
          <p:cNvPr id="17" name="Text 15"/>
          <p:cNvSpPr txBox="1"/>
          <p:nvPr/>
        </p:nvSpPr>
        <p:spPr>
          <a:xfrm>
            <a:off x="5504688" y="2194560"/>
            <a:ext cx="2011680" cy="292608"/>
          </a:xfrm>
          <a:prstGeom prst="rect">
            <a:avLst/>
          </a:prstGeom>
          <a:noFill/>
          <a:ln/>
        </p:spPr>
        <p:txBody>
          <a:bodyPr wrap="square" lIns="0" tIns="0" rIns="0" bIns="0" rtlCol="0" anchor="ctr"/>
          <a:lstStyle/>
          <a:p>
            <a:pPr indent="0" marL="0">
              <a:lnSpc>
                <a:spcPct val="105000"/>
              </a:lnSpc>
              <a:buNone/>
            </a:pPr>
            <a:r>
              <a:rPr lang="en-US" sz="620" b="1" spc="80" kern="0" dirty="0">
                <a:solidFill>
                  <a:srgbClr val="6FD3FF"/>
                </a:solidFill>
                <a:latin typeface="Arial" pitchFamily="34" charset="0"/>
                <a:ea typeface="Arial" pitchFamily="34" charset="-122"/>
                <a:cs typeface="Arial" pitchFamily="34" charset="-120"/>
              </a:rPr>
              <a:t>STRATEGIC OPERATIONS, PART-TIME</a:t>
            </a:r>
            <a:endParaRPr lang="en-US" sz="620" dirty="0"/>
          </a:p>
        </p:txBody>
      </p:sp>
      <p:sp>
        <p:nvSpPr>
          <p:cNvPr id="18" name="Text 16"/>
          <p:cNvSpPr txBox="1"/>
          <p:nvPr/>
        </p:nvSpPr>
        <p:spPr>
          <a:xfrm>
            <a:off x="5504688" y="2432304"/>
            <a:ext cx="2011680" cy="402336"/>
          </a:xfrm>
          <a:prstGeom prst="rect">
            <a:avLst/>
          </a:prstGeom>
          <a:noFill/>
          <a:ln/>
        </p:spPr>
        <p:txBody>
          <a:bodyPr wrap="square" lIns="0" tIns="0" rIns="0" bIns="0" rtlCol="0" anchor="ctr"/>
          <a:lstStyle/>
          <a:p>
            <a:pPr indent="0" marL="0">
              <a:lnSpc>
                <a:spcPct val="100000"/>
              </a:lnSpc>
              <a:buNone/>
            </a:pPr>
            <a:r>
              <a:rPr lang="en-US" sz="640" dirty="0">
                <a:solidFill>
                  <a:srgbClr val="A9BDD1"/>
                </a:solidFill>
                <a:latin typeface="Arial" pitchFamily="34" charset="0"/>
                <a:ea typeface="Arial" pitchFamily="34" charset="-122"/>
                <a:cs typeface="Arial" pitchFamily="34" charset="-120"/>
              </a:rPr>
              <a:t>Project coordination and internal execution support.</a:t>
            </a:r>
            <a:endParaRPr lang="en-US" sz="640" dirty="0"/>
          </a:p>
        </p:txBody>
      </p:sp>
      <p:sp>
        <p:nvSpPr>
          <p:cNvPr id="19" name="Text 17"/>
          <p:cNvSpPr txBox="1"/>
          <p:nvPr/>
        </p:nvSpPr>
        <p:spPr>
          <a:xfrm>
            <a:off x="621792" y="2999232"/>
            <a:ext cx="7315200" cy="201168"/>
          </a:xfrm>
          <a:prstGeom prst="rect">
            <a:avLst/>
          </a:prstGeom>
          <a:noFill/>
          <a:ln/>
        </p:spPr>
        <p:txBody>
          <a:bodyPr wrap="square" lIns="0" tIns="0" rIns="0" bIns="0" rtlCol="0" anchor="ctr"/>
          <a:lstStyle/>
          <a:p>
            <a:pPr indent="0" marL="0">
              <a:buNone/>
            </a:pPr>
            <a:r>
              <a:rPr lang="en-US" sz="800" b="1" spc="100" kern="0" dirty="0">
                <a:solidFill>
                  <a:srgbClr val="A9BDD1"/>
                </a:solidFill>
                <a:latin typeface="Arial" pitchFamily="34" charset="0"/>
                <a:ea typeface="Arial" pitchFamily="34" charset="-122"/>
                <a:cs typeface="Arial" pitchFamily="34" charset="-120"/>
              </a:rPr>
              <a:t>FUNDED BY THIS ROUND — six technical roles, none filled today</a:t>
            </a:r>
            <a:endParaRPr lang="en-US" sz="800" dirty="0"/>
          </a:p>
        </p:txBody>
      </p:sp>
      <p:sp>
        <p:nvSpPr>
          <p:cNvPr id="20" name="Shape 18"/>
          <p:cNvSpPr/>
          <p:nvPr/>
        </p:nvSpPr>
        <p:spPr>
          <a:xfrm>
            <a:off x="621792" y="3218688"/>
            <a:ext cx="1664208" cy="566928"/>
          </a:xfrm>
          <a:prstGeom prst="roundRect">
            <a:avLst>
              <a:gd name="adj" fmla="val 8065"/>
            </a:avLst>
          </a:prstGeom>
          <a:solidFill>
            <a:srgbClr val="0F1E31">
              <a:alpha val="18000"/>
            </a:srgbClr>
          </a:solidFill>
          <a:ln w="11430">
            <a:solidFill>
              <a:srgbClr val="3D9BD8">
                <a:alpha val="60000"/>
              </a:srgbClr>
            </a:solidFill>
            <a:prstDash val="dash"/>
          </a:ln>
        </p:spPr>
      </p:sp>
      <p:sp>
        <p:nvSpPr>
          <p:cNvPr id="21" name="Text 19"/>
          <p:cNvSpPr txBox="1"/>
          <p:nvPr/>
        </p:nvSpPr>
        <p:spPr>
          <a:xfrm>
            <a:off x="713232" y="3246120"/>
            <a:ext cx="1481328" cy="384048"/>
          </a:xfrm>
          <a:prstGeom prst="rect">
            <a:avLst/>
          </a:prstGeom>
          <a:noFill/>
          <a:ln/>
        </p:spPr>
        <p:txBody>
          <a:bodyPr wrap="square" lIns="0" tIns="0" rIns="0" bIns="0" rtlCol="0" anchor="t"/>
          <a:lstStyle/>
          <a:p>
            <a:pPr indent="0" marL="0">
              <a:lnSpc>
                <a:spcPct val="102000"/>
              </a:lnSpc>
              <a:buNone/>
            </a:pPr>
            <a:r>
              <a:rPr lang="en-US" sz="640" dirty="0">
                <a:solidFill>
                  <a:srgbClr val="A9BDD1"/>
                </a:solidFill>
                <a:latin typeface="Arial" pitchFamily="34" charset="0"/>
                <a:ea typeface="Arial" pitchFamily="34" charset="-122"/>
                <a:cs typeface="Arial" pitchFamily="34" charset="-120"/>
              </a:rPr>
              <a:t>Founding Chief Engineer</a:t>
            </a:r>
            <a:endParaRPr lang="en-US" sz="640" dirty="0"/>
          </a:p>
        </p:txBody>
      </p:sp>
      <p:sp>
        <p:nvSpPr>
          <p:cNvPr id="22" name="Text 20"/>
          <p:cNvSpPr txBox="1"/>
          <p:nvPr/>
        </p:nvSpPr>
        <p:spPr>
          <a:xfrm>
            <a:off x="713232" y="3621024"/>
            <a:ext cx="1481328" cy="146304"/>
          </a:xfrm>
          <a:prstGeom prst="rect">
            <a:avLst/>
          </a:prstGeom>
          <a:noFill/>
          <a:ln/>
        </p:spPr>
        <p:txBody>
          <a:bodyPr wrap="square" lIns="0" tIns="0" rIns="0" bIns="0" rtlCol="0" anchor="ctr"/>
          <a:lstStyle/>
          <a:p>
            <a:pPr indent="0" marL="0">
              <a:buNone/>
            </a:pPr>
            <a:r>
              <a:rPr lang="en-US" sz="600" b="1" dirty="0">
                <a:solidFill>
                  <a:srgbClr val="6FD3FF"/>
                </a:solidFill>
                <a:latin typeface="Arial" pitchFamily="34" charset="0"/>
                <a:ea typeface="Arial" pitchFamily="34" charset="-122"/>
                <a:cs typeface="Arial" pitchFamily="34" charset="-120"/>
              </a:rPr>
              <a:t>M1</a:t>
            </a:r>
            <a:endParaRPr lang="en-US" sz="600" dirty="0"/>
          </a:p>
        </p:txBody>
      </p:sp>
      <p:sp>
        <p:nvSpPr>
          <p:cNvPr id="23" name="Shape 21"/>
          <p:cNvSpPr/>
          <p:nvPr/>
        </p:nvSpPr>
        <p:spPr>
          <a:xfrm>
            <a:off x="2386584" y="3218688"/>
            <a:ext cx="1664208" cy="566928"/>
          </a:xfrm>
          <a:prstGeom prst="roundRect">
            <a:avLst>
              <a:gd name="adj" fmla="val 8065"/>
            </a:avLst>
          </a:prstGeom>
          <a:solidFill>
            <a:srgbClr val="0F1E31">
              <a:alpha val="18000"/>
            </a:srgbClr>
          </a:solidFill>
          <a:ln w="11430">
            <a:solidFill>
              <a:srgbClr val="3D9BD8">
                <a:alpha val="60000"/>
              </a:srgbClr>
            </a:solidFill>
            <a:prstDash val="dash"/>
          </a:ln>
        </p:spPr>
      </p:sp>
      <p:sp>
        <p:nvSpPr>
          <p:cNvPr id="24" name="Text 22"/>
          <p:cNvSpPr txBox="1"/>
          <p:nvPr/>
        </p:nvSpPr>
        <p:spPr>
          <a:xfrm>
            <a:off x="2478024" y="3246120"/>
            <a:ext cx="1481328" cy="384048"/>
          </a:xfrm>
          <a:prstGeom prst="rect">
            <a:avLst/>
          </a:prstGeom>
          <a:noFill/>
          <a:ln/>
        </p:spPr>
        <p:txBody>
          <a:bodyPr wrap="square" lIns="0" tIns="0" rIns="0" bIns="0" rtlCol="0" anchor="t"/>
          <a:lstStyle/>
          <a:p>
            <a:pPr indent="0" marL="0">
              <a:lnSpc>
                <a:spcPct val="102000"/>
              </a:lnSpc>
              <a:buNone/>
            </a:pPr>
            <a:r>
              <a:rPr lang="en-US" sz="640" dirty="0">
                <a:solidFill>
                  <a:srgbClr val="A9BDD1"/>
                </a:solidFill>
                <a:latin typeface="Arial" pitchFamily="34" charset="0"/>
                <a:ea typeface="Arial" pitchFamily="34" charset="-122"/>
                <a:cs typeface="Arial" pitchFamily="34" charset="-120"/>
              </a:rPr>
              <a:t>Technician</a:t>
            </a:r>
            <a:endParaRPr lang="en-US" sz="640" dirty="0"/>
          </a:p>
        </p:txBody>
      </p:sp>
      <p:sp>
        <p:nvSpPr>
          <p:cNvPr id="25" name="Text 23"/>
          <p:cNvSpPr txBox="1"/>
          <p:nvPr/>
        </p:nvSpPr>
        <p:spPr>
          <a:xfrm>
            <a:off x="2478024" y="3621024"/>
            <a:ext cx="1481328" cy="146304"/>
          </a:xfrm>
          <a:prstGeom prst="rect">
            <a:avLst/>
          </a:prstGeom>
          <a:noFill/>
          <a:ln/>
        </p:spPr>
        <p:txBody>
          <a:bodyPr wrap="square" lIns="0" tIns="0" rIns="0" bIns="0" rtlCol="0" anchor="ctr"/>
          <a:lstStyle/>
          <a:p>
            <a:pPr indent="0" marL="0">
              <a:buNone/>
            </a:pPr>
            <a:r>
              <a:rPr lang="en-US" sz="600" b="1" dirty="0">
                <a:solidFill>
                  <a:srgbClr val="6FD3FF"/>
                </a:solidFill>
                <a:latin typeface="Arial" pitchFamily="34" charset="0"/>
                <a:ea typeface="Arial" pitchFamily="34" charset="-122"/>
                <a:cs typeface="Arial" pitchFamily="34" charset="-120"/>
              </a:rPr>
              <a:t>M1</a:t>
            </a:r>
            <a:endParaRPr lang="en-US" sz="600" dirty="0"/>
          </a:p>
        </p:txBody>
      </p:sp>
      <p:sp>
        <p:nvSpPr>
          <p:cNvPr id="26" name="Shape 24"/>
          <p:cNvSpPr/>
          <p:nvPr/>
        </p:nvSpPr>
        <p:spPr>
          <a:xfrm>
            <a:off x="4151376" y="3218688"/>
            <a:ext cx="1664208" cy="566928"/>
          </a:xfrm>
          <a:prstGeom prst="roundRect">
            <a:avLst>
              <a:gd name="adj" fmla="val 8065"/>
            </a:avLst>
          </a:prstGeom>
          <a:solidFill>
            <a:srgbClr val="0F1E31">
              <a:alpha val="18000"/>
            </a:srgbClr>
          </a:solidFill>
          <a:ln w="11430">
            <a:solidFill>
              <a:srgbClr val="3D9BD8">
                <a:alpha val="60000"/>
              </a:srgbClr>
            </a:solidFill>
            <a:prstDash val="dash"/>
          </a:ln>
        </p:spPr>
      </p:sp>
      <p:sp>
        <p:nvSpPr>
          <p:cNvPr id="27" name="Text 25"/>
          <p:cNvSpPr txBox="1"/>
          <p:nvPr/>
        </p:nvSpPr>
        <p:spPr>
          <a:xfrm>
            <a:off x="4242816" y="3246120"/>
            <a:ext cx="1481328" cy="384048"/>
          </a:xfrm>
          <a:prstGeom prst="rect">
            <a:avLst/>
          </a:prstGeom>
          <a:noFill/>
          <a:ln/>
        </p:spPr>
        <p:txBody>
          <a:bodyPr wrap="square" lIns="0" tIns="0" rIns="0" bIns="0" rtlCol="0" anchor="t"/>
          <a:lstStyle/>
          <a:p>
            <a:pPr indent="0" marL="0">
              <a:lnSpc>
                <a:spcPct val="102000"/>
              </a:lnSpc>
              <a:buNone/>
            </a:pPr>
            <a:r>
              <a:rPr lang="en-US" sz="640" dirty="0">
                <a:solidFill>
                  <a:srgbClr val="A9BDD1"/>
                </a:solidFill>
                <a:latin typeface="Arial" pitchFamily="34" charset="0"/>
                <a:ea typeface="Arial" pitchFamily="34" charset="-122"/>
                <a:cs typeface="Arial" pitchFamily="34" charset="-120"/>
              </a:rPr>
              <a:t>Principal robotics &amp; mechanical</a:t>
            </a:r>
            <a:endParaRPr lang="en-US" sz="640" dirty="0"/>
          </a:p>
        </p:txBody>
      </p:sp>
      <p:sp>
        <p:nvSpPr>
          <p:cNvPr id="28" name="Text 26"/>
          <p:cNvSpPr txBox="1"/>
          <p:nvPr/>
        </p:nvSpPr>
        <p:spPr>
          <a:xfrm>
            <a:off x="4242816" y="3621024"/>
            <a:ext cx="1481328" cy="146304"/>
          </a:xfrm>
          <a:prstGeom prst="rect">
            <a:avLst/>
          </a:prstGeom>
          <a:noFill/>
          <a:ln/>
        </p:spPr>
        <p:txBody>
          <a:bodyPr wrap="square" lIns="0" tIns="0" rIns="0" bIns="0" rtlCol="0" anchor="ctr"/>
          <a:lstStyle/>
          <a:p>
            <a:pPr indent="0" marL="0">
              <a:buNone/>
            </a:pPr>
            <a:r>
              <a:rPr lang="en-US" sz="600" b="1" dirty="0">
                <a:solidFill>
                  <a:srgbClr val="6FD3FF"/>
                </a:solidFill>
                <a:latin typeface="Arial" pitchFamily="34" charset="0"/>
                <a:ea typeface="Arial" pitchFamily="34" charset="-122"/>
                <a:cs typeface="Arial" pitchFamily="34" charset="-120"/>
              </a:rPr>
              <a:t>M2</a:t>
            </a:r>
            <a:endParaRPr lang="en-US" sz="600" dirty="0"/>
          </a:p>
        </p:txBody>
      </p:sp>
      <p:sp>
        <p:nvSpPr>
          <p:cNvPr id="29" name="Shape 27"/>
          <p:cNvSpPr/>
          <p:nvPr/>
        </p:nvSpPr>
        <p:spPr>
          <a:xfrm>
            <a:off x="5916168" y="3218688"/>
            <a:ext cx="1664208" cy="566928"/>
          </a:xfrm>
          <a:prstGeom prst="roundRect">
            <a:avLst>
              <a:gd name="adj" fmla="val 8065"/>
            </a:avLst>
          </a:prstGeom>
          <a:solidFill>
            <a:srgbClr val="0F1E31">
              <a:alpha val="18000"/>
            </a:srgbClr>
          </a:solidFill>
          <a:ln w="11430">
            <a:solidFill>
              <a:srgbClr val="3D9BD8">
                <a:alpha val="60000"/>
              </a:srgbClr>
            </a:solidFill>
            <a:prstDash val="dash"/>
          </a:ln>
        </p:spPr>
      </p:sp>
      <p:sp>
        <p:nvSpPr>
          <p:cNvPr id="30" name="Text 28"/>
          <p:cNvSpPr txBox="1"/>
          <p:nvPr/>
        </p:nvSpPr>
        <p:spPr>
          <a:xfrm>
            <a:off x="6007608" y="3246120"/>
            <a:ext cx="1481328" cy="384048"/>
          </a:xfrm>
          <a:prstGeom prst="rect">
            <a:avLst/>
          </a:prstGeom>
          <a:noFill/>
          <a:ln/>
        </p:spPr>
        <p:txBody>
          <a:bodyPr wrap="square" lIns="0" tIns="0" rIns="0" bIns="0" rtlCol="0" anchor="t"/>
          <a:lstStyle/>
          <a:p>
            <a:pPr indent="0" marL="0">
              <a:lnSpc>
                <a:spcPct val="102000"/>
              </a:lnSpc>
              <a:buNone/>
            </a:pPr>
            <a:r>
              <a:rPr lang="en-US" sz="640" dirty="0">
                <a:solidFill>
                  <a:srgbClr val="A9BDD1"/>
                </a:solidFill>
                <a:latin typeface="Arial" pitchFamily="34" charset="0"/>
                <a:ea typeface="Arial" pitchFamily="34" charset="-122"/>
                <a:cs typeface="Arial" pitchFamily="34" charset="-120"/>
              </a:rPr>
              <a:t>Controls &amp; real-time</a:t>
            </a:r>
            <a:endParaRPr lang="en-US" sz="640" dirty="0"/>
          </a:p>
        </p:txBody>
      </p:sp>
      <p:sp>
        <p:nvSpPr>
          <p:cNvPr id="31" name="Text 29"/>
          <p:cNvSpPr txBox="1"/>
          <p:nvPr/>
        </p:nvSpPr>
        <p:spPr>
          <a:xfrm>
            <a:off x="6007608" y="3621024"/>
            <a:ext cx="1481328" cy="146304"/>
          </a:xfrm>
          <a:prstGeom prst="rect">
            <a:avLst/>
          </a:prstGeom>
          <a:noFill/>
          <a:ln/>
        </p:spPr>
        <p:txBody>
          <a:bodyPr wrap="square" lIns="0" tIns="0" rIns="0" bIns="0" rtlCol="0" anchor="ctr"/>
          <a:lstStyle/>
          <a:p>
            <a:pPr indent="0" marL="0">
              <a:buNone/>
            </a:pPr>
            <a:r>
              <a:rPr lang="en-US" sz="600" b="1" dirty="0">
                <a:solidFill>
                  <a:srgbClr val="6FD3FF"/>
                </a:solidFill>
                <a:latin typeface="Arial" pitchFamily="34" charset="0"/>
                <a:ea typeface="Arial" pitchFamily="34" charset="-122"/>
                <a:cs typeface="Arial" pitchFamily="34" charset="-120"/>
              </a:rPr>
              <a:t>M2</a:t>
            </a:r>
            <a:endParaRPr lang="en-US" sz="600" dirty="0"/>
          </a:p>
        </p:txBody>
      </p:sp>
      <p:sp>
        <p:nvSpPr>
          <p:cNvPr id="32" name="Shape 30"/>
          <p:cNvSpPr/>
          <p:nvPr/>
        </p:nvSpPr>
        <p:spPr>
          <a:xfrm>
            <a:off x="7680960" y="3218688"/>
            <a:ext cx="1664208" cy="566928"/>
          </a:xfrm>
          <a:prstGeom prst="roundRect">
            <a:avLst>
              <a:gd name="adj" fmla="val 8065"/>
            </a:avLst>
          </a:prstGeom>
          <a:solidFill>
            <a:srgbClr val="0F1E31">
              <a:alpha val="18000"/>
            </a:srgbClr>
          </a:solidFill>
          <a:ln w="11430">
            <a:solidFill>
              <a:srgbClr val="3D9BD8">
                <a:alpha val="60000"/>
              </a:srgbClr>
            </a:solidFill>
            <a:prstDash val="dash"/>
          </a:ln>
        </p:spPr>
      </p:sp>
      <p:sp>
        <p:nvSpPr>
          <p:cNvPr id="33" name="Text 31"/>
          <p:cNvSpPr txBox="1"/>
          <p:nvPr/>
        </p:nvSpPr>
        <p:spPr>
          <a:xfrm>
            <a:off x="7772400" y="3246120"/>
            <a:ext cx="1481328" cy="384048"/>
          </a:xfrm>
          <a:prstGeom prst="rect">
            <a:avLst/>
          </a:prstGeom>
          <a:noFill/>
          <a:ln/>
        </p:spPr>
        <p:txBody>
          <a:bodyPr wrap="square" lIns="0" tIns="0" rIns="0" bIns="0" rtlCol="0" anchor="t"/>
          <a:lstStyle/>
          <a:p>
            <a:pPr indent="0" marL="0">
              <a:lnSpc>
                <a:spcPct val="102000"/>
              </a:lnSpc>
              <a:buNone/>
            </a:pPr>
            <a:r>
              <a:rPr lang="en-US" sz="640" dirty="0">
                <a:solidFill>
                  <a:srgbClr val="A9BDD1"/>
                </a:solidFill>
                <a:latin typeface="Arial" pitchFamily="34" charset="0"/>
                <a:ea typeface="Arial" pitchFamily="34" charset="-122"/>
                <a:cs typeface="Arial" pitchFamily="34" charset="-120"/>
              </a:rPr>
              <a:t>Software &amp; evidence</a:t>
            </a:r>
            <a:endParaRPr lang="en-US" sz="640" dirty="0"/>
          </a:p>
        </p:txBody>
      </p:sp>
      <p:sp>
        <p:nvSpPr>
          <p:cNvPr id="34" name="Text 32"/>
          <p:cNvSpPr txBox="1"/>
          <p:nvPr/>
        </p:nvSpPr>
        <p:spPr>
          <a:xfrm>
            <a:off x="7772400" y="3621024"/>
            <a:ext cx="1481328" cy="146304"/>
          </a:xfrm>
          <a:prstGeom prst="rect">
            <a:avLst/>
          </a:prstGeom>
          <a:noFill/>
          <a:ln/>
        </p:spPr>
        <p:txBody>
          <a:bodyPr wrap="square" lIns="0" tIns="0" rIns="0" bIns="0" rtlCol="0" anchor="ctr"/>
          <a:lstStyle/>
          <a:p>
            <a:pPr indent="0" marL="0">
              <a:buNone/>
            </a:pPr>
            <a:r>
              <a:rPr lang="en-US" sz="600" b="1" dirty="0">
                <a:solidFill>
                  <a:srgbClr val="6FD3FF"/>
                </a:solidFill>
                <a:latin typeface="Arial" pitchFamily="34" charset="0"/>
                <a:ea typeface="Arial" pitchFamily="34" charset="-122"/>
                <a:cs typeface="Arial" pitchFamily="34" charset="-120"/>
              </a:rPr>
              <a:t>M4</a:t>
            </a:r>
            <a:endParaRPr lang="en-US" sz="600" dirty="0"/>
          </a:p>
        </p:txBody>
      </p:sp>
      <p:sp>
        <p:nvSpPr>
          <p:cNvPr id="35" name="Shape 33"/>
          <p:cNvSpPr/>
          <p:nvPr/>
        </p:nvSpPr>
        <p:spPr>
          <a:xfrm>
            <a:off x="9445752" y="3218688"/>
            <a:ext cx="1664208" cy="566928"/>
          </a:xfrm>
          <a:prstGeom prst="roundRect">
            <a:avLst>
              <a:gd name="adj" fmla="val 8065"/>
            </a:avLst>
          </a:prstGeom>
          <a:solidFill>
            <a:srgbClr val="0F1E31">
              <a:alpha val="18000"/>
            </a:srgbClr>
          </a:solidFill>
          <a:ln w="11430">
            <a:solidFill>
              <a:srgbClr val="3D9BD8">
                <a:alpha val="60000"/>
              </a:srgbClr>
            </a:solidFill>
            <a:prstDash val="dash"/>
          </a:ln>
        </p:spPr>
      </p:sp>
      <p:sp>
        <p:nvSpPr>
          <p:cNvPr id="36" name="Text 34"/>
          <p:cNvSpPr txBox="1"/>
          <p:nvPr/>
        </p:nvSpPr>
        <p:spPr>
          <a:xfrm>
            <a:off x="9537192" y="3246120"/>
            <a:ext cx="1481328" cy="384048"/>
          </a:xfrm>
          <a:prstGeom prst="rect">
            <a:avLst/>
          </a:prstGeom>
          <a:noFill/>
          <a:ln/>
        </p:spPr>
        <p:txBody>
          <a:bodyPr wrap="square" lIns="0" tIns="0" rIns="0" bIns="0" rtlCol="0" anchor="t"/>
          <a:lstStyle/>
          <a:p>
            <a:pPr indent="0" marL="0">
              <a:lnSpc>
                <a:spcPct val="102000"/>
              </a:lnSpc>
              <a:buNone/>
            </a:pPr>
            <a:r>
              <a:rPr lang="en-US" sz="640" dirty="0">
                <a:solidFill>
                  <a:srgbClr val="A9BDD1"/>
                </a:solidFill>
                <a:latin typeface="Arial" pitchFamily="34" charset="0"/>
                <a:ea typeface="Arial" pitchFamily="34" charset="-122"/>
                <a:cs typeface="Arial" pitchFamily="34" charset="-120"/>
              </a:rPr>
              <a:t>Metrology &amp; quality engineer</a:t>
            </a:r>
            <a:endParaRPr lang="en-US" sz="640" dirty="0"/>
          </a:p>
        </p:txBody>
      </p:sp>
      <p:sp>
        <p:nvSpPr>
          <p:cNvPr id="37" name="Text 35"/>
          <p:cNvSpPr txBox="1"/>
          <p:nvPr/>
        </p:nvSpPr>
        <p:spPr>
          <a:xfrm>
            <a:off x="9537192" y="3621024"/>
            <a:ext cx="1481328" cy="146304"/>
          </a:xfrm>
          <a:prstGeom prst="rect">
            <a:avLst/>
          </a:prstGeom>
          <a:noFill/>
          <a:ln/>
        </p:spPr>
        <p:txBody>
          <a:bodyPr wrap="square" lIns="0" tIns="0" rIns="0" bIns="0" rtlCol="0" anchor="ctr"/>
          <a:lstStyle/>
          <a:p>
            <a:pPr indent="0" marL="0">
              <a:buNone/>
            </a:pPr>
            <a:r>
              <a:rPr lang="en-US" sz="600" b="1" dirty="0">
                <a:solidFill>
                  <a:srgbClr val="6FD3FF"/>
                </a:solidFill>
                <a:latin typeface="Arial" pitchFamily="34" charset="0"/>
                <a:ea typeface="Arial" pitchFamily="34" charset="-122"/>
                <a:cs typeface="Arial" pitchFamily="34" charset="-120"/>
              </a:rPr>
              <a:t>M7</a:t>
            </a:r>
            <a:endParaRPr lang="en-US" sz="600" dirty="0"/>
          </a:p>
        </p:txBody>
      </p:sp>
      <p:sp>
        <p:nvSpPr>
          <p:cNvPr id="38" name="Text 36"/>
          <p:cNvSpPr txBox="1"/>
          <p:nvPr/>
        </p:nvSpPr>
        <p:spPr>
          <a:xfrm>
            <a:off x="621792" y="3840480"/>
            <a:ext cx="10948111" cy="219456"/>
          </a:xfrm>
          <a:prstGeom prst="rect">
            <a:avLst/>
          </a:prstGeom>
          <a:noFill/>
          <a:ln/>
        </p:spPr>
        <p:txBody>
          <a:bodyPr wrap="square" lIns="0" tIns="0" rIns="0" bIns="0" rtlCol="0" anchor="ctr"/>
          <a:lstStyle/>
          <a:p>
            <a:pPr indent="0" marL="0">
              <a:buNone/>
            </a:pPr>
            <a:r>
              <a:rPr lang="en-US" sz="680" i="1" dirty="0">
                <a:solidFill>
                  <a:srgbClr val="72879D"/>
                </a:solidFill>
                <a:latin typeface="Arial" pitchFamily="34" charset="0"/>
                <a:ea typeface="Arial" pitchFamily="34" charset="-122"/>
                <a:cs typeface="Arial" pitchFamily="34" charset="-120"/>
              </a:rPr>
              <a:t>Contracted from M1: metrology reviewer with a written veto · machine-safety practitioner · quality consultant · contracted test owner as the Chief Engineer hedge</a:t>
            </a:r>
            <a:endParaRPr lang="en-US" sz="680" dirty="0"/>
          </a:p>
        </p:txBody>
      </p:sp>
      <p:sp>
        <p:nvSpPr>
          <p:cNvPr id="39" name="Text 37"/>
          <p:cNvSpPr txBox="1"/>
          <p:nvPr/>
        </p:nvSpPr>
        <p:spPr>
          <a:xfrm>
            <a:off x="621792" y="4151376"/>
            <a:ext cx="7315200" cy="182880"/>
          </a:xfrm>
          <a:prstGeom prst="rect">
            <a:avLst/>
          </a:prstGeom>
          <a:noFill/>
          <a:ln/>
        </p:spPr>
        <p:txBody>
          <a:bodyPr wrap="square" lIns="0" tIns="0" rIns="0" bIns="0" rtlCol="0" anchor="ctr"/>
          <a:lstStyle/>
          <a:p>
            <a:pPr indent="0" marL="0">
              <a:buNone/>
            </a:pPr>
            <a:r>
              <a:rPr lang="en-US" sz="800" b="1" spc="100" kern="0" dirty="0">
                <a:solidFill>
                  <a:srgbClr val="6FD3FF"/>
                </a:solidFill>
                <a:latin typeface="Arial" pitchFamily="34" charset="0"/>
                <a:ea typeface="Arial" pitchFamily="34" charset="-122"/>
                <a:cs typeface="Arial" pitchFamily="34" charset="-120"/>
              </a:rPr>
              <a:t>THE SPRINT — five phases, evidence state at each</a:t>
            </a:r>
            <a:endParaRPr lang="en-US" sz="800" dirty="0"/>
          </a:p>
        </p:txBody>
      </p:sp>
      <p:sp>
        <p:nvSpPr>
          <p:cNvPr id="40" name="Shape 38"/>
          <p:cNvSpPr/>
          <p:nvPr/>
        </p:nvSpPr>
        <p:spPr>
          <a:xfrm>
            <a:off x="621792" y="4370832"/>
            <a:ext cx="2116470" cy="786384"/>
          </a:xfrm>
          <a:prstGeom prst="rect">
            <a:avLst/>
          </a:prstGeom>
          <a:solidFill>
            <a:srgbClr val="0F2E4E">
              <a:alpha val="85000"/>
            </a:srgbClr>
          </a:solidFill>
          <a:ln w="10160">
            <a:solidFill>
              <a:srgbClr val="3D9BD8"/>
            </a:solidFill>
            <a:prstDash val="solid"/>
          </a:ln>
        </p:spPr>
      </p:sp>
      <p:sp>
        <p:nvSpPr>
          <p:cNvPr id="41" name="Text 39"/>
          <p:cNvSpPr txBox="1"/>
          <p:nvPr/>
        </p:nvSpPr>
        <p:spPr>
          <a:xfrm>
            <a:off x="694944" y="4407408"/>
            <a:ext cx="1970166" cy="182880"/>
          </a:xfrm>
          <a:prstGeom prst="rect">
            <a:avLst/>
          </a:prstGeom>
          <a:noFill/>
          <a:ln/>
        </p:spPr>
        <p:txBody>
          <a:bodyPr wrap="square" lIns="0" tIns="0" rIns="0" bIns="0" rtlCol="0" anchor="ctr"/>
          <a:lstStyle/>
          <a:p>
            <a:pPr indent="0" marL="0">
              <a:buNone/>
            </a:pPr>
            <a:r>
              <a:rPr lang="en-US" sz="800" b="1" dirty="0">
                <a:solidFill>
                  <a:srgbClr val="6FD3FF"/>
                </a:solidFill>
                <a:latin typeface="Arial" pitchFamily="34" charset="0"/>
                <a:ea typeface="Arial" pitchFamily="34" charset="-122"/>
                <a:cs typeface="Arial" pitchFamily="34" charset="-120"/>
              </a:rPr>
              <a:t>M0–M2</a:t>
            </a:r>
            <a:endParaRPr lang="en-US" sz="800" dirty="0"/>
          </a:p>
        </p:txBody>
      </p:sp>
      <p:sp>
        <p:nvSpPr>
          <p:cNvPr id="42" name="Text 40"/>
          <p:cNvSpPr txBox="1"/>
          <p:nvPr/>
        </p:nvSpPr>
        <p:spPr>
          <a:xfrm>
            <a:off x="694944" y="4590288"/>
            <a:ext cx="1970166" cy="548640"/>
          </a:xfrm>
          <a:prstGeom prst="rect">
            <a:avLst/>
          </a:prstGeom>
          <a:noFill/>
          <a:ln/>
        </p:spPr>
        <p:txBody>
          <a:bodyPr wrap="square" lIns="0" tIns="0" rIns="0" bIns="0" rtlCol="0" anchor="ctr"/>
          <a:lstStyle/>
          <a:p>
            <a:pPr indent="0" marL="0">
              <a:lnSpc>
                <a:spcPct val="100000"/>
              </a:lnSpc>
              <a:buNone/>
            </a:pPr>
            <a:r>
              <a:rPr lang="en-US" sz="610" dirty="0">
                <a:solidFill>
                  <a:srgbClr val="A9BDD1"/>
                </a:solidFill>
                <a:latin typeface="Arial" pitchFamily="34" charset="0"/>
                <a:ea typeface="Arial" pitchFamily="34" charset="-122"/>
                <a:cs typeface="Arial" pitchFamily="34" charset="-120"/>
              </a:rPr>
              <a:t>Nucleus hired; specialist authority contracted; rig design frozen; hazard assessment signed; long-lead parts ordered; ten interviews.</a:t>
            </a:r>
            <a:endParaRPr lang="en-US" sz="610" dirty="0"/>
          </a:p>
        </p:txBody>
      </p:sp>
      <p:sp>
        <p:nvSpPr>
          <p:cNvPr id="43" name="Shape 41"/>
          <p:cNvSpPr/>
          <p:nvPr/>
        </p:nvSpPr>
        <p:spPr>
          <a:xfrm>
            <a:off x="2829702" y="4370832"/>
            <a:ext cx="2116470" cy="786384"/>
          </a:xfrm>
          <a:prstGeom prst="rect">
            <a:avLst/>
          </a:prstGeom>
          <a:solidFill>
            <a:srgbClr val="0F2E4E">
              <a:alpha val="85000"/>
            </a:srgbClr>
          </a:solidFill>
          <a:ln w="10160">
            <a:solidFill>
              <a:srgbClr val="3D9BD8"/>
            </a:solidFill>
            <a:prstDash val="solid"/>
          </a:ln>
        </p:spPr>
      </p:sp>
      <p:sp>
        <p:nvSpPr>
          <p:cNvPr id="44" name="Text 42"/>
          <p:cNvSpPr txBox="1"/>
          <p:nvPr/>
        </p:nvSpPr>
        <p:spPr>
          <a:xfrm>
            <a:off x="2902854" y="4407408"/>
            <a:ext cx="1970166" cy="182880"/>
          </a:xfrm>
          <a:prstGeom prst="rect">
            <a:avLst/>
          </a:prstGeom>
          <a:noFill/>
          <a:ln/>
        </p:spPr>
        <p:txBody>
          <a:bodyPr wrap="square" lIns="0" tIns="0" rIns="0" bIns="0" rtlCol="0" anchor="ctr"/>
          <a:lstStyle/>
          <a:p>
            <a:pPr indent="0" marL="0">
              <a:buNone/>
            </a:pPr>
            <a:r>
              <a:rPr lang="en-US" sz="800" b="1" dirty="0">
                <a:solidFill>
                  <a:srgbClr val="6FD3FF"/>
                </a:solidFill>
                <a:latin typeface="Arial" pitchFamily="34" charset="0"/>
                <a:ea typeface="Arial" pitchFamily="34" charset="-122"/>
                <a:cs typeface="Arial" pitchFamily="34" charset="-120"/>
              </a:rPr>
              <a:t>M3–M5</a:t>
            </a:r>
            <a:endParaRPr lang="en-US" sz="800" dirty="0"/>
          </a:p>
        </p:txBody>
      </p:sp>
      <p:sp>
        <p:nvSpPr>
          <p:cNvPr id="45" name="Text 43"/>
          <p:cNvSpPr txBox="1"/>
          <p:nvPr/>
        </p:nvSpPr>
        <p:spPr>
          <a:xfrm>
            <a:off x="2902854" y="4590288"/>
            <a:ext cx="1970166" cy="548640"/>
          </a:xfrm>
          <a:prstGeom prst="rect">
            <a:avLst/>
          </a:prstGeom>
          <a:noFill/>
          <a:ln/>
        </p:spPr>
        <p:txBody>
          <a:bodyPr wrap="square" lIns="0" tIns="0" rIns="0" bIns="0" rtlCol="0" anchor="ctr"/>
          <a:lstStyle/>
          <a:p>
            <a:pPr indent="0" marL="0">
              <a:lnSpc>
                <a:spcPct val="100000"/>
              </a:lnSpc>
              <a:buNone/>
            </a:pPr>
            <a:r>
              <a:rPr lang="en-US" sz="610" dirty="0">
                <a:solidFill>
                  <a:srgbClr val="A9BDD1"/>
                </a:solidFill>
                <a:latin typeface="Arial" pitchFamily="34" charset="0"/>
                <a:ea typeface="Arial" pitchFamily="34" charset="-122"/>
                <a:cs typeface="Arial" pitchFamily="34" charset="-120"/>
              </a:rPr>
              <a:t>Gate 1 pre-registered; 177 trials; result on confidence bounds; thirty interviews; commercial class confirmed/reopened; second close opens.</a:t>
            </a:r>
            <a:endParaRPr lang="en-US" sz="610" dirty="0"/>
          </a:p>
        </p:txBody>
      </p:sp>
      <p:sp>
        <p:nvSpPr>
          <p:cNvPr id="46" name="Shape 44"/>
          <p:cNvSpPr/>
          <p:nvPr/>
        </p:nvSpPr>
        <p:spPr>
          <a:xfrm>
            <a:off x="5037612" y="4370832"/>
            <a:ext cx="2116470" cy="786384"/>
          </a:xfrm>
          <a:prstGeom prst="rect">
            <a:avLst/>
          </a:prstGeom>
          <a:solidFill>
            <a:srgbClr val="0F2E4E">
              <a:alpha val="85000"/>
            </a:srgbClr>
          </a:solidFill>
          <a:ln w="10160">
            <a:solidFill>
              <a:srgbClr val="3D9BD8"/>
            </a:solidFill>
            <a:prstDash val="solid"/>
          </a:ln>
        </p:spPr>
      </p:sp>
      <p:sp>
        <p:nvSpPr>
          <p:cNvPr id="47" name="Text 45"/>
          <p:cNvSpPr txBox="1"/>
          <p:nvPr/>
        </p:nvSpPr>
        <p:spPr>
          <a:xfrm>
            <a:off x="5110764" y="4407408"/>
            <a:ext cx="1970166" cy="182880"/>
          </a:xfrm>
          <a:prstGeom prst="rect">
            <a:avLst/>
          </a:prstGeom>
          <a:noFill/>
          <a:ln/>
        </p:spPr>
        <p:txBody>
          <a:bodyPr wrap="square" lIns="0" tIns="0" rIns="0" bIns="0" rtlCol="0" anchor="ctr"/>
          <a:lstStyle/>
          <a:p>
            <a:pPr indent="0" marL="0">
              <a:buNone/>
            </a:pPr>
            <a:r>
              <a:rPr lang="en-US" sz="800" b="1" dirty="0">
                <a:solidFill>
                  <a:srgbClr val="6FD3FF"/>
                </a:solidFill>
                <a:latin typeface="Arial" pitchFamily="34" charset="0"/>
                <a:ea typeface="Arial" pitchFamily="34" charset="-122"/>
                <a:cs typeface="Arial" pitchFamily="34" charset="-120"/>
              </a:rPr>
              <a:t>M6–M8</a:t>
            </a:r>
            <a:endParaRPr lang="en-US" sz="800" dirty="0"/>
          </a:p>
        </p:txBody>
      </p:sp>
      <p:sp>
        <p:nvSpPr>
          <p:cNvPr id="48" name="Text 46"/>
          <p:cNvSpPr txBox="1"/>
          <p:nvPr/>
        </p:nvSpPr>
        <p:spPr>
          <a:xfrm>
            <a:off x="5110764" y="4590288"/>
            <a:ext cx="1970166" cy="548640"/>
          </a:xfrm>
          <a:prstGeom prst="rect">
            <a:avLst/>
          </a:prstGeom>
          <a:noFill/>
          <a:ln/>
        </p:spPr>
        <p:txBody>
          <a:bodyPr wrap="square" lIns="0" tIns="0" rIns="0" bIns="0" rtlCol="0" anchor="ctr"/>
          <a:lstStyle/>
          <a:p>
            <a:pPr indent="0" marL="0">
              <a:lnSpc>
                <a:spcPct val="100000"/>
              </a:lnSpc>
              <a:buNone/>
            </a:pPr>
            <a:r>
              <a:rPr lang="en-US" sz="610" dirty="0">
                <a:solidFill>
                  <a:srgbClr val="A9BDD1"/>
                </a:solidFill>
                <a:latin typeface="Arial" pitchFamily="34" charset="0"/>
                <a:ea typeface="Arial" pitchFamily="34" charset="-122"/>
                <a:cs typeface="Arial" pitchFamily="34" charset="-120"/>
              </a:rPr>
              <a:t>Gate 2: MSA, traceability, uncertainty budget; decision rule frozen; manipulator candidates pre-qualified.</a:t>
            </a:r>
            <a:endParaRPr lang="en-US" sz="610" dirty="0"/>
          </a:p>
        </p:txBody>
      </p:sp>
      <p:sp>
        <p:nvSpPr>
          <p:cNvPr id="49" name="Shape 47"/>
          <p:cNvSpPr/>
          <p:nvPr/>
        </p:nvSpPr>
        <p:spPr>
          <a:xfrm>
            <a:off x="7245523" y="4370832"/>
            <a:ext cx="2116470" cy="786384"/>
          </a:xfrm>
          <a:prstGeom prst="rect">
            <a:avLst/>
          </a:prstGeom>
          <a:solidFill>
            <a:srgbClr val="0F1E31">
              <a:alpha val="45000"/>
            </a:srgbClr>
          </a:solidFill>
          <a:ln w="10160">
            <a:solidFill>
              <a:srgbClr val="3D9BD8"/>
            </a:solidFill>
            <a:prstDash val="solid"/>
          </a:ln>
        </p:spPr>
      </p:sp>
      <p:sp>
        <p:nvSpPr>
          <p:cNvPr id="50" name="Text 48"/>
          <p:cNvSpPr txBox="1"/>
          <p:nvPr/>
        </p:nvSpPr>
        <p:spPr>
          <a:xfrm>
            <a:off x="7318675" y="4407408"/>
            <a:ext cx="1970166" cy="182880"/>
          </a:xfrm>
          <a:prstGeom prst="rect">
            <a:avLst/>
          </a:prstGeom>
          <a:noFill/>
          <a:ln/>
        </p:spPr>
        <p:txBody>
          <a:bodyPr wrap="square" lIns="0" tIns="0" rIns="0" bIns="0" rtlCol="0" anchor="ctr"/>
          <a:lstStyle/>
          <a:p>
            <a:pPr indent="0" marL="0">
              <a:buNone/>
            </a:pPr>
            <a:r>
              <a:rPr lang="en-US" sz="800" b="1" dirty="0">
                <a:solidFill>
                  <a:srgbClr val="6FD3FF"/>
                </a:solidFill>
                <a:latin typeface="Arial" pitchFamily="34" charset="0"/>
                <a:ea typeface="Arial" pitchFamily="34" charset="-122"/>
                <a:cs typeface="Arial" pitchFamily="34" charset="-120"/>
              </a:rPr>
              <a:t>M9–M12</a:t>
            </a:r>
            <a:endParaRPr lang="en-US" sz="800" dirty="0"/>
          </a:p>
        </p:txBody>
      </p:sp>
      <p:sp>
        <p:nvSpPr>
          <p:cNvPr id="51" name="Text 49"/>
          <p:cNvSpPr txBox="1"/>
          <p:nvPr/>
        </p:nvSpPr>
        <p:spPr>
          <a:xfrm>
            <a:off x="7318675" y="4590288"/>
            <a:ext cx="1970166" cy="548640"/>
          </a:xfrm>
          <a:prstGeom prst="rect">
            <a:avLst/>
          </a:prstGeom>
          <a:noFill/>
          <a:ln/>
        </p:spPr>
        <p:txBody>
          <a:bodyPr wrap="square" lIns="0" tIns="0" rIns="0" bIns="0" rtlCol="0" anchor="ctr"/>
          <a:lstStyle/>
          <a:p>
            <a:pPr indent="0" marL="0">
              <a:lnSpc>
                <a:spcPct val="100000"/>
              </a:lnSpc>
              <a:buNone/>
            </a:pPr>
            <a:r>
              <a:rPr lang="en-US" sz="610" dirty="0">
                <a:solidFill>
                  <a:srgbClr val="A9BDD1"/>
                </a:solidFill>
                <a:latin typeface="Arial" pitchFamily="34" charset="0"/>
                <a:ea typeface="Arial" pitchFamily="34" charset="-122"/>
                <a:cs typeface="Arial" pitchFamily="34" charset="-120"/>
              </a:rPr>
              <a:t>Gate 2 complete; hardware selected in freeze order; read-only engagement begins; research cell built and commissioned.</a:t>
            </a:r>
            <a:endParaRPr lang="en-US" sz="610" dirty="0"/>
          </a:p>
        </p:txBody>
      </p:sp>
      <p:sp>
        <p:nvSpPr>
          <p:cNvPr id="52" name="Shape 50"/>
          <p:cNvSpPr/>
          <p:nvPr/>
        </p:nvSpPr>
        <p:spPr>
          <a:xfrm>
            <a:off x="9453433" y="4370832"/>
            <a:ext cx="2116470" cy="786384"/>
          </a:xfrm>
          <a:prstGeom prst="rect">
            <a:avLst/>
          </a:prstGeom>
          <a:solidFill>
            <a:srgbClr val="0F1E31">
              <a:alpha val="45000"/>
            </a:srgbClr>
          </a:solidFill>
          <a:ln w="10160">
            <a:solidFill>
              <a:srgbClr val="3D9BD8"/>
            </a:solidFill>
            <a:prstDash val="solid"/>
          </a:ln>
        </p:spPr>
      </p:sp>
      <p:sp>
        <p:nvSpPr>
          <p:cNvPr id="53" name="Text 51"/>
          <p:cNvSpPr txBox="1"/>
          <p:nvPr/>
        </p:nvSpPr>
        <p:spPr>
          <a:xfrm>
            <a:off x="9526585" y="4407408"/>
            <a:ext cx="1970166" cy="182880"/>
          </a:xfrm>
          <a:prstGeom prst="rect">
            <a:avLst/>
          </a:prstGeom>
          <a:noFill/>
          <a:ln/>
        </p:spPr>
        <p:txBody>
          <a:bodyPr wrap="square" lIns="0" tIns="0" rIns="0" bIns="0" rtlCol="0" anchor="ctr"/>
          <a:lstStyle/>
          <a:p>
            <a:pPr indent="0" marL="0">
              <a:buNone/>
            </a:pPr>
            <a:r>
              <a:rPr lang="en-US" sz="800" b="1" dirty="0">
                <a:solidFill>
                  <a:srgbClr val="6FD3FF"/>
                </a:solidFill>
                <a:latin typeface="Arial" pitchFamily="34" charset="0"/>
                <a:ea typeface="Arial" pitchFamily="34" charset="-122"/>
                <a:cs typeface="Arial" pitchFamily="34" charset="-120"/>
              </a:rPr>
              <a:t>M13–M14</a:t>
            </a:r>
            <a:endParaRPr lang="en-US" sz="800" dirty="0"/>
          </a:p>
        </p:txBody>
      </p:sp>
      <p:sp>
        <p:nvSpPr>
          <p:cNvPr id="54" name="Text 52"/>
          <p:cNvSpPr txBox="1"/>
          <p:nvPr/>
        </p:nvSpPr>
        <p:spPr>
          <a:xfrm>
            <a:off x="9526585" y="4590288"/>
            <a:ext cx="1970166" cy="548640"/>
          </a:xfrm>
          <a:prstGeom prst="rect">
            <a:avLst/>
          </a:prstGeom>
          <a:noFill/>
          <a:ln/>
        </p:spPr>
        <p:txBody>
          <a:bodyPr wrap="square" lIns="0" tIns="0" rIns="0" bIns="0" rtlCol="0" anchor="ctr"/>
          <a:lstStyle/>
          <a:p>
            <a:pPr indent="0" marL="0">
              <a:lnSpc>
                <a:spcPct val="100000"/>
              </a:lnSpc>
              <a:buNone/>
            </a:pPr>
            <a:r>
              <a:rPr lang="en-US" sz="610" dirty="0">
                <a:solidFill>
                  <a:srgbClr val="A9BDD1"/>
                </a:solidFill>
                <a:latin typeface="Arial" pitchFamily="34" charset="0"/>
                <a:ea typeface="Arial" pitchFamily="34" charset="-122"/>
                <a:cs typeface="Arial" pitchFamily="34" charset="-120"/>
              </a:rPr>
              <a:t>Gate 3 initial run; engagement complete; practitioner review of evidence record; next financing opens on evidence.</a:t>
            </a:r>
            <a:endParaRPr lang="en-US" sz="610" dirty="0"/>
          </a:p>
        </p:txBody>
      </p:sp>
      <p:sp>
        <p:nvSpPr>
          <p:cNvPr id="55" name="Text 53"/>
          <p:cNvSpPr txBox="1"/>
          <p:nvPr/>
        </p:nvSpPr>
        <p:spPr>
          <a:xfrm>
            <a:off x="621792" y="5193792"/>
            <a:ext cx="10948111" cy="182880"/>
          </a:xfrm>
          <a:prstGeom prst="rect">
            <a:avLst/>
          </a:prstGeom>
          <a:noFill/>
          <a:ln/>
        </p:spPr>
        <p:txBody>
          <a:bodyPr wrap="square" lIns="0" tIns="0" rIns="0" bIns="0" rtlCol="0" anchor="ctr"/>
          <a:lstStyle/>
          <a:p>
            <a:pPr indent="0" marL="0">
              <a:buNone/>
            </a:pPr>
            <a:r>
              <a:rPr lang="en-US" sz="700" b="1" spc="100" kern="0" dirty="0">
                <a:solidFill>
                  <a:srgbClr val="72879D"/>
                </a:solidFill>
                <a:latin typeface="Arial" pitchFamily="34" charset="0"/>
                <a:ea typeface="Arial" pitchFamily="34" charset="-122"/>
                <a:cs typeface="Arial" pitchFamily="34" charset="-120"/>
              </a:rPr>
              <a:t>Gate 1 · M5          Gate 2 · M9          Gate 3 · M13–14</a:t>
            </a:r>
            <a:endParaRPr lang="en-US" sz="700" dirty="0"/>
          </a:p>
        </p:txBody>
      </p:sp>
      <p:sp>
        <p:nvSpPr>
          <p:cNvPr id="56" name="Shape 54"/>
          <p:cNvSpPr/>
          <p:nvPr/>
        </p:nvSpPr>
        <p:spPr>
          <a:xfrm>
            <a:off x="621792" y="5468112"/>
            <a:ext cx="10948111" cy="0"/>
          </a:xfrm>
          <a:prstGeom prst="line">
            <a:avLst/>
          </a:prstGeom>
          <a:noFill/>
          <a:ln w="9525">
            <a:solidFill>
              <a:srgbClr val="23405C"/>
            </a:solidFill>
            <a:prstDash val="solid"/>
          </a:ln>
        </p:spPr>
      </p:sp>
      <p:sp>
        <p:nvSpPr>
          <p:cNvPr id="57" name="Text 55"/>
          <p:cNvSpPr txBox="1"/>
          <p:nvPr/>
        </p:nvSpPr>
        <p:spPr>
          <a:xfrm>
            <a:off x="621792" y="5577840"/>
            <a:ext cx="7589520" cy="914400"/>
          </a:xfrm>
          <a:prstGeom prst="rect">
            <a:avLst/>
          </a:prstGeom>
          <a:noFill/>
          <a:ln/>
        </p:spPr>
        <p:txBody>
          <a:bodyPr wrap="square" lIns="0" tIns="0" rIns="0" bIns="0" rtlCol="0" anchor="t"/>
          <a:lstStyle/>
          <a:p>
            <a:pPr algn="l" indent="0" marL="0">
              <a:lnSpc>
                <a:spcPct val="114000"/>
              </a:lnSpc>
              <a:spcAft>
                <a:spcPts val="400"/>
              </a:spcAft>
              <a:buNone/>
            </a:pPr>
            <a:r>
              <a:rPr lang="en-US" sz="760" dirty="0">
                <a:solidFill>
                  <a:srgbClr val="A9BDD1"/>
                </a:solidFill>
                <a:latin typeface="Arial" pitchFamily="34" charset="0"/>
                <a:ea typeface="Arial" pitchFamily="34" charset="-122"/>
                <a:cs typeface="Arial" pitchFamily="34" charset="-120"/>
              </a:rPr>
              <a:t>HOW WE MEASURE OURSELVES — uncertainty retired per month (target ≥3, months 1–6) · customer interviews per month (ten by month 2, thirty by month 4) · gate cycle time (Gate 1 ≤ 90 days, pre-registration to classification)</a:t>
            </a:r>
            <a:endParaRPr lang="en-US" sz="760" dirty="0"/>
          </a:p>
          <a:p>
            <a:pPr algn="l" indent="0" marL="0">
              <a:lnSpc>
                <a:spcPct val="114000"/>
              </a:lnSpc>
              <a:buNone/>
            </a:pPr>
            <a:r>
              <a:rPr lang="en-US" sz="760" dirty="0">
                <a:solidFill>
                  <a:srgbClr val="A9BDD1"/>
                </a:solidFill>
                <a:latin typeface="Arial" pitchFamily="34" charset="0"/>
                <a:ea typeface="Arial" pitchFamily="34" charset="-122"/>
                <a:cs typeface="Arial" pitchFamily="34" charset="-120"/>
              </a:rPr>
              <a:t>HOW A COMPANY THIS SIZE PRODUCED THIS MUCH ANALYSIS — an internal AI-native research system: parallel research, adversarial review, contradiction detection, prior-art and standards work, source verification, used the way a small team uses instruments. Research infrastructure, not the product; it holds no engineering authority and has validated nothing physical.</a:t>
            </a:r>
            <a:endParaRPr lang="en-US" sz="760" dirty="0"/>
          </a:p>
        </p:txBody>
      </p:sp>
      <p:sp>
        <p:nvSpPr>
          <p:cNvPr id="58" name="Text 56"/>
          <p:cNvSpPr txBox="1"/>
          <p:nvPr/>
        </p:nvSpPr>
        <p:spPr>
          <a:xfrm>
            <a:off x="8366760" y="5577840"/>
            <a:ext cx="3200400" cy="822960"/>
          </a:xfrm>
          <a:prstGeom prst="rect">
            <a:avLst/>
          </a:prstGeom>
          <a:noFill/>
          <a:ln/>
        </p:spPr>
        <p:txBody>
          <a:bodyPr wrap="square" lIns="0" tIns="0" rIns="0" bIns="0" rtlCol="0" anchor="t"/>
          <a:lstStyle/>
          <a:p>
            <a:pPr algn="l" indent="0" marL="0">
              <a:lnSpc>
                <a:spcPct val="115000"/>
              </a:lnSpc>
              <a:spcAft>
                <a:spcPts val="400"/>
              </a:spcAft>
              <a:buNone/>
            </a:pPr>
            <a:r>
              <a:rPr lang="en-US" sz="1050" b="1" dirty="0">
                <a:solidFill>
                  <a:srgbClr val="6FD3FF"/>
                </a:solidFill>
                <a:latin typeface="Arial" pitchFamily="34" charset="0"/>
                <a:ea typeface="Arial" pitchFamily="34" charset="-122"/>
                <a:cs typeface="Arial" pitchFamily="34" charset="-120"/>
              </a:rPr>
              <a:t>AI accelerates the search. Physical evidence decides.</a:t>
            </a:r>
            <a:endParaRPr lang="en-US" sz="1050" dirty="0"/>
          </a:p>
          <a:p>
            <a:pPr algn="l" indent="0" marL="0">
              <a:lnSpc>
                <a:spcPct val="115000"/>
              </a:lnSpc>
              <a:buNone/>
            </a:pPr>
            <a:r>
              <a:rPr lang="en-US" sz="660" i="1" dirty="0">
                <a:solidFill>
                  <a:srgbClr val="72879D"/>
                </a:solidFill>
                <a:latin typeface="Arial" pitchFamily="34" charset="0"/>
                <a:ea typeface="Arial" pitchFamily="34" charset="-122"/>
                <a:cs typeface="Arial" pitchFamily="34" charset="-120"/>
              </a:rPr>
              <a:t>Pointers: customer entry &amp; first 90 days — A-9. Line-item budget — A-10.</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CONFIDENTIAL   ·   19 / 19</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900" b="1" spc="180" kern="0" dirty="0">
                <a:solidFill>
                  <a:srgbClr val="6FD3FF"/>
                </a:solidFill>
                <a:latin typeface="Arial" pitchFamily="34" charset="0"/>
                <a:ea typeface="Arial" pitchFamily="34" charset="-122"/>
                <a:cs typeface="Arial" pitchFamily="34" charset="-120"/>
              </a:rPr>
              <a:t>THE ROUND · PRE-SEED · TWELVE-MONTH EVIDENCE SPRINT</a:t>
            </a:r>
            <a:endParaRPr lang="en-US" sz="900" dirty="0"/>
          </a:p>
        </p:txBody>
      </p:sp>
      <p:sp>
        <p:nvSpPr>
          <p:cNvPr id="5" name="Text 3"/>
          <p:cNvSpPr txBox="1"/>
          <p:nvPr/>
        </p:nvSpPr>
        <p:spPr>
          <a:xfrm>
            <a:off x="621792" y="786384"/>
            <a:ext cx="10948111" cy="658368"/>
          </a:xfrm>
          <a:prstGeom prst="rect">
            <a:avLst/>
          </a:prstGeom>
          <a:noFill/>
          <a:ln/>
        </p:spPr>
        <p:txBody>
          <a:bodyPr wrap="square" lIns="0" tIns="0" rIns="0" bIns="0" rtlCol="0" anchor="t"/>
          <a:lstStyle/>
          <a:p>
            <a:pPr indent="0" marL="0">
              <a:lnSpc>
                <a:spcPct val="102000"/>
              </a:lnSpc>
              <a:buNone/>
            </a:pPr>
            <a:r>
              <a:rPr lang="en-US" sz="2300" b="1" dirty="0">
                <a:solidFill>
                  <a:srgbClr val="EAF2FA"/>
                </a:solidFill>
                <a:latin typeface="Arial" pitchFamily="34" charset="0"/>
                <a:ea typeface="Arial" pitchFamily="34" charset="-122"/>
                <a:cs typeface="Arial" pitchFamily="34" charset="-120"/>
              </a:rPr>
              <a:t>~$4.0M converts an architecture into physical evidence — and survives a first failure.</a:t>
            </a:r>
            <a:endParaRPr lang="en-US" sz="2300" dirty="0"/>
          </a:p>
        </p:txBody>
      </p:sp>
      <p:sp>
        <p:nvSpPr>
          <p:cNvPr id="6" name="Text 4"/>
          <p:cNvSpPr txBox="1"/>
          <p:nvPr/>
        </p:nvSpPr>
        <p:spPr>
          <a:xfrm>
            <a:off x="621792" y="1481328"/>
            <a:ext cx="10948111" cy="365760"/>
          </a:xfrm>
          <a:prstGeom prst="rect">
            <a:avLst/>
          </a:prstGeom>
          <a:noFill/>
          <a:ln/>
        </p:spPr>
        <p:txBody>
          <a:bodyPr wrap="square" lIns="0" tIns="0" rIns="0" bIns="0" rtlCol="0" anchor="ctr"/>
          <a:lstStyle/>
          <a:p>
            <a:pPr indent="0" marL="0">
              <a:lnSpc>
                <a:spcPct val="115000"/>
              </a:lnSpc>
              <a:buNone/>
            </a:pPr>
            <a:r>
              <a:rPr lang="en-US" sz="1300" b="1" dirty="0">
                <a:solidFill>
                  <a:srgbClr val="6FD3FF"/>
                </a:solidFill>
                <a:latin typeface="Arial" pitchFamily="34" charset="0"/>
                <a:ea typeface="Arial" pitchFamily="34" charset="-122"/>
                <a:cs typeface="Arial" pitchFamily="34" charset="-120"/>
              </a:rPr>
              <a:t>Two thirds </a:t>
            </a:r>
            <a:pPr indent="0" marL="0">
              <a:lnSpc>
                <a:spcPct val="115000"/>
              </a:lnSpc>
              <a:buNone/>
            </a:pPr>
            <a:r>
              <a:rPr lang="en-US" sz="1100" dirty="0">
                <a:solidFill>
                  <a:srgbClr val="EAF2FA"/>
                </a:solidFill>
                <a:latin typeface="Arial" pitchFamily="34" charset="0"/>
                <a:ea typeface="Arial" pitchFamily="34" charset="-122"/>
                <a:cs typeface="Arial" pitchFamily="34" charset="-120"/>
              </a:rPr>
              <a:t>of the operating sprint goes to technical people, specialist authority and physical evidence.   </a:t>
            </a:r>
            <a:pPr indent="0" marL="0">
              <a:lnSpc>
                <a:spcPct val="115000"/>
              </a:lnSpc>
              <a:buNone/>
            </a:pPr>
            <a:r>
              <a:rPr lang="en-US" sz="1100" i="1" dirty="0">
                <a:solidFill>
                  <a:srgbClr val="72879D"/>
                </a:solidFill>
                <a:latin typeface="Arial" pitchFamily="34" charset="0"/>
                <a:ea typeface="Arial" pitchFamily="34" charset="-122"/>
                <a:cs typeface="Arial" pitchFamily="34" charset="-120"/>
              </a:rPr>
              <a:t>Structured in two closes. The second opens against Gate 1 evidence.</a:t>
            </a:r>
            <a:endParaRPr lang="en-US" sz="1300" dirty="0"/>
          </a:p>
        </p:txBody>
      </p:sp>
      <p:sp>
        <p:nvSpPr>
          <p:cNvPr id="7" name="Shape 5"/>
          <p:cNvSpPr/>
          <p:nvPr/>
        </p:nvSpPr>
        <p:spPr>
          <a:xfrm>
            <a:off x="621792" y="1993392"/>
            <a:ext cx="2714168" cy="548640"/>
          </a:xfrm>
          <a:prstGeom prst="rect">
            <a:avLst/>
          </a:prstGeom>
          <a:solidFill>
            <a:srgbClr val="6FD3FF">
              <a:alpha val="90000"/>
            </a:srgbClr>
          </a:solidFill>
          <a:ln w="9525">
            <a:solidFill>
              <a:srgbClr val="6FD3FF"/>
            </a:solidFill>
            <a:prstDash val="solid"/>
          </a:ln>
        </p:spPr>
      </p:sp>
      <p:sp>
        <p:nvSpPr>
          <p:cNvPr id="8" name="Text 6"/>
          <p:cNvSpPr txBox="1"/>
          <p:nvPr/>
        </p:nvSpPr>
        <p:spPr>
          <a:xfrm>
            <a:off x="676656" y="2121408"/>
            <a:ext cx="914400" cy="274320"/>
          </a:xfrm>
          <a:prstGeom prst="rect">
            <a:avLst/>
          </a:prstGeom>
          <a:noFill/>
          <a:ln/>
        </p:spPr>
        <p:txBody>
          <a:bodyPr wrap="square" lIns="0" tIns="0" rIns="0" bIns="0" rtlCol="0" anchor="ctr"/>
          <a:lstStyle/>
          <a:p>
            <a:pPr indent="0" marL="0">
              <a:buNone/>
            </a:pPr>
            <a:r>
              <a:rPr lang="en-US" sz="950" b="1" dirty="0">
                <a:solidFill>
                  <a:srgbClr val="07131F"/>
                </a:solidFill>
                <a:latin typeface="Arial" pitchFamily="34" charset="0"/>
                <a:ea typeface="Arial" pitchFamily="34" charset="-122"/>
                <a:cs typeface="Arial" pitchFamily="34" charset="-120"/>
              </a:rPr>
              <a:t>25%</a:t>
            </a:r>
            <a:endParaRPr lang="en-US" sz="950" dirty="0"/>
          </a:p>
        </p:txBody>
      </p:sp>
      <p:sp>
        <p:nvSpPr>
          <p:cNvPr id="9" name="Shape 7"/>
          <p:cNvSpPr/>
          <p:nvPr/>
        </p:nvSpPr>
        <p:spPr>
          <a:xfrm>
            <a:off x="3358820" y="1993392"/>
            <a:ext cx="436961" cy="548640"/>
          </a:xfrm>
          <a:prstGeom prst="rect">
            <a:avLst/>
          </a:prstGeom>
          <a:solidFill>
            <a:srgbClr val="6FD3FF">
              <a:alpha val="90000"/>
            </a:srgbClr>
          </a:solidFill>
          <a:ln w="9525">
            <a:solidFill>
              <a:srgbClr val="6FD3FF"/>
            </a:solidFill>
            <a:prstDash val="solid"/>
          </a:ln>
        </p:spPr>
      </p:sp>
      <p:sp>
        <p:nvSpPr>
          <p:cNvPr id="10" name="Shape 8"/>
          <p:cNvSpPr/>
          <p:nvPr/>
        </p:nvSpPr>
        <p:spPr>
          <a:xfrm>
            <a:off x="3818640" y="1993392"/>
            <a:ext cx="1509876" cy="548640"/>
          </a:xfrm>
          <a:prstGeom prst="rect">
            <a:avLst/>
          </a:prstGeom>
          <a:solidFill>
            <a:srgbClr val="6FD3FF">
              <a:alpha val="90000"/>
            </a:srgbClr>
          </a:solidFill>
          <a:ln w="9525">
            <a:solidFill>
              <a:srgbClr val="6FD3FF"/>
            </a:solidFill>
            <a:prstDash val="solid"/>
          </a:ln>
        </p:spPr>
      </p:sp>
      <p:sp>
        <p:nvSpPr>
          <p:cNvPr id="11" name="Text 9"/>
          <p:cNvSpPr txBox="1"/>
          <p:nvPr/>
        </p:nvSpPr>
        <p:spPr>
          <a:xfrm>
            <a:off x="3873504" y="2121408"/>
            <a:ext cx="914400" cy="274320"/>
          </a:xfrm>
          <a:prstGeom prst="rect">
            <a:avLst/>
          </a:prstGeom>
          <a:noFill/>
          <a:ln/>
        </p:spPr>
        <p:txBody>
          <a:bodyPr wrap="square" lIns="0" tIns="0" rIns="0" bIns="0" rtlCol="0" anchor="ctr"/>
          <a:lstStyle/>
          <a:p>
            <a:pPr indent="0" marL="0">
              <a:buNone/>
            </a:pPr>
            <a:r>
              <a:rPr lang="en-US" sz="950" b="1" dirty="0">
                <a:solidFill>
                  <a:srgbClr val="07131F"/>
                </a:solidFill>
                <a:latin typeface="Arial" pitchFamily="34" charset="0"/>
                <a:ea typeface="Arial" pitchFamily="34" charset="-122"/>
                <a:cs typeface="Arial" pitchFamily="34" charset="-120"/>
              </a:rPr>
              <a:t>14%</a:t>
            </a:r>
            <a:endParaRPr lang="en-US" sz="950" dirty="0"/>
          </a:p>
        </p:txBody>
      </p:sp>
      <p:sp>
        <p:nvSpPr>
          <p:cNvPr id="12" name="Shape 10"/>
          <p:cNvSpPr/>
          <p:nvPr/>
        </p:nvSpPr>
        <p:spPr>
          <a:xfrm>
            <a:off x="5351376" y="1993392"/>
            <a:ext cx="1334706" cy="548640"/>
          </a:xfrm>
          <a:prstGeom prst="rect">
            <a:avLst/>
          </a:prstGeom>
          <a:solidFill>
            <a:srgbClr val="16293E">
              <a:alpha val="95000"/>
            </a:srgbClr>
          </a:solidFill>
          <a:ln w="9525">
            <a:solidFill>
              <a:srgbClr val="23405C"/>
            </a:solidFill>
            <a:prstDash val="solid"/>
          </a:ln>
        </p:spPr>
      </p:sp>
      <p:sp>
        <p:nvSpPr>
          <p:cNvPr id="13" name="Text 11"/>
          <p:cNvSpPr txBox="1"/>
          <p:nvPr/>
        </p:nvSpPr>
        <p:spPr>
          <a:xfrm>
            <a:off x="5406240" y="2121408"/>
            <a:ext cx="914400" cy="274320"/>
          </a:xfrm>
          <a:prstGeom prst="rect">
            <a:avLst/>
          </a:prstGeom>
          <a:noFill/>
          <a:ln/>
        </p:spPr>
        <p:txBody>
          <a:bodyPr wrap="square" lIns="0" tIns="0" rIns="0" bIns="0" rtlCol="0" anchor="ctr"/>
          <a:lstStyle/>
          <a:p>
            <a:pPr indent="0" marL="0">
              <a:buNone/>
            </a:pPr>
            <a:r>
              <a:rPr lang="en-US" sz="950" b="1" dirty="0">
                <a:solidFill>
                  <a:srgbClr val="A9BDD1"/>
                </a:solidFill>
                <a:latin typeface="Arial" pitchFamily="34" charset="0"/>
                <a:ea typeface="Arial" pitchFamily="34" charset="-122"/>
                <a:cs typeface="Arial" pitchFamily="34" charset="-120"/>
              </a:rPr>
              <a:t>12.4%</a:t>
            </a:r>
            <a:endParaRPr lang="en-US" sz="950" dirty="0"/>
          </a:p>
        </p:txBody>
      </p:sp>
      <p:sp>
        <p:nvSpPr>
          <p:cNvPr id="14" name="Shape 12"/>
          <p:cNvSpPr/>
          <p:nvPr/>
        </p:nvSpPr>
        <p:spPr>
          <a:xfrm>
            <a:off x="6708942" y="1993392"/>
            <a:ext cx="601182" cy="548640"/>
          </a:xfrm>
          <a:prstGeom prst="rect">
            <a:avLst/>
          </a:prstGeom>
          <a:solidFill>
            <a:srgbClr val="16293E">
              <a:alpha val="95000"/>
            </a:srgbClr>
          </a:solidFill>
          <a:ln w="9525">
            <a:solidFill>
              <a:srgbClr val="23405C"/>
            </a:solidFill>
            <a:prstDash val="solid"/>
          </a:ln>
        </p:spPr>
      </p:sp>
      <p:sp>
        <p:nvSpPr>
          <p:cNvPr id="15" name="Shape 13"/>
          <p:cNvSpPr/>
          <p:nvPr/>
        </p:nvSpPr>
        <p:spPr>
          <a:xfrm>
            <a:off x="7332984" y="1993392"/>
            <a:ext cx="283687" cy="548640"/>
          </a:xfrm>
          <a:prstGeom prst="rect">
            <a:avLst/>
          </a:prstGeom>
          <a:solidFill>
            <a:srgbClr val="16293E">
              <a:alpha val="95000"/>
            </a:srgbClr>
          </a:solidFill>
          <a:ln w="9525">
            <a:solidFill>
              <a:srgbClr val="23405C"/>
            </a:solidFill>
            <a:prstDash val="solid"/>
          </a:ln>
        </p:spPr>
      </p:sp>
      <p:sp>
        <p:nvSpPr>
          <p:cNvPr id="16" name="Shape 14"/>
          <p:cNvSpPr/>
          <p:nvPr/>
        </p:nvSpPr>
        <p:spPr>
          <a:xfrm>
            <a:off x="7639531" y="1993392"/>
            <a:ext cx="820145" cy="548640"/>
          </a:xfrm>
          <a:prstGeom prst="rect">
            <a:avLst/>
          </a:prstGeom>
          <a:solidFill>
            <a:srgbClr val="16293E">
              <a:alpha val="95000"/>
            </a:srgbClr>
          </a:solidFill>
          <a:ln w="9525">
            <a:solidFill>
              <a:srgbClr val="23405C"/>
            </a:solidFill>
            <a:prstDash val="solid"/>
          </a:ln>
        </p:spPr>
      </p:sp>
      <p:sp>
        <p:nvSpPr>
          <p:cNvPr id="17" name="Text 15"/>
          <p:cNvSpPr txBox="1"/>
          <p:nvPr/>
        </p:nvSpPr>
        <p:spPr>
          <a:xfrm>
            <a:off x="7694395" y="2121408"/>
            <a:ext cx="914400" cy="274320"/>
          </a:xfrm>
          <a:prstGeom prst="rect">
            <a:avLst/>
          </a:prstGeom>
          <a:noFill/>
          <a:ln/>
        </p:spPr>
        <p:txBody>
          <a:bodyPr wrap="square" lIns="0" tIns="0" rIns="0" bIns="0" rtlCol="0" anchor="ctr"/>
          <a:lstStyle/>
          <a:p>
            <a:pPr indent="0" marL="0">
              <a:buNone/>
            </a:pPr>
            <a:r>
              <a:rPr lang="en-US" sz="950" b="1" dirty="0">
                <a:solidFill>
                  <a:srgbClr val="A9BDD1"/>
                </a:solidFill>
                <a:latin typeface="Arial" pitchFamily="34" charset="0"/>
                <a:ea typeface="Arial" pitchFamily="34" charset="-122"/>
                <a:cs typeface="Arial" pitchFamily="34" charset="-120"/>
              </a:rPr>
              <a:t>7.7%</a:t>
            </a:r>
            <a:endParaRPr lang="en-US" sz="950" dirty="0"/>
          </a:p>
        </p:txBody>
      </p:sp>
      <p:sp>
        <p:nvSpPr>
          <p:cNvPr id="18" name="Shape 16"/>
          <p:cNvSpPr/>
          <p:nvPr/>
        </p:nvSpPr>
        <p:spPr>
          <a:xfrm>
            <a:off x="8482536" y="1993392"/>
            <a:ext cx="3064507" cy="548640"/>
          </a:xfrm>
          <a:prstGeom prst="rect">
            <a:avLst/>
          </a:prstGeom>
          <a:solidFill>
            <a:srgbClr val="081020">
              <a:alpha val="0"/>
            </a:srgbClr>
          </a:solidFill>
          <a:ln w="15875">
            <a:solidFill>
              <a:srgbClr val="3D9BD8"/>
            </a:solidFill>
            <a:prstDash val="dash"/>
          </a:ln>
        </p:spPr>
      </p:sp>
      <p:sp>
        <p:nvSpPr>
          <p:cNvPr id="19" name="Text 17"/>
          <p:cNvSpPr txBox="1"/>
          <p:nvPr/>
        </p:nvSpPr>
        <p:spPr>
          <a:xfrm>
            <a:off x="8537400" y="2121408"/>
            <a:ext cx="914400" cy="274320"/>
          </a:xfrm>
          <a:prstGeom prst="rect">
            <a:avLst/>
          </a:prstGeom>
          <a:noFill/>
          <a:ln/>
        </p:spPr>
        <p:txBody>
          <a:bodyPr wrap="square" lIns="0" tIns="0" rIns="0" bIns="0" rtlCol="0" anchor="ctr"/>
          <a:lstStyle/>
          <a:p>
            <a:pPr indent="0" marL="0">
              <a:buNone/>
            </a:pPr>
            <a:r>
              <a:rPr lang="en-US" sz="950" b="1" dirty="0">
                <a:solidFill>
                  <a:srgbClr val="6FD3FF"/>
                </a:solidFill>
                <a:latin typeface="Arial" pitchFamily="34" charset="0"/>
                <a:ea typeface="Arial" pitchFamily="34" charset="-122"/>
                <a:cs typeface="Arial" pitchFamily="34" charset="-120"/>
              </a:rPr>
              <a:t>28.2%</a:t>
            </a:r>
            <a:endParaRPr lang="en-US" sz="950" dirty="0"/>
          </a:p>
        </p:txBody>
      </p:sp>
      <p:sp>
        <p:nvSpPr>
          <p:cNvPr id="20" name="Shape 18"/>
          <p:cNvSpPr/>
          <p:nvPr/>
        </p:nvSpPr>
        <p:spPr>
          <a:xfrm>
            <a:off x="658368" y="2560320"/>
            <a:ext cx="0" cy="91440"/>
          </a:xfrm>
          <a:prstGeom prst="line">
            <a:avLst/>
          </a:prstGeom>
          <a:noFill/>
          <a:ln w="8255">
            <a:solidFill>
              <a:srgbClr val="23405C"/>
            </a:solidFill>
            <a:prstDash val="solid"/>
          </a:ln>
        </p:spPr>
      </p:sp>
      <p:sp>
        <p:nvSpPr>
          <p:cNvPr id="21" name="Text 19"/>
          <p:cNvSpPr txBox="1"/>
          <p:nvPr/>
        </p:nvSpPr>
        <p:spPr>
          <a:xfrm>
            <a:off x="621792" y="2651760"/>
            <a:ext cx="2926080" cy="201168"/>
          </a:xfrm>
          <a:prstGeom prst="rect">
            <a:avLst/>
          </a:prstGeom>
          <a:noFill/>
          <a:ln/>
        </p:spPr>
        <p:txBody>
          <a:bodyPr wrap="square" lIns="0" tIns="0" rIns="0" bIns="0" rtlCol="0" anchor="ctr"/>
          <a:lstStyle/>
          <a:p>
            <a:pPr indent="0" marL="0">
              <a:buNone/>
            </a:pPr>
            <a:r>
              <a:rPr lang="en-US" sz="730" dirty="0">
                <a:solidFill>
                  <a:srgbClr val="A9BDD1"/>
                </a:solidFill>
                <a:latin typeface="Arial" pitchFamily="34" charset="0"/>
                <a:ea typeface="Arial" pitchFamily="34" charset="-122"/>
                <a:cs typeface="Arial" pitchFamily="34" charset="-120"/>
              </a:rPr>
              <a:t>Engineering nucleus  </a:t>
            </a:r>
            <a:pPr indent="0" marL="0">
              <a:buNone/>
            </a:pPr>
            <a:r>
              <a:rPr lang="en-US" sz="730" b="1" dirty="0">
                <a:solidFill>
                  <a:srgbClr val="6FD3FF"/>
                </a:solidFill>
                <a:latin typeface="Arial" pitchFamily="34" charset="0"/>
                <a:ea typeface="Arial" pitchFamily="34" charset="-122"/>
                <a:cs typeface="Arial" pitchFamily="34" charset="-120"/>
              </a:rPr>
              <a:t>$999K · 25%</a:t>
            </a:r>
            <a:endParaRPr lang="en-US" sz="730" dirty="0"/>
          </a:p>
        </p:txBody>
      </p:sp>
      <p:sp>
        <p:nvSpPr>
          <p:cNvPr id="22" name="Shape 20"/>
          <p:cNvSpPr/>
          <p:nvPr/>
        </p:nvSpPr>
        <p:spPr>
          <a:xfrm>
            <a:off x="3395396" y="2560320"/>
            <a:ext cx="0" cy="603504"/>
          </a:xfrm>
          <a:prstGeom prst="line">
            <a:avLst/>
          </a:prstGeom>
          <a:noFill/>
          <a:ln w="8255">
            <a:solidFill>
              <a:srgbClr val="23405C"/>
            </a:solidFill>
            <a:prstDash val="solid"/>
          </a:ln>
        </p:spPr>
      </p:sp>
      <p:sp>
        <p:nvSpPr>
          <p:cNvPr id="23" name="Text 21"/>
          <p:cNvSpPr txBox="1"/>
          <p:nvPr/>
        </p:nvSpPr>
        <p:spPr>
          <a:xfrm>
            <a:off x="3358820" y="3163824"/>
            <a:ext cx="2926080" cy="201168"/>
          </a:xfrm>
          <a:prstGeom prst="rect">
            <a:avLst/>
          </a:prstGeom>
          <a:noFill/>
          <a:ln/>
        </p:spPr>
        <p:txBody>
          <a:bodyPr wrap="square" lIns="0" tIns="0" rIns="0" bIns="0" rtlCol="0" anchor="ctr"/>
          <a:lstStyle/>
          <a:p>
            <a:pPr indent="0" marL="0">
              <a:buNone/>
            </a:pPr>
            <a:r>
              <a:rPr lang="en-US" sz="730" dirty="0">
                <a:solidFill>
                  <a:srgbClr val="A9BDD1"/>
                </a:solidFill>
                <a:latin typeface="Arial" pitchFamily="34" charset="0"/>
                <a:ea typeface="Arial" pitchFamily="34" charset="-122"/>
                <a:cs typeface="Arial" pitchFamily="34" charset="-120"/>
              </a:rPr>
              <a:t>Contracted specialist authority  </a:t>
            </a:r>
            <a:pPr indent="0" marL="0">
              <a:buNone/>
            </a:pPr>
            <a:r>
              <a:rPr lang="en-US" sz="730" b="1" dirty="0">
                <a:solidFill>
                  <a:srgbClr val="6FD3FF"/>
                </a:solidFill>
                <a:latin typeface="Arial" pitchFamily="34" charset="0"/>
                <a:ea typeface="Arial" pitchFamily="34" charset="-122"/>
                <a:cs typeface="Arial" pitchFamily="34" charset="-120"/>
              </a:rPr>
              <a:t>$169K · 4.2%</a:t>
            </a:r>
            <a:endParaRPr lang="en-US" sz="730" dirty="0"/>
          </a:p>
        </p:txBody>
      </p:sp>
      <p:sp>
        <p:nvSpPr>
          <p:cNvPr id="24" name="Shape 22"/>
          <p:cNvSpPr/>
          <p:nvPr/>
        </p:nvSpPr>
        <p:spPr>
          <a:xfrm>
            <a:off x="3855216" y="2560320"/>
            <a:ext cx="0" cy="347472"/>
          </a:xfrm>
          <a:prstGeom prst="line">
            <a:avLst/>
          </a:prstGeom>
          <a:noFill/>
          <a:ln w="8255">
            <a:solidFill>
              <a:srgbClr val="23405C"/>
            </a:solidFill>
            <a:prstDash val="solid"/>
          </a:ln>
        </p:spPr>
      </p:sp>
      <p:sp>
        <p:nvSpPr>
          <p:cNvPr id="25" name="Text 23"/>
          <p:cNvSpPr txBox="1"/>
          <p:nvPr/>
        </p:nvSpPr>
        <p:spPr>
          <a:xfrm>
            <a:off x="3818640" y="2907792"/>
            <a:ext cx="2926080" cy="201168"/>
          </a:xfrm>
          <a:prstGeom prst="rect">
            <a:avLst/>
          </a:prstGeom>
          <a:noFill/>
          <a:ln/>
        </p:spPr>
        <p:txBody>
          <a:bodyPr wrap="square" lIns="0" tIns="0" rIns="0" bIns="0" rtlCol="0" anchor="ctr"/>
          <a:lstStyle/>
          <a:p>
            <a:pPr indent="0" marL="0">
              <a:buNone/>
            </a:pPr>
            <a:r>
              <a:rPr lang="en-US" sz="730" dirty="0">
                <a:solidFill>
                  <a:srgbClr val="A9BDD1"/>
                </a:solidFill>
                <a:latin typeface="Arial" pitchFamily="34" charset="0"/>
                <a:ea typeface="Arial" pitchFamily="34" charset="-122"/>
                <a:cs typeface="Arial" pitchFamily="34" charset="-120"/>
              </a:rPr>
              <a:t>Physical validation  </a:t>
            </a:r>
            <a:pPr indent="0" marL="0">
              <a:buNone/>
            </a:pPr>
            <a:r>
              <a:rPr lang="en-US" sz="730" b="1" dirty="0">
                <a:solidFill>
                  <a:srgbClr val="6FD3FF"/>
                </a:solidFill>
                <a:latin typeface="Arial" pitchFamily="34" charset="0"/>
                <a:ea typeface="Arial" pitchFamily="34" charset="-122"/>
                <a:cs typeface="Arial" pitchFamily="34" charset="-120"/>
              </a:rPr>
              <a:t>$558K · 14%</a:t>
            </a:r>
            <a:endParaRPr lang="en-US" sz="730" dirty="0"/>
          </a:p>
        </p:txBody>
      </p:sp>
      <p:sp>
        <p:nvSpPr>
          <p:cNvPr id="26" name="Shape 24"/>
          <p:cNvSpPr/>
          <p:nvPr/>
        </p:nvSpPr>
        <p:spPr>
          <a:xfrm>
            <a:off x="5387952" y="2560320"/>
            <a:ext cx="0" cy="91440"/>
          </a:xfrm>
          <a:prstGeom prst="line">
            <a:avLst/>
          </a:prstGeom>
          <a:noFill/>
          <a:ln w="8255">
            <a:solidFill>
              <a:srgbClr val="23405C"/>
            </a:solidFill>
            <a:prstDash val="solid"/>
          </a:ln>
        </p:spPr>
      </p:sp>
      <p:sp>
        <p:nvSpPr>
          <p:cNvPr id="27" name="Text 25"/>
          <p:cNvSpPr txBox="1"/>
          <p:nvPr/>
        </p:nvSpPr>
        <p:spPr>
          <a:xfrm>
            <a:off x="5351376" y="2651760"/>
            <a:ext cx="2926080" cy="201168"/>
          </a:xfrm>
          <a:prstGeom prst="rect">
            <a:avLst/>
          </a:prstGeom>
          <a:noFill/>
          <a:ln/>
        </p:spPr>
        <p:txBody>
          <a:bodyPr wrap="square" lIns="0" tIns="0" rIns="0" bIns="0" rtlCol="0" anchor="ctr"/>
          <a:lstStyle/>
          <a:p>
            <a:pPr indent="0" marL="0">
              <a:buNone/>
            </a:pPr>
            <a:r>
              <a:rPr lang="en-US" sz="730" dirty="0">
                <a:solidFill>
                  <a:srgbClr val="A9BDD1"/>
                </a:solidFill>
                <a:latin typeface="Arial" pitchFamily="34" charset="0"/>
                <a:ea typeface="Arial" pitchFamily="34" charset="-122"/>
                <a:cs typeface="Arial" pitchFamily="34" charset="-120"/>
              </a:rPr>
              <a:t>Runway and infrastructure  </a:t>
            </a:r>
            <a:pPr indent="0" marL="0">
              <a:buNone/>
            </a:pPr>
            <a:r>
              <a:rPr lang="en-US" sz="730" b="1" dirty="0">
                <a:solidFill>
                  <a:srgbClr val="72879D"/>
                </a:solidFill>
                <a:latin typeface="Arial" pitchFamily="34" charset="0"/>
                <a:ea typeface="Arial" pitchFamily="34" charset="-122"/>
                <a:cs typeface="Arial" pitchFamily="34" charset="-120"/>
              </a:rPr>
              <a:t>$497K · 12.4%</a:t>
            </a:r>
            <a:endParaRPr lang="en-US" sz="730" dirty="0"/>
          </a:p>
        </p:txBody>
      </p:sp>
      <p:sp>
        <p:nvSpPr>
          <p:cNvPr id="28" name="Shape 26"/>
          <p:cNvSpPr/>
          <p:nvPr/>
        </p:nvSpPr>
        <p:spPr>
          <a:xfrm>
            <a:off x="6745518" y="2560320"/>
            <a:ext cx="0" cy="347472"/>
          </a:xfrm>
          <a:prstGeom prst="line">
            <a:avLst/>
          </a:prstGeom>
          <a:noFill/>
          <a:ln w="8255">
            <a:solidFill>
              <a:srgbClr val="23405C"/>
            </a:solidFill>
            <a:prstDash val="solid"/>
          </a:ln>
        </p:spPr>
      </p:sp>
      <p:sp>
        <p:nvSpPr>
          <p:cNvPr id="29" name="Text 27"/>
          <p:cNvSpPr txBox="1"/>
          <p:nvPr/>
        </p:nvSpPr>
        <p:spPr>
          <a:xfrm>
            <a:off x="6708942" y="2907792"/>
            <a:ext cx="2926080" cy="201168"/>
          </a:xfrm>
          <a:prstGeom prst="rect">
            <a:avLst/>
          </a:prstGeom>
          <a:noFill/>
          <a:ln/>
        </p:spPr>
        <p:txBody>
          <a:bodyPr wrap="square" lIns="0" tIns="0" rIns="0" bIns="0" rtlCol="0" anchor="ctr"/>
          <a:lstStyle/>
          <a:p>
            <a:pPr indent="0" marL="0">
              <a:buNone/>
            </a:pPr>
            <a:r>
              <a:rPr lang="en-US" sz="730" dirty="0">
                <a:solidFill>
                  <a:srgbClr val="A9BDD1"/>
                </a:solidFill>
                <a:latin typeface="Arial" pitchFamily="34" charset="0"/>
                <a:ea typeface="Arial" pitchFamily="34" charset="-122"/>
                <a:cs typeface="Arial" pitchFamily="34" charset="-120"/>
              </a:rPr>
              <a:t>IP, legal, data rights &amp; compliance  </a:t>
            </a:r>
            <a:pPr indent="0" marL="0">
              <a:buNone/>
            </a:pPr>
            <a:r>
              <a:rPr lang="en-US" sz="730" b="1" dirty="0">
                <a:solidFill>
                  <a:srgbClr val="72879D"/>
                </a:solidFill>
                <a:latin typeface="Arial" pitchFamily="34" charset="0"/>
                <a:ea typeface="Arial" pitchFamily="34" charset="-122"/>
                <a:cs typeface="Arial" pitchFamily="34" charset="-120"/>
              </a:rPr>
              <a:t>$227K · 5.7%</a:t>
            </a:r>
            <a:endParaRPr lang="en-US" sz="730" dirty="0"/>
          </a:p>
        </p:txBody>
      </p:sp>
      <p:sp>
        <p:nvSpPr>
          <p:cNvPr id="30" name="Shape 28"/>
          <p:cNvSpPr/>
          <p:nvPr/>
        </p:nvSpPr>
        <p:spPr>
          <a:xfrm>
            <a:off x="7369560" y="2560320"/>
            <a:ext cx="0" cy="603504"/>
          </a:xfrm>
          <a:prstGeom prst="line">
            <a:avLst/>
          </a:prstGeom>
          <a:noFill/>
          <a:ln w="8255">
            <a:solidFill>
              <a:srgbClr val="23405C"/>
            </a:solidFill>
            <a:prstDash val="solid"/>
          </a:ln>
        </p:spPr>
      </p:sp>
      <p:sp>
        <p:nvSpPr>
          <p:cNvPr id="31" name="Text 29"/>
          <p:cNvSpPr txBox="1"/>
          <p:nvPr/>
        </p:nvSpPr>
        <p:spPr>
          <a:xfrm>
            <a:off x="7332984" y="3163824"/>
            <a:ext cx="2926080" cy="201168"/>
          </a:xfrm>
          <a:prstGeom prst="rect">
            <a:avLst/>
          </a:prstGeom>
          <a:noFill/>
          <a:ln/>
        </p:spPr>
        <p:txBody>
          <a:bodyPr wrap="square" lIns="0" tIns="0" rIns="0" bIns="0" rtlCol="0" anchor="ctr"/>
          <a:lstStyle/>
          <a:p>
            <a:pPr indent="0" marL="0">
              <a:buNone/>
            </a:pPr>
            <a:r>
              <a:rPr lang="en-US" sz="730" dirty="0">
                <a:solidFill>
                  <a:srgbClr val="A9BDD1"/>
                </a:solidFill>
                <a:latin typeface="Arial" pitchFamily="34" charset="0"/>
                <a:ea typeface="Arial" pitchFamily="34" charset="-122"/>
                <a:cs typeface="Arial" pitchFamily="34" charset="-120"/>
              </a:rPr>
              <a:t>Commercial and qualification  </a:t>
            </a:r>
            <a:pPr indent="0" marL="0">
              <a:buNone/>
            </a:pPr>
            <a:r>
              <a:rPr lang="en-US" sz="730" b="1" dirty="0">
                <a:solidFill>
                  <a:srgbClr val="72879D"/>
                </a:solidFill>
                <a:latin typeface="Arial" pitchFamily="34" charset="0"/>
                <a:ea typeface="Arial" pitchFamily="34" charset="-122"/>
                <a:cs typeface="Arial" pitchFamily="34" charset="-120"/>
              </a:rPr>
              <a:t>$110K · 2.8%</a:t>
            </a:r>
            <a:endParaRPr lang="en-US" sz="730" dirty="0"/>
          </a:p>
        </p:txBody>
      </p:sp>
      <p:sp>
        <p:nvSpPr>
          <p:cNvPr id="32" name="Shape 30"/>
          <p:cNvSpPr/>
          <p:nvPr/>
        </p:nvSpPr>
        <p:spPr>
          <a:xfrm>
            <a:off x="7676107" y="2560320"/>
            <a:ext cx="0" cy="859536"/>
          </a:xfrm>
          <a:prstGeom prst="line">
            <a:avLst/>
          </a:prstGeom>
          <a:noFill/>
          <a:ln w="8255">
            <a:solidFill>
              <a:srgbClr val="23405C"/>
            </a:solidFill>
            <a:prstDash val="solid"/>
          </a:ln>
        </p:spPr>
      </p:sp>
      <p:sp>
        <p:nvSpPr>
          <p:cNvPr id="33" name="Text 31"/>
          <p:cNvSpPr txBox="1"/>
          <p:nvPr/>
        </p:nvSpPr>
        <p:spPr>
          <a:xfrm>
            <a:off x="7639531" y="3419856"/>
            <a:ext cx="2926080" cy="201168"/>
          </a:xfrm>
          <a:prstGeom prst="rect">
            <a:avLst/>
          </a:prstGeom>
          <a:noFill/>
          <a:ln/>
        </p:spPr>
        <p:txBody>
          <a:bodyPr wrap="square" lIns="0" tIns="0" rIns="0" bIns="0" rtlCol="0" anchor="ctr"/>
          <a:lstStyle/>
          <a:p>
            <a:pPr indent="0" marL="0">
              <a:buNone/>
            </a:pPr>
            <a:r>
              <a:rPr lang="en-US" sz="730" dirty="0">
                <a:solidFill>
                  <a:srgbClr val="A9BDD1"/>
                </a:solidFill>
                <a:latin typeface="Arial" pitchFamily="34" charset="0"/>
                <a:ea typeface="Arial" pitchFamily="34" charset="-122"/>
                <a:cs typeface="Arial" pitchFamily="34" charset="-120"/>
              </a:rPr>
              <a:t>Contingency  </a:t>
            </a:r>
            <a:pPr indent="0" marL="0">
              <a:buNone/>
            </a:pPr>
            <a:r>
              <a:rPr lang="en-US" sz="730" b="1" dirty="0">
                <a:solidFill>
                  <a:srgbClr val="72879D"/>
                </a:solidFill>
                <a:latin typeface="Arial" pitchFamily="34" charset="0"/>
                <a:ea typeface="Arial" pitchFamily="34" charset="-122"/>
                <a:cs typeface="Arial" pitchFamily="34" charset="-120"/>
              </a:rPr>
              <a:t>$307K · 7.7%</a:t>
            </a:r>
            <a:endParaRPr lang="en-US" sz="730" dirty="0"/>
          </a:p>
        </p:txBody>
      </p:sp>
      <p:sp>
        <p:nvSpPr>
          <p:cNvPr id="34" name="Shape 32"/>
          <p:cNvSpPr/>
          <p:nvPr/>
        </p:nvSpPr>
        <p:spPr>
          <a:xfrm>
            <a:off x="8519112" y="2560320"/>
            <a:ext cx="0" cy="91440"/>
          </a:xfrm>
          <a:prstGeom prst="line">
            <a:avLst/>
          </a:prstGeom>
          <a:noFill/>
          <a:ln w="8255">
            <a:solidFill>
              <a:srgbClr val="23405C"/>
            </a:solidFill>
            <a:prstDash val="solid"/>
          </a:ln>
        </p:spPr>
      </p:sp>
      <p:sp>
        <p:nvSpPr>
          <p:cNvPr id="35" name="Text 33"/>
          <p:cNvSpPr txBox="1"/>
          <p:nvPr/>
        </p:nvSpPr>
        <p:spPr>
          <a:xfrm>
            <a:off x="8482536" y="2651760"/>
            <a:ext cx="2926080" cy="201168"/>
          </a:xfrm>
          <a:prstGeom prst="rect">
            <a:avLst/>
          </a:prstGeom>
          <a:noFill/>
          <a:ln/>
        </p:spPr>
        <p:txBody>
          <a:bodyPr wrap="square" lIns="0" tIns="0" rIns="0" bIns="0" rtlCol="0" anchor="ctr"/>
          <a:lstStyle/>
          <a:p>
            <a:pPr indent="0" marL="0">
              <a:buNone/>
            </a:pPr>
            <a:r>
              <a:rPr lang="en-US" sz="730" dirty="0">
                <a:solidFill>
                  <a:srgbClr val="A9BDD1"/>
                </a:solidFill>
                <a:latin typeface="Arial" pitchFamily="34" charset="0"/>
                <a:ea typeface="Arial" pitchFamily="34" charset="-122"/>
                <a:cs typeface="Arial" pitchFamily="34" charset="-120"/>
              </a:rPr>
              <a:t>Survival reserve  </a:t>
            </a:r>
            <a:pPr indent="0" marL="0">
              <a:buNone/>
            </a:pPr>
            <a:r>
              <a:rPr lang="en-US" sz="730" b="1" dirty="0">
                <a:solidFill>
                  <a:srgbClr val="72879D"/>
                </a:solidFill>
                <a:latin typeface="Arial" pitchFamily="34" charset="0"/>
                <a:ea typeface="Arial" pitchFamily="34" charset="-122"/>
                <a:cs typeface="Arial" pitchFamily="34" charset="-120"/>
              </a:rPr>
              <a:t>$1,125K · 28.2%</a:t>
            </a:r>
            <a:endParaRPr lang="en-US" sz="730" dirty="0"/>
          </a:p>
        </p:txBody>
      </p:sp>
      <p:sp>
        <p:nvSpPr>
          <p:cNvPr id="36" name="Text 34"/>
          <p:cNvSpPr txBox="1"/>
          <p:nvPr/>
        </p:nvSpPr>
        <p:spPr>
          <a:xfrm>
            <a:off x="621792" y="3712464"/>
            <a:ext cx="10948111" cy="182880"/>
          </a:xfrm>
          <a:prstGeom prst="rect">
            <a:avLst/>
          </a:prstGeom>
          <a:noFill/>
          <a:ln/>
        </p:spPr>
        <p:txBody>
          <a:bodyPr wrap="square" lIns="0" tIns="0" rIns="0" bIns="0" rtlCol="0" anchor="ctr"/>
          <a:lstStyle/>
          <a:p>
            <a:pPr indent="0" marL="0">
              <a:buNone/>
            </a:pPr>
            <a:r>
              <a:rPr lang="en-US" sz="640" dirty="0">
                <a:solidFill>
                  <a:srgbClr val="51667C"/>
                </a:solidFill>
                <a:latin typeface="Arial" pitchFamily="34" charset="0"/>
                <a:ea typeface="Arial" pitchFamily="34" charset="-122"/>
                <a:cs typeface="Arial" pitchFamily="34" charset="-120"/>
              </a:rPr>
              <a:t>OPERATING SPRINT — 12 MONTHS · $2,560K (64.1%)                      CONTINGENCY 12% · $307K (7.7%)                      SURVIVAL RESERVE · $1,125K (28.2%) — outline, not spent in the base case</a:t>
            </a:r>
            <a:endParaRPr lang="en-US" sz="640" dirty="0"/>
          </a:p>
        </p:txBody>
      </p:sp>
      <p:sp>
        <p:nvSpPr>
          <p:cNvPr id="37" name="Text 35"/>
          <p:cNvSpPr txBox="1"/>
          <p:nvPr/>
        </p:nvSpPr>
        <p:spPr>
          <a:xfrm>
            <a:off x="10106863" y="1737360"/>
            <a:ext cx="1463040" cy="201168"/>
          </a:xfrm>
          <a:prstGeom prst="rect">
            <a:avLst/>
          </a:prstGeom>
          <a:noFill/>
          <a:ln/>
        </p:spPr>
        <p:txBody>
          <a:bodyPr wrap="square" lIns="0" tIns="0" rIns="0" bIns="0" rtlCol="0" anchor="ctr"/>
          <a:lstStyle/>
          <a:p>
            <a:pPr algn="r" indent="0" marL="0">
              <a:buNone/>
            </a:pPr>
            <a:r>
              <a:rPr lang="en-US" sz="900" b="1" dirty="0">
                <a:solidFill>
                  <a:srgbClr val="EAF2FA"/>
                </a:solidFill>
                <a:latin typeface="Arial" pitchFamily="34" charset="0"/>
                <a:ea typeface="Arial" pitchFamily="34" charset="-122"/>
                <a:cs typeface="Arial" pitchFamily="34" charset="-120"/>
              </a:rPr>
              <a:t>Total $3,992K</a:t>
            </a:r>
            <a:endParaRPr lang="en-US" sz="900" dirty="0"/>
          </a:p>
        </p:txBody>
      </p:sp>
      <p:sp>
        <p:nvSpPr>
          <p:cNvPr id="38" name="Text 36"/>
          <p:cNvSpPr txBox="1"/>
          <p:nvPr/>
        </p:nvSpPr>
        <p:spPr>
          <a:xfrm>
            <a:off x="621792" y="4096512"/>
            <a:ext cx="2194560" cy="219456"/>
          </a:xfrm>
          <a:prstGeom prst="rect">
            <a:avLst/>
          </a:prstGeom>
          <a:noFill/>
          <a:ln/>
        </p:spPr>
        <p:txBody>
          <a:bodyPr wrap="square" lIns="0" tIns="0" rIns="0" bIns="0" rtlCol="0" anchor="ctr"/>
          <a:lstStyle/>
          <a:p>
            <a:pPr indent="0" marL="0">
              <a:buNone/>
            </a:pPr>
            <a:r>
              <a:rPr lang="en-US" sz="950" b="1" spc="160" kern="0" dirty="0">
                <a:solidFill>
                  <a:srgbClr val="6FD3FF"/>
                </a:solidFill>
                <a:latin typeface="Arial" pitchFamily="34" charset="0"/>
                <a:ea typeface="Arial" pitchFamily="34" charset="-122"/>
                <a:cs typeface="Arial" pitchFamily="34" charset="-120"/>
              </a:rPr>
              <a:t>BUILDS</a:t>
            </a:r>
            <a:endParaRPr lang="en-US" sz="950" dirty="0"/>
          </a:p>
        </p:txBody>
      </p:sp>
      <p:sp>
        <p:nvSpPr>
          <p:cNvPr id="39" name="Text 37"/>
          <p:cNvSpPr txBox="1"/>
          <p:nvPr/>
        </p:nvSpPr>
        <p:spPr>
          <a:xfrm>
            <a:off x="621792" y="4370832"/>
            <a:ext cx="3192170" cy="1234440"/>
          </a:xfrm>
          <a:prstGeom prst="rect">
            <a:avLst/>
          </a:prstGeom>
          <a:noFill/>
          <a:ln/>
        </p:spPr>
        <p:txBody>
          <a:bodyPr wrap="square" lIns="0" tIns="0" rIns="0" bIns="0" rtlCol="0" anchor="ctr"/>
          <a:lstStyle/>
          <a:p>
            <a:pPr indent="0" marL="0">
              <a:lnSpc>
                <a:spcPct val="110000"/>
              </a:lnSpc>
              <a:buNone/>
            </a:pPr>
            <a:r>
              <a:rPr lang="en-US" sz="760" dirty="0">
                <a:solidFill>
                  <a:srgbClr val="A9BDD1"/>
                </a:solidFill>
                <a:latin typeface="Arial" pitchFamily="34" charset="0"/>
                <a:ea typeface="Arial" pitchFamily="34" charset="-122"/>
                <a:cs typeface="Arial" pitchFamily="34" charset="-120"/>
              </a:rPr>
              <a:t>A founding Chief Engineer and a six-person technical nucleus. Contracted metrology, safety and quality authority from month one. A research cell. A founder IP assignment, first patent filings, data-rights position, export posture and a government-contracting registration opened in month zero.</a:t>
            </a:r>
            <a:endParaRPr lang="en-US" sz="760" dirty="0"/>
          </a:p>
        </p:txBody>
      </p:sp>
      <p:sp>
        <p:nvSpPr>
          <p:cNvPr id="40" name="Shape 38"/>
          <p:cNvSpPr/>
          <p:nvPr/>
        </p:nvSpPr>
        <p:spPr>
          <a:xfrm>
            <a:off x="4252874" y="4169664"/>
            <a:ext cx="0" cy="1417320"/>
          </a:xfrm>
          <a:prstGeom prst="line">
            <a:avLst/>
          </a:prstGeom>
          <a:noFill/>
          <a:ln w="9525">
            <a:solidFill>
              <a:srgbClr val="23405C"/>
            </a:solidFill>
            <a:prstDash val="solid"/>
          </a:ln>
        </p:spPr>
      </p:sp>
      <p:sp>
        <p:nvSpPr>
          <p:cNvPr id="41" name="Text 39"/>
          <p:cNvSpPr txBox="1"/>
          <p:nvPr/>
        </p:nvSpPr>
        <p:spPr>
          <a:xfrm>
            <a:off x="4545482" y="4096512"/>
            <a:ext cx="2194560" cy="219456"/>
          </a:xfrm>
          <a:prstGeom prst="rect">
            <a:avLst/>
          </a:prstGeom>
          <a:noFill/>
          <a:ln/>
        </p:spPr>
        <p:txBody>
          <a:bodyPr wrap="square" lIns="0" tIns="0" rIns="0" bIns="0" rtlCol="0" anchor="ctr"/>
          <a:lstStyle/>
          <a:p>
            <a:pPr indent="0" marL="0">
              <a:buNone/>
            </a:pPr>
            <a:r>
              <a:rPr lang="en-US" sz="950" b="1" spc="160" kern="0" dirty="0">
                <a:solidFill>
                  <a:srgbClr val="6FD3FF"/>
                </a:solidFill>
                <a:latin typeface="Arial" pitchFamily="34" charset="0"/>
                <a:ea typeface="Arial" pitchFamily="34" charset="-122"/>
                <a:cs typeface="Arial" pitchFamily="34" charset="-120"/>
              </a:rPr>
              <a:t>ATTEMPTS</a:t>
            </a:r>
            <a:endParaRPr lang="en-US" sz="950" dirty="0"/>
          </a:p>
        </p:txBody>
      </p:sp>
      <p:sp>
        <p:nvSpPr>
          <p:cNvPr id="42" name="Text 40"/>
          <p:cNvSpPr txBox="1"/>
          <p:nvPr/>
        </p:nvSpPr>
        <p:spPr>
          <a:xfrm>
            <a:off x="4545482" y="4370832"/>
            <a:ext cx="3192170" cy="1234440"/>
          </a:xfrm>
          <a:prstGeom prst="rect">
            <a:avLst/>
          </a:prstGeom>
          <a:noFill/>
          <a:ln/>
        </p:spPr>
        <p:txBody>
          <a:bodyPr wrap="square" lIns="0" tIns="0" rIns="0" bIns="0" rtlCol="0" anchor="ctr"/>
          <a:lstStyle/>
          <a:p>
            <a:pPr indent="0" marL="0">
              <a:lnSpc>
                <a:spcPct val="110000"/>
              </a:lnSpc>
              <a:buNone/>
            </a:pPr>
            <a:r>
              <a:rPr lang="en-US" sz="760" dirty="0">
                <a:solidFill>
                  <a:srgbClr val="A9BDD1"/>
                </a:solidFill>
                <a:latin typeface="Arial" pitchFamily="34" charset="0"/>
                <a:ea typeface="Arial" pitchFamily="34" charset="-122"/>
                <a:cs typeface="Arial" pitchFamily="34" charset="-120"/>
              </a:rPr>
              <a:t>Gate 1 on confidence bounds at month 5. Gate 2's measured uncertainty budget at month 9. Gate 3's integrated demonstrator at month 13–14. Thirty customer interviews and one bounded, read-only engagement under the customer's quality, data-rights and security terms.</a:t>
            </a:r>
            <a:endParaRPr lang="en-US" sz="760" dirty="0"/>
          </a:p>
        </p:txBody>
      </p:sp>
      <p:sp>
        <p:nvSpPr>
          <p:cNvPr id="43" name="Shape 41"/>
          <p:cNvSpPr/>
          <p:nvPr/>
        </p:nvSpPr>
        <p:spPr>
          <a:xfrm>
            <a:off x="7902245" y="4169664"/>
            <a:ext cx="0" cy="1417320"/>
          </a:xfrm>
          <a:prstGeom prst="line">
            <a:avLst/>
          </a:prstGeom>
          <a:noFill/>
          <a:ln w="9525">
            <a:solidFill>
              <a:srgbClr val="23405C"/>
            </a:solidFill>
            <a:prstDash val="solid"/>
          </a:ln>
        </p:spPr>
      </p:sp>
      <p:sp>
        <p:nvSpPr>
          <p:cNvPr id="44" name="Text 42"/>
          <p:cNvSpPr txBox="1"/>
          <p:nvPr/>
        </p:nvSpPr>
        <p:spPr>
          <a:xfrm>
            <a:off x="8194853" y="4096512"/>
            <a:ext cx="2194560" cy="219456"/>
          </a:xfrm>
          <a:prstGeom prst="rect">
            <a:avLst/>
          </a:prstGeom>
          <a:noFill/>
          <a:ln/>
        </p:spPr>
        <p:txBody>
          <a:bodyPr wrap="square" lIns="0" tIns="0" rIns="0" bIns="0" rtlCol="0" anchor="ctr"/>
          <a:lstStyle/>
          <a:p>
            <a:pPr indent="0" marL="0">
              <a:buNone/>
            </a:pPr>
            <a:r>
              <a:rPr lang="en-US" sz="950" b="1" spc="160" kern="0" dirty="0">
                <a:solidFill>
                  <a:srgbClr val="6FD3FF"/>
                </a:solidFill>
                <a:latin typeface="Arial" pitchFamily="34" charset="0"/>
                <a:ea typeface="Arial" pitchFamily="34" charset="-122"/>
                <a:cs typeface="Arial" pitchFamily="34" charset="-120"/>
              </a:rPr>
              <a:t>CREATES, IF THE EVIDENCE LANDS</a:t>
            </a:r>
            <a:endParaRPr lang="en-US" sz="950" dirty="0"/>
          </a:p>
        </p:txBody>
      </p:sp>
      <p:sp>
        <p:nvSpPr>
          <p:cNvPr id="45" name="Text 43"/>
          <p:cNvSpPr txBox="1"/>
          <p:nvPr/>
        </p:nvSpPr>
        <p:spPr>
          <a:xfrm>
            <a:off x="8194853" y="4370832"/>
            <a:ext cx="3192170" cy="1234440"/>
          </a:xfrm>
          <a:prstGeom prst="rect">
            <a:avLst/>
          </a:prstGeom>
          <a:noFill/>
          <a:ln/>
        </p:spPr>
        <p:txBody>
          <a:bodyPr wrap="square" lIns="0" tIns="0" rIns="0" bIns="0" rtlCol="0" anchor="ctr"/>
          <a:lstStyle/>
          <a:p>
            <a:pPr indent="0" marL="0">
              <a:lnSpc>
                <a:spcPct val="110000"/>
              </a:lnSpc>
              <a:buNone/>
            </a:pPr>
            <a:r>
              <a:rPr lang="en-US" sz="760" dirty="0">
                <a:solidFill>
                  <a:srgbClr val="A9BDD1"/>
                </a:solidFill>
                <a:latin typeface="Arial" pitchFamily="34" charset="0"/>
                <a:ea typeface="Arial" pitchFamily="34" charset="-122"/>
                <a:cs typeface="Arial" pitchFamily="34" charset="-120"/>
              </a:rPr>
              <a:t>A system at TRL 3–4 with one operation class demonstrated end to end; an evidence record a quality practitioner has reviewed; a customer's introduction burden measured as their data; the evidence state on which a materially larger financing becomes rational.</a:t>
            </a:r>
            <a:endParaRPr lang="en-US" sz="760" dirty="0"/>
          </a:p>
        </p:txBody>
      </p:sp>
      <p:sp>
        <p:nvSpPr>
          <p:cNvPr id="46" name="Shape 44"/>
          <p:cNvSpPr/>
          <p:nvPr/>
        </p:nvSpPr>
        <p:spPr>
          <a:xfrm>
            <a:off x="621792" y="5614416"/>
            <a:ext cx="10948111" cy="0"/>
          </a:xfrm>
          <a:prstGeom prst="line">
            <a:avLst/>
          </a:prstGeom>
          <a:noFill/>
          <a:ln w="9525">
            <a:solidFill>
              <a:srgbClr val="23405C"/>
            </a:solidFill>
            <a:prstDash val="solid"/>
          </a:ln>
        </p:spPr>
      </p:sp>
      <p:sp>
        <p:nvSpPr>
          <p:cNvPr id="47" name="Text 45"/>
          <p:cNvSpPr txBox="1"/>
          <p:nvPr/>
        </p:nvSpPr>
        <p:spPr>
          <a:xfrm>
            <a:off x="621792" y="5724144"/>
            <a:ext cx="10948111" cy="914400"/>
          </a:xfrm>
          <a:prstGeom prst="rect">
            <a:avLst/>
          </a:prstGeom>
          <a:noFill/>
          <a:ln/>
        </p:spPr>
        <p:txBody>
          <a:bodyPr wrap="square" lIns="0" tIns="0" rIns="0" bIns="0" rtlCol="0" anchor="t"/>
          <a:lstStyle/>
          <a:p>
            <a:pPr algn="l" indent="0" marL="0">
              <a:lnSpc>
                <a:spcPct val="115000"/>
              </a:lnSpc>
              <a:spcAft>
                <a:spcPts val="500"/>
              </a:spcAft>
              <a:buNone/>
            </a:pPr>
            <a:r>
              <a:rPr lang="en-US" sz="840" i="1" dirty="0">
                <a:solidFill>
                  <a:srgbClr val="72879D"/>
                </a:solidFill>
                <a:latin typeface="Arial" pitchFamily="34" charset="0"/>
                <a:ea typeface="Arial" pitchFamily="34" charset="-122"/>
                <a:cs typeface="Arial" pitchFamily="34" charset="-120"/>
              </a:rPr>
              <a:t>The reserve is not project spend. It is spent once, only if Gate 1 fails on its premise — and it funds the backup experiment, the measurement chain and a redirect rather than a wind-down.</a:t>
            </a:r>
            <a:endParaRPr lang="en-US" sz="840" dirty="0"/>
          </a:p>
          <a:p>
            <a:pPr algn="l" indent="0" marL="0">
              <a:lnSpc>
                <a:spcPct val="115000"/>
              </a:lnSpc>
              <a:spcAft>
                <a:spcPts val="500"/>
              </a:spcAft>
              <a:buNone/>
            </a:pPr>
            <a:r>
              <a:rPr lang="en-US" sz="1050" b="1" dirty="0">
                <a:solidFill>
                  <a:srgbClr val="EAF2FA"/>
                </a:solidFill>
                <a:latin typeface="Arial" pitchFamily="34" charset="0"/>
                <a:ea typeface="Arial" pitchFamily="34" charset="-122"/>
                <a:cs typeface="Arial" pitchFamily="34" charset="-120"/>
              </a:rPr>
              <a:t>The experiments are cheap. The organisation that can run them, interpret them, and convert them into evidence an aerospace customer will accept is not.</a:t>
            </a:r>
            <a:endParaRPr lang="en-US" sz="840" dirty="0"/>
          </a:p>
          <a:p>
            <a:pPr algn="l" indent="0" marL="0">
              <a:lnSpc>
                <a:spcPct val="115000"/>
              </a:lnSpc>
              <a:buNone/>
            </a:pPr>
            <a:r>
              <a:rPr lang="en-US" sz="1300" b="1" dirty="0">
                <a:solidFill>
                  <a:srgbClr val="6FD3FF"/>
                </a:solidFill>
                <a:latin typeface="Arial" pitchFamily="34" charset="0"/>
                <a:ea typeface="Arial" pitchFamily="34" charset="-122"/>
                <a:cs typeface="Arial" pitchFamily="34" charset="-120"/>
              </a:rPr>
              <a:t>Seeking strategic capital and industrial partners.</a:t>
            </a:r>
            <a:endParaRPr lang="en-US" sz="8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Syntrex Advanced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Syntrex Advanced Systems — Investor Presentation, September 2026 (Rev 2.1)</dc:title>
  <dc:subject>PptxGenJS Presentation</dc:subject>
  <dc:creator>Syntrex Advanced Systems</dc:creator>
  <cp:lastModifiedBy>Syntrex Advanced Systems</cp:lastModifiedBy>
  <cp:revision>1</cp:revision>
  <dcterms:created xsi:type="dcterms:W3CDTF">2026-09-09T18:52:47Z</dcterms:created>
  <dcterms:modified xsi:type="dcterms:W3CDTF">2026-09-09T18:52:47Z</dcterms:modified>
</cp:coreProperties>
</file>