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2026 delivery forecast</c:v>
                </c:pt>
              </c:strCache>
            </c:strRef>
          </c:tx>
          <c:spPr>
            <a:solidFill>
              <a:srgbClr val="3D9BD8">
                <a:alpha val="92000"/>
              </a:srgbClr>
            </a:solidFill>
            <a:effectLst/>
          </c:spPr>
          <c:invertIfNegative val="0"/>
          <c:dLbls>
            <c:numFmt formatCode="#,##0" sourceLinked="0"/>
            <c:txPr>
              <a:bodyPr/>
              <a:lstStyle/>
              <a:p>
                <a:pPr>
                  <a:defRPr b="0" i="0" strike="noStrike" sz="1000" u="none">
                    <a:solidFill>
                      <a:srgbClr val="EAF2FA"/>
                    </a:solidFill>
                    <a:latin typeface="Arial"/>
                  </a:defRPr>
                </a:pPr>
              </a:p>
            </c:txPr>
            <c:showLegendKey val="0"/>
            <c:showVal val="1"/>
            <c:showCatName val="0"/>
            <c:showSerName val="0"/>
            <c:showPercent val="0"/>
            <c:showBubbleSize val="0"/>
            <c:showLeaderLines val="0"/>
          </c:dLbls>
          <c:dPt>
            <c:idx val="0"/>
            <c:invertIfNegative val="0"/>
            <c:bubble3D val="0"/>
            <c:spPr>
              <a:solidFill>
                <a:srgbClr val="3D9BD8"/>
              </a:solidFill>
              <a:effectLst/>
            </c:spPr>
          </c:dPt>
          <c:dPt>
            <c:idx val="1"/>
            <c:invertIfNegative val="0"/>
            <c:bubble3D val="0"/>
            <c:spPr>
              <a:solidFill>
                <a:srgbClr val="6FD3FF"/>
              </a:solidFill>
              <a:effectLst/>
            </c:spPr>
          </c:dPt>
          <c:cat>
            <c:multiLvlStrRef>
              <c:f>Sheet1!$A$2:$A$3</c:f>
              <c:multiLvlStrCache>
                <c:ptCount val="2"/>
                <c:lvl>
                  <c:pt idx="0">
                    <c:v>Published Dec 2025</c:v>
                  </c:pt>
                  <c:pt idx="1">
                    <c:v>Published Jun 2026</c:v>
                  </c:pt>
                </c:lvl>
              </c:multiLvlStrCache>
            </c:multiLvlStrRef>
          </c:cat>
          <c:val>
            <c:numRef>
              <c:f>Sheet1!$B$2:$B$3</c:f>
              <c:numCache>
                <c:formatCode>General</c:formatCode>
                <c:ptCount val="2"/>
                <c:pt idx="0">
                  <c:v>1631</c:v>
                </c:pt>
                <c:pt idx="1">
                  <c:v>1515</c:v>
                </c:pt>
              </c:numCache>
            </c:numRef>
          </c:val>
        </c:ser>
        <c:dLbls>
          <c:numFmt formatCode="#,##0" sourceLinked="0"/>
          <c:txPr>
            <a:bodyPr/>
            <a:lstStyle/>
            <a:p>
              <a:pPr>
                <a:defRPr b="0" i="0" strike="noStrike" sz="1000" u="none">
                  <a:solidFill>
                    <a:srgbClr val="EAF2F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A9BDD1"/>
                </a:solidFill>
                <a:latin typeface="Arial"/>
              </a:defRPr>
            </a:pPr>
            <a:endParaRPr lang="en-US"/>
          </a:p>
        </c:txPr>
        <c:crossAx val="2094734552"/>
        <c:crosses val="autoZero"/>
        <c:auto val="1"/>
        <c:lblAlgn val="ctr"/>
        <c:noMultiLvlLbl val="1"/>
      </c:catAx>
      <c:valAx>
        <c:axId val="2094734552"/>
        <c:scaling>
          <c:orientation val="minMax"/>
          <c:max val="1700"/>
          <c:min val="130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F1E31">
            <a:alpha val="0"/>
          </a:srgbClr>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155 mm rounds per month</c:v>
                </c:pt>
              </c:strCache>
            </c:strRef>
          </c:tx>
          <c:spPr>
            <a:solidFill>
              <a:srgbClr val="3D9BD8"/>
            </a:solidFill>
            <a:effectLst/>
          </c:spPr>
          <c:invertIfNegative val="0"/>
          <c:dLbls>
            <c:numFmt formatCode="#,##0" sourceLinked="0"/>
            <c:txPr>
              <a:bodyPr/>
              <a:lstStyle/>
              <a:p>
                <a:pPr>
                  <a:defRPr b="0" i="0" strike="noStrike" sz="1050" u="none">
                    <a:solidFill>
                      <a:srgbClr val="EAF2FA"/>
                    </a:solidFill>
                    <a:latin typeface="Arial"/>
                  </a:defRPr>
                </a:pPr>
              </a:p>
            </c:txPr>
            <c:showLegendKey val="0"/>
            <c:showVal val="1"/>
            <c:showCatName val="0"/>
            <c:showSerName val="0"/>
            <c:showPercent val="0"/>
            <c:showBubbleSize val="0"/>
            <c:showLeaderLines val="0"/>
          </c:dLbls>
          <c:dPt>
            <c:idx val="0"/>
            <c:invertIfNegative val="0"/>
            <c:bubble3D val="0"/>
            <c:spPr>
              <a:solidFill>
                <a:srgbClr val="3D9BD8"/>
              </a:solidFill>
              <a:effectLst/>
            </c:spPr>
          </c:dPt>
          <c:dPt>
            <c:idx val="1"/>
            <c:invertIfNegative val="0"/>
            <c:bubble3D val="0"/>
            <c:spPr>
              <a:solidFill>
                <a:srgbClr val="6FD3FF"/>
              </a:solidFill>
              <a:effectLst/>
            </c:spPr>
          </c:dPt>
          <c:cat>
            <c:multiLvlStrRef>
              <c:f>Sheet1!$A$2:$A$3</c:f>
              <c:multiLvlStrCache>
                <c:ptCount val="2"/>
                <c:lvl>
                  <c:pt idx="0">
                    <c:v>Target set for Oct 2025</c:v>
                  </c:pt>
                  <c:pt idx="1">
                    <c:v>Actual, Mar 2026</c:v>
                  </c:pt>
                </c:lvl>
              </c:multiLvlStrCache>
            </c:multiLvlStrRef>
          </c:cat>
          <c:val>
            <c:numRef>
              <c:f>Sheet1!$B$2:$B$3</c:f>
              <c:numCache>
                <c:formatCode>General</c:formatCode>
                <c:ptCount val="2"/>
                <c:pt idx="0">
                  <c:v>100000</c:v>
                </c:pt>
                <c:pt idx="1">
                  <c:v>36000</c:v>
                </c:pt>
              </c:numCache>
            </c:numRef>
          </c:val>
        </c:ser>
        <c:dLbls>
          <c:numFmt formatCode="#,##0" sourceLinked="0"/>
          <c:txPr>
            <a:bodyPr/>
            <a:lstStyle/>
            <a:p>
              <a:pPr>
                <a:defRPr b="0" i="0" strike="noStrike" sz="1050" u="none">
                  <a:solidFill>
                    <a:srgbClr val="EAF2F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A9BDD1"/>
                </a:solidFill>
                <a:latin typeface="Arial"/>
              </a:defRPr>
            </a:pPr>
            <a:endParaRPr lang="en-US"/>
          </a:p>
        </c:txPr>
        <c:crossAx val="2094734552"/>
        <c:crosses val="autoZero"/>
        <c:auto val="1"/>
        <c:lblAlgn val="ctr"/>
        <c:noMultiLvlLbl val="1"/>
      </c:catAx>
      <c:valAx>
        <c:axId val="2094734552"/>
        <c:scaling>
          <c:orientation val="minMax"/>
          <c:max val="12000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F1E31">
            <a:alpha val="0"/>
          </a:srgbClr>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CNC utilization</c:v>
                </c:pt>
              </c:strCache>
            </c:strRef>
          </c:tx>
          <c:spPr>
            <a:solidFill>
              <a:schemeClr val="accent1"/>
            </a:solidFill>
            <a:ln w="9525" cap="flat">
              <a:solidFill>
                <a:srgbClr val="F9F9F9"/>
              </a:solidFill>
              <a:prstDash val="solid"/>
              <a:round/>
            </a:ln>
            <a:effectLst/>
          </c:spPr>
          <c:dPt>
            <c:idx val="0"/>
            <c:bubble3D val="0"/>
            <c:spPr>
              <a:solidFill>
                <a:srgbClr val="6FD3FF"/>
              </a:solidFill>
              <a:ln w="12700" cap="flat">
                <a:solidFill>
                  <a:srgbClr val="081020"/>
                </a:solidFill>
                <a:prstDash val="solid"/>
                <a:round/>
              </a:ln>
              <a:effectLst/>
            </c:spPr>
          </c:dPt>
          <c:dPt>
            <c:idx val="1"/>
            <c:bubble3D val="0"/>
            <c:spPr>
              <a:solidFill>
                <a:srgbClr val="16293E"/>
              </a:solidFill>
              <a:ln w="12700" cap="flat">
                <a:solidFill>
                  <a:srgbClr val="081020"/>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Utilized</c:v>
                </c:pt>
                <c:pt idx="1">
                  <c:v>Idle</c:v>
                </c:pt>
              </c:strCache>
            </c:strRef>
          </c:cat>
          <c:val>
            <c:numRef>
              <c:f>Sheet1!$B$2:$B$3</c:f>
              <c:numCache>
                <c:ptCount val="2"/>
                <c:pt idx="0">
                  <c:v>25.9</c:v>
                </c:pt>
                <c:pt idx="1">
                  <c:v>74.1</c:v>
                </c:pt>
              </c:numCache>
            </c:numRef>
          </c:val>
        </c:ser>
        <c:firstSliceAng val="0"/>
        <c:holeSize val="72"/>
      </c:doughnutChart>
      <c:spPr>
        <a:solidFill>
          <a:srgbClr val="0F1E31">
            <a:alpha val="0"/>
          </a:srgbClr>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Tone: industrial engineering company with a philosophical position, not a software startup with an aerospace angle. The orb is abstract — nothing pictured is, or may read as, Syntrex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external facts. Discipline: never say $11.3B (IATA published 'more than $11 billion'). The 12-year figure is Oliver Wyman, not IATA. 3,170 is the net effective shortage — never mix with the 5,600 gross counterfactual. Do not present the backlog as Syntrex's addressable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about the industrial base, not a market claim — Syntrex does not address munitions production and no part of this round touches it. No relationship with the Department of War, the Army, or General Dynamics. CSIS lead-time figure is think-tank analysis, attributed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25.9% figure is 2022 (labelled on the slide) — no newer published figure exists; do not imply it is current. Machinists: replacement-driven attrition against a non-growing base, not a growth shortage. Idle time is not claimed to be entirely changeover/programming — the claim is that installed capacity is largely unused.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burden list is a hypothesis — a decomposition of where effort goes, not a measured allocation. No percentage, hours or dollar figure for the burden: no public benchmark exists and Syntrex has not measured it. Never say 'the cost is introducing the part number, not producing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INTENT — the problem Syntrex is architected to solve, not a demonstrated capability. If a quality professional asks which capability index: Ppk, long-term overall performance, per AS13100 Rev A (April 2025), not Cpk. Approved operating limits are set and approved by the customer's engineering and quality organisations. Never say existing measurement is inadequate, or that Syntrex measures better — the claim is about what happens to the measurement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INTENT for the entire slide; the mandatory label appears here only. Not implemented, not tested, not running on hardware. AI holds no engineering, safety or qualification authority — say this plainly. Physical implementation is not frozen; if asked, say so. AutoForge is introduced once here and never repeated.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fact, internally verifiable. Right column: planned test — 'the evidence this round funds', never 'what this round proves'; funding buys the attempt, not the result. If asked what was withdrawn: (1) an internal unit-cost advantage calculation, withdrawn because customer engineering hours per part number had not been measured; (2) a thesis that one qualified process envelope could reduce part-specific FAI across part numbers, killed because AS9102 Rev C requires full FAI for a new part number. Both answers strengthen the position — rehearse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test has been run. The 95% is an observed first-pass seating rate used as a screening and kill threshold — the word 'observed' must precede it; not a reliability claim (binomial treatment in Appendix A-2). Component prices are published list prices with part numbers, not quotes. The blocks are sized on a log cost scale — the smallest gate carries the most text deliberately: information density falls as capital rises. Never revert to the $334,000 single number — the range is the honest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challenged on read-only entry: MTConnect, the sanctioned machine-connectivity standard, is explicitly read-only by design — that is why OEM-blessed connectivity exists at all. Passive external sensing is usually defensible under warranty terms; writing controller parameters usually is not. Never promise warranty neutrality, unrestricted controller access, that no OEM/customer/quality approval is required, or that requalification is avoided. No named or prospective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FROZEN RULE for the whole deck: no ROI percentage, no engineering-hour reduction, no unit-cost advantage, no savings magnitude, no payback period — anywhere, including the appendix. If pressed, the answer is the two lines on this slide. The dashed target line is never drawn solid and never drawn as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say metrology-driven adaptive aerospace assembly does not exist — Electroimpact has shipped it since 2013; that statement would end a diligence conversation. Machina Labs ENTERED qualification — not qualified, not in production on JASSM. Divergent is NOT FAA certified — Nadcap is process accreditation. The Syntrex row is deliberately set INTO the surface, not highlighted — it is the unproven one, and sophisticated readers notice the honest treatment. No two-by-two positioning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negatives — not 'nobody', not 'no one', not 'the only company that'. Every gap is scoped to what Syntrex verified from the public record. Do not claim any named company cannot or will not close these gaps. The gaps are an opening, not a moat — a well-funded competitor could attack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PUBLICATION-STATUS RULE: only McElroy and Zervos may be called advisors; Moran, Turner and Boone are 'agreement issued, relationship in formation' — the phrase is fixed. The header count (two executed, three in formation) must match the rows in the same edit. BLOCKING: written consent from each individual to exact wording and to employer naming is required before this slide is shown; re-confirm all five statuses the day the deck is produced. If asked: dimensional metrology for part acceptance is not currently owned by anyone on the bench — saying so when asked is a credibility asset. Do not include Hernández Torres or Atala.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RULE, non-negotiable: the internal record holds summaries, not transcripts — therefore no quotation marks anywhere on this slide, anonymous role descriptors only, no names, no employers. Never fabricate a quote. Claim nothing beyond: input was received and the programme changed. Not endorsement, validation, customer interest, or a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column: hypothesis and strategic direction — none of these assets exists today. 'Demonstrated process performance history across configurations' replaces the invented term 'qualified operating regions' and points at a real index, Ppk. No blockchain/chain-link/network imagery — this is a records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DIRECTION. Rung 01 is design intent; rungs 02–05 are direction, not plan, and must never be dated. No revenue, market size or valuation implication. Rungs 02–05 drawn as outlines at reduced opacity — a factual device, not styling. Anduril is a useful precedent for the ambition; do not draw the comparison on the slide — let the investor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Nucleus roles are planned and unfilled — visually distinguished (dashed, reduced opacity); nobody should mistake a vacancy for headcount. Do not claim any candidate is committed or identified. No detail of the internal system's architecture, tooling, models or vendors; the codename adds nothing. Do not mention the founder's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valuation, SAFE cap, or target dilution anywhere in the main deck. Reconciliation if asked: the $507K physical-validation line carries the gate ladder at $314K (Gate 3 low) leaving $193K headroom, $414K (midpoint) leaving $93K, $514K (ceiling) — $7K over, absorbed by the $472K reserve. The bounded validation engagement in UNLOCKS is not a customer, not a pipeline, not signed and not priced — if asked whether one exists,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2-image-1.jpe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3-image-1.jpe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4-image-1.jpe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2.png"/><Relationship Id="rId4" Type="http://schemas.openxmlformats.org/officeDocument/2006/relationships/image" Target="../media/image-10-2.png"/><Relationship Id="rId5" Type="http://schemas.openxmlformats.org/officeDocument/2006/relationships/image" Target="../media/image-10-2.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foodiehome/a2788c04-4021-50f7-9e92-8de1b0e68224/scratchpad/syntrex/assets/orb.png">    </p:cNvPr>
          <p:cNvPicPr>
            <a:picLocks noChangeAspect="1"/>
          </p:cNvPicPr>
          <p:nvPr/>
        </p:nvPicPr>
        <p:blipFill>
          <a:blip r:embed="rId2"/>
          <a:stretch>
            <a:fillRect/>
          </a:stretch>
        </p:blipFill>
        <p:spPr>
          <a:xfrm>
            <a:off x="502920" y="1170432"/>
            <a:ext cx="4526280" cy="4526280"/>
          </a:xfrm>
          <a:prstGeom prst="rect">
            <a:avLst/>
          </a:prstGeom>
        </p:spPr>
      </p:pic>
      <p:sp>
        <p:nvSpPr>
          <p:cNvPr id="3" name="Text 0"/>
          <p:cNvSpPr txBox="1"/>
          <p:nvPr/>
        </p:nvSpPr>
        <p:spPr>
          <a:xfrm>
            <a:off x="9192463" y="420624"/>
            <a:ext cx="2377440" cy="310896"/>
          </a:xfrm>
          <a:prstGeom prst="rect">
            <a:avLst/>
          </a:prstGeom>
          <a:noFill/>
          <a:ln/>
        </p:spPr>
        <p:txBody>
          <a:bodyPr wrap="square" lIns="0" tIns="0" rIns="0" bIns="0" rtlCol="0" anchor="ctr"/>
          <a:lstStyle/>
          <a:p>
            <a:pPr algn="r" indent="0" marL="0">
              <a:buNone/>
            </a:pPr>
            <a:r>
              <a:rPr lang="en-US" sz="1500" b="1" spc="400" kern="0" dirty="0">
                <a:solidFill>
                  <a:srgbClr val="EAF2FA"/>
                </a:solidFill>
                <a:latin typeface="Arial" pitchFamily="34" charset="0"/>
                <a:ea typeface="Arial" pitchFamily="34" charset="-122"/>
                <a:cs typeface="Arial" pitchFamily="34" charset="-120"/>
              </a:rPr>
              <a:t>SYNTREX</a:t>
            </a:r>
            <a:endParaRPr lang="en-US" sz="1500" dirty="0"/>
          </a:p>
        </p:txBody>
      </p:sp>
      <p:sp>
        <p:nvSpPr>
          <p:cNvPr id="4" name="Text 1"/>
          <p:cNvSpPr txBox="1"/>
          <p:nvPr/>
        </p:nvSpPr>
        <p:spPr>
          <a:xfrm>
            <a:off x="9192463" y="713232"/>
            <a:ext cx="2377440" cy="201168"/>
          </a:xfrm>
          <a:prstGeom prst="rect">
            <a:avLst/>
          </a:prstGeom>
          <a:noFill/>
          <a:ln/>
        </p:spPr>
        <p:txBody>
          <a:bodyPr wrap="square" lIns="0" tIns="0" rIns="0" bIns="0" rtlCol="0" anchor="ctr"/>
          <a:lstStyle/>
          <a:p>
            <a:pPr algn="r" indent="0" marL="0">
              <a:buNone/>
            </a:pPr>
            <a:r>
              <a:rPr lang="en-US" sz="750" spc="340" kern="0" dirty="0">
                <a:solidFill>
                  <a:srgbClr val="72879D"/>
                </a:solidFill>
                <a:latin typeface="Arial" pitchFamily="34" charset="0"/>
                <a:ea typeface="Arial" pitchFamily="34" charset="-122"/>
                <a:cs typeface="Arial" pitchFamily="34" charset="-120"/>
              </a:rPr>
              <a:t>ADVANCED SYSTEMS</a:t>
            </a:r>
            <a:endParaRPr lang="en-US" sz="750" dirty="0"/>
          </a:p>
        </p:txBody>
      </p:sp>
      <p:sp>
        <p:nvSpPr>
          <p:cNvPr id="5" name="Text 2"/>
          <p:cNvSpPr txBox="1"/>
          <p:nvPr/>
        </p:nvSpPr>
        <p:spPr>
          <a:xfrm>
            <a:off x="5440680" y="1847088"/>
            <a:ext cx="6126480"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ADVANCED AEROSPACE MANUFACTURING</a:t>
            </a:r>
            <a:endParaRPr lang="en-US" sz="1000" dirty="0"/>
          </a:p>
        </p:txBody>
      </p:sp>
      <p:sp>
        <p:nvSpPr>
          <p:cNvPr id="6" name="Text 3"/>
          <p:cNvSpPr txBox="1"/>
          <p:nvPr/>
        </p:nvSpPr>
        <p:spPr>
          <a:xfrm>
            <a:off x="5413248" y="2176272"/>
            <a:ext cx="6309360" cy="2651760"/>
          </a:xfrm>
          <a:prstGeom prst="rect">
            <a:avLst/>
          </a:prstGeom>
          <a:noFill/>
          <a:ln/>
        </p:spPr>
        <p:txBody>
          <a:bodyPr wrap="square" lIns="0" tIns="0" rIns="0" bIns="0" rtlCol="0" anchor="ctr"/>
          <a:lstStyle/>
          <a:p>
            <a:pPr indent="0" marL="0">
              <a:lnSpc>
                <a:spcPct val="100000"/>
              </a:lnSpc>
              <a:buNone/>
            </a:pPr>
            <a:r>
              <a:rPr lang="en-US" sz="4700" b="1" dirty="0">
                <a:solidFill>
                  <a:srgbClr val="EAF2FA"/>
                </a:solidFill>
                <a:latin typeface="Arial" pitchFamily="34" charset="0"/>
                <a:ea typeface="Arial" pitchFamily="34" charset="-122"/>
                <a:cs typeface="Arial" pitchFamily="34" charset="-120"/>
              </a:rPr>
              <a:t>Manufacturing</a:t>
            </a:r>
            <a:endParaRPr lang="en-US" sz="4700" dirty="0"/>
          </a:p>
          <a:p>
            <a:pPr indent="0" marL="0">
              <a:lnSpc>
                <a:spcPct val="100000"/>
              </a:lnSpc>
              <a:buNone/>
            </a:pPr>
            <a:r>
              <a:rPr lang="en-US" sz="4700" b="1" dirty="0">
                <a:solidFill>
                  <a:srgbClr val="EAF2FA"/>
                </a:solidFill>
                <a:latin typeface="Arial" pitchFamily="34" charset="0"/>
                <a:ea typeface="Arial" pitchFamily="34" charset="-122"/>
                <a:cs typeface="Arial" pitchFamily="34" charset="-120"/>
              </a:rPr>
              <a:t>from measured</a:t>
            </a:r>
            <a:endParaRPr lang="en-US" sz="4700" dirty="0"/>
          </a:p>
          <a:p>
            <a:pPr indent="0" marL="0">
              <a:lnSpc>
                <a:spcPct val="100000"/>
              </a:lnSpc>
              <a:buNone/>
            </a:pPr>
            <a:r>
              <a:rPr lang="en-US" sz="4700" b="1" dirty="0">
                <a:solidFill>
                  <a:srgbClr val="EAF2FA"/>
                </a:solidFill>
                <a:latin typeface="Arial" pitchFamily="34" charset="0"/>
                <a:ea typeface="Arial" pitchFamily="34" charset="-122"/>
                <a:cs typeface="Arial" pitchFamily="34" charset="-120"/>
              </a:rPr>
              <a:t>reality</a:t>
            </a:r>
            <a:endParaRPr lang="en-US" sz="4700" dirty="0"/>
          </a:p>
        </p:txBody>
      </p:sp>
      <p:sp>
        <p:nvSpPr>
          <p:cNvPr id="7" name="Text 4"/>
          <p:cNvSpPr txBox="1"/>
          <p:nvPr/>
        </p:nvSpPr>
        <p:spPr>
          <a:xfrm>
            <a:off x="5440680" y="4956048"/>
            <a:ext cx="5852160" cy="566928"/>
          </a:xfrm>
          <a:prstGeom prst="rect">
            <a:avLst/>
          </a:prstGeom>
          <a:noFill/>
          <a:ln/>
        </p:spPr>
        <p:txBody>
          <a:bodyPr wrap="square" lIns="0" tIns="0" rIns="0" bIns="0" rtlCol="0" anchor="ctr"/>
          <a:lstStyle/>
          <a:p>
            <a:pPr indent="0" marL="0">
              <a:lnSpc>
                <a:spcPct val="120000"/>
              </a:lnSpc>
              <a:buNone/>
            </a:pPr>
            <a:r>
              <a:rPr lang="en-US" sz="1350" dirty="0">
                <a:solidFill>
                  <a:srgbClr val="A9BDD1"/>
                </a:solidFill>
                <a:latin typeface="Arial" pitchFamily="34" charset="0"/>
                <a:ea typeface="Arial" pitchFamily="34" charset="-122"/>
                <a:cs typeface="Arial" pitchFamily="34" charset="-120"/>
              </a:rPr>
              <a:t>Adaptive manufacturing systems for high-mix aerospace and defense production.</a:t>
            </a:r>
            <a:endParaRPr lang="en-US" sz="1350" dirty="0"/>
          </a:p>
        </p:txBody>
      </p:sp>
      <p:sp>
        <p:nvSpPr>
          <p:cNvPr id="8" name="Shape 5"/>
          <p:cNvSpPr/>
          <p:nvPr/>
        </p:nvSpPr>
        <p:spPr>
          <a:xfrm>
            <a:off x="5440680" y="5742432"/>
            <a:ext cx="2926080" cy="0"/>
          </a:xfrm>
          <a:prstGeom prst="line">
            <a:avLst/>
          </a:prstGeom>
          <a:noFill/>
          <a:ln w="9525">
            <a:solidFill>
              <a:srgbClr val="23405C"/>
            </a:solidFill>
            <a:prstDash val="solid"/>
          </a:ln>
        </p:spPr>
      </p:sp>
      <p:sp>
        <p:nvSpPr>
          <p:cNvPr id="9" name="Text 6"/>
          <p:cNvSpPr txBox="1"/>
          <p:nvPr/>
        </p:nvSpPr>
        <p:spPr>
          <a:xfrm>
            <a:off x="5440680" y="5870448"/>
            <a:ext cx="5852160" cy="274320"/>
          </a:xfrm>
          <a:prstGeom prst="rect">
            <a:avLst/>
          </a:prstGeom>
          <a:noFill/>
          <a:ln/>
        </p:spPr>
        <p:txBody>
          <a:bodyPr wrap="square" lIns="0" tIns="0" rIns="0" bIns="0" rtlCol="0" anchor="ctr"/>
          <a:lstStyle/>
          <a:p>
            <a:pPr indent="0" marL="0">
              <a:buNone/>
            </a:pPr>
            <a:r>
              <a:rPr lang="en-US" sz="950" spc="150" kern="0" dirty="0">
                <a:solidFill>
                  <a:srgbClr val="72879D"/>
                </a:solidFill>
                <a:latin typeface="Arial" pitchFamily="34" charset="0"/>
                <a:ea typeface="Arial" pitchFamily="34" charset="-122"/>
                <a:cs typeface="Arial" pitchFamily="34" charset="-120"/>
              </a:rPr>
              <a:t>Investor Presentation   ·   September 2026   ·   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02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THE CONSTRAINT</a:t>
            </a:r>
            <a:endParaRPr lang="en-US" sz="1000" dirty="0"/>
          </a:p>
        </p:txBody>
      </p:sp>
      <p:sp>
        <p:nvSpPr>
          <p:cNvPr id="5"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3000" b="1" dirty="0">
                <a:solidFill>
                  <a:srgbClr val="EAF2FA"/>
                </a:solidFill>
                <a:latin typeface="Arial" pitchFamily="34" charset="0"/>
                <a:ea typeface="Arial" pitchFamily="34" charset="-122"/>
                <a:cs typeface="Arial" pitchFamily="34" charset="-120"/>
              </a:rPr>
              <a:t>Demand is contracted. Capability is not.</a:t>
            </a:r>
            <a:endParaRPr lang="en-US" sz="3000" dirty="0"/>
          </a:p>
        </p:txBody>
      </p:sp>
      <p:sp>
        <p:nvSpPr>
          <p:cNvPr id="6" name="Text 4"/>
          <p:cNvSpPr txBox="1"/>
          <p:nvPr/>
        </p:nvSpPr>
        <p:spPr>
          <a:xfrm>
            <a:off x="585216" y="1481328"/>
            <a:ext cx="4937760" cy="1371600"/>
          </a:xfrm>
          <a:prstGeom prst="rect">
            <a:avLst/>
          </a:prstGeom>
          <a:noFill/>
          <a:ln/>
        </p:spPr>
        <p:txBody>
          <a:bodyPr wrap="square" lIns="0" tIns="0" rIns="0" bIns="0" rtlCol="0" anchor="ctr"/>
          <a:lstStyle/>
          <a:p>
            <a:pPr indent="0" marL="0">
              <a:buNone/>
            </a:pPr>
            <a:r>
              <a:rPr lang="en-US" sz="8800" b="1" spc="-100" kern="0" dirty="0">
                <a:solidFill>
                  <a:srgbClr val="EAF2FA"/>
                </a:solidFill>
                <a:latin typeface="Arial" pitchFamily="34" charset="0"/>
                <a:ea typeface="Arial" pitchFamily="34" charset="-122"/>
                <a:cs typeface="Arial" pitchFamily="34" charset="-120"/>
              </a:rPr>
              <a:t>18,100</a:t>
            </a:r>
            <a:endParaRPr lang="en-US" sz="8800" dirty="0"/>
          </a:p>
        </p:txBody>
      </p:sp>
      <p:sp>
        <p:nvSpPr>
          <p:cNvPr id="7" name="Text 5"/>
          <p:cNvSpPr txBox="1"/>
          <p:nvPr/>
        </p:nvSpPr>
        <p:spPr>
          <a:xfrm>
            <a:off x="621792" y="2871216"/>
            <a:ext cx="4937760" cy="237744"/>
          </a:xfrm>
          <a:prstGeom prst="rect">
            <a:avLst/>
          </a:prstGeom>
          <a:noFill/>
          <a:ln/>
        </p:spPr>
        <p:txBody>
          <a:bodyPr wrap="square" lIns="0" tIns="0" rIns="0" bIns="0" rtlCol="0" anchor="ctr"/>
          <a:lstStyle/>
          <a:p>
            <a:pPr indent="0" marL="0">
              <a:buNone/>
            </a:pPr>
            <a:r>
              <a:rPr lang="en-US" sz="1050" b="1" spc="260" kern="0" dirty="0">
                <a:solidFill>
                  <a:srgbClr val="6FD3FF"/>
                </a:solidFill>
                <a:latin typeface="Arial" pitchFamily="34" charset="0"/>
                <a:ea typeface="Arial" pitchFamily="34" charset="-122"/>
                <a:cs typeface="Arial" pitchFamily="34" charset="-120"/>
              </a:rPr>
              <a:t>AIRCRAFT ON ORDER, MAY 2026</a:t>
            </a:r>
            <a:endParaRPr lang="en-US" sz="1050" dirty="0"/>
          </a:p>
        </p:txBody>
      </p:sp>
      <p:sp>
        <p:nvSpPr>
          <p:cNvPr id="8" name="Text 6"/>
          <p:cNvSpPr txBox="1"/>
          <p:nvPr/>
        </p:nvSpPr>
        <p:spPr>
          <a:xfrm>
            <a:off x="621792" y="3182112"/>
            <a:ext cx="4480560" cy="685800"/>
          </a:xfrm>
          <a:prstGeom prst="rect">
            <a:avLst/>
          </a:prstGeom>
          <a:noFill/>
          <a:ln/>
        </p:spPr>
        <p:txBody>
          <a:bodyPr wrap="square" lIns="0" tIns="0" rIns="0" bIns="0" rtlCol="0" anchor="ctr"/>
          <a:lstStyle/>
          <a:p>
            <a:pPr indent="0" marL="0">
              <a:lnSpc>
                <a:spcPct val="120000"/>
              </a:lnSpc>
              <a:buNone/>
            </a:pPr>
            <a:r>
              <a:rPr lang="en-US" sz="1150" dirty="0">
                <a:solidFill>
                  <a:srgbClr val="A9BDD1"/>
                </a:solidFill>
                <a:latin typeface="Arial" pitchFamily="34" charset="0"/>
                <a:ea typeface="Arial" pitchFamily="34" charset="-122"/>
                <a:cs typeface="Arial" pitchFamily="34" charset="-120"/>
              </a:rPr>
              <a:t>Equal to almost 60% of the active fleet. At current production rates the backlog takes over 12 years to clear.</a:t>
            </a:r>
            <a:endParaRPr lang="en-US" sz="1150" dirty="0"/>
          </a:p>
        </p:txBody>
      </p:sp>
      <p:sp>
        <p:nvSpPr>
          <p:cNvPr id="9" name="Shape 7"/>
          <p:cNvSpPr/>
          <p:nvPr/>
        </p:nvSpPr>
        <p:spPr>
          <a:xfrm>
            <a:off x="5852160" y="1426464"/>
            <a:ext cx="5715000" cy="2871216"/>
          </a:xfrm>
          <a:prstGeom prst="roundRect">
            <a:avLst>
              <a:gd name="adj" fmla="val 2866"/>
            </a:avLst>
          </a:prstGeom>
          <a:solidFill>
            <a:srgbClr val="0F1E31">
              <a:alpha val="68000"/>
            </a:srgbClr>
          </a:solidFill>
          <a:ln w="9525">
            <a:solidFill>
              <a:srgbClr val="2A4A68">
                <a:alpha val="75000"/>
              </a:srgbClr>
            </a:solidFill>
            <a:prstDash val="solid"/>
          </a:ln>
          <a:effectLst>
            <a:outerShdw sx="100000" sy="100000" kx="0" ky="0" algn="bl" rotWithShape="0" blurRad="127000" dist="38100" dir="5400000">
              <a:srgbClr val="000000">
                <a:alpha val="35000"/>
              </a:srgbClr>
            </a:outerShdw>
          </a:effectLst>
        </p:spPr>
      </p:sp>
      <p:sp>
        <p:nvSpPr>
          <p:cNvPr id="10" name="Text 8"/>
          <p:cNvSpPr txBox="1"/>
          <p:nvPr/>
        </p:nvSpPr>
        <p:spPr>
          <a:xfrm>
            <a:off x="6144768" y="1609344"/>
            <a:ext cx="5166360" cy="566928"/>
          </a:xfrm>
          <a:prstGeom prst="rect">
            <a:avLst/>
          </a:prstGeom>
          <a:noFill/>
          <a:ln/>
        </p:spPr>
        <p:txBody>
          <a:bodyPr wrap="square" lIns="0" tIns="0" rIns="0" bIns="0" rtlCol="0" anchor="ctr"/>
          <a:lstStyle/>
          <a:p>
            <a:pPr indent="0" marL="0">
              <a:lnSpc>
                <a:spcPct val="115000"/>
              </a:lnSpc>
              <a:buNone/>
            </a:pPr>
            <a:r>
              <a:rPr lang="en-US" sz="1300" dirty="0">
                <a:solidFill>
                  <a:srgbClr val="EAF2FA"/>
                </a:solidFill>
                <a:latin typeface="Arial" pitchFamily="34" charset="0"/>
                <a:ea typeface="Arial" pitchFamily="34" charset="-122"/>
                <a:cs typeface="Arial" pitchFamily="34" charset="-120"/>
              </a:rPr>
              <a:t>In six months, IATA revised its own 2026 delivery forecast down </a:t>
            </a:r>
            <a:pPr indent="0" marL="0">
              <a:lnSpc>
                <a:spcPct val="115000"/>
              </a:lnSpc>
              <a:buNone/>
            </a:pPr>
            <a:r>
              <a:rPr lang="en-US" sz="1300" b="1" dirty="0">
                <a:solidFill>
                  <a:srgbClr val="6FD3FF"/>
                </a:solidFill>
                <a:latin typeface="Arial" pitchFamily="34" charset="0"/>
                <a:ea typeface="Arial" pitchFamily="34" charset="-122"/>
                <a:cs typeface="Arial" pitchFamily="34" charset="-120"/>
              </a:rPr>
              <a:t>from 1,631 aircraft to 1,515.</a:t>
            </a:r>
            <a:endParaRPr lang="en-US" sz="1300" dirty="0"/>
          </a:p>
        </p:txBody>
      </p:sp>
      <p:graphicFrame>
        <p:nvGraphicFramePr>
          <p:cNvPr id="11" name="Chart 0" descr=""/>
          <p:cNvGraphicFramePr/>
          <p:nvPr/>
        </p:nvGraphicFramePr>
        <p:xfrm>
          <a:off x="6144768" y="2286000"/>
          <a:ext cx="5120640" cy="1828800"/>
        </p:xfrm>
        <a:graphic xmlns:a="http://schemas.openxmlformats.org/drawingml/2006/main">
          <a:graphicData uri="http://schemas.openxmlformats.org/drawingml/2006/chart">
            <c:chart xmlns:c="http://schemas.openxmlformats.org/drawingml/2006/chart" r:id="rId2"/>
          </a:graphicData>
        </a:graphic>
      </p:graphicFrame>
      <p:sp>
        <p:nvSpPr>
          <p:cNvPr id="12" name="Shape 9"/>
          <p:cNvSpPr/>
          <p:nvPr/>
        </p:nvSpPr>
        <p:spPr>
          <a:xfrm>
            <a:off x="621792" y="4517136"/>
            <a:ext cx="10948111" cy="0"/>
          </a:xfrm>
          <a:prstGeom prst="line">
            <a:avLst/>
          </a:prstGeom>
          <a:noFill/>
          <a:ln w="9525">
            <a:solidFill>
              <a:srgbClr val="23405C"/>
            </a:solidFill>
            <a:prstDash val="solid"/>
          </a:ln>
        </p:spPr>
      </p:sp>
      <p:sp>
        <p:nvSpPr>
          <p:cNvPr id="13" name="Text 10"/>
          <p:cNvSpPr txBox="1"/>
          <p:nvPr/>
        </p:nvSpPr>
        <p:spPr>
          <a:xfrm>
            <a:off x="621792" y="4700016"/>
            <a:ext cx="3192170" cy="438912"/>
          </a:xfrm>
          <a:prstGeom prst="rect">
            <a:avLst/>
          </a:prstGeom>
          <a:noFill/>
          <a:ln/>
        </p:spPr>
        <p:txBody>
          <a:bodyPr wrap="square" lIns="0" tIns="0" rIns="0" bIns="0" rtlCol="0" anchor="ctr"/>
          <a:lstStyle/>
          <a:p>
            <a:pPr indent="0" marL="0">
              <a:buNone/>
            </a:pPr>
            <a:r>
              <a:rPr lang="en-US" sz="2300" b="1" dirty="0">
                <a:solidFill>
                  <a:srgbClr val="EAF2FA"/>
                </a:solidFill>
                <a:latin typeface="Arial" pitchFamily="34" charset="0"/>
                <a:ea typeface="Arial" pitchFamily="34" charset="-122"/>
                <a:cs typeface="Arial" pitchFamily="34" charset="-120"/>
              </a:rPr>
              <a:t>3,170</a:t>
            </a:r>
            <a:endParaRPr lang="en-US" sz="2300" dirty="0"/>
          </a:p>
        </p:txBody>
      </p:sp>
      <p:sp>
        <p:nvSpPr>
          <p:cNvPr id="14" name="Text 11"/>
          <p:cNvSpPr txBox="1"/>
          <p:nvPr/>
        </p:nvSpPr>
        <p:spPr>
          <a:xfrm>
            <a:off x="621792" y="5175504"/>
            <a:ext cx="3146450" cy="475488"/>
          </a:xfrm>
          <a:prstGeom prst="rect">
            <a:avLst/>
          </a:prstGeom>
          <a:noFill/>
          <a:ln/>
        </p:spPr>
        <p:txBody>
          <a:bodyPr wrap="square" lIns="0" tIns="0" rIns="0" bIns="0" rtlCol="0" anchor="ctr"/>
          <a:lstStyle/>
          <a:p>
            <a:pPr indent="0" marL="0">
              <a:lnSpc>
                <a:spcPct val="112000"/>
              </a:lnSpc>
              <a:buNone/>
            </a:pPr>
            <a:r>
              <a:rPr lang="en-US" sz="950" dirty="0">
                <a:solidFill>
                  <a:srgbClr val="72879D"/>
                </a:solidFill>
                <a:latin typeface="Arial" pitchFamily="34" charset="0"/>
                <a:ea typeface="Arial" pitchFamily="34" charset="-122"/>
                <a:cs typeface="Arial" pitchFamily="34" charset="-120"/>
              </a:rPr>
              <a:t>aircraft of effective shortage airlines are absorbing today</a:t>
            </a:r>
            <a:endParaRPr lang="en-US" sz="950" dirty="0"/>
          </a:p>
        </p:txBody>
      </p:sp>
      <p:sp>
        <p:nvSpPr>
          <p:cNvPr id="15" name="Shape 12"/>
          <p:cNvSpPr/>
          <p:nvPr/>
        </p:nvSpPr>
        <p:spPr>
          <a:xfrm>
            <a:off x="4252874" y="4681728"/>
            <a:ext cx="0" cy="841248"/>
          </a:xfrm>
          <a:prstGeom prst="line">
            <a:avLst/>
          </a:prstGeom>
          <a:noFill/>
          <a:ln w="9525">
            <a:solidFill>
              <a:srgbClr val="23405C"/>
            </a:solidFill>
            <a:prstDash val="solid"/>
          </a:ln>
        </p:spPr>
      </p:sp>
      <p:sp>
        <p:nvSpPr>
          <p:cNvPr id="16" name="Text 13"/>
          <p:cNvSpPr txBox="1"/>
          <p:nvPr/>
        </p:nvSpPr>
        <p:spPr>
          <a:xfrm>
            <a:off x="4563770" y="4700016"/>
            <a:ext cx="3192170" cy="438912"/>
          </a:xfrm>
          <a:prstGeom prst="rect">
            <a:avLst/>
          </a:prstGeom>
          <a:noFill/>
          <a:ln/>
        </p:spPr>
        <p:txBody>
          <a:bodyPr wrap="square" lIns="0" tIns="0" rIns="0" bIns="0" rtlCol="0" anchor="ctr"/>
          <a:lstStyle/>
          <a:p>
            <a:pPr indent="0" marL="0">
              <a:buNone/>
            </a:pPr>
            <a:r>
              <a:rPr lang="en-US" sz="2300" b="1" dirty="0">
                <a:solidFill>
                  <a:srgbClr val="EAF2FA"/>
                </a:solidFill>
                <a:latin typeface="Arial" pitchFamily="34" charset="0"/>
                <a:ea typeface="Arial" pitchFamily="34" charset="-122"/>
                <a:cs typeface="Arial" pitchFamily="34" charset="-120"/>
              </a:rPr>
              <a:t>15.2 years</a:t>
            </a:r>
            <a:endParaRPr lang="en-US" sz="2300" dirty="0"/>
          </a:p>
        </p:txBody>
      </p:sp>
      <p:sp>
        <p:nvSpPr>
          <p:cNvPr id="17" name="Text 14"/>
          <p:cNvSpPr txBox="1"/>
          <p:nvPr/>
        </p:nvSpPr>
        <p:spPr>
          <a:xfrm>
            <a:off x="4563770" y="5175504"/>
            <a:ext cx="3146450" cy="475488"/>
          </a:xfrm>
          <a:prstGeom prst="rect">
            <a:avLst/>
          </a:prstGeom>
          <a:noFill/>
          <a:ln/>
        </p:spPr>
        <p:txBody>
          <a:bodyPr wrap="square" lIns="0" tIns="0" rIns="0" bIns="0" rtlCol="0" anchor="ctr"/>
          <a:lstStyle/>
          <a:p>
            <a:pPr indent="0" marL="0">
              <a:lnSpc>
                <a:spcPct val="112000"/>
              </a:lnSpc>
              <a:buNone/>
            </a:pPr>
            <a:r>
              <a:rPr lang="en-US" sz="950" dirty="0">
                <a:solidFill>
                  <a:srgbClr val="72879D"/>
                </a:solidFill>
                <a:latin typeface="Arial" pitchFamily="34" charset="0"/>
                <a:ea typeface="Arial" pitchFamily="34" charset="-122"/>
                <a:cs typeface="Arial" pitchFamily="34" charset="-120"/>
              </a:rPr>
              <a:t>record average fleet age</a:t>
            </a:r>
            <a:endParaRPr lang="en-US" sz="950" dirty="0"/>
          </a:p>
        </p:txBody>
      </p:sp>
      <p:sp>
        <p:nvSpPr>
          <p:cNvPr id="18" name="Shape 15"/>
          <p:cNvSpPr/>
          <p:nvPr/>
        </p:nvSpPr>
        <p:spPr>
          <a:xfrm>
            <a:off x="7902245" y="4681728"/>
            <a:ext cx="0" cy="841248"/>
          </a:xfrm>
          <a:prstGeom prst="line">
            <a:avLst/>
          </a:prstGeom>
          <a:noFill/>
          <a:ln w="9525">
            <a:solidFill>
              <a:srgbClr val="23405C"/>
            </a:solidFill>
            <a:prstDash val="solid"/>
          </a:ln>
        </p:spPr>
      </p:sp>
      <p:sp>
        <p:nvSpPr>
          <p:cNvPr id="19" name="Text 16"/>
          <p:cNvSpPr txBox="1"/>
          <p:nvPr/>
        </p:nvSpPr>
        <p:spPr>
          <a:xfrm>
            <a:off x="8213141" y="4700016"/>
            <a:ext cx="3192170" cy="438912"/>
          </a:xfrm>
          <a:prstGeom prst="rect">
            <a:avLst/>
          </a:prstGeom>
          <a:noFill/>
          <a:ln/>
        </p:spPr>
        <p:txBody>
          <a:bodyPr wrap="square" lIns="0" tIns="0" rIns="0" bIns="0" rtlCol="0" anchor="ctr"/>
          <a:lstStyle/>
          <a:p>
            <a:pPr indent="0" marL="0">
              <a:buNone/>
            </a:pPr>
            <a:r>
              <a:rPr lang="en-US" sz="2300" b="1" dirty="0">
                <a:solidFill>
                  <a:srgbClr val="EAF2FA"/>
                </a:solidFill>
                <a:latin typeface="Arial" pitchFamily="34" charset="0"/>
                <a:ea typeface="Arial" pitchFamily="34" charset="-122"/>
                <a:cs typeface="Arial" pitchFamily="34" charset="-120"/>
              </a:rPr>
              <a:t>at least $11 billion</a:t>
            </a:r>
            <a:endParaRPr lang="en-US" sz="2300" dirty="0"/>
          </a:p>
        </p:txBody>
      </p:sp>
      <p:sp>
        <p:nvSpPr>
          <p:cNvPr id="20" name="Text 17"/>
          <p:cNvSpPr txBox="1"/>
          <p:nvPr/>
        </p:nvSpPr>
        <p:spPr>
          <a:xfrm>
            <a:off x="8213141" y="5175504"/>
            <a:ext cx="3146450" cy="475488"/>
          </a:xfrm>
          <a:prstGeom prst="rect">
            <a:avLst/>
          </a:prstGeom>
          <a:noFill/>
          <a:ln/>
        </p:spPr>
        <p:txBody>
          <a:bodyPr wrap="square" lIns="0" tIns="0" rIns="0" bIns="0" rtlCol="0" anchor="ctr"/>
          <a:lstStyle/>
          <a:p>
            <a:pPr indent="0" marL="0">
              <a:lnSpc>
                <a:spcPct val="112000"/>
              </a:lnSpc>
              <a:buNone/>
            </a:pPr>
            <a:r>
              <a:rPr lang="en-US" sz="950" dirty="0">
                <a:solidFill>
                  <a:srgbClr val="72879D"/>
                </a:solidFill>
                <a:latin typeface="Arial" pitchFamily="34" charset="0"/>
                <a:ea typeface="Arial" pitchFamily="34" charset="-122"/>
                <a:cs typeface="Arial" pitchFamily="34" charset="-120"/>
              </a:rPr>
              <a:t>cost to airlines in 2025 from supply chain failure</a:t>
            </a:r>
            <a:endParaRPr lang="en-US" sz="950" dirty="0"/>
          </a:p>
        </p:txBody>
      </p:sp>
      <p:sp>
        <p:nvSpPr>
          <p:cNvPr id="21" name="Text 18"/>
          <p:cNvSpPr txBox="1"/>
          <p:nvPr/>
        </p:nvSpPr>
        <p:spPr>
          <a:xfrm>
            <a:off x="621792" y="5815584"/>
            <a:ext cx="10948111" cy="310896"/>
          </a:xfrm>
          <a:prstGeom prst="rect">
            <a:avLst/>
          </a:prstGeom>
          <a:noFill/>
          <a:ln/>
        </p:spPr>
        <p:txBody>
          <a:bodyPr wrap="square" lIns="0" tIns="0" rIns="0" bIns="0" rtlCol="0" anchor="ctr"/>
          <a:lstStyle/>
          <a:p>
            <a:pPr indent="0" marL="0">
              <a:buNone/>
            </a:pPr>
            <a:r>
              <a:rPr lang="en-US" sz="1400" b="1" dirty="0">
                <a:solidFill>
                  <a:srgbClr val="6FD3FF"/>
                </a:solidFill>
                <a:latin typeface="Arial" pitchFamily="34" charset="0"/>
                <a:ea typeface="Arial" pitchFamily="34" charset="-122"/>
                <a:cs typeface="Arial" pitchFamily="34" charset="-120"/>
              </a:rPr>
              <a:t>The constraint is not orders. It is the ability to build.</a:t>
            </a:r>
            <a:endParaRPr lang="en-US" sz="1400" dirty="0"/>
          </a:p>
        </p:txBody>
      </p:sp>
      <p:sp>
        <p:nvSpPr>
          <p:cNvPr id="22" name="Text 19"/>
          <p:cNvSpPr txBox="1"/>
          <p:nvPr/>
        </p:nvSpPr>
        <p:spPr>
          <a:xfrm>
            <a:off x="621792" y="6236208"/>
            <a:ext cx="10948111" cy="256032"/>
          </a:xfrm>
          <a:prstGeom prst="rect">
            <a:avLst/>
          </a:prstGeom>
          <a:noFill/>
          <a:ln/>
        </p:spPr>
        <p:txBody>
          <a:bodyPr wrap="square" lIns="0" tIns="0" rIns="0" bIns="0" rtlCol="0" anchor="ctr"/>
          <a:lstStyle/>
          <a:p>
            <a:pPr indent="0" marL="0">
              <a:lnSpc>
                <a:spcPct val="105000"/>
              </a:lnSpc>
              <a:buNone/>
            </a:pPr>
            <a:r>
              <a:rPr lang="en-US" sz="650" dirty="0">
                <a:solidFill>
                  <a:srgbClr val="51667C"/>
                </a:solidFill>
                <a:latin typeface="Arial" pitchFamily="34" charset="0"/>
                <a:ea typeface="Arial" pitchFamily="34" charset="-122"/>
                <a:cs typeface="Arial" pitchFamily="34" charset="-120"/>
              </a:rPr>
              <a:t>Sources: IATA, Global Outlook for Air Transport, June 2026 and December 2025 · Oliver Wyman, Global Fleet and MRO Market Forecast 2026–2036, February 2026 · W. Walsh, IATA 82nd AGM, June 2026</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03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THE SAME CONSTRAINT, WITH MONEY BEHIND IT</a:t>
            </a:r>
            <a:endParaRPr lang="en-US" sz="1000" dirty="0"/>
          </a:p>
        </p:txBody>
      </p:sp>
      <p:sp>
        <p:nvSpPr>
          <p:cNvPr id="5"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3000" b="1" dirty="0">
                <a:solidFill>
                  <a:srgbClr val="EAF2FA"/>
                </a:solidFill>
                <a:latin typeface="Arial" pitchFamily="34" charset="0"/>
                <a:ea typeface="Arial" pitchFamily="34" charset="-122"/>
                <a:cs typeface="Arial" pitchFamily="34" charset="-120"/>
              </a:rPr>
              <a:t>Capital was appropriated. Parts did not appear.</a:t>
            </a:r>
            <a:endParaRPr lang="en-US" sz="3000" dirty="0"/>
          </a:p>
        </p:txBody>
      </p:sp>
      <p:sp>
        <p:nvSpPr>
          <p:cNvPr id="6" name="Text 4"/>
          <p:cNvSpPr txBox="1"/>
          <p:nvPr/>
        </p:nvSpPr>
        <p:spPr>
          <a:xfrm>
            <a:off x="621792" y="1517904"/>
            <a:ext cx="4709160" cy="2651760"/>
          </a:xfrm>
          <a:prstGeom prst="rect">
            <a:avLst/>
          </a:prstGeom>
          <a:noFill/>
          <a:ln/>
        </p:spPr>
        <p:txBody>
          <a:bodyPr wrap="square" lIns="0" tIns="0" rIns="0" bIns="0" rtlCol="0" anchor="t"/>
          <a:lstStyle/>
          <a:p>
            <a:pPr algn="l" indent="0" marL="0">
              <a:lnSpc>
                <a:spcPct val="112000"/>
              </a:lnSpc>
              <a:buNone/>
            </a:pPr>
            <a:r>
              <a:rPr lang="en-US" sz="2100" b="1" dirty="0">
                <a:solidFill>
                  <a:srgbClr val="EAF2FA"/>
                </a:solidFill>
                <a:latin typeface="Arial" pitchFamily="34" charset="0"/>
                <a:ea typeface="Arial" pitchFamily="34" charset="-122"/>
                <a:cs typeface="Arial" pitchFamily="34" charset="-120"/>
              </a:rPr>
              <a:t>$4.5 billion</a:t>
            </a:r>
            <a:endParaRPr lang="en-US" sz="2100" dirty="0"/>
          </a:p>
          <a:p>
            <a:pPr algn="l" indent="0" marL="0">
              <a:lnSpc>
                <a:spcPct val="112000"/>
              </a:lnSpc>
              <a:spcAft>
                <a:spcPts val="1000"/>
              </a:spcAft>
              <a:buNone/>
            </a:pPr>
            <a:r>
              <a:rPr lang="en-US" sz="1100" dirty="0">
                <a:solidFill>
                  <a:srgbClr val="A9BDD1"/>
                </a:solidFill>
                <a:latin typeface="Arial" pitchFamily="34" charset="0"/>
                <a:ea typeface="Arial" pitchFamily="34" charset="-122"/>
                <a:cs typeface="Arial" pitchFamily="34" charset="-120"/>
              </a:rPr>
              <a:t>spent on 155 mm artillery modernization, February 2022 to September 2025.</a:t>
            </a:r>
            <a:endParaRPr lang="en-US" sz="2100" dirty="0"/>
          </a:p>
          <a:p>
            <a:pPr algn="l" indent="0" marL="0">
              <a:lnSpc>
                <a:spcPct val="112000"/>
              </a:lnSpc>
              <a:spcAft>
                <a:spcPts val="400"/>
              </a:spcAft>
              <a:buNone/>
            </a:pPr>
            <a:r>
              <a:rPr lang="en-US" sz="1100" dirty="0">
                <a:solidFill>
                  <a:srgbClr val="A9BDD1"/>
                </a:solidFill>
                <a:latin typeface="Arial" pitchFamily="34" charset="0"/>
                <a:ea typeface="Arial" pitchFamily="34" charset="-122"/>
                <a:cs typeface="Arial" pitchFamily="34" charset="-120"/>
              </a:rPr>
              <a:t>Target: 100,000 rounds per month by October 2025.</a:t>
            </a:r>
            <a:endParaRPr lang="en-US" sz="2100" dirty="0"/>
          </a:p>
          <a:p>
            <a:pPr algn="l" indent="0" marL="0">
              <a:lnSpc>
                <a:spcPct val="112000"/>
              </a:lnSpc>
              <a:spcAft>
                <a:spcPts val="1000"/>
              </a:spcAft>
              <a:buNone/>
            </a:pPr>
            <a:r>
              <a:rPr lang="en-US" sz="1100" dirty="0">
                <a:solidFill>
                  <a:srgbClr val="A9BDD1"/>
                </a:solidFill>
                <a:latin typeface="Arial" pitchFamily="34" charset="0"/>
                <a:ea typeface="Arial" pitchFamily="34" charset="-122"/>
                <a:cs typeface="Arial" pitchFamily="34" charset="-120"/>
              </a:rPr>
              <a:t>Actual: approximately 36,000 rounds per month as of March 2026.</a:t>
            </a:r>
            <a:endParaRPr lang="en-US" sz="2100" dirty="0"/>
          </a:p>
          <a:p>
            <a:pPr algn="l" indent="0" marL="0">
              <a:lnSpc>
                <a:spcPct val="112000"/>
              </a:lnSpc>
              <a:buNone/>
            </a:pPr>
            <a:r>
              <a:rPr lang="en-US" sz="1100" dirty="0">
                <a:solidFill>
                  <a:srgbClr val="EAF2FA"/>
                </a:solidFill>
                <a:latin typeface="Arial" pitchFamily="34" charset="0"/>
                <a:ea typeface="Arial" pitchFamily="34" charset="-122"/>
                <a:cs typeface="Arial" pitchFamily="34" charset="-120"/>
              </a:rPr>
              <a:t>A $469 to $500 million facility purpose-built for the program had delivered no conforming metal projectile parts.</a:t>
            </a:r>
            <a:endParaRPr lang="en-US" sz="2100" dirty="0"/>
          </a:p>
        </p:txBody>
      </p:sp>
      <p:sp>
        <p:nvSpPr>
          <p:cNvPr id="7" name="Shape 5"/>
          <p:cNvSpPr/>
          <p:nvPr/>
        </p:nvSpPr>
        <p:spPr>
          <a:xfrm>
            <a:off x="621792" y="4041648"/>
            <a:ext cx="4709160" cy="1298448"/>
          </a:xfrm>
          <a:prstGeom prst="roundRect">
            <a:avLst>
              <a:gd name="adj" fmla="val 6338"/>
            </a:avLst>
          </a:prstGeom>
          <a:solidFill>
            <a:srgbClr val="0F1E31">
              <a:alpha val="68000"/>
            </a:srgbClr>
          </a:solidFill>
          <a:ln w="12700">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8" name="Text 6"/>
          <p:cNvSpPr txBox="1"/>
          <p:nvPr/>
        </p:nvSpPr>
        <p:spPr>
          <a:xfrm>
            <a:off x="877824" y="4224528"/>
            <a:ext cx="4206240" cy="1005840"/>
          </a:xfrm>
          <a:prstGeom prst="rect">
            <a:avLst/>
          </a:prstGeom>
          <a:noFill/>
          <a:ln/>
        </p:spPr>
        <p:txBody>
          <a:bodyPr wrap="square" lIns="0" tIns="0" rIns="0" bIns="0" rtlCol="0" anchor="t"/>
          <a:lstStyle/>
          <a:p>
            <a:pPr algn="l" indent="0" marL="0">
              <a:lnSpc>
                <a:spcPct val="112000"/>
              </a:lnSpc>
              <a:spcAft>
                <a:spcPts val="500"/>
              </a:spcAft>
              <a:buNone/>
            </a:pPr>
            <a:r>
              <a:rPr lang="en-US" sz="850" b="1" spc="240" kern="0" dirty="0">
                <a:solidFill>
                  <a:srgbClr val="6FD3FF"/>
                </a:solidFill>
                <a:latin typeface="Arial" pitchFamily="34" charset="0"/>
                <a:ea typeface="Arial" pitchFamily="34" charset="-122"/>
                <a:cs typeface="Arial" pitchFamily="34" charset="-120"/>
              </a:rPr>
              <a:t>THE NAMED BOTTLENECK</a:t>
            </a:r>
            <a:endParaRPr lang="en-US" sz="850" dirty="0"/>
          </a:p>
          <a:p>
            <a:pPr algn="l" indent="0" marL="0">
              <a:lnSpc>
                <a:spcPct val="112000"/>
              </a:lnSpc>
              <a:buNone/>
            </a:pPr>
            <a:r>
              <a:rPr lang="en-US" sz="1050" dirty="0">
                <a:solidFill>
                  <a:srgbClr val="EAF2FA"/>
                </a:solidFill>
                <a:latin typeface="Arial" pitchFamily="34" charset="0"/>
                <a:ea typeface="Arial" pitchFamily="34" charset="-122"/>
                <a:cs typeface="Arial" pitchFamily="34" charset="-120"/>
              </a:rPr>
              <a:t>The Inspector General identified the constraint as metal projectile parts. Not funding. Not demand. The ability to manufacture qualified parts at rate.</a:t>
            </a:r>
            <a:endParaRPr lang="en-US" sz="850" dirty="0"/>
          </a:p>
        </p:txBody>
      </p:sp>
      <p:sp>
        <p:nvSpPr>
          <p:cNvPr id="9" name="Shape 7"/>
          <p:cNvSpPr/>
          <p:nvPr/>
        </p:nvSpPr>
        <p:spPr>
          <a:xfrm>
            <a:off x="5852160" y="1426464"/>
            <a:ext cx="5715000" cy="2743200"/>
          </a:xfrm>
          <a:prstGeom prst="roundRect">
            <a:avLst>
              <a:gd name="adj" fmla="val 3000"/>
            </a:avLst>
          </a:prstGeom>
          <a:solidFill>
            <a:srgbClr val="0F1E31">
              <a:alpha val="68000"/>
            </a:srgbClr>
          </a:solidFill>
          <a:ln w="9525">
            <a:solidFill>
              <a:srgbClr val="2A4A68">
                <a:alpha val="75000"/>
              </a:srgbClr>
            </a:solidFill>
            <a:prstDash val="solid"/>
          </a:ln>
          <a:effectLst>
            <a:outerShdw sx="100000" sy="100000" kx="0" ky="0" algn="bl" rotWithShape="0" blurRad="127000" dist="38100" dir="5400000">
              <a:srgbClr val="000000">
                <a:alpha val="35000"/>
              </a:srgbClr>
            </a:outerShdw>
          </a:effectLst>
        </p:spPr>
      </p:sp>
      <p:graphicFrame>
        <p:nvGraphicFramePr>
          <p:cNvPr id="10" name="Chart 0" descr=""/>
          <p:cNvGraphicFramePr/>
          <p:nvPr/>
        </p:nvGraphicFramePr>
        <p:xfrm>
          <a:off x="6172200" y="1627632"/>
          <a:ext cx="5074920" cy="2103120"/>
        </p:xfrm>
        <a:graphic xmlns:a="http://schemas.openxmlformats.org/drawingml/2006/main">
          <a:graphicData uri="http://schemas.openxmlformats.org/drawingml/2006/chart">
            <c:chart xmlns:c="http://schemas.openxmlformats.org/drawingml/2006/chart" r:id="rId2"/>
          </a:graphicData>
        </a:graphic>
      </p:graphicFrame>
      <p:sp>
        <p:nvSpPr>
          <p:cNvPr id="11" name="Text 8"/>
          <p:cNvSpPr txBox="1"/>
          <p:nvPr/>
        </p:nvSpPr>
        <p:spPr>
          <a:xfrm>
            <a:off x="6172200" y="3785616"/>
            <a:ext cx="5074920" cy="274320"/>
          </a:xfrm>
          <a:prstGeom prst="rect">
            <a:avLst/>
          </a:prstGeom>
          <a:noFill/>
          <a:ln/>
        </p:spPr>
        <p:txBody>
          <a:bodyPr wrap="square" lIns="0" tIns="0" rIns="0" bIns="0" rtlCol="0" anchor="ctr"/>
          <a:lstStyle/>
          <a:p>
            <a:pPr indent="0" marL="0">
              <a:buNone/>
            </a:pPr>
            <a:r>
              <a:rPr lang="en-US" sz="950" dirty="0">
                <a:solidFill>
                  <a:srgbClr val="72879D"/>
                </a:solidFill>
                <a:latin typeface="Arial" pitchFamily="34" charset="0"/>
                <a:ea typeface="Arial" pitchFamily="34" charset="-122"/>
                <a:cs typeface="Arial" pitchFamily="34" charset="-120"/>
              </a:rPr>
              <a:t>Actual output is 36% of target — a gap of 64,000 rounds per month.</a:t>
            </a:r>
            <a:endParaRPr lang="en-US" sz="950" dirty="0"/>
          </a:p>
        </p:txBody>
      </p:sp>
      <p:sp>
        <p:nvSpPr>
          <p:cNvPr id="12" name="Text 9"/>
          <p:cNvSpPr txBox="1"/>
          <p:nvPr/>
        </p:nvSpPr>
        <p:spPr>
          <a:xfrm>
            <a:off x="5879592" y="4443984"/>
            <a:ext cx="2606040" cy="365760"/>
          </a:xfrm>
          <a:prstGeom prst="rect">
            <a:avLst/>
          </a:prstGeom>
          <a:noFill/>
          <a:ln/>
        </p:spPr>
        <p:txBody>
          <a:bodyPr wrap="square" lIns="0" tIns="0" rIns="0" bIns="0" rtlCol="0" anchor="ctr"/>
          <a:lstStyle/>
          <a:p>
            <a:pPr indent="0" marL="0">
              <a:buNone/>
            </a:pPr>
            <a:r>
              <a:rPr lang="en-US" sz="1800" b="1" dirty="0">
                <a:solidFill>
                  <a:srgbClr val="EAF2FA"/>
                </a:solidFill>
                <a:latin typeface="Arial" pitchFamily="34" charset="0"/>
                <a:ea typeface="Arial" pitchFamily="34" charset="-122"/>
                <a:cs typeface="Arial" pitchFamily="34" charset="-120"/>
              </a:rPr>
              <a:t>over 12 years</a:t>
            </a:r>
            <a:endParaRPr lang="en-US" sz="1800" dirty="0"/>
          </a:p>
        </p:txBody>
      </p:sp>
      <p:sp>
        <p:nvSpPr>
          <p:cNvPr id="13" name="Text 10"/>
          <p:cNvSpPr txBox="1"/>
          <p:nvPr/>
        </p:nvSpPr>
        <p:spPr>
          <a:xfrm>
            <a:off x="5879592" y="4846320"/>
            <a:ext cx="2560320" cy="658368"/>
          </a:xfrm>
          <a:prstGeom prst="rect">
            <a:avLst/>
          </a:prstGeom>
          <a:noFill/>
          <a:ln/>
        </p:spPr>
        <p:txBody>
          <a:bodyPr wrap="square" lIns="0" tIns="0" rIns="0" bIns="0" rtlCol="0" anchor="ctr"/>
          <a:lstStyle/>
          <a:p>
            <a:pPr indent="0" marL="0">
              <a:lnSpc>
                <a:spcPct val="110000"/>
              </a:lnSpc>
              <a:buNone/>
            </a:pPr>
            <a:r>
              <a:rPr lang="en-US" sz="850" dirty="0">
                <a:solidFill>
                  <a:srgbClr val="72879D"/>
                </a:solidFill>
                <a:latin typeface="Arial" pitchFamily="34" charset="0"/>
                <a:ea typeface="Arial" pitchFamily="34" charset="-122"/>
                <a:cs typeface="Arial" pitchFamily="34" charset="-120"/>
              </a:rPr>
              <a:t>average time for the Department of Defense to deliver a new capability, up again this year</a:t>
            </a:r>
            <a:endParaRPr lang="en-US" sz="850" dirty="0"/>
          </a:p>
        </p:txBody>
      </p:sp>
      <p:sp>
        <p:nvSpPr>
          <p:cNvPr id="14" name="Shape 11"/>
          <p:cNvSpPr/>
          <p:nvPr/>
        </p:nvSpPr>
        <p:spPr>
          <a:xfrm>
            <a:off x="8723376" y="4489704"/>
            <a:ext cx="0" cy="868680"/>
          </a:xfrm>
          <a:prstGeom prst="line">
            <a:avLst/>
          </a:prstGeom>
          <a:noFill/>
          <a:ln w="9525">
            <a:solidFill>
              <a:srgbClr val="23405C"/>
            </a:solidFill>
            <a:prstDash val="solid"/>
          </a:ln>
        </p:spPr>
      </p:sp>
      <p:sp>
        <p:nvSpPr>
          <p:cNvPr id="15" name="Text 12"/>
          <p:cNvSpPr txBox="1"/>
          <p:nvPr/>
        </p:nvSpPr>
        <p:spPr>
          <a:xfrm>
            <a:off x="8933688" y="4443984"/>
            <a:ext cx="2606040" cy="365760"/>
          </a:xfrm>
          <a:prstGeom prst="rect">
            <a:avLst/>
          </a:prstGeom>
          <a:noFill/>
          <a:ln/>
        </p:spPr>
        <p:txBody>
          <a:bodyPr wrap="square" lIns="0" tIns="0" rIns="0" bIns="0" rtlCol="0" anchor="ctr"/>
          <a:lstStyle/>
          <a:p>
            <a:pPr indent="0" marL="0">
              <a:buNone/>
            </a:pPr>
            <a:r>
              <a:rPr lang="en-US" sz="1800" b="1" dirty="0">
                <a:solidFill>
                  <a:srgbClr val="EAF2FA"/>
                </a:solidFill>
                <a:latin typeface="Arial" pitchFamily="34" charset="0"/>
                <a:ea typeface="Arial" pitchFamily="34" charset="-122"/>
                <a:cs typeface="Arial" pitchFamily="34" charset="-120"/>
              </a:rPr>
              <a:t>25 to 51 months</a:t>
            </a:r>
            <a:endParaRPr lang="en-US" sz="1800" dirty="0"/>
          </a:p>
        </p:txBody>
      </p:sp>
      <p:sp>
        <p:nvSpPr>
          <p:cNvPr id="16" name="Text 13"/>
          <p:cNvSpPr txBox="1"/>
          <p:nvPr/>
        </p:nvSpPr>
        <p:spPr>
          <a:xfrm>
            <a:off x="8933688" y="4846320"/>
            <a:ext cx="2560320" cy="658368"/>
          </a:xfrm>
          <a:prstGeom prst="rect">
            <a:avLst/>
          </a:prstGeom>
          <a:noFill/>
          <a:ln/>
        </p:spPr>
        <p:txBody>
          <a:bodyPr wrap="square" lIns="0" tIns="0" rIns="0" bIns="0" rtlCol="0" anchor="ctr"/>
          <a:lstStyle/>
          <a:p>
            <a:pPr indent="0" marL="0">
              <a:lnSpc>
                <a:spcPct val="110000"/>
              </a:lnSpc>
              <a:buNone/>
            </a:pPr>
            <a:r>
              <a:rPr lang="en-US" sz="850" dirty="0">
                <a:solidFill>
                  <a:srgbClr val="72879D"/>
                </a:solidFill>
                <a:latin typeface="Arial" pitchFamily="34" charset="0"/>
                <a:ea typeface="Arial" pitchFamily="34" charset="-122"/>
                <a:cs typeface="Arial" pitchFamily="34" charset="-120"/>
              </a:rPr>
              <a:t>current manufacturing lead times across major munitions programs</a:t>
            </a:r>
            <a:endParaRPr lang="en-US" sz="850" dirty="0"/>
          </a:p>
        </p:txBody>
      </p:sp>
      <p:sp>
        <p:nvSpPr>
          <p:cNvPr id="17" name="Text 14"/>
          <p:cNvSpPr txBox="1"/>
          <p:nvPr/>
        </p:nvSpPr>
        <p:spPr>
          <a:xfrm>
            <a:off x="621792" y="5815584"/>
            <a:ext cx="10948111" cy="310896"/>
          </a:xfrm>
          <a:prstGeom prst="rect">
            <a:avLst/>
          </a:prstGeom>
          <a:noFill/>
          <a:ln/>
        </p:spPr>
        <p:txBody>
          <a:bodyPr wrap="square" lIns="0" tIns="0" rIns="0" bIns="0" rtlCol="0" anchor="ctr"/>
          <a:lstStyle/>
          <a:p>
            <a:pPr indent="0" marL="0">
              <a:buNone/>
            </a:pPr>
            <a:r>
              <a:rPr lang="en-US" sz="1400" b="1" dirty="0">
                <a:solidFill>
                  <a:srgbClr val="6FD3FF"/>
                </a:solidFill>
                <a:latin typeface="Arial" pitchFamily="34" charset="0"/>
                <a:ea typeface="Arial" pitchFamily="34" charset="-122"/>
                <a:cs typeface="Arial" pitchFamily="34" charset="-120"/>
              </a:rPr>
              <a:t>Industrial capability is now a national constraint, and it is being measured.</a:t>
            </a:r>
            <a:endParaRPr lang="en-US" sz="1400" dirty="0"/>
          </a:p>
        </p:txBody>
      </p:sp>
      <p:sp>
        <p:nvSpPr>
          <p:cNvPr id="18" name="Text 15"/>
          <p:cNvSpPr txBox="1"/>
          <p:nvPr/>
        </p:nvSpPr>
        <p:spPr>
          <a:xfrm>
            <a:off x="621792" y="6236208"/>
            <a:ext cx="10948111" cy="256032"/>
          </a:xfrm>
          <a:prstGeom prst="rect">
            <a:avLst/>
          </a:prstGeom>
          <a:noFill/>
          <a:ln/>
        </p:spPr>
        <p:txBody>
          <a:bodyPr wrap="square" lIns="0" tIns="0" rIns="0" bIns="0" rtlCol="0" anchor="ctr"/>
          <a:lstStyle/>
          <a:p>
            <a:pPr indent="0" marL="0">
              <a:lnSpc>
                <a:spcPct val="105000"/>
              </a:lnSpc>
              <a:buNone/>
            </a:pPr>
            <a:r>
              <a:rPr lang="en-US" sz="650" dirty="0">
                <a:solidFill>
                  <a:srgbClr val="51667C"/>
                </a:solidFill>
                <a:latin typeface="Arial" pitchFamily="34" charset="0"/>
                <a:ea typeface="Arial" pitchFamily="34" charset="-122"/>
                <a:cs typeface="Arial" pitchFamily="34" charset="-120"/>
              </a:rPr>
              <a:t>Sources: Department of War Office of Inspector General, Report No. DOWIG-2026-095, July 2026 · GAO-26-108457, July 2026 · CSIS, July 2026</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04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WHY MONEY HAS NOT FIXED IT</a:t>
            </a:r>
            <a:endParaRPr lang="en-US" sz="1000" dirty="0"/>
          </a:p>
        </p:txBody>
      </p:sp>
      <p:sp>
        <p:nvSpPr>
          <p:cNvPr id="5" name="Text 3"/>
          <p:cNvSpPr txBox="1"/>
          <p:nvPr/>
        </p:nvSpPr>
        <p:spPr>
          <a:xfrm>
            <a:off x="621792" y="786384"/>
            <a:ext cx="10948111" cy="1051560"/>
          </a:xfrm>
          <a:prstGeom prst="rect">
            <a:avLst/>
          </a:prstGeom>
          <a:noFill/>
          <a:ln/>
        </p:spPr>
        <p:txBody>
          <a:bodyPr wrap="square" lIns="0" tIns="0" rIns="0" bIns="0" rtlCol="0" anchor="t"/>
          <a:lstStyle/>
          <a:p>
            <a:pPr indent="0" marL="0">
              <a:lnSpc>
                <a:spcPct val="102000"/>
              </a:lnSpc>
              <a:buNone/>
            </a:pPr>
            <a:r>
              <a:rPr lang="en-US" sz="2800" b="1" dirty="0">
                <a:solidFill>
                  <a:srgbClr val="EAF2FA"/>
                </a:solidFill>
                <a:latin typeface="Arial" pitchFamily="34" charset="0"/>
                <a:ea typeface="Arial" pitchFamily="34" charset="-122"/>
                <a:cs typeface="Arial" pitchFamily="34" charset="-120"/>
              </a:rPr>
              <a:t>The machines are already there.</a:t>
            </a:r>
            <a:endParaRPr lang="en-US" sz="2800" dirty="0"/>
          </a:p>
          <a:p>
            <a:pPr indent="0" marL="0">
              <a:lnSpc>
                <a:spcPct val="102000"/>
              </a:lnSpc>
              <a:buNone/>
            </a:pPr>
            <a:r>
              <a:rPr lang="en-US" sz="2800" dirty="0">
                <a:solidFill>
                  <a:srgbClr val="A9BDD1"/>
                </a:solidFill>
                <a:latin typeface="Arial" pitchFamily="34" charset="0"/>
                <a:ea typeface="Arial" pitchFamily="34" charset="-122"/>
                <a:cs typeface="Arial" pitchFamily="34" charset="-120"/>
              </a:rPr>
              <a:t>They are idle about three quarters of the time.</a:t>
            </a:r>
            <a:endParaRPr lang="en-US" sz="2800" dirty="0"/>
          </a:p>
        </p:txBody>
      </p:sp>
      <p:graphicFrame>
        <p:nvGraphicFramePr>
          <p:cNvPr id="6" name="Chart 0" descr=""/>
          <p:cNvGraphicFramePr/>
          <p:nvPr/>
        </p:nvGraphicFramePr>
        <p:xfrm>
          <a:off x="576072" y="2011680"/>
          <a:ext cx="3383280" cy="3246120"/>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1188720" y="3246120"/>
            <a:ext cx="2194560" cy="566928"/>
          </a:xfrm>
          <a:prstGeom prst="rect">
            <a:avLst/>
          </a:prstGeom>
          <a:noFill/>
          <a:ln/>
        </p:spPr>
        <p:txBody>
          <a:bodyPr wrap="square" lIns="0" tIns="0" rIns="0" bIns="0" rtlCol="0" anchor="ctr"/>
          <a:lstStyle/>
          <a:p>
            <a:pPr algn="ctr" indent="0" marL="0">
              <a:buNone/>
            </a:pPr>
            <a:r>
              <a:rPr lang="en-US" sz="3300" b="1" dirty="0">
                <a:solidFill>
                  <a:srgbClr val="EAF2FA"/>
                </a:solidFill>
                <a:latin typeface="Arial" pitchFamily="34" charset="0"/>
                <a:ea typeface="Arial" pitchFamily="34" charset="-122"/>
                <a:cs typeface="Arial" pitchFamily="34" charset="-120"/>
              </a:rPr>
              <a:t>25.9%</a:t>
            </a:r>
            <a:endParaRPr lang="en-US" sz="3300" dirty="0"/>
          </a:p>
        </p:txBody>
      </p:sp>
      <p:sp>
        <p:nvSpPr>
          <p:cNvPr id="8" name="Text 5"/>
          <p:cNvSpPr txBox="1"/>
          <p:nvPr/>
        </p:nvSpPr>
        <p:spPr>
          <a:xfrm>
            <a:off x="1188720" y="3813048"/>
            <a:ext cx="2194560" cy="219456"/>
          </a:xfrm>
          <a:prstGeom prst="rect">
            <a:avLst/>
          </a:prstGeom>
          <a:noFill/>
          <a:ln/>
        </p:spPr>
        <p:txBody>
          <a:bodyPr wrap="square" lIns="0" tIns="0" rIns="0" bIns="0" rtlCol="0" anchor="ctr"/>
          <a:lstStyle/>
          <a:p>
            <a:pPr algn="ctr" indent="0" marL="0">
              <a:buNone/>
            </a:pPr>
            <a:r>
              <a:rPr lang="en-US" sz="800" spc="200" kern="0" dirty="0">
                <a:solidFill>
                  <a:srgbClr val="72879D"/>
                </a:solidFill>
                <a:latin typeface="Arial" pitchFamily="34" charset="0"/>
                <a:ea typeface="Arial" pitchFamily="34" charset="-122"/>
                <a:cs typeface="Arial" pitchFamily="34" charset="-120"/>
              </a:rPr>
              <a:t>UTILIZED · 2022</a:t>
            </a:r>
            <a:endParaRPr lang="en-US" sz="800" dirty="0"/>
          </a:p>
        </p:txBody>
      </p:sp>
      <p:sp>
        <p:nvSpPr>
          <p:cNvPr id="9" name="Text 6"/>
          <p:cNvSpPr txBox="1"/>
          <p:nvPr/>
        </p:nvSpPr>
        <p:spPr>
          <a:xfrm>
            <a:off x="621792" y="5120640"/>
            <a:ext cx="3383280" cy="457200"/>
          </a:xfrm>
          <a:prstGeom prst="rect">
            <a:avLst/>
          </a:prstGeom>
          <a:noFill/>
          <a:ln/>
        </p:spPr>
        <p:txBody>
          <a:bodyPr wrap="square" lIns="0" tIns="0" rIns="0" bIns="0" rtlCol="0" anchor="ctr"/>
          <a:lstStyle/>
          <a:p>
            <a:pPr algn="ctr" indent="0" marL="0">
              <a:lnSpc>
                <a:spcPct val="120000"/>
              </a:lnSpc>
              <a:buNone/>
            </a:pPr>
            <a:r>
              <a:rPr lang="en-US" sz="850" b="1" spc="160" kern="0" dirty="0">
                <a:solidFill>
                  <a:srgbClr val="6FD3FF"/>
                </a:solidFill>
                <a:latin typeface="Arial" pitchFamily="34" charset="0"/>
                <a:ea typeface="Arial" pitchFamily="34" charset="-122"/>
                <a:cs typeface="Arial" pitchFamily="34" charset="-120"/>
              </a:rPr>
              <a:t>AVERAGE CNC MACHINE UTILIZATION,</a:t>
            </a:r>
            <a:endParaRPr lang="en-US" sz="850" dirty="0"/>
          </a:p>
          <a:p>
            <a:pPr algn="ctr" indent="0" marL="0">
              <a:lnSpc>
                <a:spcPct val="120000"/>
              </a:lnSpc>
              <a:buNone/>
            </a:pPr>
            <a:r>
              <a:rPr lang="en-US" sz="850" b="1" spc="160" kern="0" dirty="0">
                <a:solidFill>
                  <a:srgbClr val="6FD3FF"/>
                </a:solidFill>
                <a:latin typeface="Arial" pitchFamily="34" charset="0"/>
                <a:ea typeface="Arial" pitchFamily="34" charset="-122"/>
                <a:cs typeface="Arial" pitchFamily="34" charset="-120"/>
              </a:rPr>
              <a:t>MEASURED FROM MACHINE CONTROLLERS</a:t>
            </a:r>
            <a:endParaRPr lang="en-US" sz="850" dirty="0"/>
          </a:p>
        </p:txBody>
      </p:sp>
      <p:sp>
        <p:nvSpPr>
          <p:cNvPr id="10" name="Shape 7"/>
          <p:cNvSpPr/>
          <p:nvPr/>
        </p:nvSpPr>
        <p:spPr>
          <a:xfrm>
            <a:off x="4343400" y="1975104"/>
            <a:ext cx="7223760" cy="0"/>
          </a:xfrm>
          <a:prstGeom prst="line">
            <a:avLst/>
          </a:prstGeom>
          <a:noFill/>
          <a:ln w="9525">
            <a:solidFill>
              <a:srgbClr val="23405C"/>
            </a:solidFill>
            <a:prstDash val="solid"/>
          </a:ln>
        </p:spPr>
      </p:sp>
      <p:sp>
        <p:nvSpPr>
          <p:cNvPr id="11" name="Text 8"/>
          <p:cNvSpPr txBox="1"/>
          <p:nvPr/>
        </p:nvSpPr>
        <p:spPr>
          <a:xfrm>
            <a:off x="4343400" y="2048256"/>
            <a:ext cx="1371600" cy="457200"/>
          </a:xfrm>
          <a:prstGeom prst="rect">
            <a:avLst/>
          </a:prstGeom>
          <a:noFill/>
          <a:ln/>
        </p:spPr>
        <p:txBody>
          <a:bodyPr wrap="square" lIns="0" tIns="0" rIns="0" bIns="0" rtlCol="0" anchor="ctr"/>
          <a:lstStyle/>
          <a:p>
            <a:pPr indent="0" marL="0">
              <a:buNone/>
            </a:pPr>
            <a:r>
              <a:rPr lang="en-US" sz="1900" b="1" dirty="0">
                <a:solidFill>
                  <a:srgbClr val="6FD3FF"/>
                </a:solidFill>
                <a:latin typeface="Arial" pitchFamily="34" charset="0"/>
                <a:ea typeface="Arial" pitchFamily="34" charset="-122"/>
                <a:cs typeface="Arial" pitchFamily="34" charset="-120"/>
              </a:rPr>
              <a:t>over 40%</a:t>
            </a:r>
            <a:endParaRPr lang="en-US" sz="1900" dirty="0"/>
          </a:p>
        </p:txBody>
      </p:sp>
      <p:sp>
        <p:nvSpPr>
          <p:cNvPr id="12" name="Text 9"/>
          <p:cNvSpPr txBox="1"/>
          <p:nvPr/>
        </p:nvSpPr>
        <p:spPr>
          <a:xfrm>
            <a:off x="5897880" y="2029968"/>
            <a:ext cx="5669280" cy="868680"/>
          </a:xfrm>
          <a:prstGeom prst="rect">
            <a:avLst/>
          </a:prstGeom>
          <a:noFill/>
          <a:ln/>
        </p:spPr>
        <p:txBody>
          <a:bodyPr wrap="square" lIns="0" tIns="0" rIns="0" bIns="0" rtlCol="0" anchor="t"/>
          <a:lstStyle/>
          <a:p>
            <a:pPr algn="l" indent="0" marL="0">
              <a:lnSpc>
                <a:spcPct val="108000"/>
              </a:lnSpc>
              <a:spcAft>
                <a:spcPts val="200"/>
              </a:spcAft>
              <a:buNone/>
            </a:pPr>
            <a:r>
              <a:rPr lang="en-US" sz="1050" b="1" dirty="0">
                <a:solidFill>
                  <a:srgbClr val="EAF2FA"/>
                </a:solidFill>
                <a:latin typeface="Arial" pitchFamily="34" charset="0"/>
                <a:ea typeface="Arial" pitchFamily="34" charset="-122"/>
                <a:cs typeface="Arial" pitchFamily="34" charset="-120"/>
              </a:rPr>
              <a:t>The supplier base shrank.</a:t>
            </a:r>
            <a:endParaRPr lang="en-US" sz="1050" dirty="0"/>
          </a:p>
          <a:p>
            <a:pPr algn="l" indent="0" marL="0">
              <a:lnSpc>
                <a:spcPct val="108000"/>
              </a:lnSpc>
              <a:buNone/>
            </a:pPr>
            <a:r>
              <a:rPr lang="en-US" sz="950" dirty="0">
                <a:solidFill>
                  <a:srgbClr val="A9BDD1"/>
                </a:solidFill>
                <a:latin typeface="Arial" pitchFamily="34" charset="0"/>
                <a:ea typeface="Arial" pitchFamily="34" charset="-122"/>
                <a:cs typeface="Arial" pitchFamily="34" charset="-120"/>
              </a:rPr>
              <a:t>Small businesses in the defense industrial base fell by over 40% in a decade. Aerospace and defense primes went from 51 to 5.</a:t>
            </a:r>
            <a:endParaRPr lang="en-US" sz="1050" dirty="0"/>
          </a:p>
        </p:txBody>
      </p:sp>
      <p:sp>
        <p:nvSpPr>
          <p:cNvPr id="13" name="Shape 10"/>
          <p:cNvSpPr/>
          <p:nvPr/>
        </p:nvSpPr>
        <p:spPr>
          <a:xfrm>
            <a:off x="4343400" y="2871216"/>
            <a:ext cx="7223760" cy="0"/>
          </a:xfrm>
          <a:prstGeom prst="line">
            <a:avLst/>
          </a:prstGeom>
          <a:noFill/>
          <a:ln w="9525">
            <a:solidFill>
              <a:srgbClr val="23405C"/>
            </a:solidFill>
            <a:prstDash val="solid"/>
          </a:ln>
        </p:spPr>
      </p:sp>
      <p:sp>
        <p:nvSpPr>
          <p:cNvPr id="14" name="Text 11"/>
          <p:cNvSpPr txBox="1"/>
          <p:nvPr/>
        </p:nvSpPr>
        <p:spPr>
          <a:xfrm>
            <a:off x="4343400" y="2944368"/>
            <a:ext cx="1371600" cy="457200"/>
          </a:xfrm>
          <a:prstGeom prst="rect">
            <a:avLst/>
          </a:prstGeom>
          <a:noFill/>
          <a:ln/>
        </p:spPr>
        <p:txBody>
          <a:bodyPr wrap="square" lIns="0" tIns="0" rIns="0" bIns="0" rtlCol="0" anchor="ctr"/>
          <a:lstStyle/>
          <a:p>
            <a:pPr indent="0" marL="0">
              <a:buNone/>
            </a:pPr>
            <a:r>
              <a:rPr lang="en-US" sz="1900" b="1" dirty="0">
                <a:solidFill>
                  <a:srgbClr val="6FD3FF"/>
                </a:solidFill>
                <a:latin typeface="Arial" pitchFamily="34" charset="0"/>
                <a:ea typeface="Arial" pitchFamily="34" charset="-122"/>
                <a:cs typeface="Arial" pitchFamily="34" charset="-120"/>
              </a:rPr>
              <a:t>400,000</a:t>
            </a:r>
            <a:endParaRPr lang="en-US" sz="1900" dirty="0"/>
          </a:p>
        </p:txBody>
      </p:sp>
      <p:sp>
        <p:nvSpPr>
          <p:cNvPr id="15" name="Text 12"/>
          <p:cNvSpPr txBox="1"/>
          <p:nvPr/>
        </p:nvSpPr>
        <p:spPr>
          <a:xfrm>
            <a:off x="5897880" y="2926080"/>
            <a:ext cx="5669280" cy="868680"/>
          </a:xfrm>
          <a:prstGeom prst="rect">
            <a:avLst/>
          </a:prstGeom>
          <a:noFill/>
          <a:ln/>
        </p:spPr>
        <p:txBody>
          <a:bodyPr wrap="square" lIns="0" tIns="0" rIns="0" bIns="0" rtlCol="0" anchor="t"/>
          <a:lstStyle/>
          <a:p>
            <a:pPr algn="l" indent="0" marL="0">
              <a:lnSpc>
                <a:spcPct val="108000"/>
              </a:lnSpc>
              <a:spcAft>
                <a:spcPts val="200"/>
              </a:spcAft>
              <a:buNone/>
            </a:pPr>
            <a:r>
              <a:rPr lang="en-US" sz="1050" b="1" dirty="0">
                <a:solidFill>
                  <a:srgbClr val="EAF2FA"/>
                </a:solidFill>
                <a:latin typeface="Arial" pitchFamily="34" charset="0"/>
                <a:ea typeface="Arial" pitchFamily="34" charset="-122"/>
                <a:cs typeface="Arial" pitchFamily="34" charset="-120"/>
              </a:rPr>
              <a:t>The workforce is not arriving.</a:t>
            </a:r>
            <a:endParaRPr lang="en-US" sz="1050" dirty="0"/>
          </a:p>
          <a:p>
            <a:pPr algn="l" indent="0" marL="0">
              <a:lnSpc>
                <a:spcPct val="108000"/>
              </a:lnSpc>
              <a:buNone/>
            </a:pPr>
            <a:r>
              <a:rPr lang="en-US" sz="950" dirty="0">
                <a:solidFill>
                  <a:srgbClr val="A9BDD1"/>
                </a:solidFill>
                <a:latin typeface="Arial" pitchFamily="34" charset="0"/>
                <a:ea typeface="Arial" pitchFamily="34" charset="-122"/>
                <a:cs typeface="Arial" pitchFamily="34" charset="-120"/>
              </a:rPr>
              <a:t>400,000 defense manufacturing positions are open now. 122,000 casting and forging vacancies are projected by 2028.</a:t>
            </a:r>
            <a:endParaRPr lang="en-US" sz="1050" dirty="0"/>
          </a:p>
        </p:txBody>
      </p:sp>
      <p:sp>
        <p:nvSpPr>
          <p:cNvPr id="16" name="Shape 13"/>
          <p:cNvSpPr/>
          <p:nvPr/>
        </p:nvSpPr>
        <p:spPr>
          <a:xfrm>
            <a:off x="4343400" y="3767328"/>
            <a:ext cx="7223760" cy="0"/>
          </a:xfrm>
          <a:prstGeom prst="line">
            <a:avLst/>
          </a:prstGeom>
          <a:noFill/>
          <a:ln w="9525">
            <a:solidFill>
              <a:srgbClr val="23405C"/>
            </a:solidFill>
            <a:prstDash val="solid"/>
          </a:ln>
        </p:spPr>
      </p:sp>
      <p:sp>
        <p:nvSpPr>
          <p:cNvPr id="17" name="Text 14"/>
          <p:cNvSpPr txBox="1"/>
          <p:nvPr/>
        </p:nvSpPr>
        <p:spPr>
          <a:xfrm>
            <a:off x="4343400" y="3840480"/>
            <a:ext cx="1371600" cy="457200"/>
          </a:xfrm>
          <a:prstGeom prst="rect">
            <a:avLst/>
          </a:prstGeom>
          <a:noFill/>
          <a:ln/>
        </p:spPr>
        <p:txBody>
          <a:bodyPr wrap="square" lIns="0" tIns="0" rIns="0" bIns="0" rtlCol="0" anchor="ctr"/>
          <a:lstStyle/>
          <a:p>
            <a:pPr indent="0" marL="0">
              <a:buNone/>
            </a:pPr>
            <a:r>
              <a:rPr lang="en-US" sz="1900" b="1" dirty="0">
                <a:solidFill>
                  <a:srgbClr val="6FD3FF"/>
                </a:solidFill>
                <a:latin typeface="Arial" pitchFamily="34" charset="0"/>
                <a:ea typeface="Arial" pitchFamily="34" charset="-122"/>
                <a:cs typeface="Arial" pitchFamily="34" charset="-120"/>
              </a:rPr>
              <a:t>−1%</a:t>
            </a:r>
            <a:endParaRPr lang="en-US" sz="1900" dirty="0"/>
          </a:p>
        </p:txBody>
      </p:sp>
      <p:sp>
        <p:nvSpPr>
          <p:cNvPr id="18" name="Text 15"/>
          <p:cNvSpPr txBox="1"/>
          <p:nvPr/>
        </p:nvSpPr>
        <p:spPr>
          <a:xfrm>
            <a:off x="5897880" y="3822192"/>
            <a:ext cx="5669280" cy="868680"/>
          </a:xfrm>
          <a:prstGeom prst="rect">
            <a:avLst/>
          </a:prstGeom>
          <a:noFill/>
          <a:ln/>
        </p:spPr>
        <p:txBody>
          <a:bodyPr wrap="square" lIns="0" tIns="0" rIns="0" bIns="0" rtlCol="0" anchor="t"/>
          <a:lstStyle/>
          <a:p>
            <a:pPr algn="l" indent="0" marL="0">
              <a:lnSpc>
                <a:spcPct val="108000"/>
              </a:lnSpc>
              <a:spcAft>
                <a:spcPts val="200"/>
              </a:spcAft>
              <a:buNone/>
            </a:pPr>
            <a:r>
              <a:rPr lang="en-US" sz="1050" b="1" dirty="0">
                <a:solidFill>
                  <a:srgbClr val="EAF2FA"/>
                </a:solidFill>
                <a:latin typeface="Arial" pitchFamily="34" charset="0"/>
                <a:ea typeface="Arial" pitchFamily="34" charset="-122"/>
                <a:cs typeface="Arial" pitchFamily="34" charset="-120"/>
              </a:rPr>
              <a:t>Machinists are not a growth trade.</a:t>
            </a:r>
            <a:endParaRPr lang="en-US" sz="1050" dirty="0"/>
          </a:p>
          <a:p>
            <a:pPr algn="l" indent="0" marL="0">
              <a:lnSpc>
                <a:spcPct val="108000"/>
              </a:lnSpc>
              <a:buNone/>
            </a:pPr>
            <a:r>
              <a:rPr lang="en-US" sz="950" dirty="0">
                <a:solidFill>
                  <a:srgbClr val="A9BDD1"/>
                </a:solidFill>
                <a:latin typeface="Arial" pitchFamily="34" charset="0"/>
                <a:ea typeface="Arial" pitchFamily="34" charset="-122"/>
                <a:cs typeface="Arial" pitchFamily="34" charset="-120"/>
              </a:rPr>
              <a:t>Federal projections show the occupation flat to declining through 2035, with about 30,400 openings a year driven by retirement rather than expansion.</a:t>
            </a:r>
            <a:endParaRPr lang="en-US" sz="1050" dirty="0"/>
          </a:p>
        </p:txBody>
      </p:sp>
      <p:sp>
        <p:nvSpPr>
          <p:cNvPr id="19" name="Shape 16"/>
          <p:cNvSpPr/>
          <p:nvPr/>
        </p:nvSpPr>
        <p:spPr>
          <a:xfrm>
            <a:off x="4343400" y="4663440"/>
            <a:ext cx="7223760" cy="0"/>
          </a:xfrm>
          <a:prstGeom prst="line">
            <a:avLst/>
          </a:prstGeom>
          <a:noFill/>
          <a:ln w="9525">
            <a:solidFill>
              <a:srgbClr val="23405C"/>
            </a:solidFill>
            <a:prstDash val="solid"/>
          </a:ln>
        </p:spPr>
      </p:sp>
      <p:sp>
        <p:nvSpPr>
          <p:cNvPr id="20" name="Text 17"/>
          <p:cNvSpPr txBox="1"/>
          <p:nvPr/>
        </p:nvSpPr>
        <p:spPr>
          <a:xfrm>
            <a:off x="4343400" y="4736592"/>
            <a:ext cx="1371600" cy="457200"/>
          </a:xfrm>
          <a:prstGeom prst="rect">
            <a:avLst/>
          </a:prstGeom>
          <a:noFill/>
          <a:ln/>
        </p:spPr>
        <p:txBody>
          <a:bodyPr wrap="square" lIns="0" tIns="0" rIns="0" bIns="0" rtlCol="0" anchor="ctr"/>
          <a:lstStyle/>
          <a:p>
            <a:pPr indent="0" marL="0">
              <a:buNone/>
            </a:pPr>
            <a:r>
              <a:rPr lang="en-US" sz="1900" b="1" dirty="0">
                <a:solidFill>
                  <a:srgbClr val="6FD3FF"/>
                </a:solidFill>
                <a:latin typeface="Arial" pitchFamily="34" charset="0"/>
                <a:ea typeface="Arial" pitchFamily="34" charset="-122"/>
                <a:cs typeface="Arial" pitchFamily="34" charset="-120"/>
              </a:rPr>
              <a:t>56%</a:t>
            </a:r>
            <a:endParaRPr lang="en-US" sz="1900" dirty="0"/>
          </a:p>
        </p:txBody>
      </p:sp>
      <p:sp>
        <p:nvSpPr>
          <p:cNvPr id="21" name="Text 18"/>
          <p:cNvSpPr txBox="1"/>
          <p:nvPr/>
        </p:nvSpPr>
        <p:spPr>
          <a:xfrm>
            <a:off x="5897880" y="4718304"/>
            <a:ext cx="5669280" cy="868680"/>
          </a:xfrm>
          <a:prstGeom prst="rect">
            <a:avLst/>
          </a:prstGeom>
          <a:noFill/>
          <a:ln/>
        </p:spPr>
        <p:txBody>
          <a:bodyPr wrap="square" lIns="0" tIns="0" rIns="0" bIns="0" rtlCol="0" anchor="t"/>
          <a:lstStyle/>
          <a:p>
            <a:pPr algn="l" indent="0" marL="0">
              <a:lnSpc>
                <a:spcPct val="108000"/>
              </a:lnSpc>
              <a:spcAft>
                <a:spcPts val="200"/>
              </a:spcAft>
              <a:buNone/>
            </a:pPr>
            <a:r>
              <a:rPr lang="en-US" sz="1050" b="1" dirty="0">
                <a:solidFill>
                  <a:srgbClr val="EAF2FA"/>
                </a:solidFill>
                <a:latin typeface="Arial" pitchFamily="34" charset="0"/>
                <a:ea typeface="Arial" pitchFamily="34" charset="-122"/>
                <a:cs typeface="Arial" pitchFamily="34" charset="-120"/>
              </a:rPr>
              <a:t>Capacity is not the stated barrier.</a:t>
            </a:r>
            <a:endParaRPr lang="en-US" sz="1050" dirty="0"/>
          </a:p>
          <a:p>
            <a:pPr algn="l" indent="0" marL="0">
              <a:lnSpc>
                <a:spcPct val="108000"/>
              </a:lnSpc>
              <a:buNone/>
            </a:pPr>
            <a:r>
              <a:rPr lang="en-US" sz="950" dirty="0">
                <a:solidFill>
                  <a:srgbClr val="A9BDD1"/>
                </a:solidFill>
                <a:latin typeface="Arial" pitchFamily="34" charset="0"/>
                <a:ea typeface="Arial" pitchFamily="34" charset="-122"/>
                <a:cs typeface="Arial" pitchFamily="34" charset="-120"/>
              </a:rPr>
              <a:t>Asked what stops them surging production, 56% of the defense industry named the absence of a contract vehicle, not the absence of machines.</a:t>
            </a:r>
            <a:endParaRPr lang="en-US" sz="1050" dirty="0"/>
          </a:p>
        </p:txBody>
      </p:sp>
      <p:sp>
        <p:nvSpPr>
          <p:cNvPr id="22" name="Shape 19"/>
          <p:cNvSpPr/>
          <p:nvPr/>
        </p:nvSpPr>
        <p:spPr>
          <a:xfrm>
            <a:off x="621792" y="5687568"/>
            <a:ext cx="10948111" cy="502920"/>
          </a:xfrm>
          <a:prstGeom prst="roundRect">
            <a:avLst>
              <a:gd name="adj" fmla="val 16364"/>
            </a:avLst>
          </a:prstGeom>
          <a:solidFill>
            <a:srgbClr val="0D2036">
              <a:alpha val="85000"/>
            </a:srgbClr>
          </a:solidFill>
          <a:ln w="9525">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23" name="Text 20"/>
          <p:cNvSpPr txBox="1"/>
          <p:nvPr/>
        </p:nvSpPr>
        <p:spPr>
          <a:xfrm>
            <a:off x="896112" y="5687568"/>
            <a:ext cx="10399471" cy="502920"/>
          </a:xfrm>
          <a:prstGeom prst="rect">
            <a:avLst/>
          </a:prstGeom>
          <a:noFill/>
          <a:ln/>
        </p:spPr>
        <p:txBody>
          <a:bodyPr wrap="square" lIns="0" tIns="0" rIns="0" bIns="0" rtlCol="0" anchor="ctr"/>
          <a:lstStyle/>
          <a:p>
            <a:pPr indent="0" marL="0">
              <a:buNone/>
            </a:pPr>
            <a:r>
              <a:rPr lang="en-US" sz="1200" b="1" dirty="0">
                <a:solidFill>
                  <a:srgbClr val="EAF2FA"/>
                </a:solidFill>
                <a:latin typeface="Arial" pitchFamily="34" charset="0"/>
                <a:ea typeface="Arial" pitchFamily="34" charset="-122"/>
                <a:cs typeface="Arial" pitchFamily="34" charset="-120"/>
              </a:rPr>
              <a:t>Adding capacity is not mainly a machine problem. It is the engineering work required to make an existing machine produce the next configuration.</a:t>
            </a:r>
            <a:endParaRPr lang="en-US" sz="1200" dirty="0"/>
          </a:p>
        </p:txBody>
      </p:sp>
      <p:sp>
        <p:nvSpPr>
          <p:cNvPr id="24" name="Text 21"/>
          <p:cNvSpPr txBox="1"/>
          <p:nvPr/>
        </p:nvSpPr>
        <p:spPr>
          <a:xfrm>
            <a:off x="621792" y="6327648"/>
            <a:ext cx="10948111" cy="256032"/>
          </a:xfrm>
          <a:prstGeom prst="rect">
            <a:avLst/>
          </a:prstGeom>
          <a:noFill/>
          <a:ln/>
        </p:spPr>
        <p:txBody>
          <a:bodyPr wrap="square" lIns="0" tIns="0" rIns="0" bIns="0" rtlCol="0" anchor="ctr"/>
          <a:lstStyle/>
          <a:p>
            <a:pPr indent="0" marL="0">
              <a:lnSpc>
                <a:spcPct val="105000"/>
              </a:lnSpc>
              <a:buNone/>
            </a:pPr>
            <a:r>
              <a:rPr lang="en-US" sz="650" dirty="0">
                <a:solidFill>
                  <a:srgbClr val="51667C"/>
                </a:solidFill>
                <a:latin typeface="Arial" pitchFamily="34" charset="0"/>
                <a:ea typeface="Arial" pitchFamily="34" charset="-122"/>
                <a:cs typeface="Arial" pitchFamily="34" charset="-120"/>
              </a:rPr>
              <a:t>Sources: MachineMetrics, State of the Industry, 2022 · DoD, State of Competition Within the DIB, 2022, restated in HASC testimony, 4 March 2026 · US BLS, Occupational Outlook Handbook, August 2026 · NDIA Vital Signs 2026</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05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WHERE AUTOMATION STOPS</a:t>
            </a:r>
            <a:endParaRPr lang="en-US" sz="1000" dirty="0"/>
          </a:p>
        </p:txBody>
      </p:sp>
      <p:sp>
        <p:nvSpPr>
          <p:cNvPr id="5" name="Text 3"/>
          <p:cNvSpPr txBox="1"/>
          <p:nvPr/>
        </p:nvSpPr>
        <p:spPr>
          <a:xfrm>
            <a:off x="621792" y="786384"/>
            <a:ext cx="10948111" cy="1005840"/>
          </a:xfrm>
          <a:prstGeom prst="rect">
            <a:avLst/>
          </a:prstGeom>
          <a:noFill/>
          <a:ln/>
        </p:spPr>
        <p:txBody>
          <a:bodyPr wrap="square" lIns="0" tIns="0" rIns="0" bIns="0" rtlCol="0" anchor="t"/>
          <a:lstStyle/>
          <a:p>
            <a:pPr indent="0" marL="0">
              <a:lnSpc>
                <a:spcPct val="102000"/>
              </a:lnSpc>
              <a:buNone/>
            </a:pPr>
            <a:r>
              <a:rPr lang="en-US" sz="2800" b="1" dirty="0">
                <a:solidFill>
                  <a:srgbClr val="EAF2FA"/>
                </a:solidFill>
                <a:latin typeface="Arial" pitchFamily="34" charset="0"/>
                <a:ea typeface="Arial" pitchFamily="34" charset="-122"/>
                <a:cs typeface="Arial" pitchFamily="34" charset="-120"/>
              </a:rPr>
              <a:t>Repetition makes automation economic.</a:t>
            </a:r>
            <a:endParaRPr lang="en-US" sz="2800" dirty="0"/>
          </a:p>
          <a:p>
            <a:pPr indent="0" marL="0">
              <a:lnSpc>
                <a:spcPct val="102000"/>
              </a:lnSpc>
              <a:buNone/>
            </a:pPr>
            <a:r>
              <a:rPr lang="en-US" sz="2800" dirty="0">
                <a:solidFill>
                  <a:srgbClr val="A9BDD1"/>
                </a:solidFill>
                <a:latin typeface="Arial" pitchFamily="34" charset="0"/>
                <a:ea typeface="Arial" pitchFamily="34" charset="-122"/>
                <a:cs typeface="Arial" pitchFamily="34" charset="-120"/>
              </a:rPr>
              <a:t>Aerospace keeps changing the part.</a:t>
            </a:r>
            <a:endParaRPr lang="en-US" sz="2800" dirty="0"/>
          </a:p>
        </p:txBody>
      </p:sp>
      <p:sp>
        <p:nvSpPr>
          <p:cNvPr id="6" name="Text 4"/>
          <p:cNvSpPr txBox="1"/>
          <p:nvPr/>
        </p:nvSpPr>
        <p:spPr>
          <a:xfrm>
            <a:off x="621792" y="1993392"/>
            <a:ext cx="2194560" cy="219456"/>
          </a:xfrm>
          <a:prstGeom prst="rect">
            <a:avLst/>
          </a:prstGeom>
          <a:noFill/>
          <a:ln/>
        </p:spPr>
        <p:txBody>
          <a:bodyPr wrap="square" lIns="0" tIns="0" rIns="0" bIns="0" rtlCol="0" anchor="ctr"/>
          <a:lstStyle/>
          <a:p>
            <a:pPr indent="0" marL="0">
              <a:buNone/>
            </a:pPr>
            <a:r>
              <a:rPr lang="en-US" sz="950" b="1" spc="240" kern="0" dirty="0">
                <a:solidFill>
                  <a:srgbClr val="EAF2FA"/>
                </a:solidFill>
                <a:latin typeface="Arial" pitchFamily="34" charset="0"/>
                <a:ea typeface="Arial" pitchFamily="34" charset="-122"/>
                <a:cs typeface="Arial" pitchFamily="34" charset="-120"/>
              </a:rPr>
              <a:t>HIGH VOLUME</a:t>
            </a:r>
            <a:endParaRPr lang="en-US" sz="950" dirty="0"/>
          </a:p>
        </p:txBody>
      </p:sp>
      <p:sp>
        <p:nvSpPr>
          <p:cNvPr id="7" name="Text 5"/>
          <p:cNvSpPr txBox="1"/>
          <p:nvPr/>
        </p:nvSpPr>
        <p:spPr>
          <a:xfrm>
            <a:off x="2816352" y="1993392"/>
            <a:ext cx="5029200" cy="219456"/>
          </a:xfrm>
          <a:prstGeom prst="rect">
            <a:avLst/>
          </a:prstGeom>
          <a:noFill/>
          <a:ln/>
        </p:spPr>
        <p:txBody>
          <a:bodyPr wrap="square" lIns="0" tIns="0" rIns="0" bIns="0" rtlCol="0" anchor="ctr"/>
          <a:lstStyle/>
          <a:p>
            <a:pPr indent="0" marL="0">
              <a:buNone/>
            </a:pPr>
            <a:r>
              <a:rPr lang="en-US" sz="950" dirty="0">
                <a:solidFill>
                  <a:srgbClr val="72879D"/>
                </a:solidFill>
                <a:latin typeface="Arial" pitchFamily="34" charset="0"/>
                <a:ea typeface="Arial" pitchFamily="34" charset="-122"/>
                <a:cs typeface="Arial" pitchFamily="34" charset="-120"/>
              </a:rPr>
              <a:t>One engineered introduction. Many repeated units.</a:t>
            </a:r>
            <a:endParaRPr lang="en-US" sz="950" dirty="0"/>
          </a:p>
        </p:txBody>
      </p:sp>
      <p:sp>
        <p:nvSpPr>
          <p:cNvPr id="8" name="Shape 6"/>
          <p:cNvSpPr/>
          <p:nvPr/>
        </p:nvSpPr>
        <p:spPr>
          <a:xfrm>
            <a:off x="621792" y="2304288"/>
            <a:ext cx="713232" cy="566928"/>
          </a:xfrm>
          <a:prstGeom prst="roundRect">
            <a:avLst>
              <a:gd name="adj" fmla="val 8065"/>
            </a:avLst>
          </a:prstGeom>
          <a:solidFill>
            <a:srgbClr val="103655">
              <a:alpha val="90000"/>
            </a:srgbClr>
          </a:solidFill>
          <a:ln w="15875">
            <a:solidFill>
              <a:srgbClr val="6FD3FF"/>
            </a:solidFill>
            <a:prstDash val="solid"/>
          </a:ln>
        </p:spPr>
      </p:sp>
      <p:sp>
        <p:nvSpPr>
          <p:cNvPr id="9" name="Text 7"/>
          <p:cNvSpPr txBox="1"/>
          <p:nvPr/>
        </p:nvSpPr>
        <p:spPr>
          <a:xfrm>
            <a:off x="621792" y="2478024"/>
            <a:ext cx="713232" cy="219456"/>
          </a:xfrm>
          <a:prstGeom prst="rect">
            <a:avLst/>
          </a:prstGeom>
          <a:noFill/>
          <a:ln/>
        </p:spPr>
        <p:txBody>
          <a:bodyPr wrap="square" lIns="0" tIns="0" rIns="0" bIns="0" rtlCol="0" anchor="ctr"/>
          <a:lstStyle/>
          <a:p>
            <a:pPr algn="ctr" indent="0" marL="0">
              <a:buNone/>
            </a:pPr>
            <a:r>
              <a:rPr lang="en-US" sz="700" b="1" spc="160" kern="0" dirty="0">
                <a:solidFill>
                  <a:srgbClr val="6FD3FF"/>
                </a:solidFill>
                <a:latin typeface="Arial" pitchFamily="34" charset="0"/>
                <a:ea typeface="Arial" pitchFamily="34" charset="-122"/>
                <a:cs typeface="Arial" pitchFamily="34" charset="-120"/>
              </a:rPr>
              <a:t>INTRO</a:t>
            </a:r>
            <a:endParaRPr lang="en-US" sz="700" dirty="0"/>
          </a:p>
        </p:txBody>
      </p:sp>
      <p:sp>
        <p:nvSpPr>
          <p:cNvPr id="10" name="Shape 8"/>
          <p:cNvSpPr/>
          <p:nvPr/>
        </p:nvSpPr>
        <p:spPr>
          <a:xfrm>
            <a:off x="1700784" y="2304288"/>
            <a:ext cx="566928" cy="566928"/>
          </a:xfrm>
          <a:prstGeom prst="ellipse">
            <a:avLst/>
          </a:prstGeom>
          <a:solidFill>
            <a:srgbClr val="0F1E31">
              <a:alpha val="40000"/>
            </a:srgbClr>
          </a:solidFill>
          <a:ln w="12700">
            <a:solidFill>
              <a:srgbClr val="A9BDD1"/>
            </a:solidFill>
            <a:prstDash val="solid"/>
          </a:ln>
        </p:spPr>
      </p:sp>
      <p:sp>
        <p:nvSpPr>
          <p:cNvPr id="11" name="Shape 9"/>
          <p:cNvSpPr/>
          <p:nvPr/>
        </p:nvSpPr>
        <p:spPr>
          <a:xfrm>
            <a:off x="2487168" y="2304288"/>
            <a:ext cx="566928" cy="566928"/>
          </a:xfrm>
          <a:prstGeom prst="ellipse">
            <a:avLst/>
          </a:prstGeom>
          <a:solidFill>
            <a:srgbClr val="0F1E31">
              <a:alpha val="40000"/>
            </a:srgbClr>
          </a:solidFill>
          <a:ln w="12700">
            <a:solidFill>
              <a:srgbClr val="A9BDD1"/>
            </a:solidFill>
            <a:prstDash val="solid"/>
          </a:ln>
        </p:spPr>
      </p:sp>
      <p:sp>
        <p:nvSpPr>
          <p:cNvPr id="12" name="Shape 10"/>
          <p:cNvSpPr/>
          <p:nvPr/>
        </p:nvSpPr>
        <p:spPr>
          <a:xfrm>
            <a:off x="3273552" y="2304288"/>
            <a:ext cx="566928" cy="566928"/>
          </a:xfrm>
          <a:prstGeom prst="ellipse">
            <a:avLst/>
          </a:prstGeom>
          <a:solidFill>
            <a:srgbClr val="0F1E31">
              <a:alpha val="40000"/>
            </a:srgbClr>
          </a:solidFill>
          <a:ln w="12700">
            <a:solidFill>
              <a:srgbClr val="A9BDD1"/>
            </a:solidFill>
            <a:prstDash val="solid"/>
          </a:ln>
        </p:spPr>
      </p:sp>
      <p:sp>
        <p:nvSpPr>
          <p:cNvPr id="13" name="Shape 11"/>
          <p:cNvSpPr/>
          <p:nvPr/>
        </p:nvSpPr>
        <p:spPr>
          <a:xfrm>
            <a:off x="4059936" y="2304288"/>
            <a:ext cx="566928" cy="566928"/>
          </a:xfrm>
          <a:prstGeom prst="ellipse">
            <a:avLst/>
          </a:prstGeom>
          <a:solidFill>
            <a:srgbClr val="0F1E31">
              <a:alpha val="40000"/>
            </a:srgbClr>
          </a:solidFill>
          <a:ln w="12700">
            <a:solidFill>
              <a:srgbClr val="A9BDD1"/>
            </a:solidFill>
            <a:prstDash val="solid"/>
          </a:ln>
        </p:spPr>
      </p:sp>
      <p:sp>
        <p:nvSpPr>
          <p:cNvPr id="14" name="Shape 12"/>
          <p:cNvSpPr/>
          <p:nvPr/>
        </p:nvSpPr>
        <p:spPr>
          <a:xfrm>
            <a:off x="4846320" y="2304288"/>
            <a:ext cx="566928" cy="566928"/>
          </a:xfrm>
          <a:prstGeom prst="ellipse">
            <a:avLst/>
          </a:prstGeom>
          <a:solidFill>
            <a:srgbClr val="0F1E31">
              <a:alpha val="40000"/>
            </a:srgbClr>
          </a:solidFill>
          <a:ln w="12700">
            <a:solidFill>
              <a:srgbClr val="A9BDD1"/>
            </a:solidFill>
            <a:prstDash val="solid"/>
          </a:ln>
        </p:spPr>
      </p:sp>
      <p:sp>
        <p:nvSpPr>
          <p:cNvPr id="15" name="Shape 13"/>
          <p:cNvSpPr/>
          <p:nvPr/>
        </p:nvSpPr>
        <p:spPr>
          <a:xfrm>
            <a:off x="5632704" y="2304288"/>
            <a:ext cx="566928" cy="566928"/>
          </a:xfrm>
          <a:prstGeom prst="ellipse">
            <a:avLst/>
          </a:prstGeom>
          <a:solidFill>
            <a:srgbClr val="0F1E31">
              <a:alpha val="40000"/>
            </a:srgbClr>
          </a:solidFill>
          <a:ln w="12700">
            <a:solidFill>
              <a:srgbClr val="A9BDD1"/>
            </a:solidFill>
            <a:prstDash val="solid"/>
          </a:ln>
        </p:spPr>
      </p:sp>
      <p:sp>
        <p:nvSpPr>
          <p:cNvPr id="16" name="Shape 14"/>
          <p:cNvSpPr/>
          <p:nvPr/>
        </p:nvSpPr>
        <p:spPr>
          <a:xfrm>
            <a:off x="6419088" y="2304288"/>
            <a:ext cx="566928" cy="566928"/>
          </a:xfrm>
          <a:prstGeom prst="ellipse">
            <a:avLst/>
          </a:prstGeom>
          <a:solidFill>
            <a:srgbClr val="0F1E31">
              <a:alpha val="40000"/>
            </a:srgbClr>
          </a:solidFill>
          <a:ln w="12700">
            <a:solidFill>
              <a:srgbClr val="A9BDD1"/>
            </a:solidFill>
            <a:prstDash val="solid"/>
          </a:ln>
        </p:spPr>
      </p:sp>
      <p:sp>
        <p:nvSpPr>
          <p:cNvPr id="17" name="Text 15"/>
          <p:cNvSpPr txBox="1"/>
          <p:nvPr/>
        </p:nvSpPr>
        <p:spPr>
          <a:xfrm>
            <a:off x="621792" y="3200400"/>
            <a:ext cx="2560320" cy="219456"/>
          </a:xfrm>
          <a:prstGeom prst="rect">
            <a:avLst/>
          </a:prstGeom>
          <a:noFill/>
          <a:ln/>
        </p:spPr>
        <p:txBody>
          <a:bodyPr wrap="square" lIns="0" tIns="0" rIns="0" bIns="0" rtlCol="0" anchor="ctr"/>
          <a:lstStyle/>
          <a:p>
            <a:pPr indent="0" marL="0">
              <a:buNone/>
            </a:pPr>
            <a:r>
              <a:rPr lang="en-US" sz="950" b="1" spc="240" kern="0" dirty="0">
                <a:solidFill>
                  <a:srgbClr val="EAF2FA"/>
                </a:solidFill>
                <a:latin typeface="Arial" pitchFamily="34" charset="0"/>
                <a:ea typeface="Arial" pitchFamily="34" charset="-122"/>
                <a:cs typeface="Arial" pitchFamily="34" charset="-120"/>
              </a:rPr>
              <a:t>HIGH MIX AEROSPACE</a:t>
            </a:r>
            <a:endParaRPr lang="en-US" sz="950" dirty="0"/>
          </a:p>
        </p:txBody>
      </p:sp>
      <p:sp>
        <p:nvSpPr>
          <p:cNvPr id="18" name="Text 16"/>
          <p:cNvSpPr txBox="1"/>
          <p:nvPr/>
        </p:nvSpPr>
        <p:spPr>
          <a:xfrm>
            <a:off x="3182112" y="3200400"/>
            <a:ext cx="5029200" cy="219456"/>
          </a:xfrm>
          <a:prstGeom prst="rect">
            <a:avLst/>
          </a:prstGeom>
          <a:noFill/>
          <a:ln/>
        </p:spPr>
        <p:txBody>
          <a:bodyPr wrap="square" lIns="0" tIns="0" rIns="0" bIns="0" rtlCol="0" anchor="ctr"/>
          <a:lstStyle/>
          <a:p>
            <a:pPr indent="0" marL="0">
              <a:buNone/>
            </a:pPr>
            <a:r>
              <a:rPr lang="en-US" sz="950" dirty="0">
                <a:solidFill>
                  <a:srgbClr val="72879D"/>
                </a:solidFill>
                <a:latin typeface="Arial" pitchFamily="34" charset="0"/>
                <a:ea typeface="Arial" pitchFamily="34" charset="-122"/>
                <a:cs typeface="Arial" pitchFamily="34" charset="-120"/>
              </a:rPr>
              <a:t>New configuration. New introduction burden.</a:t>
            </a:r>
            <a:endParaRPr lang="en-US" sz="950" dirty="0"/>
          </a:p>
        </p:txBody>
      </p:sp>
      <p:sp>
        <p:nvSpPr>
          <p:cNvPr id="19" name="Shape 17"/>
          <p:cNvSpPr/>
          <p:nvPr/>
        </p:nvSpPr>
        <p:spPr>
          <a:xfrm>
            <a:off x="621792" y="3511296"/>
            <a:ext cx="713232" cy="566928"/>
          </a:xfrm>
          <a:prstGeom prst="roundRect">
            <a:avLst>
              <a:gd name="adj" fmla="val 8065"/>
            </a:avLst>
          </a:prstGeom>
          <a:solidFill>
            <a:srgbClr val="103655">
              <a:alpha val="90000"/>
            </a:srgbClr>
          </a:solidFill>
          <a:ln w="15875">
            <a:solidFill>
              <a:srgbClr val="6FD3FF"/>
            </a:solidFill>
            <a:prstDash val="solid"/>
          </a:ln>
        </p:spPr>
      </p:sp>
      <p:sp>
        <p:nvSpPr>
          <p:cNvPr id="20" name="Text 18"/>
          <p:cNvSpPr txBox="1"/>
          <p:nvPr/>
        </p:nvSpPr>
        <p:spPr>
          <a:xfrm>
            <a:off x="621792" y="3685032"/>
            <a:ext cx="713232" cy="219456"/>
          </a:xfrm>
          <a:prstGeom prst="rect">
            <a:avLst/>
          </a:prstGeom>
          <a:noFill/>
          <a:ln/>
        </p:spPr>
        <p:txBody>
          <a:bodyPr wrap="square" lIns="0" tIns="0" rIns="0" bIns="0" rtlCol="0" anchor="ctr"/>
          <a:lstStyle/>
          <a:p>
            <a:pPr algn="ctr" indent="0" marL="0">
              <a:buNone/>
            </a:pPr>
            <a:r>
              <a:rPr lang="en-US" sz="700" b="1" spc="160" kern="0" dirty="0">
                <a:solidFill>
                  <a:srgbClr val="6FD3FF"/>
                </a:solidFill>
                <a:latin typeface="Arial" pitchFamily="34" charset="0"/>
                <a:ea typeface="Arial" pitchFamily="34" charset="-122"/>
                <a:cs typeface="Arial" pitchFamily="34" charset="-120"/>
              </a:rPr>
              <a:t>INTRO</a:t>
            </a:r>
            <a:endParaRPr lang="en-US" sz="700" dirty="0"/>
          </a:p>
        </p:txBody>
      </p:sp>
      <p:sp>
        <p:nvSpPr>
          <p:cNvPr id="21" name="Shape 19"/>
          <p:cNvSpPr/>
          <p:nvPr/>
        </p:nvSpPr>
        <p:spPr>
          <a:xfrm>
            <a:off x="1481328" y="3511296"/>
            <a:ext cx="566928" cy="566928"/>
          </a:xfrm>
          <a:prstGeom prst="triangle">
            <a:avLst/>
          </a:prstGeom>
          <a:solidFill>
            <a:srgbClr val="0F1E31">
              <a:alpha val="40000"/>
            </a:srgbClr>
          </a:solidFill>
          <a:ln w="12700">
            <a:solidFill>
              <a:srgbClr val="A9BDD1"/>
            </a:solidFill>
            <a:prstDash val="solid"/>
          </a:ln>
        </p:spPr>
      </p:sp>
      <p:sp>
        <p:nvSpPr>
          <p:cNvPr id="22" name="Shape 20"/>
          <p:cNvSpPr/>
          <p:nvPr/>
        </p:nvSpPr>
        <p:spPr>
          <a:xfrm>
            <a:off x="2432304" y="3511296"/>
            <a:ext cx="713232" cy="566928"/>
          </a:xfrm>
          <a:prstGeom prst="roundRect">
            <a:avLst>
              <a:gd name="adj" fmla="val 8065"/>
            </a:avLst>
          </a:prstGeom>
          <a:solidFill>
            <a:srgbClr val="103655">
              <a:alpha val="90000"/>
            </a:srgbClr>
          </a:solidFill>
          <a:ln w="15875">
            <a:solidFill>
              <a:srgbClr val="6FD3FF"/>
            </a:solidFill>
            <a:prstDash val="solid"/>
          </a:ln>
        </p:spPr>
      </p:sp>
      <p:sp>
        <p:nvSpPr>
          <p:cNvPr id="23" name="Text 21"/>
          <p:cNvSpPr txBox="1"/>
          <p:nvPr/>
        </p:nvSpPr>
        <p:spPr>
          <a:xfrm>
            <a:off x="2432304" y="3685032"/>
            <a:ext cx="713232" cy="219456"/>
          </a:xfrm>
          <a:prstGeom prst="rect">
            <a:avLst/>
          </a:prstGeom>
          <a:noFill/>
          <a:ln/>
        </p:spPr>
        <p:txBody>
          <a:bodyPr wrap="square" lIns="0" tIns="0" rIns="0" bIns="0" rtlCol="0" anchor="ctr"/>
          <a:lstStyle/>
          <a:p>
            <a:pPr algn="ctr" indent="0" marL="0">
              <a:buNone/>
            </a:pPr>
            <a:r>
              <a:rPr lang="en-US" sz="700" b="1" spc="160" kern="0" dirty="0">
                <a:solidFill>
                  <a:srgbClr val="6FD3FF"/>
                </a:solidFill>
                <a:latin typeface="Arial" pitchFamily="34" charset="0"/>
                <a:ea typeface="Arial" pitchFamily="34" charset="-122"/>
                <a:cs typeface="Arial" pitchFamily="34" charset="-120"/>
              </a:rPr>
              <a:t>INTRO</a:t>
            </a:r>
            <a:endParaRPr lang="en-US" sz="700" dirty="0"/>
          </a:p>
        </p:txBody>
      </p:sp>
      <p:sp>
        <p:nvSpPr>
          <p:cNvPr id="24" name="Shape 22"/>
          <p:cNvSpPr/>
          <p:nvPr/>
        </p:nvSpPr>
        <p:spPr>
          <a:xfrm>
            <a:off x="3291840" y="3511296"/>
            <a:ext cx="566928" cy="566928"/>
          </a:xfrm>
          <a:prstGeom prst="hexagon">
            <a:avLst/>
          </a:prstGeom>
          <a:solidFill>
            <a:srgbClr val="0F1E31">
              <a:alpha val="40000"/>
            </a:srgbClr>
          </a:solidFill>
          <a:ln w="12700">
            <a:solidFill>
              <a:srgbClr val="A9BDD1"/>
            </a:solidFill>
            <a:prstDash val="solid"/>
          </a:ln>
        </p:spPr>
      </p:sp>
      <p:sp>
        <p:nvSpPr>
          <p:cNvPr id="25" name="Shape 23"/>
          <p:cNvSpPr/>
          <p:nvPr/>
        </p:nvSpPr>
        <p:spPr>
          <a:xfrm>
            <a:off x="4242816" y="3511296"/>
            <a:ext cx="713232" cy="566928"/>
          </a:xfrm>
          <a:prstGeom prst="roundRect">
            <a:avLst>
              <a:gd name="adj" fmla="val 8065"/>
            </a:avLst>
          </a:prstGeom>
          <a:solidFill>
            <a:srgbClr val="103655">
              <a:alpha val="90000"/>
            </a:srgbClr>
          </a:solidFill>
          <a:ln w="15875">
            <a:solidFill>
              <a:srgbClr val="6FD3FF"/>
            </a:solidFill>
            <a:prstDash val="solid"/>
          </a:ln>
        </p:spPr>
      </p:sp>
      <p:sp>
        <p:nvSpPr>
          <p:cNvPr id="26" name="Text 24"/>
          <p:cNvSpPr txBox="1"/>
          <p:nvPr/>
        </p:nvSpPr>
        <p:spPr>
          <a:xfrm>
            <a:off x="4242816" y="3685032"/>
            <a:ext cx="713232" cy="219456"/>
          </a:xfrm>
          <a:prstGeom prst="rect">
            <a:avLst/>
          </a:prstGeom>
          <a:noFill/>
          <a:ln/>
        </p:spPr>
        <p:txBody>
          <a:bodyPr wrap="square" lIns="0" tIns="0" rIns="0" bIns="0" rtlCol="0" anchor="ctr"/>
          <a:lstStyle/>
          <a:p>
            <a:pPr algn="ctr" indent="0" marL="0">
              <a:buNone/>
            </a:pPr>
            <a:r>
              <a:rPr lang="en-US" sz="700" b="1" spc="160" kern="0" dirty="0">
                <a:solidFill>
                  <a:srgbClr val="6FD3FF"/>
                </a:solidFill>
                <a:latin typeface="Arial" pitchFamily="34" charset="0"/>
                <a:ea typeface="Arial" pitchFamily="34" charset="-122"/>
                <a:cs typeface="Arial" pitchFamily="34" charset="-120"/>
              </a:rPr>
              <a:t>INTRO</a:t>
            </a:r>
            <a:endParaRPr lang="en-US" sz="700" dirty="0"/>
          </a:p>
        </p:txBody>
      </p:sp>
      <p:sp>
        <p:nvSpPr>
          <p:cNvPr id="27" name="Shape 25"/>
          <p:cNvSpPr/>
          <p:nvPr/>
        </p:nvSpPr>
        <p:spPr>
          <a:xfrm>
            <a:off x="5102352" y="3511296"/>
            <a:ext cx="566928" cy="566928"/>
          </a:xfrm>
          <a:prstGeom prst="diamond">
            <a:avLst/>
          </a:prstGeom>
          <a:solidFill>
            <a:srgbClr val="0F1E31">
              <a:alpha val="40000"/>
            </a:srgbClr>
          </a:solidFill>
          <a:ln w="12700">
            <a:solidFill>
              <a:srgbClr val="A9BDD1"/>
            </a:solidFill>
            <a:prstDash val="solid"/>
          </a:ln>
        </p:spPr>
      </p:sp>
      <p:sp>
        <p:nvSpPr>
          <p:cNvPr id="28" name="Shape 26"/>
          <p:cNvSpPr/>
          <p:nvPr/>
        </p:nvSpPr>
        <p:spPr>
          <a:xfrm>
            <a:off x="6053328" y="3511296"/>
            <a:ext cx="713232" cy="566928"/>
          </a:xfrm>
          <a:prstGeom prst="roundRect">
            <a:avLst>
              <a:gd name="adj" fmla="val 8065"/>
            </a:avLst>
          </a:prstGeom>
          <a:solidFill>
            <a:srgbClr val="103655">
              <a:alpha val="90000"/>
            </a:srgbClr>
          </a:solidFill>
          <a:ln w="15875">
            <a:solidFill>
              <a:srgbClr val="6FD3FF"/>
            </a:solidFill>
            <a:prstDash val="solid"/>
          </a:ln>
        </p:spPr>
      </p:sp>
      <p:sp>
        <p:nvSpPr>
          <p:cNvPr id="29" name="Text 27"/>
          <p:cNvSpPr txBox="1"/>
          <p:nvPr/>
        </p:nvSpPr>
        <p:spPr>
          <a:xfrm>
            <a:off x="6053328" y="3685032"/>
            <a:ext cx="713232" cy="219456"/>
          </a:xfrm>
          <a:prstGeom prst="rect">
            <a:avLst/>
          </a:prstGeom>
          <a:noFill/>
          <a:ln/>
        </p:spPr>
        <p:txBody>
          <a:bodyPr wrap="square" lIns="0" tIns="0" rIns="0" bIns="0" rtlCol="0" anchor="ctr"/>
          <a:lstStyle/>
          <a:p>
            <a:pPr algn="ctr" indent="0" marL="0">
              <a:buNone/>
            </a:pPr>
            <a:r>
              <a:rPr lang="en-US" sz="700" b="1" spc="160" kern="0" dirty="0">
                <a:solidFill>
                  <a:srgbClr val="6FD3FF"/>
                </a:solidFill>
                <a:latin typeface="Arial" pitchFamily="34" charset="0"/>
                <a:ea typeface="Arial" pitchFamily="34" charset="-122"/>
                <a:cs typeface="Arial" pitchFamily="34" charset="-120"/>
              </a:rPr>
              <a:t>INTRO</a:t>
            </a:r>
            <a:endParaRPr lang="en-US" sz="700" dirty="0"/>
          </a:p>
        </p:txBody>
      </p:sp>
      <p:sp>
        <p:nvSpPr>
          <p:cNvPr id="30" name="Shape 28"/>
          <p:cNvSpPr/>
          <p:nvPr/>
        </p:nvSpPr>
        <p:spPr>
          <a:xfrm>
            <a:off x="6912864" y="3511296"/>
            <a:ext cx="566928" cy="566928"/>
          </a:xfrm>
          <a:prstGeom prst="roundRect">
            <a:avLst>
              <a:gd name="adj" fmla="val 19355"/>
            </a:avLst>
          </a:prstGeom>
          <a:solidFill>
            <a:srgbClr val="0F1E31">
              <a:alpha val="40000"/>
            </a:srgbClr>
          </a:solidFill>
          <a:ln w="12700">
            <a:solidFill>
              <a:srgbClr val="A9BDD1"/>
            </a:solidFill>
            <a:prstDash val="solid"/>
          </a:ln>
        </p:spPr>
      </p:sp>
      <p:sp>
        <p:nvSpPr>
          <p:cNvPr id="31" name="Shape 29"/>
          <p:cNvSpPr/>
          <p:nvPr/>
        </p:nvSpPr>
        <p:spPr>
          <a:xfrm>
            <a:off x="621792" y="4370832"/>
            <a:ext cx="10948111" cy="0"/>
          </a:xfrm>
          <a:prstGeom prst="line">
            <a:avLst/>
          </a:prstGeom>
          <a:noFill/>
          <a:ln w="9525">
            <a:solidFill>
              <a:srgbClr val="23405C"/>
            </a:solidFill>
            <a:prstDash val="solid"/>
          </a:ln>
        </p:spPr>
      </p:sp>
      <p:sp>
        <p:nvSpPr>
          <p:cNvPr id="32" name="Text 30"/>
          <p:cNvSpPr txBox="1"/>
          <p:nvPr/>
        </p:nvSpPr>
        <p:spPr>
          <a:xfrm>
            <a:off x="621792" y="4517136"/>
            <a:ext cx="6766560" cy="1188720"/>
          </a:xfrm>
          <a:prstGeom prst="rect">
            <a:avLst/>
          </a:prstGeom>
          <a:noFill/>
          <a:ln/>
        </p:spPr>
        <p:txBody>
          <a:bodyPr wrap="square" lIns="0" tIns="0" rIns="0" bIns="0" rtlCol="0" anchor="t"/>
          <a:lstStyle/>
          <a:p>
            <a:pPr algn="l" indent="0" marL="0">
              <a:lnSpc>
                <a:spcPct val="125000"/>
              </a:lnSpc>
              <a:spcAft>
                <a:spcPts val="400"/>
              </a:spcAft>
              <a:buNone/>
            </a:pPr>
            <a:r>
              <a:rPr lang="en-US" sz="850" b="1" spc="240" kern="0" dirty="0">
                <a:solidFill>
                  <a:srgbClr val="6FD3FF"/>
                </a:solidFill>
                <a:latin typeface="Arial" pitchFamily="34" charset="0"/>
                <a:ea typeface="Arial" pitchFamily="34" charset="-122"/>
                <a:cs typeface="Arial" pitchFamily="34" charset="-120"/>
              </a:rPr>
              <a:t>THE INTRODUCTION BURDEN</a:t>
            </a:r>
            <a:endParaRPr lang="en-US" sz="850" dirty="0"/>
          </a:p>
          <a:p>
            <a:pPr algn="l" indent="0" marL="0">
              <a:lnSpc>
                <a:spcPct val="125000"/>
              </a:lnSpc>
              <a:buNone/>
            </a:pPr>
            <a:r>
              <a:rPr lang="en-US" sz="1000" dirty="0">
                <a:solidFill>
                  <a:srgbClr val="A9BDD1"/>
                </a:solidFill>
                <a:latin typeface="Arial" pitchFamily="34" charset="0"/>
                <a:ea typeface="Arial" pitchFamily="34" charset="-122"/>
                <a:cs typeface="Arial" pitchFamily="34" charset="-120"/>
              </a:rPr>
              <a:t>Process planning · CNC and robot programming · tooling · fixturing and workholding · work instructions · inspection planning · commissioning and debug · setup and changeover · first article preparation · configuration management · rework and deviation handling · qualification evidence · engineering review</a:t>
            </a:r>
            <a:endParaRPr lang="en-US" sz="850" dirty="0"/>
          </a:p>
        </p:txBody>
      </p:sp>
      <p:sp>
        <p:nvSpPr>
          <p:cNvPr id="33" name="Text 31"/>
          <p:cNvSpPr txBox="1"/>
          <p:nvPr/>
        </p:nvSpPr>
        <p:spPr>
          <a:xfrm>
            <a:off x="7772400" y="4517136"/>
            <a:ext cx="3794760" cy="1417320"/>
          </a:xfrm>
          <a:prstGeom prst="rect">
            <a:avLst/>
          </a:prstGeom>
          <a:noFill/>
          <a:ln/>
        </p:spPr>
        <p:txBody>
          <a:bodyPr wrap="square" lIns="0" tIns="0" rIns="0" bIns="0" rtlCol="0" anchor="t"/>
          <a:lstStyle/>
          <a:p>
            <a:pPr algn="l" indent="0" marL="0">
              <a:lnSpc>
                <a:spcPct val="115000"/>
              </a:lnSpc>
              <a:spcAft>
                <a:spcPts val="700"/>
              </a:spcAft>
              <a:buNone/>
            </a:pPr>
            <a:r>
              <a:rPr lang="en-US" sz="1250" b="1" dirty="0">
                <a:solidFill>
                  <a:srgbClr val="EAF2FA"/>
                </a:solidFill>
                <a:latin typeface="Arial" pitchFamily="34" charset="0"/>
                <a:ea typeface="Arial" pitchFamily="34" charset="-122"/>
                <a:cs typeface="Arial" pitchFamily="34" charset="-120"/>
              </a:rPr>
              <a:t>The burden is not only making the part. It is introducing the next configuration.</a:t>
            </a:r>
            <a:endParaRPr lang="en-US" sz="1250" dirty="0"/>
          </a:p>
          <a:p>
            <a:pPr algn="l" indent="0" marL="0">
              <a:lnSpc>
                <a:spcPct val="115000"/>
              </a:lnSpc>
              <a:buNone/>
            </a:pPr>
            <a:r>
              <a:rPr lang="en-US" sz="1050" i="1" dirty="0">
                <a:solidFill>
                  <a:srgbClr val="6FD3FF"/>
                </a:solidFill>
                <a:latin typeface="Arial" pitchFamily="34" charset="0"/>
                <a:ea typeface="Arial" pitchFamily="34" charset="-122"/>
                <a:cs typeface="Arial" pitchFamily="34" charset="-120"/>
              </a:rPr>
              <a:t>How large that burden is, in hours and dollars, is what customer data has to measure. We do not assume it.</a:t>
            </a:r>
            <a:endParaRPr lang="en-US" sz="1250" dirty="0"/>
          </a:p>
        </p:txBody>
      </p:sp>
      <p:sp>
        <p:nvSpPr>
          <p:cNvPr id="34" name="Text 32"/>
          <p:cNvSpPr txBox="1"/>
          <p:nvPr/>
        </p:nvSpPr>
        <p:spPr>
          <a:xfrm>
            <a:off x="621792" y="5989320"/>
            <a:ext cx="10948111" cy="365760"/>
          </a:xfrm>
          <a:prstGeom prst="rect">
            <a:avLst/>
          </a:prstGeom>
          <a:noFill/>
          <a:ln/>
        </p:spPr>
        <p:txBody>
          <a:bodyPr wrap="square" lIns="0" tIns="0" rIns="0" bIns="0" rtlCol="0" anchor="ctr"/>
          <a:lstStyle/>
          <a:p>
            <a:pPr indent="0" marL="0">
              <a:lnSpc>
                <a:spcPct val="112000"/>
              </a:lnSpc>
              <a:buNone/>
            </a:pPr>
            <a:r>
              <a:rPr lang="en-US" sz="750" dirty="0">
                <a:solidFill>
                  <a:srgbClr val="72879D"/>
                </a:solidFill>
                <a:latin typeface="Arial" pitchFamily="34" charset="0"/>
                <a:ea typeface="Arial" pitchFamily="34" charset="-122"/>
                <a:cs typeface="Arial" pitchFamily="34" charset="-120"/>
              </a:rPr>
              <a:t>Across published cell pricing, the robot arm is roughly a quarter to a third of installed cost. The majority is fixturing, part presentation, integration and engineering — the elements that scale with how many different parts a cell has to handle.</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06 / 19</a:t>
            </a:r>
            <a:endParaRPr lang="en-US" sz="700" dirty="0"/>
          </a:p>
        </p:txBody>
      </p:sp>
      <p:pic>
        <p:nvPicPr>
          <p:cNvPr id="4" name="Image 0" descr="/tmp/claude-0/-home-user-foodiehome/a2788c04-4021-50f7-9e92-8de1b0e68224/scratchpad/syntrex/assets/fins_small.png">    </p:cNvPr>
          <p:cNvPicPr>
            <a:picLocks noChangeAspect="1"/>
          </p:cNvPicPr>
          <p:nvPr/>
        </p:nvPicPr>
        <p:blipFill>
          <a:blip r:embed="rId2">
            <a:alphaModFix amt="16000"/>
          </a:blip>
          <a:stretch>
            <a:fillRect/>
          </a:stretch>
        </p:blipFill>
        <p:spPr>
          <a:xfrm>
            <a:off x="9235440" y="3931920"/>
            <a:ext cx="4023360" cy="4023360"/>
          </a:xfrm>
          <a:prstGeom prst="rect">
            <a:avLst/>
          </a:prstGeom>
        </p:spPr>
      </p:pic>
      <p:sp>
        <p:nvSpPr>
          <p:cNvPr id="5"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THE REAL PROBLEM</a:t>
            </a:r>
            <a:endParaRPr lang="en-US" sz="1000" dirty="0"/>
          </a:p>
        </p:txBody>
      </p:sp>
      <p:sp>
        <p:nvSpPr>
          <p:cNvPr id="6" name="Text 3"/>
          <p:cNvSpPr txBox="1"/>
          <p:nvPr/>
        </p:nvSpPr>
        <p:spPr>
          <a:xfrm>
            <a:off x="621792" y="786384"/>
            <a:ext cx="10948111" cy="1005840"/>
          </a:xfrm>
          <a:prstGeom prst="rect">
            <a:avLst/>
          </a:prstGeom>
          <a:noFill/>
          <a:ln/>
        </p:spPr>
        <p:txBody>
          <a:bodyPr wrap="square" lIns="0" tIns="0" rIns="0" bIns="0" rtlCol="0" anchor="t"/>
          <a:lstStyle/>
          <a:p>
            <a:pPr indent="0" marL="0">
              <a:lnSpc>
                <a:spcPct val="102000"/>
              </a:lnSpc>
              <a:buNone/>
            </a:pPr>
            <a:r>
              <a:rPr lang="en-US" sz="2700" b="1" dirty="0">
                <a:solidFill>
                  <a:srgbClr val="EAF2FA"/>
                </a:solidFill>
                <a:latin typeface="Arial" pitchFamily="34" charset="0"/>
                <a:ea typeface="Arial" pitchFamily="34" charset="-122"/>
                <a:cs typeface="Arial" pitchFamily="34" charset="-120"/>
              </a:rPr>
              <a:t>Every aerospace manufacturer already measures parts.</a:t>
            </a:r>
            <a:endParaRPr lang="en-US" sz="2700" dirty="0"/>
          </a:p>
          <a:p>
            <a:pPr indent="0" marL="0">
              <a:lnSpc>
                <a:spcPct val="102000"/>
              </a:lnSpc>
              <a:buNone/>
            </a:pPr>
            <a:r>
              <a:rPr lang="en-US" sz="2700" dirty="0">
                <a:solidFill>
                  <a:srgbClr val="A9BDD1"/>
                </a:solidFill>
                <a:latin typeface="Arial" pitchFamily="34" charset="0"/>
                <a:ea typeface="Arial" pitchFamily="34" charset="-122"/>
                <a:cs typeface="Arial" pitchFamily="34" charset="-120"/>
              </a:rPr>
              <a:t>That is not our claim.</a:t>
            </a:r>
            <a:endParaRPr lang="en-US" sz="2700" dirty="0"/>
          </a:p>
        </p:txBody>
      </p:sp>
      <p:sp>
        <p:nvSpPr>
          <p:cNvPr id="7" name="Text 4"/>
          <p:cNvSpPr txBox="1"/>
          <p:nvPr/>
        </p:nvSpPr>
        <p:spPr>
          <a:xfrm>
            <a:off x="621792" y="2048256"/>
            <a:ext cx="10948111" cy="566928"/>
          </a:xfrm>
          <a:prstGeom prst="rect">
            <a:avLst/>
          </a:prstGeom>
          <a:noFill/>
          <a:ln/>
        </p:spPr>
        <p:txBody>
          <a:bodyPr wrap="square" lIns="0" tIns="0" rIns="0" bIns="0" rtlCol="0" anchor="ctr"/>
          <a:lstStyle/>
          <a:p>
            <a:pPr indent="0" marL="0">
              <a:buNone/>
            </a:pPr>
            <a:r>
              <a:rPr lang="en-US" sz="2600" b="1" i="1" dirty="0">
                <a:solidFill>
                  <a:srgbClr val="6FD3FF"/>
                </a:solidFill>
                <a:latin typeface="Arial" pitchFamily="34" charset="0"/>
                <a:ea typeface="Arial" pitchFamily="34" charset="-122"/>
                <a:cs typeface="Arial" pitchFamily="34" charset="-120"/>
              </a:rPr>
              <a:t>What can this system be trusted to do next?</a:t>
            </a:r>
            <a:endParaRPr lang="en-US" sz="2600" dirty="0"/>
          </a:p>
        </p:txBody>
      </p:sp>
      <p:sp>
        <p:nvSpPr>
          <p:cNvPr id="8" name="Text 5"/>
          <p:cNvSpPr txBox="1"/>
          <p:nvPr/>
        </p:nvSpPr>
        <p:spPr>
          <a:xfrm>
            <a:off x="621792" y="2999232"/>
            <a:ext cx="3291840" cy="274320"/>
          </a:xfrm>
          <a:prstGeom prst="rect">
            <a:avLst/>
          </a:prstGeom>
          <a:noFill/>
          <a:ln/>
        </p:spPr>
        <p:txBody>
          <a:bodyPr wrap="square" lIns="0" tIns="0" rIns="0" bIns="0" rtlCol="0" anchor="ctr"/>
          <a:lstStyle/>
          <a:p>
            <a:pPr algn="r" indent="0" marL="0">
              <a:buNone/>
            </a:pPr>
            <a:r>
              <a:rPr lang="en-US" sz="1050" b="1" spc="140" kern="0" dirty="0">
                <a:solidFill>
                  <a:srgbClr val="EAF2FA"/>
                </a:solidFill>
                <a:latin typeface="Arial" pitchFamily="34" charset="0"/>
                <a:ea typeface="Arial" pitchFamily="34" charset="-122"/>
                <a:cs typeface="Arial" pitchFamily="34" charset="-120"/>
              </a:rPr>
              <a:t>MEASURED ARTICLE AND SETUP STATE</a:t>
            </a:r>
            <a:endParaRPr lang="en-US" sz="1050" dirty="0"/>
          </a:p>
        </p:txBody>
      </p:sp>
      <p:sp>
        <p:nvSpPr>
          <p:cNvPr id="9" name="Shape 6"/>
          <p:cNvSpPr/>
          <p:nvPr/>
        </p:nvSpPr>
        <p:spPr>
          <a:xfrm>
            <a:off x="4041648" y="3127248"/>
            <a:ext cx="2679192" cy="850392"/>
          </a:xfrm>
          <a:prstGeom prst="line">
            <a:avLst/>
          </a:prstGeom>
          <a:noFill/>
          <a:ln w="15875">
            <a:solidFill>
              <a:srgbClr val="3D9BD8"/>
            </a:solidFill>
            <a:prstDash val="solid"/>
          </a:ln>
        </p:spPr>
      </p:sp>
      <p:sp>
        <p:nvSpPr>
          <p:cNvPr id="10" name="Text 7"/>
          <p:cNvSpPr txBox="1"/>
          <p:nvPr/>
        </p:nvSpPr>
        <p:spPr>
          <a:xfrm>
            <a:off x="621792" y="3840480"/>
            <a:ext cx="3291840" cy="274320"/>
          </a:xfrm>
          <a:prstGeom prst="rect">
            <a:avLst/>
          </a:prstGeom>
          <a:noFill/>
          <a:ln/>
        </p:spPr>
        <p:txBody>
          <a:bodyPr wrap="square" lIns="0" tIns="0" rIns="0" bIns="0" rtlCol="0" anchor="ctr"/>
          <a:lstStyle/>
          <a:p>
            <a:pPr algn="r" indent="0" marL="0">
              <a:buNone/>
            </a:pPr>
            <a:r>
              <a:rPr lang="en-US" sz="1050" b="1" spc="140" kern="0" dirty="0">
                <a:solidFill>
                  <a:srgbClr val="EAF2FA"/>
                </a:solidFill>
                <a:latin typeface="Arial" pitchFamily="34" charset="0"/>
                <a:ea typeface="Arial" pitchFamily="34" charset="-122"/>
                <a:cs typeface="Arial" pitchFamily="34" charset="-120"/>
              </a:rPr>
              <a:t>MEASURED PROCESS CAPABILITY</a:t>
            </a:r>
            <a:endParaRPr lang="en-US" sz="1050" dirty="0"/>
          </a:p>
        </p:txBody>
      </p:sp>
      <p:sp>
        <p:nvSpPr>
          <p:cNvPr id="11" name="Shape 8"/>
          <p:cNvSpPr/>
          <p:nvPr/>
        </p:nvSpPr>
        <p:spPr>
          <a:xfrm>
            <a:off x="4041648" y="3968496"/>
            <a:ext cx="2679192" cy="9144"/>
          </a:xfrm>
          <a:prstGeom prst="line">
            <a:avLst/>
          </a:prstGeom>
          <a:noFill/>
          <a:ln w="15875">
            <a:solidFill>
              <a:srgbClr val="3D9BD8"/>
            </a:solidFill>
            <a:prstDash val="solid"/>
          </a:ln>
        </p:spPr>
      </p:sp>
      <p:sp>
        <p:nvSpPr>
          <p:cNvPr id="12" name="Text 9"/>
          <p:cNvSpPr txBox="1"/>
          <p:nvPr/>
        </p:nvSpPr>
        <p:spPr>
          <a:xfrm>
            <a:off x="621792" y="4681728"/>
            <a:ext cx="3291840" cy="274320"/>
          </a:xfrm>
          <a:prstGeom prst="rect">
            <a:avLst/>
          </a:prstGeom>
          <a:noFill/>
          <a:ln/>
        </p:spPr>
        <p:txBody>
          <a:bodyPr wrap="square" lIns="0" tIns="0" rIns="0" bIns="0" rtlCol="0" anchor="ctr"/>
          <a:lstStyle/>
          <a:p>
            <a:pPr algn="r" indent="0" marL="0">
              <a:buNone/>
            </a:pPr>
            <a:r>
              <a:rPr lang="en-US" sz="1050" b="1" spc="140" kern="0" dirty="0">
                <a:solidFill>
                  <a:srgbClr val="EAF2FA"/>
                </a:solidFill>
                <a:latin typeface="Arial" pitchFamily="34" charset="0"/>
                <a:ea typeface="Arial" pitchFamily="34" charset="-122"/>
                <a:cs typeface="Arial" pitchFamily="34" charset="-120"/>
              </a:rPr>
              <a:t>APPROVED OPERATING LIMITS</a:t>
            </a:r>
            <a:endParaRPr lang="en-US" sz="1050" dirty="0"/>
          </a:p>
        </p:txBody>
      </p:sp>
      <p:sp>
        <p:nvSpPr>
          <p:cNvPr id="13" name="Shape 10"/>
          <p:cNvSpPr/>
          <p:nvPr/>
        </p:nvSpPr>
        <p:spPr>
          <a:xfrm flipV="1">
            <a:off x="4041648" y="3977640"/>
            <a:ext cx="2679192" cy="832104"/>
          </a:xfrm>
          <a:prstGeom prst="line">
            <a:avLst/>
          </a:prstGeom>
          <a:noFill/>
          <a:ln w="15875">
            <a:solidFill>
              <a:srgbClr val="3D9BD8"/>
            </a:solidFill>
            <a:prstDash val="solid"/>
          </a:ln>
        </p:spPr>
      </p:sp>
      <p:pic>
        <p:nvPicPr>
          <p:cNvPr id="14" name="Image 1" descr="/tmp/claude-0/-home-user-foodiehome/a2788c04-4021-50f7-9e92-8de1b0e68224/scratchpad/syntrex/assets/glowdot.png">    </p:cNvPr>
          <p:cNvPicPr>
            <a:picLocks noChangeAspect="1"/>
          </p:cNvPicPr>
          <p:nvPr/>
        </p:nvPicPr>
        <p:blipFill>
          <a:blip r:embed="rId3"/>
          <a:stretch>
            <a:fillRect/>
          </a:stretch>
        </p:blipFill>
        <p:spPr>
          <a:xfrm>
            <a:off x="6336792" y="3593592"/>
            <a:ext cx="768096" cy="768096"/>
          </a:xfrm>
          <a:prstGeom prst="rect">
            <a:avLst/>
          </a:prstGeom>
        </p:spPr>
      </p:pic>
      <p:sp>
        <p:nvSpPr>
          <p:cNvPr id="15" name="Shape 11"/>
          <p:cNvSpPr/>
          <p:nvPr/>
        </p:nvSpPr>
        <p:spPr>
          <a:xfrm>
            <a:off x="6995160" y="3977640"/>
            <a:ext cx="1691640" cy="0"/>
          </a:xfrm>
          <a:prstGeom prst="line">
            <a:avLst/>
          </a:prstGeom>
          <a:noFill/>
          <a:ln w="19050">
            <a:solidFill>
              <a:srgbClr val="6FD3FF"/>
            </a:solidFill>
            <a:prstDash val="solid"/>
          </a:ln>
        </p:spPr>
      </p:sp>
      <p:sp>
        <p:nvSpPr>
          <p:cNvPr id="16" name="Text 12"/>
          <p:cNvSpPr txBox="1"/>
          <p:nvPr/>
        </p:nvSpPr>
        <p:spPr>
          <a:xfrm>
            <a:off x="8805672" y="3822192"/>
            <a:ext cx="2834640" cy="310896"/>
          </a:xfrm>
          <a:prstGeom prst="rect">
            <a:avLst/>
          </a:prstGeom>
          <a:noFill/>
          <a:ln/>
        </p:spPr>
        <p:txBody>
          <a:bodyPr wrap="square" lIns="0" tIns="0" rIns="0" bIns="0" rtlCol="0" anchor="ctr"/>
          <a:lstStyle/>
          <a:p>
            <a:pPr indent="0" marL="0">
              <a:buNone/>
            </a:pPr>
            <a:r>
              <a:rPr lang="en-US" sz="1250" b="1" spc="180" kern="0" dirty="0">
                <a:solidFill>
                  <a:srgbClr val="6FD3FF"/>
                </a:solidFill>
                <a:latin typeface="Arial" pitchFamily="34" charset="0"/>
                <a:ea typeface="Arial" pitchFamily="34" charset="-122"/>
                <a:cs typeface="Arial" pitchFamily="34" charset="-120"/>
              </a:rPr>
              <a:t>PERMITTED NEXT ACTION</a:t>
            </a:r>
            <a:endParaRPr lang="en-US" sz="1250" dirty="0"/>
          </a:p>
        </p:txBody>
      </p:sp>
      <p:sp>
        <p:nvSpPr>
          <p:cNvPr id="17" name="Text 13"/>
          <p:cNvSpPr txBox="1"/>
          <p:nvPr/>
        </p:nvSpPr>
        <p:spPr>
          <a:xfrm>
            <a:off x="5943600" y="4361688"/>
            <a:ext cx="1554480" cy="219456"/>
          </a:xfrm>
          <a:prstGeom prst="rect">
            <a:avLst/>
          </a:prstGeom>
          <a:noFill/>
          <a:ln/>
        </p:spPr>
        <p:txBody>
          <a:bodyPr wrap="square" lIns="0" tIns="0" rIns="0" bIns="0" rtlCol="0" anchor="ctr"/>
          <a:lstStyle/>
          <a:p>
            <a:pPr algn="ctr" indent="0" marL="0">
              <a:buNone/>
            </a:pPr>
            <a:r>
              <a:rPr lang="en-US" sz="850" i="1" dirty="0">
                <a:solidFill>
                  <a:srgbClr val="72879D"/>
                </a:solidFill>
                <a:latin typeface="Arial" pitchFamily="34" charset="0"/>
                <a:ea typeface="Arial" pitchFamily="34" charset="-122"/>
                <a:cs typeface="Arial" pitchFamily="34" charset="-120"/>
              </a:rPr>
              <a:t>resolve to</a:t>
            </a:r>
            <a:endParaRPr lang="en-US" sz="850" dirty="0"/>
          </a:p>
        </p:txBody>
      </p:sp>
      <p:sp>
        <p:nvSpPr>
          <p:cNvPr id="18" name="Text 14"/>
          <p:cNvSpPr txBox="1"/>
          <p:nvPr/>
        </p:nvSpPr>
        <p:spPr>
          <a:xfrm>
            <a:off x="621792" y="5815584"/>
            <a:ext cx="10948111" cy="310896"/>
          </a:xfrm>
          <a:prstGeom prst="rect">
            <a:avLst/>
          </a:prstGeom>
          <a:noFill/>
          <a:ln/>
        </p:spPr>
        <p:txBody>
          <a:bodyPr wrap="square" lIns="0" tIns="0" rIns="0" bIns="0" rtlCol="0" anchor="ctr"/>
          <a:lstStyle/>
          <a:p>
            <a:pPr indent="0" marL="0">
              <a:buNone/>
            </a:pPr>
            <a:r>
              <a:rPr lang="en-US" sz="1400" b="1" dirty="0">
                <a:solidFill>
                  <a:srgbClr val="EAF2FA"/>
                </a:solidFill>
                <a:latin typeface="Arial" pitchFamily="34" charset="0"/>
                <a:ea typeface="Arial" pitchFamily="34" charset="-122"/>
                <a:cs typeface="Arial" pitchFamily="34" charset="-120"/>
              </a:rPr>
              <a:t>Measurement is common. Carrying it into a bounded decision is not.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07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SYNTREX MANUFACTURING ARCHITECTURE · INTERNAL PROGRAM AUTOFORGE</a:t>
            </a:r>
            <a:endParaRPr lang="en-US" sz="1000" dirty="0"/>
          </a:p>
        </p:txBody>
      </p:sp>
      <p:sp>
        <p:nvSpPr>
          <p:cNvPr id="5"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2700" b="1" dirty="0">
                <a:solidFill>
                  <a:srgbClr val="EAF2FA"/>
                </a:solidFill>
                <a:latin typeface="Arial" pitchFamily="34" charset="0"/>
                <a:ea typeface="Arial" pitchFamily="34" charset="-122"/>
                <a:cs typeface="Arial" pitchFamily="34" charset="-120"/>
              </a:rPr>
              <a:t>From engineering intent to verified physical action.</a:t>
            </a:r>
            <a:endParaRPr lang="en-US" sz="2700" dirty="0"/>
          </a:p>
        </p:txBody>
      </p:sp>
      <p:sp>
        <p:nvSpPr>
          <p:cNvPr id="6" name="Text 4"/>
          <p:cNvSpPr txBox="1"/>
          <p:nvPr/>
        </p:nvSpPr>
        <p:spPr>
          <a:xfrm>
            <a:off x="621792" y="1371600"/>
            <a:ext cx="10948111" cy="274320"/>
          </a:xfrm>
          <a:prstGeom prst="rect">
            <a:avLst/>
          </a:prstGeom>
          <a:noFill/>
          <a:ln/>
        </p:spPr>
        <p:txBody>
          <a:bodyPr wrap="square" lIns="0" tIns="0" rIns="0" bIns="0" rtlCol="0" anchor="ctr"/>
          <a:lstStyle/>
          <a:p>
            <a:pPr indent="0" marL="0">
              <a:buNone/>
            </a:pPr>
            <a:r>
              <a:rPr lang="en-US" sz="1150" dirty="0">
                <a:solidFill>
                  <a:srgbClr val="A9BDD1"/>
                </a:solidFill>
                <a:latin typeface="Arial" pitchFamily="34" charset="0"/>
                <a:ea typeface="Arial" pitchFamily="34" charset="-122"/>
                <a:cs typeface="Arial" pitchFamily="34" charset="-120"/>
              </a:rPr>
              <a:t>A bounded manufacturing architecture for high-mix aerospace and defense production.</a:t>
            </a:r>
            <a:endParaRPr lang="en-US" sz="1150" dirty="0"/>
          </a:p>
        </p:txBody>
      </p:sp>
      <p:sp>
        <p:nvSpPr>
          <p:cNvPr id="7" name="Shape 5"/>
          <p:cNvSpPr/>
          <p:nvPr/>
        </p:nvSpPr>
        <p:spPr>
          <a:xfrm>
            <a:off x="850392" y="2615184"/>
            <a:ext cx="10490911" cy="0"/>
          </a:xfrm>
          <a:prstGeom prst="line">
            <a:avLst/>
          </a:prstGeom>
          <a:noFill/>
          <a:ln w="12700">
            <a:solidFill>
              <a:srgbClr val="23405C"/>
            </a:solidFill>
            <a:prstDash val="solid"/>
          </a:ln>
        </p:spPr>
      </p:sp>
      <p:sp>
        <p:nvSpPr>
          <p:cNvPr id="8" name="Shape 6"/>
          <p:cNvSpPr/>
          <p:nvPr/>
        </p:nvSpPr>
        <p:spPr>
          <a:xfrm>
            <a:off x="786384" y="2551176"/>
            <a:ext cx="128016" cy="128016"/>
          </a:xfrm>
          <a:prstGeom prst="ellipse">
            <a:avLst/>
          </a:prstGeom>
          <a:solidFill>
            <a:srgbClr val="0F1E31"/>
          </a:solidFill>
          <a:ln w="13970">
            <a:solidFill>
              <a:srgbClr val="3D9BD8"/>
            </a:solidFill>
            <a:prstDash val="solid"/>
          </a:ln>
        </p:spPr>
      </p:sp>
      <p:sp>
        <p:nvSpPr>
          <p:cNvPr id="9" name="Text 7"/>
          <p:cNvSpPr txBox="1"/>
          <p:nvPr/>
        </p:nvSpPr>
        <p:spPr>
          <a:xfrm>
            <a:off x="576072" y="2103120"/>
            <a:ext cx="548640" cy="237744"/>
          </a:xfrm>
          <a:prstGeom prst="rect">
            <a:avLst/>
          </a:prstGeom>
          <a:noFill/>
          <a:ln/>
        </p:spPr>
        <p:txBody>
          <a:bodyPr wrap="square" lIns="0" tIns="0" rIns="0" bIns="0" rtlCol="0" anchor="ctr"/>
          <a:lstStyle/>
          <a:p>
            <a:pPr algn="ctr" indent="0" marL="0">
              <a:buNone/>
            </a:pPr>
            <a:r>
              <a:rPr lang="en-US" sz="950" b="1" dirty="0">
                <a:solidFill>
                  <a:srgbClr val="72879D"/>
                </a:solidFill>
                <a:latin typeface="Arial" pitchFamily="34" charset="0"/>
                <a:ea typeface="Arial" pitchFamily="34" charset="-122"/>
                <a:cs typeface="Arial" pitchFamily="34" charset="-120"/>
              </a:rPr>
              <a:t>1</a:t>
            </a:r>
            <a:endParaRPr lang="en-US" sz="950" dirty="0"/>
          </a:p>
        </p:txBody>
      </p:sp>
      <p:sp>
        <p:nvSpPr>
          <p:cNvPr id="10" name="Text 8"/>
          <p:cNvSpPr txBox="1"/>
          <p:nvPr/>
        </p:nvSpPr>
        <p:spPr>
          <a:xfrm>
            <a:off x="100584" y="2816352"/>
            <a:ext cx="1499616" cy="512064"/>
          </a:xfrm>
          <a:prstGeom prst="rect">
            <a:avLst/>
          </a:prstGeom>
          <a:noFill/>
          <a:ln/>
        </p:spPr>
        <p:txBody>
          <a:bodyPr wrap="square" lIns="0" tIns="0" rIns="0" bIns="0" rtlCol="0" anchor="ctr"/>
          <a:lstStyle/>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ENGINEERING</a:t>
            </a:r>
            <a:endParaRPr lang="en-US" sz="760" dirty="0"/>
          </a:p>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INTENT</a:t>
            </a:r>
            <a:endParaRPr lang="en-US" sz="760" dirty="0"/>
          </a:p>
        </p:txBody>
      </p:sp>
      <p:sp>
        <p:nvSpPr>
          <p:cNvPr id="11" name="Shape 9"/>
          <p:cNvSpPr/>
          <p:nvPr/>
        </p:nvSpPr>
        <p:spPr>
          <a:xfrm>
            <a:off x="2285086" y="2551176"/>
            <a:ext cx="128016" cy="128016"/>
          </a:xfrm>
          <a:prstGeom prst="ellipse">
            <a:avLst/>
          </a:prstGeom>
          <a:solidFill>
            <a:srgbClr val="0F1E31"/>
          </a:solidFill>
          <a:ln w="13970">
            <a:solidFill>
              <a:srgbClr val="3D9BD8"/>
            </a:solidFill>
            <a:prstDash val="solid"/>
          </a:ln>
        </p:spPr>
      </p:sp>
      <p:sp>
        <p:nvSpPr>
          <p:cNvPr id="12" name="Text 10"/>
          <p:cNvSpPr txBox="1"/>
          <p:nvPr/>
        </p:nvSpPr>
        <p:spPr>
          <a:xfrm>
            <a:off x="2074774" y="2103120"/>
            <a:ext cx="548640" cy="237744"/>
          </a:xfrm>
          <a:prstGeom prst="rect">
            <a:avLst/>
          </a:prstGeom>
          <a:noFill/>
          <a:ln/>
        </p:spPr>
        <p:txBody>
          <a:bodyPr wrap="square" lIns="0" tIns="0" rIns="0" bIns="0" rtlCol="0" anchor="ctr"/>
          <a:lstStyle/>
          <a:p>
            <a:pPr algn="ctr" indent="0" marL="0">
              <a:buNone/>
            </a:pPr>
            <a:r>
              <a:rPr lang="en-US" sz="950" b="1" dirty="0">
                <a:solidFill>
                  <a:srgbClr val="72879D"/>
                </a:solidFill>
                <a:latin typeface="Arial" pitchFamily="34" charset="0"/>
                <a:ea typeface="Arial" pitchFamily="34" charset="-122"/>
                <a:cs typeface="Arial" pitchFamily="34" charset="-120"/>
              </a:rPr>
              <a:t>2</a:t>
            </a:r>
            <a:endParaRPr lang="en-US" sz="950" dirty="0"/>
          </a:p>
        </p:txBody>
      </p:sp>
      <p:sp>
        <p:nvSpPr>
          <p:cNvPr id="13" name="Text 11"/>
          <p:cNvSpPr txBox="1"/>
          <p:nvPr/>
        </p:nvSpPr>
        <p:spPr>
          <a:xfrm>
            <a:off x="1599286" y="2816352"/>
            <a:ext cx="1499616" cy="512064"/>
          </a:xfrm>
          <a:prstGeom prst="rect">
            <a:avLst/>
          </a:prstGeom>
          <a:noFill/>
          <a:ln/>
        </p:spPr>
        <p:txBody>
          <a:bodyPr wrap="square" lIns="0" tIns="0" rIns="0" bIns="0" rtlCol="0" anchor="ctr"/>
          <a:lstStyle/>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MEASURED ARTICLE</a:t>
            </a:r>
            <a:endParaRPr lang="en-US" sz="760" dirty="0"/>
          </a:p>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AND SETUP STATE</a:t>
            </a:r>
            <a:endParaRPr lang="en-US" sz="760" dirty="0"/>
          </a:p>
        </p:txBody>
      </p:sp>
      <p:sp>
        <p:nvSpPr>
          <p:cNvPr id="14" name="Shape 12"/>
          <p:cNvSpPr/>
          <p:nvPr/>
        </p:nvSpPr>
        <p:spPr>
          <a:xfrm>
            <a:off x="3783787" y="2551176"/>
            <a:ext cx="128016" cy="128016"/>
          </a:xfrm>
          <a:prstGeom prst="ellipse">
            <a:avLst/>
          </a:prstGeom>
          <a:solidFill>
            <a:srgbClr val="0F1E31"/>
          </a:solidFill>
          <a:ln w="13970">
            <a:solidFill>
              <a:srgbClr val="3D9BD8"/>
            </a:solidFill>
            <a:prstDash val="solid"/>
          </a:ln>
        </p:spPr>
      </p:sp>
      <p:sp>
        <p:nvSpPr>
          <p:cNvPr id="15" name="Text 13"/>
          <p:cNvSpPr txBox="1"/>
          <p:nvPr/>
        </p:nvSpPr>
        <p:spPr>
          <a:xfrm>
            <a:off x="3573475" y="2103120"/>
            <a:ext cx="548640" cy="237744"/>
          </a:xfrm>
          <a:prstGeom prst="rect">
            <a:avLst/>
          </a:prstGeom>
          <a:noFill/>
          <a:ln/>
        </p:spPr>
        <p:txBody>
          <a:bodyPr wrap="square" lIns="0" tIns="0" rIns="0" bIns="0" rtlCol="0" anchor="ctr"/>
          <a:lstStyle/>
          <a:p>
            <a:pPr algn="ctr" indent="0" marL="0">
              <a:buNone/>
            </a:pPr>
            <a:r>
              <a:rPr lang="en-US" sz="950" b="1" dirty="0">
                <a:solidFill>
                  <a:srgbClr val="72879D"/>
                </a:solidFill>
                <a:latin typeface="Arial" pitchFamily="34" charset="0"/>
                <a:ea typeface="Arial" pitchFamily="34" charset="-122"/>
                <a:cs typeface="Arial" pitchFamily="34" charset="-120"/>
              </a:rPr>
              <a:t>3</a:t>
            </a:r>
            <a:endParaRPr lang="en-US" sz="950" dirty="0"/>
          </a:p>
        </p:txBody>
      </p:sp>
      <p:sp>
        <p:nvSpPr>
          <p:cNvPr id="16" name="Text 14"/>
          <p:cNvSpPr txBox="1"/>
          <p:nvPr/>
        </p:nvSpPr>
        <p:spPr>
          <a:xfrm>
            <a:off x="3097987" y="2816352"/>
            <a:ext cx="1499616" cy="512064"/>
          </a:xfrm>
          <a:prstGeom prst="rect">
            <a:avLst/>
          </a:prstGeom>
          <a:noFill/>
          <a:ln/>
        </p:spPr>
        <p:txBody>
          <a:bodyPr wrap="square" lIns="0" tIns="0" rIns="0" bIns="0" rtlCol="0" anchor="ctr"/>
          <a:lstStyle/>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MEASURED PROCESS</a:t>
            </a:r>
            <a:endParaRPr lang="en-US" sz="760" dirty="0"/>
          </a:p>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CAPABILITY</a:t>
            </a:r>
            <a:endParaRPr lang="en-US" sz="760" dirty="0"/>
          </a:p>
        </p:txBody>
      </p:sp>
      <p:sp>
        <p:nvSpPr>
          <p:cNvPr id="17" name="Shape 15"/>
          <p:cNvSpPr/>
          <p:nvPr/>
        </p:nvSpPr>
        <p:spPr>
          <a:xfrm>
            <a:off x="5282489" y="2551176"/>
            <a:ext cx="128016" cy="128016"/>
          </a:xfrm>
          <a:prstGeom prst="ellipse">
            <a:avLst/>
          </a:prstGeom>
          <a:solidFill>
            <a:srgbClr val="0F1E31"/>
          </a:solidFill>
          <a:ln w="13970">
            <a:solidFill>
              <a:srgbClr val="3D9BD8"/>
            </a:solidFill>
            <a:prstDash val="solid"/>
          </a:ln>
        </p:spPr>
      </p:sp>
      <p:sp>
        <p:nvSpPr>
          <p:cNvPr id="18" name="Text 16"/>
          <p:cNvSpPr txBox="1"/>
          <p:nvPr/>
        </p:nvSpPr>
        <p:spPr>
          <a:xfrm>
            <a:off x="5072177" y="2103120"/>
            <a:ext cx="548640" cy="237744"/>
          </a:xfrm>
          <a:prstGeom prst="rect">
            <a:avLst/>
          </a:prstGeom>
          <a:noFill/>
          <a:ln/>
        </p:spPr>
        <p:txBody>
          <a:bodyPr wrap="square" lIns="0" tIns="0" rIns="0" bIns="0" rtlCol="0" anchor="ctr"/>
          <a:lstStyle/>
          <a:p>
            <a:pPr algn="ctr" indent="0" marL="0">
              <a:buNone/>
            </a:pPr>
            <a:r>
              <a:rPr lang="en-US" sz="950" b="1" dirty="0">
                <a:solidFill>
                  <a:srgbClr val="72879D"/>
                </a:solidFill>
                <a:latin typeface="Arial" pitchFamily="34" charset="0"/>
                <a:ea typeface="Arial" pitchFamily="34" charset="-122"/>
                <a:cs typeface="Arial" pitchFamily="34" charset="-120"/>
              </a:rPr>
              <a:t>4</a:t>
            </a:r>
            <a:endParaRPr lang="en-US" sz="950" dirty="0"/>
          </a:p>
        </p:txBody>
      </p:sp>
      <p:sp>
        <p:nvSpPr>
          <p:cNvPr id="19" name="Text 17"/>
          <p:cNvSpPr txBox="1"/>
          <p:nvPr/>
        </p:nvSpPr>
        <p:spPr>
          <a:xfrm>
            <a:off x="4596689" y="2816352"/>
            <a:ext cx="1499616" cy="512064"/>
          </a:xfrm>
          <a:prstGeom prst="rect">
            <a:avLst/>
          </a:prstGeom>
          <a:noFill/>
          <a:ln/>
        </p:spPr>
        <p:txBody>
          <a:bodyPr wrap="square" lIns="0" tIns="0" rIns="0" bIns="0" rtlCol="0" anchor="ctr"/>
          <a:lstStyle/>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APPROVED</a:t>
            </a:r>
            <a:endParaRPr lang="en-US" sz="760" dirty="0"/>
          </a:p>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OPERATING LIMITS</a:t>
            </a:r>
            <a:endParaRPr lang="en-US" sz="760" dirty="0"/>
          </a:p>
        </p:txBody>
      </p:sp>
      <p:pic>
        <p:nvPicPr>
          <p:cNvPr id="20" name="Image 0" descr="/tmp/claude-0/-home-user-foodiehome/a2788c04-4021-50f7-9e92-8de1b0e68224/scratchpad/syntrex/assets/glowdot.png">    </p:cNvPr>
          <p:cNvPicPr>
            <a:picLocks noChangeAspect="1"/>
          </p:cNvPicPr>
          <p:nvPr/>
        </p:nvPicPr>
        <p:blipFill>
          <a:blip r:embed="rId2"/>
          <a:stretch>
            <a:fillRect/>
          </a:stretch>
        </p:blipFill>
        <p:spPr>
          <a:xfrm>
            <a:off x="6387998" y="2157984"/>
            <a:ext cx="914400" cy="914400"/>
          </a:xfrm>
          <a:prstGeom prst="rect">
            <a:avLst/>
          </a:prstGeom>
        </p:spPr>
      </p:pic>
      <p:sp>
        <p:nvSpPr>
          <p:cNvPr id="21" name="Shape 18"/>
          <p:cNvSpPr/>
          <p:nvPr/>
        </p:nvSpPr>
        <p:spPr>
          <a:xfrm>
            <a:off x="6717182" y="2487168"/>
            <a:ext cx="256032" cy="256032"/>
          </a:xfrm>
          <a:prstGeom prst="ellipse">
            <a:avLst/>
          </a:prstGeom>
          <a:solidFill>
            <a:srgbClr val="6FD3FF"/>
          </a:solidFill>
          <a:ln w="12700">
            <a:solidFill>
              <a:srgbClr val="FFFFFF"/>
            </a:solidFill>
            <a:prstDash val="solid"/>
          </a:ln>
        </p:spPr>
      </p:sp>
      <p:sp>
        <p:nvSpPr>
          <p:cNvPr id="22" name="Text 19"/>
          <p:cNvSpPr txBox="1"/>
          <p:nvPr/>
        </p:nvSpPr>
        <p:spPr>
          <a:xfrm>
            <a:off x="6570878" y="1901952"/>
            <a:ext cx="548640" cy="237744"/>
          </a:xfrm>
          <a:prstGeom prst="rect">
            <a:avLst/>
          </a:prstGeom>
          <a:noFill/>
          <a:ln/>
        </p:spPr>
        <p:txBody>
          <a:bodyPr wrap="square" lIns="0" tIns="0" rIns="0" bIns="0" rtlCol="0" anchor="ctr"/>
          <a:lstStyle/>
          <a:p>
            <a:pPr algn="ctr" indent="0" marL="0">
              <a:buNone/>
            </a:pPr>
            <a:r>
              <a:rPr lang="en-US" sz="1300" b="1" dirty="0">
                <a:solidFill>
                  <a:srgbClr val="6FD3FF"/>
                </a:solidFill>
                <a:latin typeface="Arial" pitchFamily="34" charset="0"/>
                <a:ea typeface="Arial" pitchFamily="34" charset="-122"/>
                <a:cs typeface="Arial" pitchFamily="34" charset="-120"/>
              </a:rPr>
              <a:t>5</a:t>
            </a:r>
            <a:endParaRPr lang="en-US" sz="1300" dirty="0"/>
          </a:p>
        </p:txBody>
      </p:sp>
      <p:sp>
        <p:nvSpPr>
          <p:cNvPr id="23" name="Text 20"/>
          <p:cNvSpPr txBox="1"/>
          <p:nvPr/>
        </p:nvSpPr>
        <p:spPr>
          <a:xfrm>
            <a:off x="6095390" y="2926080"/>
            <a:ext cx="1499616" cy="512064"/>
          </a:xfrm>
          <a:prstGeom prst="rect">
            <a:avLst/>
          </a:prstGeom>
          <a:noFill/>
          <a:ln/>
        </p:spPr>
        <p:txBody>
          <a:bodyPr wrap="square" lIns="0" tIns="0" rIns="0" bIns="0" rtlCol="0" anchor="ctr"/>
          <a:lstStyle/>
          <a:p>
            <a:pPr algn="ctr" indent="0" marL="0">
              <a:lnSpc>
                <a:spcPct val="105000"/>
              </a:lnSpc>
              <a:buNone/>
            </a:pPr>
            <a:r>
              <a:rPr lang="en-US" sz="900" b="1" dirty="0">
                <a:solidFill>
                  <a:srgbClr val="EAF2FA"/>
                </a:solidFill>
                <a:latin typeface="Arial" pitchFamily="34" charset="0"/>
                <a:ea typeface="Arial" pitchFamily="34" charset="-122"/>
                <a:cs typeface="Arial" pitchFamily="34" charset="-120"/>
              </a:rPr>
              <a:t>BOUNDED</a:t>
            </a:r>
            <a:endParaRPr lang="en-US" sz="900" dirty="0"/>
          </a:p>
          <a:p>
            <a:pPr algn="ctr" indent="0" marL="0">
              <a:lnSpc>
                <a:spcPct val="105000"/>
              </a:lnSpc>
              <a:buNone/>
            </a:pPr>
            <a:r>
              <a:rPr lang="en-US" sz="900" b="1" dirty="0">
                <a:solidFill>
                  <a:srgbClr val="EAF2FA"/>
                </a:solidFill>
                <a:latin typeface="Arial" pitchFamily="34" charset="0"/>
                <a:ea typeface="Arial" pitchFamily="34" charset="-122"/>
                <a:cs typeface="Arial" pitchFamily="34" charset="-120"/>
              </a:rPr>
              <a:t>AUTHORIZATION</a:t>
            </a:r>
            <a:endParaRPr lang="en-US" sz="900" dirty="0"/>
          </a:p>
        </p:txBody>
      </p:sp>
      <p:sp>
        <p:nvSpPr>
          <p:cNvPr id="24" name="Shape 21"/>
          <p:cNvSpPr/>
          <p:nvPr/>
        </p:nvSpPr>
        <p:spPr>
          <a:xfrm>
            <a:off x="8279892" y="2551176"/>
            <a:ext cx="128016" cy="128016"/>
          </a:xfrm>
          <a:prstGeom prst="ellipse">
            <a:avLst/>
          </a:prstGeom>
          <a:solidFill>
            <a:srgbClr val="0F1E31"/>
          </a:solidFill>
          <a:ln w="13970">
            <a:solidFill>
              <a:srgbClr val="3D9BD8"/>
            </a:solidFill>
            <a:prstDash val="solid"/>
          </a:ln>
        </p:spPr>
      </p:sp>
      <p:sp>
        <p:nvSpPr>
          <p:cNvPr id="25" name="Text 22"/>
          <p:cNvSpPr txBox="1"/>
          <p:nvPr/>
        </p:nvSpPr>
        <p:spPr>
          <a:xfrm>
            <a:off x="8069580" y="2103120"/>
            <a:ext cx="548640" cy="237744"/>
          </a:xfrm>
          <a:prstGeom prst="rect">
            <a:avLst/>
          </a:prstGeom>
          <a:noFill/>
          <a:ln/>
        </p:spPr>
        <p:txBody>
          <a:bodyPr wrap="square" lIns="0" tIns="0" rIns="0" bIns="0" rtlCol="0" anchor="ctr"/>
          <a:lstStyle/>
          <a:p>
            <a:pPr algn="ctr" indent="0" marL="0">
              <a:buNone/>
            </a:pPr>
            <a:r>
              <a:rPr lang="en-US" sz="950" b="1" dirty="0">
                <a:solidFill>
                  <a:srgbClr val="72879D"/>
                </a:solidFill>
                <a:latin typeface="Arial" pitchFamily="34" charset="0"/>
                <a:ea typeface="Arial" pitchFamily="34" charset="-122"/>
                <a:cs typeface="Arial" pitchFamily="34" charset="-120"/>
              </a:rPr>
              <a:t>6</a:t>
            </a:r>
            <a:endParaRPr lang="en-US" sz="950" dirty="0"/>
          </a:p>
        </p:txBody>
      </p:sp>
      <p:sp>
        <p:nvSpPr>
          <p:cNvPr id="26" name="Text 23"/>
          <p:cNvSpPr txBox="1"/>
          <p:nvPr/>
        </p:nvSpPr>
        <p:spPr>
          <a:xfrm>
            <a:off x="7594092" y="2816352"/>
            <a:ext cx="1499616" cy="512064"/>
          </a:xfrm>
          <a:prstGeom prst="rect">
            <a:avLst/>
          </a:prstGeom>
          <a:noFill/>
          <a:ln/>
        </p:spPr>
        <p:txBody>
          <a:bodyPr wrap="square" lIns="0" tIns="0" rIns="0" bIns="0" rtlCol="0" anchor="ctr"/>
          <a:lstStyle/>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ADAPTIVE</a:t>
            </a:r>
            <a:endParaRPr lang="en-US" sz="760" dirty="0"/>
          </a:p>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EXECUTION</a:t>
            </a:r>
            <a:endParaRPr lang="en-US" sz="760" dirty="0"/>
          </a:p>
        </p:txBody>
      </p:sp>
      <p:sp>
        <p:nvSpPr>
          <p:cNvPr id="27" name="Shape 24"/>
          <p:cNvSpPr/>
          <p:nvPr/>
        </p:nvSpPr>
        <p:spPr>
          <a:xfrm>
            <a:off x="9778594" y="2551176"/>
            <a:ext cx="128016" cy="128016"/>
          </a:xfrm>
          <a:prstGeom prst="ellipse">
            <a:avLst/>
          </a:prstGeom>
          <a:solidFill>
            <a:srgbClr val="0F1E31"/>
          </a:solidFill>
          <a:ln w="13970">
            <a:solidFill>
              <a:srgbClr val="3D9BD8"/>
            </a:solidFill>
            <a:prstDash val="solid"/>
          </a:ln>
        </p:spPr>
      </p:sp>
      <p:sp>
        <p:nvSpPr>
          <p:cNvPr id="28" name="Text 25"/>
          <p:cNvSpPr txBox="1"/>
          <p:nvPr/>
        </p:nvSpPr>
        <p:spPr>
          <a:xfrm>
            <a:off x="9568282" y="2103120"/>
            <a:ext cx="548640" cy="237744"/>
          </a:xfrm>
          <a:prstGeom prst="rect">
            <a:avLst/>
          </a:prstGeom>
          <a:noFill/>
          <a:ln/>
        </p:spPr>
        <p:txBody>
          <a:bodyPr wrap="square" lIns="0" tIns="0" rIns="0" bIns="0" rtlCol="0" anchor="ctr"/>
          <a:lstStyle/>
          <a:p>
            <a:pPr algn="ctr" indent="0" marL="0">
              <a:buNone/>
            </a:pPr>
            <a:r>
              <a:rPr lang="en-US" sz="950" b="1" dirty="0">
                <a:solidFill>
                  <a:srgbClr val="72879D"/>
                </a:solidFill>
                <a:latin typeface="Arial" pitchFamily="34" charset="0"/>
                <a:ea typeface="Arial" pitchFamily="34" charset="-122"/>
                <a:cs typeface="Arial" pitchFamily="34" charset="-120"/>
              </a:rPr>
              <a:t>7</a:t>
            </a:r>
            <a:endParaRPr lang="en-US" sz="950" dirty="0"/>
          </a:p>
        </p:txBody>
      </p:sp>
      <p:sp>
        <p:nvSpPr>
          <p:cNvPr id="29" name="Text 26"/>
          <p:cNvSpPr txBox="1"/>
          <p:nvPr/>
        </p:nvSpPr>
        <p:spPr>
          <a:xfrm>
            <a:off x="9092794" y="2816352"/>
            <a:ext cx="1499616" cy="512064"/>
          </a:xfrm>
          <a:prstGeom prst="rect">
            <a:avLst/>
          </a:prstGeom>
          <a:noFill/>
          <a:ln/>
        </p:spPr>
        <p:txBody>
          <a:bodyPr wrap="square" lIns="0" tIns="0" rIns="0" bIns="0" rtlCol="0" anchor="ctr"/>
          <a:lstStyle/>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INDEPENDENT</a:t>
            </a:r>
            <a:endParaRPr lang="en-US" sz="760" dirty="0"/>
          </a:p>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VERIFICATION</a:t>
            </a:r>
            <a:endParaRPr lang="en-US" sz="760" dirty="0"/>
          </a:p>
        </p:txBody>
      </p:sp>
      <p:sp>
        <p:nvSpPr>
          <p:cNvPr id="30" name="Shape 27"/>
          <p:cNvSpPr/>
          <p:nvPr/>
        </p:nvSpPr>
        <p:spPr>
          <a:xfrm>
            <a:off x="11277295" y="2551176"/>
            <a:ext cx="128016" cy="128016"/>
          </a:xfrm>
          <a:prstGeom prst="ellipse">
            <a:avLst/>
          </a:prstGeom>
          <a:solidFill>
            <a:srgbClr val="0F1E31"/>
          </a:solidFill>
          <a:ln w="13970">
            <a:solidFill>
              <a:srgbClr val="3D9BD8"/>
            </a:solidFill>
            <a:prstDash val="solid"/>
          </a:ln>
        </p:spPr>
      </p:sp>
      <p:sp>
        <p:nvSpPr>
          <p:cNvPr id="31" name="Text 28"/>
          <p:cNvSpPr txBox="1"/>
          <p:nvPr/>
        </p:nvSpPr>
        <p:spPr>
          <a:xfrm>
            <a:off x="11066983" y="2103120"/>
            <a:ext cx="548640" cy="237744"/>
          </a:xfrm>
          <a:prstGeom prst="rect">
            <a:avLst/>
          </a:prstGeom>
          <a:noFill/>
          <a:ln/>
        </p:spPr>
        <p:txBody>
          <a:bodyPr wrap="square" lIns="0" tIns="0" rIns="0" bIns="0" rtlCol="0" anchor="ctr"/>
          <a:lstStyle/>
          <a:p>
            <a:pPr algn="ctr" indent="0" marL="0">
              <a:buNone/>
            </a:pPr>
            <a:r>
              <a:rPr lang="en-US" sz="950" b="1" dirty="0">
                <a:solidFill>
                  <a:srgbClr val="72879D"/>
                </a:solidFill>
                <a:latin typeface="Arial" pitchFamily="34" charset="0"/>
                <a:ea typeface="Arial" pitchFamily="34" charset="-122"/>
                <a:cs typeface="Arial" pitchFamily="34" charset="-120"/>
              </a:rPr>
              <a:t>8</a:t>
            </a:r>
            <a:endParaRPr lang="en-US" sz="950" dirty="0"/>
          </a:p>
        </p:txBody>
      </p:sp>
      <p:sp>
        <p:nvSpPr>
          <p:cNvPr id="32" name="Text 29"/>
          <p:cNvSpPr txBox="1"/>
          <p:nvPr/>
        </p:nvSpPr>
        <p:spPr>
          <a:xfrm>
            <a:off x="10591495" y="2816352"/>
            <a:ext cx="1499616" cy="512064"/>
          </a:xfrm>
          <a:prstGeom prst="rect">
            <a:avLst/>
          </a:prstGeom>
          <a:noFill/>
          <a:ln/>
        </p:spPr>
        <p:txBody>
          <a:bodyPr wrap="square" lIns="0" tIns="0" rIns="0" bIns="0" rtlCol="0" anchor="ctr"/>
          <a:lstStyle/>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EVIDENCE</a:t>
            </a:r>
            <a:endParaRPr lang="en-US" sz="760" dirty="0"/>
          </a:p>
          <a:p>
            <a:pPr algn="ctr" indent="0" marL="0">
              <a:lnSpc>
                <a:spcPct val="105000"/>
              </a:lnSpc>
              <a:buNone/>
            </a:pPr>
            <a:r>
              <a:rPr lang="en-US" sz="760" dirty="0">
                <a:solidFill>
                  <a:srgbClr val="A9BDD1"/>
                </a:solidFill>
                <a:latin typeface="Arial" pitchFamily="34" charset="0"/>
                <a:ea typeface="Arial" pitchFamily="34" charset="-122"/>
                <a:cs typeface="Arial" pitchFamily="34" charset="-120"/>
              </a:rPr>
              <a:t>RECORD</a:t>
            </a:r>
            <a:endParaRPr lang="en-US" sz="760" dirty="0"/>
          </a:p>
        </p:txBody>
      </p:sp>
      <p:sp>
        <p:nvSpPr>
          <p:cNvPr id="33" name="Text 30"/>
          <p:cNvSpPr txBox="1"/>
          <p:nvPr/>
        </p:nvSpPr>
        <p:spPr>
          <a:xfrm>
            <a:off x="621792" y="3547872"/>
            <a:ext cx="4572000" cy="219456"/>
          </a:xfrm>
          <a:prstGeom prst="rect">
            <a:avLst/>
          </a:prstGeom>
          <a:noFill/>
          <a:ln/>
        </p:spPr>
        <p:txBody>
          <a:bodyPr wrap="square" lIns="0" tIns="0" rIns="0" bIns="0" rtlCol="0" anchor="ctr"/>
          <a:lstStyle/>
          <a:p>
            <a:pPr indent="0" marL="0">
              <a:buNone/>
            </a:pPr>
            <a:r>
              <a:rPr lang="en-US" sz="850" b="1" spc="260" kern="0" dirty="0">
                <a:solidFill>
                  <a:srgbClr val="6FD3FF"/>
                </a:solidFill>
                <a:latin typeface="Arial" pitchFamily="34" charset="0"/>
                <a:ea typeface="Arial" pitchFamily="34" charset="-122"/>
                <a:cs typeface="Arial" pitchFamily="34" charset="-120"/>
              </a:rPr>
              <a:t>THE AUTHORITY MODEL</a:t>
            </a:r>
            <a:endParaRPr lang="en-US" sz="850" dirty="0"/>
          </a:p>
        </p:txBody>
      </p:sp>
      <p:sp>
        <p:nvSpPr>
          <p:cNvPr id="34" name="Text 31"/>
          <p:cNvSpPr txBox="1"/>
          <p:nvPr/>
        </p:nvSpPr>
        <p:spPr>
          <a:xfrm>
            <a:off x="621792" y="3913632"/>
            <a:ext cx="3192170" cy="274320"/>
          </a:xfrm>
          <a:prstGeom prst="rect">
            <a:avLst/>
          </a:prstGeom>
          <a:noFill/>
          <a:ln/>
        </p:spPr>
        <p:txBody>
          <a:bodyPr wrap="square" lIns="0" tIns="0" rIns="0" bIns="0" rtlCol="0" anchor="ctr"/>
          <a:lstStyle/>
          <a:p>
            <a:pPr indent="0" marL="0">
              <a:buNone/>
            </a:pPr>
            <a:r>
              <a:rPr lang="en-US" sz="1400" b="1" spc="160" kern="0" dirty="0">
                <a:solidFill>
                  <a:srgbClr val="3D9BD8"/>
                </a:solidFill>
                <a:latin typeface="Arial" pitchFamily="34" charset="0"/>
                <a:ea typeface="Arial" pitchFamily="34" charset="-122"/>
                <a:cs typeface="Arial" pitchFamily="34" charset="-120"/>
              </a:rPr>
              <a:t>AI</a:t>
            </a:r>
            <a:endParaRPr lang="en-US" sz="1400" dirty="0"/>
          </a:p>
        </p:txBody>
      </p:sp>
      <p:sp>
        <p:nvSpPr>
          <p:cNvPr id="35" name="Text 32"/>
          <p:cNvSpPr txBox="1"/>
          <p:nvPr/>
        </p:nvSpPr>
        <p:spPr>
          <a:xfrm>
            <a:off x="621792" y="4261104"/>
            <a:ext cx="3146450" cy="457200"/>
          </a:xfrm>
          <a:prstGeom prst="rect">
            <a:avLst/>
          </a:prstGeom>
          <a:noFill/>
          <a:ln/>
        </p:spPr>
        <p:txBody>
          <a:bodyPr wrap="square" lIns="0" tIns="0" rIns="0" bIns="0" rtlCol="0" anchor="ctr"/>
          <a:lstStyle/>
          <a:p>
            <a:pPr indent="0" marL="0">
              <a:lnSpc>
                <a:spcPct val="115000"/>
              </a:lnSpc>
              <a:buNone/>
            </a:pPr>
            <a:r>
              <a:rPr lang="en-US" sz="900" b="1" spc="120" kern="0" dirty="0">
                <a:solidFill>
                  <a:srgbClr val="A9BDD1"/>
                </a:solidFill>
                <a:latin typeface="Arial" pitchFamily="34" charset="0"/>
                <a:ea typeface="Arial" pitchFamily="34" charset="-122"/>
                <a:cs typeface="Arial" pitchFamily="34" charset="-120"/>
              </a:rPr>
              <a:t>PERCEIVE · ESTIMATE · PROPOSE</a:t>
            </a:r>
            <a:endParaRPr lang="en-US" sz="900" dirty="0"/>
          </a:p>
        </p:txBody>
      </p:sp>
      <p:sp>
        <p:nvSpPr>
          <p:cNvPr id="36" name="Text 33"/>
          <p:cNvSpPr txBox="1"/>
          <p:nvPr/>
        </p:nvSpPr>
        <p:spPr>
          <a:xfrm>
            <a:off x="621792" y="4754880"/>
            <a:ext cx="3146450" cy="502920"/>
          </a:xfrm>
          <a:prstGeom prst="rect">
            <a:avLst/>
          </a:prstGeom>
          <a:noFill/>
          <a:ln/>
        </p:spPr>
        <p:txBody>
          <a:bodyPr wrap="square" lIns="0" tIns="0" rIns="0" bIns="0" rtlCol="0" anchor="ctr"/>
          <a:lstStyle/>
          <a:p>
            <a:pPr indent="0" marL="0">
              <a:lnSpc>
                <a:spcPct val="112000"/>
              </a:lnSpc>
              <a:buNone/>
            </a:pPr>
            <a:r>
              <a:rPr lang="en-US" sz="850" dirty="0">
                <a:solidFill>
                  <a:srgbClr val="72879D"/>
                </a:solidFill>
                <a:latin typeface="Arial" pitchFamily="34" charset="0"/>
                <a:ea typeface="Arial" pitchFamily="34" charset="-122"/>
                <a:cs typeface="Arial" pitchFamily="34" charset="-120"/>
              </a:rPr>
              <a:t>Perception and proposal only. No engineering, safety or qualification authority.</a:t>
            </a:r>
            <a:endParaRPr lang="en-US" sz="850" dirty="0"/>
          </a:p>
        </p:txBody>
      </p:sp>
      <p:sp>
        <p:nvSpPr>
          <p:cNvPr id="37" name="Shape 34"/>
          <p:cNvSpPr/>
          <p:nvPr/>
        </p:nvSpPr>
        <p:spPr>
          <a:xfrm>
            <a:off x="4252874" y="3895344"/>
            <a:ext cx="0" cy="1298448"/>
          </a:xfrm>
          <a:prstGeom prst="line">
            <a:avLst/>
          </a:prstGeom>
          <a:noFill/>
          <a:ln w="9525">
            <a:solidFill>
              <a:srgbClr val="23405C"/>
            </a:solidFill>
            <a:prstDash val="solid"/>
          </a:ln>
        </p:spPr>
      </p:sp>
      <p:sp>
        <p:nvSpPr>
          <p:cNvPr id="38" name="Text 35"/>
          <p:cNvSpPr txBox="1"/>
          <p:nvPr/>
        </p:nvSpPr>
        <p:spPr>
          <a:xfrm>
            <a:off x="4582058" y="3913632"/>
            <a:ext cx="3192170" cy="274320"/>
          </a:xfrm>
          <a:prstGeom prst="rect">
            <a:avLst/>
          </a:prstGeom>
          <a:noFill/>
          <a:ln/>
        </p:spPr>
        <p:txBody>
          <a:bodyPr wrap="square" lIns="0" tIns="0" rIns="0" bIns="0" rtlCol="0" anchor="ctr"/>
          <a:lstStyle/>
          <a:p>
            <a:pPr indent="0" marL="0">
              <a:buNone/>
            </a:pPr>
            <a:r>
              <a:rPr lang="en-US" sz="1400" b="1" spc="160" kern="0" dirty="0">
                <a:solidFill>
                  <a:srgbClr val="6FD3FF"/>
                </a:solidFill>
                <a:latin typeface="Arial" pitchFamily="34" charset="0"/>
                <a:ea typeface="Arial" pitchFamily="34" charset="-122"/>
                <a:cs typeface="Arial" pitchFamily="34" charset="-120"/>
              </a:rPr>
              <a:t>BOUNDED LOGIC</a:t>
            </a:r>
            <a:endParaRPr lang="en-US" sz="1400" dirty="0"/>
          </a:p>
        </p:txBody>
      </p:sp>
      <p:sp>
        <p:nvSpPr>
          <p:cNvPr id="39" name="Text 36"/>
          <p:cNvSpPr txBox="1"/>
          <p:nvPr/>
        </p:nvSpPr>
        <p:spPr>
          <a:xfrm>
            <a:off x="4582058" y="4261104"/>
            <a:ext cx="3146450" cy="457200"/>
          </a:xfrm>
          <a:prstGeom prst="rect">
            <a:avLst/>
          </a:prstGeom>
          <a:noFill/>
          <a:ln/>
        </p:spPr>
        <p:txBody>
          <a:bodyPr wrap="square" lIns="0" tIns="0" rIns="0" bIns="0" rtlCol="0" anchor="ctr"/>
          <a:lstStyle/>
          <a:p>
            <a:pPr indent="0" marL="0">
              <a:lnSpc>
                <a:spcPct val="115000"/>
              </a:lnSpc>
              <a:buNone/>
            </a:pPr>
            <a:r>
              <a:rPr lang="en-US" sz="900" b="1" spc="120" kern="0" dirty="0">
                <a:solidFill>
                  <a:srgbClr val="A9BDD1"/>
                </a:solidFill>
                <a:latin typeface="Arial" pitchFamily="34" charset="0"/>
                <a:ea typeface="Arial" pitchFamily="34" charset="-122"/>
                <a:cs typeface="Arial" pitchFamily="34" charset="-120"/>
              </a:rPr>
              <a:t>AUTHORIZE, REFUSE, OR ESCALATE</a:t>
            </a:r>
            <a:endParaRPr lang="en-US" sz="900" dirty="0"/>
          </a:p>
        </p:txBody>
      </p:sp>
      <p:sp>
        <p:nvSpPr>
          <p:cNvPr id="40" name="Text 37"/>
          <p:cNvSpPr txBox="1"/>
          <p:nvPr/>
        </p:nvSpPr>
        <p:spPr>
          <a:xfrm>
            <a:off x="4582058" y="4754880"/>
            <a:ext cx="3146450" cy="502920"/>
          </a:xfrm>
          <a:prstGeom prst="rect">
            <a:avLst/>
          </a:prstGeom>
          <a:noFill/>
          <a:ln/>
        </p:spPr>
        <p:txBody>
          <a:bodyPr wrap="square" lIns="0" tIns="0" rIns="0" bIns="0" rtlCol="0" anchor="ctr"/>
          <a:lstStyle/>
          <a:p>
            <a:pPr indent="0" marL="0">
              <a:lnSpc>
                <a:spcPct val="112000"/>
              </a:lnSpc>
              <a:buNone/>
            </a:pPr>
            <a:r>
              <a:rPr lang="en-US" sz="850" dirty="0">
                <a:solidFill>
                  <a:srgbClr val="72879D"/>
                </a:solidFill>
                <a:latin typeface="Arial" pitchFamily="34" charset="0"/>
                <a:ea typeface="Arial" pitchFamily="34" charset="-122"/>
                <a:cs typeface="Arial" pitchFamily="34" charset="-120"/>
              </a:rPr>
              <a:t>Deterministic authorization within customer-approved limits.</a:t>
            </a:r>
            <a:endParaRPr lang="en-US" sz="850" dirty="0"/>
          </a:p>
        </p:txBody>
      </p:sp>
      <p:sp>
        <p:nvSpPr>
          <p:cNvPr id="41" name="Shape 38"/>
          <p:cNvSpPr/>
          <p:nvPr/>
        </p:nvSpPr>
        <p:spPr>
          <a:xfrm>
            <a:off x="7902245" y="3895344"/>
            <a:ext cx="0" cy="1298448"/>
          </a:xfrm>
          <a:prstGeom prst="line">
            <a:avLst/>
          </a:prstGeom>
          <a:noFill/>
          <a:ln w="9525">
            <a:solidFill>
              <a:srgbClr val="23405C"/>
            </a:solidFill>
            <a:prstDash val="solid"/>
          </a:ln>
        </p:spPr>
      </p:sp>
      <p:sp>
        <p:nvSpPr>
          <p:cNvPr id="42" name="Text 39"/>
          <p:cNvSpPr txBox="1"/>
          <p:nvPr/>
        </p:nvSpPr>
        <p:spPr>
          <a:xfrm>
            <a:off x="8231429" y="3913632"/>
            <a:ext cx="3192170" cy="274320"/>
          </a:xfrm>
          <a:prstGeom prst="rect">
            <a:avLst/>
          </a:prstGeom>
          <a:noFill/>
          <a:ln/>
        </p:spPr>
        <p:txBody>
          <a:bodyPr wrap="square" lIns="0" tIns="0" rIns="0" bIns="0" rtlCol="0" anchor="ctr"/>
          <a:lstStyle/>
          <a:p>
            <a:pPr indent="0" marL="0">
              <a:buNone/>
            </a:pPr>
            <a:r>
              <a:rPr lang="en-US" sz="1400" b="1" spc="160" kern="0" dirty="0">
                <a:solidFill>
                  <a:srgbClr val="EAF2FA"/>
                </a:solidFill>
                <a:latin typeface="Arial" pitchFamily="34" charset="0"/>
                <a:ea typeface="Arial" pitchFamily="34" charset="-122"/>
                <a:cs typeface="Arial" pitchFamily="34" charset="-120"/>
              </a:rPr>
              <a:t>HUMAN</a:t>
            </a:r>
            <a:endParaRPr lang="en-US" sz="1400" dirty="0"/>
          </a:p>
        </p:txBody>
      </p:sp>
      <p:sp>
        <p:nvSpPr>
          <p:cNvPr id="43" name="Text 40"/>
          <p:cNvSpPr txBox="1"/>
          <p:nvPr/>
        </p:nvSpPr>
        <p:spPr>
          <a:xfrm>
            <a:off x="8231429" y="4261104"/>
            <a:ext cx="3146450" cy="457200"/>
          </a:xfrm>
          <a:prstGeom prst="rect">
            <a:avLst/>
          </a:prstGeom>
          <a:noFill/>
          <a:ln/>
        </p:spPr>
        <p:txBody>
          <a:bodyPr wrap="square" lIns="0" tIns="0" rIns="0" bIns="0" rtlCol="0" anchor="ctr"/>
          <a:lstStyle/>
          <a:p>
            <a:pPr indent="0" marL="0">
              <a:lnSpc>
                <a:spcPct val="115000"/>
              </a:lnSpc>
              <a:buNone/>
            </a:pPr>
            <a:r>
              <a:rPr lang="en-US" sz="900" b="1" spc="120" kern="0" dirty="0">
                <a:solidFill>
                  <a:srgbClr val="A9BDD1"/>
                </a:solidFill>
                <a:latin typeface="Arial" pitchFamily="34" charset="0"/>
                <a:ea typeface="Arial" pitchFamily="34" charset="-122"/>
                <a:cs typeface="Arial" pitchFamily="34" charset="-120"/>
              </a:rPr>
              <a:t>ENGINEERING RELEASE, QUALITY, SAFETY, ACCEPTANCE</a:t>
            </a:r>
            <a:endParaRPr lang="en-US" sz="900" dirty="0"/>
          </a:p>
        </p:txBody>
      </p:sp>
      <p:sp>
        <p:nvSpPr>
          <p:cNvPr id="44" name="Text 41"/>
          <p:cNvSpPr txBox="1"/>
          <p:nvPr/>
        </p:nvSpPr>
        <p:spPr>
          <a:xfrm>
            <a:off x="8231429" y="4754880"/>
            <a:ext cx="3146450" cy="502920"/>
          </a:xfrm>
          <a:prstGeom prst="rect">
            <a:avLst/>
          </a:prstGeom>
          <a:noFill/>
          <a:ln/>
        </p:spPr>
        <p:txBody>
          <a:bodyPr wrap="square" lIns="0" tIns="0" rIns="0" bIns="0" rtlCol="0" anchor="ctr"/>
          <a:lstStyle/>
          <a:p>
            <a:pPr indent="0" marL="0">
              <a:lnSpc>
                <a:spcPct val="112000"/>
              </a:lnSpc>
              <a:buNone/>
            </a:pPr>
            <a:r>
              <a:rPr lang="en-US" sz="850" dirty="0">
                <a:solidFill>
                  <a:srgbClr val="72879D"/>
                </a:solidFill>
                <a:latin typeface="Arial" pitchFamily="34" charset="0"/>
                <a:ea typeface="Arial" pitchFamily="34" charset="-122"/>
                <a:cs typeface="Arial" pitchFamily="34" charset="-120"/>
              </a:rPr>
              <a:t>The resting state. Humans retain release authority.</a:t>
            </a:r>
            <a:endParaRPr lang="en-US" sz="850" dirty="0"/>
          </a:p>
        </p:txBody>
      </p:sp>
      <p:sp>
        <p:nvSpPr>
          <p:cNvPr id="45" name="Shape 42"/>
          <p:cNvSpPr/>
          <p:nvPr/>
        </p:nvSpPr>
        <p:spPr>
          <a:xfrm>
            <a:off x="621792" y="5541264"/>
            <a:ext cx="10948111" cy="0"/>
          </a:xfrm>
          <a:prstGeom prst="line">
            <a:avLst/>
          </a:prstGeom>
          <a:noFill/>
          <a:ln w="9525">
            <a:solidFill>
              <a:srgbClr val="23405C"/>
            </a:solidFill>
            <a:prstDash val="solid"/>
          </a:ln>
        </p:spPr>
      </p:sp>
      <p:sp>
        <p:nvSpPr>
          <p:cNvPr id="46" name="Text 43"/>
          <p:cNvSpPr txBox="1"/>
          <p:nvPr/>
        </p:nvSpPr>
        <p:spPr>
          <a:xfrm>
            <a:off x="621792" y="5687568"/>
            <a:ext cx="7680960" cy="685800"/>
          </a:xfrm>
          <a:prstGeom prst="rect">
            <a:avLst/>
          </a:prstGeom>
          <a:noFill/>
          <a:ln/>
        </p:spPr>
        <p:txBody>
          <a:bodyPr wrap="square" lIns="0" tIns="0" rIns="0" bIns="0" rtlCol="0" anchor="t"/>
          <a:lstStyle/>
          <a:p>
            <a:pPr algn="l" indent="0" marL="0">
              <a:lnSpc>
                <a:spcPct val="112000"/>
              </a:lnSpc>
              <a:spcAft>
                <a:spcPts val="300"/>
              </a:spcAft>
              <a:buNone/>
            </a:pPr>
            <a:r>
              <a:rPr lang="en-US" sz="1300" b="1" dirty="0">
                <a:solidFill>
                  <a:srgbClr val="EAF2FA"/>
                </a:solidFill>
                <a:latin typeface="Arial" pitchFamily="34" charset="0"/>
                <a:ea typeface="Arial" pitchFamily="34" charset="-122"/>
                <a:cs typeface="Arial" pitchFamily="34" charset="-120"/>
              </a:rPr>
              <a:t>Refusal is a designed behaviour, not a failure.</a:t>
            </a:r>
            <a:endParaRPr lang="en-US" sz="1300" dirty="0"/>
          </a:p>
          <a:p>
            <a:pPr algn="l" indent="0" marL="0">
              <a:lnSpc>
                <a:spcPct val="112000"/>
              </a:lnSpc>
              <a:buNone/>
            </a:pPr>
            <a:r>
              <a:rPr lang="en-US" sz="1300" b="1" dirty="0">
                <a:solidFill>
                  <a:srgbClr val="EAF2FA"/>
                </a:solidFill>
                <a:latin typeface="Arial" pitchFamily="34" charset="0"/>
                <a:ea typeface="Arial" pitchFamily="34" charset="-122"/>
                <a:cs typeface="Arial" pitchFamily="34" charset="-120"/>
              </a:rPr>
              <a:t>Verifiability is a precondition to greater authority.</a:t>
            </a:r>
            <a:endParaRPr lang="en-US" sz="1300" dirty="0"/>
          </a:p>
        </p:txBody>
      </p:sp>
      <p:sp>
        <p:nvSpPr>
          <p:cNvPr id="47" name="Text 44"/>
          <p:cNvSpPr txBox="1"/>
          <p:nvPr/>
        </p:nvSpPr>
        <p:spPr>
          <a:xfrm>
            <a:off x="7637983" y="6108192"/>
            <a:ext cx="3931920" cy="219456"/>
          </a:xfrm>
          <a:prstGeom prst="rect">
            <a:avLst/>
          </a:prstGeom>
          <a:noFill/>
          <a:ln/>
        </p:spPr>
        <p:txBody>
          <a:bodyPr wrap="square" lIns="0" tIns="0" rIns="0" bIns="0" rtlCol="0" anchor="ctr"/>
          <a:lstStyle/>
          <a:p>
            <a:pPr algn="r" indent="0" marL="0">
              <a:buNone/>
            </a:pPr>
            <a:r>
              <a:rPr lang="en-US" sz="750" b="1" spc="160" kern="0" dirty="0">
                <a:solidFill>
                  <a:srgbClr val="72879D"/>
                </a:solidFill>
                <a:latin typeface="Arial" pitchFamily="34" charset="0"/>
                <a:ea typeface="Arial" pitchFamily="34" charset="-122"/>
                <a:cs typeface="Arial" pitchFamily="34" charset="-120"/>
              </a:rPr>
              <a:t>ARCHITECTURE AND DESIGN INTENT. NOT DEMONSTRATED CAPABILITY.</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08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WHERE WE ARE</a:t>
            </a:r>
            <a:endParaRPr lang="en-US" sz="1000" dirty="0"/>
          </a:p>
        </p:txBody>
      </p:sp>
      <p:sp>
        <p:nvSpPr>
          <p:cNvPr id="5" name="Text 3"/>
          <p:cNvSpPr txBox="1"/>
          <p:nvPr/>
        </p:nvSpPr>
        <p:spPr>
          <a:xfrm>
            <a:off x="621792" y="786384"/>
            <a:ext cx="10948111" cy="1005840"/>
          </a:xfrm>
          <a:prstGeom prst="rect">
            <a:avLst/>
          </a:prstGeom>
          <a:noFill/>
          <a:ln/>
        </p:spPr>
        <p:txBody>
          <a:bodyPr wrap="square" lIns="0" tIns="0" rIns="0" bIns="0" rtlCol="0" anchor="t"/>
          <a:lstStyle/>
          <a:p>
            <a:pPr indent="0" marL="0">
              <a:lnSpc>
                <a:spcPct val="102000"/>
              </a:lnSpc>
              <a:buNone/>
            </a:pPr>
            <a:r>
              <a:rPr lang="en-US" sz="2800" b="1" dirty="0">
                <a:solidFill>
                  <a:srgbClr val="EAF2FA"/>
                </a:solidFill>
                <a:latin typeface="Arial" pitchFamily="34" charset="0"/>
                <a:ea typeface="Arial" pitchFamily="34" charset="-122"/>
                <a:cs typeface="Arial" pitchFamily="34" charset="-120"/>
              </a:rPr>
              <a:t>The architecture exists.</a:t>
            </a:r>
            <a:endParaRPr lang="en-US" sz="2800" dirty="0"/>
          </a:p>
          <a:p>
            <a:pPr indent="0" marL="0">
              <a:lnSpc>
                <a:spcPct val="102000"/>
              </a:lnSpc>
              <a:buNone/>
            </a:pPr>
            <a:r>
              <a:rPr lang="en-US" sz="2800" dirty="0">
                <a:solidFill>
                  <a:srgbClr val="A9BDD1"/>
                </a:solidFill>
                <a:latin typeface="Arial" pitchFamily="34" charset="0"/>
                <a:ea typeface="Arial" pitchFamily="34" charset="-122"/>
                <a:cs typeface="Arial" pitchFamily="34" charset="-120"/>
              </a:rPr>
              <a:t>The physical evidence does not, yet.</a:t>
            </a:r>
            <a:endParaRPr lang="en-US" sz="2800" dirty="0"/>
          </a:p>
        </p:txBody>
      </p:sp>
      <p:sp>
        <p:nvSpPr>
          <p:cNvPr id="6" name="Shape 4"/>
          <p:cNvSpPr/>
          <p:nvPr/>
        </p:nvSpPr>
        <p:spPr>
          <a:xfrm>
            <a:off x="621792" y="2084832"/>
            <a:ext cx="10948111" cy="2395728"/>
          </a:xfrm>
          <a:prstGeom prst="roundRect">
            <a:avLst>
              <a:gd name="adj" fmla="val 3435"/>
            </a:avLst>
          </a:prstGeom>
          <a:solidFill>
            <a:srgbClr val="0F1E31">
              <a:alpha val="68000"/>
            </a:srgbClr>
          </a:solidFill>
          <a:ln w="9525">
            <a:solidFill>
              <a:srgbClr val="2A4A68">
                <a:alpha val="75000"/>
              </a:srgbClr>
            </a:solidFill>
            <a:prstDash val="solid"/>
          </a:ln>
          <a:effectLst>
            <a:outerShdw sx="100000" sy="100000" kx="0" ky="0" algn="bl" rotWithShape="0" blurRad="127000" dist="38100" dir="5400000">
              <a:srgbClr val="000000">
                <a:alpha val="35000"/>
              </a:srgbClr>
            </a:outerShdw>
          </a:effectLst>
        </p:spPr>
      </p:sp>
      <p:sp>
        <p:nvSpPr>
          <p:cNvPr id="7" name="Text 5"/>
          <p:cNvSpPr txBox="1"/>
          <p:nvPr/>
        </p:nvSpPr>
        <p:spPr>
          <a:xfrm>
            <a:off x="941832" y="2249424"/>
            <a:ext cx="4971136" cy="237744"/>
          </a:xfrm>
          <a:prstGeom prst="rect">
            <a:avLst/>
          </a:prstGeom>
          <a:noFill/>
          <a:ln/>
        </p:spPr>
        <p:txBody>
          <a:bodyPr wrap="square" lIns="0" tIns="0" rIns="0" bIns="0" rtlCol="0" anchor="ctr"/>
          <a:lstStyle/>
          <a:p>
            <a:pPr indent="0" marL="0">
              <a:buNone/>
            </a:pPr>
            <a:r>
              <a:rPr lang="en-US" sz="1050" b="1" spc="260" kern="0" dirty="0">
                <a:solidFill>
                  <a:srgbClr val="6FD3FF"/>
                </a:solidFill>
                <a:latin typeface="Arial" pitchFamily="34" charset="0"/>
                <a:ea typeface="Arial" pitchFamily="34" charset="-122"/>
                <a:cs typeface="Arial" pitchFamily="34" charset="-120"/>
              </a:rPr>
              <a:t>TODAY</a:t>
            </a:r>
            <a:endParaRPr lang="en-US" sz="1050" dirty="0"/>
          </a:p>
        </p:txBody>
      </p:sp>
      <p:sp>
        <p:nvSpPr>
          <p:cNvPr id="8" name="Text 6"/>
          <p:cNvSpPr txBox="1"/>
          <p:nvPr/>
        </p:nvSpPr>
        <p:spPr>
          <a:xfrm>
            <a:off x="6415888" y="2249424"/>
            <a:ext cx="4971136" cy="237744"/>
          </a:xfrm>
          <a:prstGeom prst="rect">
            <a:avLst/>
          </a:prstGeom>
          <a:noFill/>
          <a:ln/>
        </p:spPr>
        <p:txBody>
          <a:bodyPr wrap="square" lIns="0" tIns="0" rIns="0" bIns="0" rtlCol="0" anchor="ctr"/>
          <a:lstStyle/>
          <a:p>
            <a:pPr indent="0" marL="0">
              <a:buNone/>
            </a:pPr>
            <a:r>
              <a:rPr lang="en-US" sz="1050" b="1" spc="260" kern="0" dirty="0">
                <a:solidFill>
                  <a:srgbClr val="A9BDD1"/>
                </a:solidFill>
                <a:latin typeface="Arial" pitchFamily="34" charset="0"/>
                <a:ea typeface="Arial" pitchFamily="34" charset="-122"/>
                <a:cs typeface="Arial" pitchFamily="34" charset="-120"/>
              </a:rPr>
              <a:t>THE EVIDENCE THIS ROUND FUNDS</a:t>
            </a:r>
            <a:endParaRPr lang="en-US" sz="1050" dirty="0"/>
          </a:p>
        </p:txBody>
      </p:sp>
      <p:sp>
        <p:nvSpPr>
          <p:cNvPr id="9" name="Shape 7"/>
          <p:cNvSpPr/>
          <p:nvPr/>
        </p:nvSpPr>
        <p:spPr>
          <a:xfrm>
            <a:off x="960120" y="2642616"/>
            <a:ext cx="100584" cy="100584"/>
          </a:xfrm>
          <a:prstGeom prst="ellipse">
            <a:avLst/>
          </a:prstGeom>
          <a:solidFill>
            <a:srgbClr val="6FD3FF"/>
          </a:solidFill>
          <a:ln w="12700">
            <a:solidFill>
              <a:srgbClr val="6FD3FF"/>
            </a:solidFill>
            <a:prstDash val="solid"/>
          </a:ln>
        </p:spPr>
      </p:sp>
      <p:sp>
        <p:nvSpPr>
          <p:cNvPr id="10" name="Text 8"/>
          <p:cNvSpPr txBox="1"/>
          <p:nvPr/>
        </p:nvSpPr>
        <p:spPr>
          <a:xfrm>
            <a:off x="1188720" y="258775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EAF2FA"/>
                </a:solidFill>
                <a:latin typeface="Arial" pitchFamily="34" charset="0"/>
                <a:ea typeface="Arial" pitchFamily="34" charset="-122"/>
                <a:cs typeface="Arial" pitchFamily="34" charset="-120"/>
              </a:rPr>
              <a:t>System architecture, developed and adversarially reviewed</a:t>
            </a:r>
            <a:endParaRPr lang="en-US" sz="950" dirty="0"/>
          </a:p>
        </p:txBody>
      </p:sp>
      <p:sp>
        <p:nvSpPr>
          <p:cNvPr id="11" name="Shape 9"/>
          <p:cNvSpPr/>
          <p:nvPr/>
        </p:nvSpPr>
        <p:spPr>
          <a:xfrm>
            <a:off x="960120" y="3008376"/>
            <a:ext cx="100584" cy="100584"/>
          </a:xfrm>
          <a:prstGeom prst="ellipse">
            <a:avLst/>
          </a:prstGeom>
          <a:solidFill>
            <a:srgbClr val="6FD3FF"/>
          </a:solidFill>
          <a:ln w="12700">
            <a:solidFill>
              <a:srgbClr val="6FD3FF"/>
            </a:solidFill>
            <a:prstDash val="solid"/>
          </a:ln>
        </p:spPr>
      </p:sp>
      <p:sp>
        <p:nvSpPr>
          <p:cNvPr id="12" name="Text 10"/>
          <p:cNvSpPr txBox="1"/>
          <p:nvPr/>
        </p:nvSpPr>
        <p:spPr>
          <a:xfrm>
            <a:off x="1188720" y="295351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EAF2FA"/>
                </a:solidFill>
                <a:latin typeface="Arial" pitchFamily="34" charset="0"/>
                <a:ea typeface="Arial" pitchFamily="34" charset="-122"/>
                <a:cs typeface="Arial" pitchFamily="34" charset="-120"/>
              </a:rPr>
              <a:t>Software authorization core, built at research level</a:t>
            </a:r>
            <a:endParaRPr lang="en-US" sz="950" dirty="0"/>
          </a:p>
        </p:txBody>
      </p:sp>
      <p:sp>
        <p:nvSpPr>
          <p:cNvPr id="13" name="Shape 11"/>
          <p:cNvSpPr/>
          <p:nvPr/>
        </p:nvSpPr>
        <p:spPr>
          <a:xfrm>
            <a:off x="960120" y="3374136"/>
            <a:ext cx="100584" cy="100584"/>
          </a:xfrm>
          <a:prstGeom prst="ellipse">
            <a:avLst/>
          </a:prstGeom>
          <a:solidFill>
            <a:srgbClr val="6FD3FF"/>
          </a:solidFill>
          <a:ln w="12700">
            <a:solidFill>
              <a:srgbClr val="6FD3FF"/>
            </a:solidFill>
            <a:prstDash val="solid"/>
          </a:ln>
        </p:spPr>
      </p:sp>
      <p:sp>
        <p:nvSpPr>
          <p:cNvPr id="14" name="Text 12"/>
          <p:cNvSpPr txBox="1"/>
          <p:nvPr/>
        </p:nvSpPr>
        <p:spPr>
          <a:xfrm>
            <a:off x="1188720" y="331927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EAF2FA"/>
                </a:solidFill>
                <a:latin typeface="Arial" pitchFamily="34" charset="0"/>
                <a:ea typeface="Arial" pitchFamily="34" charset="-122"/>
                <a:cs typeface="Arial" pitchFamily="34" charset="-120"/>
              </a:rPr>
              <a:t>Validation programme, experiments and kill criteria defined</a:t>
            </a:r>
            <a:endParaRPr lang="en-US" sz="950" dirty="0"/>
          </a:p>
        </p:txBody>
      </p:sp>
      <p:sp>
        <p:nvSpPr>
          <p:cNvPr id="15" name="Shape 13"/>
          <p:cNvSpPr/>
          <p:nvPr/>
        </p:nvSpPr>
        <p:spPr>
          <a:xfrm>
            <a:off x="960120" y="3739896"/>
            <a:ext cx="100584" cy="100584"/>
          </a:xfrm>
          <a:prstGeom prst="ellipse">
            <a:avLst/>
          </a:prstGeom>
          <a:solidFill>
            <a:srgbClr val="6FD3FF"/>
          </a:solidFill>
          <a:ln w="12700">
            <a:solidFill>
              <a:srgbClr val="6FD3FF"/>
            </a:solidFill>
            <a:prstDash val="solid"/>
          </a:ln>
        </p:spPr>
      </p:sp>
      <p:sp>
        <p:nvSpPr>
          <p:cNvPr id="16" name="Text 14"/>
          <p:cNvSpPr txBox="1"/>
          <p:nvPr/>
        </p:nvSpPr>
        <p:spPr>
          <a:xfrm>
            <a:off x="1188720" y="368503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EAF2FA"/>
                </a:solidFill>
                <a:latin typeface="Arial" pitchFamily="34" charset="0"/>
                <a:ea typeface="Arial" pitchFamily="34" charset="-122"/>
                <a:cs typeface="Arial" pitchFamily="34" charset="-120"/>
              </a:rPr>
              <a:t>Risk and contradiction register, major unknowns explicitly tracked</a:t>
            </a:r>
            <a:endParaRPr lang="en-US" sz="950" dirty="0"/>
          </a:p>
        </p:txBody>
      </p:sp>
      <p:sp>
        <p:nvSpPr>
          <p:cNvPr id="17" name="Shape 15"/>
          <p:cNvSpPr/>
          <p:nvPr/>
        </p:nvSpPr>
        <p:spPr>
          <a:xfrm>
            <a:off x="960120" y="4105656"/>
            <a:ext cx="100584" cy="100584"/>
          </a:xfrm>
          <a:prstGeom prst="ellipse">
            <a:avLst/>
          </a:prstGeom>
          <a:solidFill>
            <a:srgbClr val="6FD3FF"/>
          </a:solidFill>
          <a:ln w="12700">
            <a:solidFill>
              <a:srgbClr val="6FD3FF"/>
            </a:solidFill>
            <a:prstDash val="solid"/>
          </a:ln>
        </p:spPr>
      </p:sp>
      <p:sp>
        <p:nvSpPr>
          <p:cNvPr id="18" name="Text 16"/>
          <p:cNvSpPr txBox="1"/>
          <p:nvPr/>
        </p:nvSpPr>
        <p:spPr>
          <a:xfrm>
            <a:off x="1188720" y="405079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EAF2FA"/>
                </a:solidFill>
                <a:latin typeface="Arial" pitchFamily="34" charset="0"/>
                <a:ea typeface="Arial" pitchFamily="34" charset="-122"/>
                <a:cs typeface="Arial" pitchFamily="34" charset="-120"/>
              </a:rPr>
              <a:t>Senior technical authority engaged across five domains</a:t>
            </a:r>
            <a:endParaRPr lang="en-US" sz="950" dirty="0"/>
          </a:p>
        </p:txBody>
      </p:sp>
      <p:sp>
        <p:nvSpPr>
          <p:cNvPr id="19" name="Shape 17"/>
          <p:cNvSpPr/>
          <p:nvPr/>
        </p:nvSpPr>
        <p:spPr>
          <a:xfrm>
            <a:off x="6434176" y="2642616"/>
            <a:ext cx="100584" cy="100584"/>
          </a:xfrm>
          <a:prstGeom prst="ellipse">
            <a:avLst/>
          </a:prstGeom>
          <a:solidFill>
            <a:srgbClr val="0F1E31">
              <a:alpha val="0"/>
            </a:srgbClr>
          </a:solidFill>
          <a:ln w="12700">
            <a:solidFill>
              <a:srgbClr val="3D9BD8"/>
            </a:solidFill>
            <a:prstDash val="solid"/>
          </a:ln>
        </p:spPr>
      </p:sp>
      <p:sp>
        <p:nvSpPr>
          <p:cNvPr id="20" name="Text 18"/>
          <p:cNvSpPr txBox="1"/>
          <p:nvPr/>
        </p:nvSpPr>
        <p:spPr>
          <a:xfrm>
            <a:off x="6662776" y="258775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A9BDD1"/>
                </a:solidFill>
                <a:latin typeface="Arial" pitchFamily="34" charset="0"/>
                <a:ea typeface="Arial" pitchFamily="34" charset="-122"/>
                <a:cs typeface="Arial" pitchFamily="34" charset="-120"/>
              </a:rPr>
              <a:t>Physical state estimation on aerospace-relevant hardware</a:t>
            </a:r>
            <a:endParaRPr lang="en-US" sz="950" dirty="0"/>
          </a:p>
        </p:txBody>
      </p:sp>
      <p:sp>
        <p:nvSpPr>
          <p:cNvPr id="21" name="Shape 19"/>
          <p:cNvSpPr/>
          <p:nvPr/>
        </p:nvSpPr>
        <p:spPr>
          <a:xfrm>
            <a:off x="6434176" y="3008376"/>
            <a:ext cx="100584" cy="100584"/>
          </a:xfrm>
          <a:prstGeom prst="ellipse">
            <a:avLst/>
          </a:prstGeom>
          <a:solidFill>
            <a:srgbClr val="0F1E31">
              <a:alpha val="0"/>
            </a:srgbClr>
          </a:solidFill>
          <a:ln w="12700">
            <a:solidFill>
              <a:srgbClr val="3D9BD8"/>
            </a:solidFill>
            <a:prstDash val="solid"/>
          </a:ln>
        </p:spPr>
      </p:sp>
      <p:sp>
        <p:nvSpPr>
          <p:cNvPr id="22" name="Text 20"/>
          <p:cNvSpPr txBox="1"/>
          <p:nvPr/>
        </p:nvSpPr>
        <p:spPr>
          <a:xfrm>
            <a:off x="6662776" y="295351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A9BDD1"/>
                </a:solidFill>
                <a:latin typeface="Arial" pitchFamily="34" charset="0"/>
                <a:ea typeface="Arial" pitchFamily="34" charset="-122"/>
                <a:cs typeface="Arial" pitchFamily="34" charset="-120"/>
              </a:rPr>
              <a:t>Machine and process capability measured under production-like conditions</a:t>
            </a:r>
            <a:endParaRPr lang="en-US" sz="950" dirty="0"/>
          </a:p>
        </p:txBody>
      </p:sp>
      <p:sp>
        <p:nvSpPr>
          <p:cNvPr id="23" name="Shape 21"/>
          <p:cNvSpPr/>
          <p:nvPr/>
        </p:nvSpPr>
        <p:spPr>
          <a:xfrm>
            <a:off x="6434176" y="3374136"/>
            <a:ext cx="100584" cy="100584"/>
          </a:xfrm>
          <a:prstGeom prst="ellipse">
            <a:avLst/>
          </a:prstGeom>
          <a:solidFill>
            <a:srgbClr val="0F1E31">
              <a:alpha val="0"/>
            </a:srgbClr>
          </a:solidFill>
          <a:ln w="12700">
            <a:solidFill>
              <a:srgbClr val="3D9BD8"/>
            </a:solidFill>
            <a:prstDash val="solid"/>
          </a:ln>
        </p:spPr>
      </p:sp>
      <p:sp>
        <p:nvSpPr>
          <p:cNvPr id="24" name="Text 22"/>
          <p:cNvSpPr txBox="1"/>
          <p:nvPr/>
        </p:nvSpPr>
        <p:spPr>
          <a:xfrm>
            <a:off x="6662776" y="331927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A9BDD1"/>
                </a:solidFill>
                <a:latin typeface="Arial" pitchFamily="34" charset="0"/>
                <a:ea typeface="Arial" pitchFamily="34" charset="-122"/>
                <a:cs typeface="Arial" pitchFamily="34" charset="-120"/>
              </a:rPr>
              <a:t>One operation class demonstrated end to end</a:t>
            </a:r>
            <a:endParaRPr lang="en-US" sz="950" dirty="0"/>
          </a:p>
        </p:txBody>
      </p:sp>
      <p:sp>
        <p:nvSpPr>
          <p:cNvPr id="25" name="Shape 23"/>
          <p:cNvSpPr/>
          <p:nvPr/>
        </p:nvSpPr>
        <p:spPr>
          <a:xfrm>
            <a:off x="6434176" y="3739896"/>
            <a:ext cx="100584" cy="100584"/>
          </a:xfrm>
          <a:prstGeom prst="ellipse">
            <a:avLst/>
          </a:prstGeom>
          <a:solidFill>
            <a:srgbClr val="0F1E31">
              <a:alpha val="0"/>
            </a:srgbClr>
          </a:solidFill>
          <a:ln w="12700">
            <a:solidFill>
              <a:srgbClr val="3D9BD8"/>
            </a:solidFill>
            <a:prstDash val="solid"/>
          </a:ln>
        </p:spPr>
      </p:sp>
      <p:sp>
        <p:nvSpPr>
          <p:cNvPr id="26" name="Text 24"/>
          <p:cNvSpPr txBox="1"/>
          <p:nvPr/>
        </p:nvSpPr>
        <p:spPr>
          <a:xfrm>
            <a:off x="6662776" y="368503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A9BDD1"/>
                </a:solidFill>
                <a:latin typeface="Arial" pitchFamily="34" charset="0"/>
                <a:ea typeface="Arial" pitchFamily="34" charset="-122"/>
                <a:cs typeface="Arial" pitchFamily="34" charset="-120"/>
              </a:rPr>
              <a:t>Customer economics measured rather than assumed</a:t>
            </a:r>
            <a:endParaRPr lang="en-US" sz="950" dirty="0"/>
          </a:p>
        </p:txBody>
      </p:sp>
      <p:sp>
        <p:nvSpPr>
          <p:cNvPr id="27" name="Shape 25"/>
          <p:cNvSpPr/>
          <p:nvPr/>
        </p:nvSpPr>
        <p:spPr>
          <a:xfrm>
            <a:off x="6434176" y="4105656"/>
            <a:ext cx="100584" cy="100584"/>
          </a:xfrm>
          <a:prstGeom prst="ellipse">
            <a:avLst/>
          </a:prstGeom>
          <a:solidFill>
            <a:srgbClr val="0F1E31">
              <a:alpha val="0"/>
            </a:srgbClr>
          </a:solidFill>
          <a:ln w="12700">
            <a:solidFill>
              <a:srgbClr val="3D9BD8"/>
            </a:solidFill>
            <a:prstDash val="solid"/>
          </a:ln>
        </p:spPr>
      </p:sp>
      <p:sp>
        <p:nvSpPr>
          <p:cNvPr id="28" name="Text 26"/>
          <p:cNvSpPr txBox="1"/>
          <p:nvPr/>
        </p:nvSpPr>
        <p:spPr>
          <a:xfrm>
            <a:off x="6662776" y="4050792"/>
            <a:ext cx="4651096" cy="347472"/>
          </a:xfrm>
          <a:prstGeom prst="rect">
            <a:avLst/>
          </a:prstGeom>
          <a:noFill/>
          <a:ln/>
        </p:spPr>
        <p:txBody>
          <a:bodyPr wrap="square" lIns="0" tIns="0" rIns="0" bIns="0" rtlCol="0" anchor="ctr"/>
          <a:lstStyle/>
          <a:p>
            <a:pPr indent="0" marL="0">
              <a:lnSpc>
                <a:spcPct val="100000"/>
              </a:lnSpc>
              <a:buNone/>
            </a:pPr>
            <a:r>
              <a:rPr lang="en-US" sz="950" dirty="0">
                <a:solidFill>
                  <a:srgbClr val="A9BDD1"/>
                </a:solidFill>
                <a:latin typeface="Arial" pitchFamily="34" charset="0"/>
                <a:ea typeface="Arial" pitchFamily="34" charset="-122"/>
                <a:cs typeface="Arial" pitchFamily="34" charset="-120"/>
              </a:rPr>
              <a:t>A qualification pathway defined with the customer's quality organisation</a:t>
            </a:r>
            <a:endParaRPr lang="en-US" sz="950" dirty="0"/>
          </a:p>
        </p:txBody>
      </p:sp>
      <p:sp>
        <p:nvSpPr>
          <p:cNvPr id="29" name="Shape 27"/>
          <p:cNvSpPr/>
          <p:nvPr/>
        </p:nvSpPr>
        <p:spPr>
          <a:xfrm>
            <a:off x="6095848" y="2304288"/>
            <a:ext cx="0" cy="1920240"/>
          </a:xfrm>
          <a:prstGeom prst="line">
            <a:avLst/>
          </a:prstGeom>
          <a:noFill/>
          <a:ln w="9525">
            <a:solidFill>
              <a:srgbClr val="23405C"/>
            </a:solidFill>
            <a:prstDash val="solid"/>
          </a:ln>
        </p:spPr>
      </p:sp>
      <p:sp>
        <p:nvSpPr>
          <p:cNvPr id="30" name="Text 28"/>
          <p:cNvSpPr txBox="1"/>
          <p:nvPr/>
        </p:nvSpPr>
        <p:spPr>
          <a:xfrm>
            <a:off x="621792" y="4517136"/>
            <a:ext cx="10948111" cy="237744"/>
          </a:xfrm>
          <a:prstGeom prst="rect">
            <a:avLst/>
          </a:prstGeom>
          <a:noFill/>
          <a:ln/>
        </p:spPr>
        <p:txBody>
          <a:bodyPr wrap="square" lIns="0" tIns="0" rIns="0" bIns="0" rtlCol="0" anchor="ctr"/>
          <a:lstStyle/>
          <a:p>
            <a:pPr algn="ctr" indent="0" marL="0">
              <a:buNone/>
            </a:pPr>
            <a:r>
              <a:rPr lang="en-US" sz="850" b="1" spc="300" kern="0" dirty="0">
                <a:solidFill>
                  <a:srgbClr val="72879D"/>
                </a:solidFill>
                <a:latin typeface="Arial" pitchFamily="34" charset="0"/>
                <a:ea typeface="Arial" pitchFamily="34" charset="-122"/>
                <a:cs typeface="Arial" pitchFamily="34" charset="-120"/>
              </a:rPr>
              <a:t>CURRENT MATURITY — PRE-HARDWARE</a:t>
            </a:r>
            <a:endParaRPr lang="en-US" sz="850" dirty="0"/>
          </a:p>
        </p:txBody>
      </p:sp>
      <p:sp>
        <p:nvSpPr>
          <p:cNvPr id="31" name="Text 29"/>
          <p:cNvSpPr txBox="1"/>
          <p:nvPr/>
        </p:nvSpPr>
        <p:spPr>
          <a:xfrm>
            <a:off x="621792" y="4956048"/>
            <a:ext cx="7498080" cy="1371600"/>
          </a:xfrm>
          <a:prstGeom prst="rect">
            <a:avLst/>
          </a:prstGeom>
          <a:noFill/>
          <a:ln/>
        </p:spPr>
        <p:txBody>
          <a:bodyPr wrap="square" lIns="0" tIns="0" rIns="0" bIns="0" rtlCol="0" anchor="t"/>
          <a:lstStyle/>
          <a:p>
            <a:pPr algn="l" indent="0" marL="0">
              <a:lnSpc>
                <a:spcPct val="112000"/>
              </a:lnSpc>
              <a:spcAft>
                <a:spcPts val="400"/>
              </a:spcAft>
              <a:buNone/>
            </a:pPr>
            <a:r>
              <a:rPr lang="en-US" sz="850" b="1" spc="260" kern="0" dirty="0">
                <a:solidFill>
                  <a:srgbClr val="72879D"/>
                </a:solidFill>
                <a:latin typeface="Arial" pitchFamily="34" charset="0"/>
                <a:ea typeface="Arial" pitchFamily="34" charset="-122"/>
                <a:cs typeface="Arial" pitchFamily="34" charset="-120"/>
              </a:rPr>
              <a:t>WHAT WE DO NOT CLAIM</a:t>
            </a:r>
            <a:endParaRPr lang="en-US" sz="850" dirty="0"/>
          </a:p>
          <a:p>
            <a:pPr algn="l" indent="0" marL="0">
              <a:lnSpc>
                <a:spcPct val="112000"/>
              </a:lnSpc>
              <a:spcAft>
                <a:spcPts val="500"/>
              </a:spcAft>
              <a:buNone/>
            </a:pPr>
            <a:r>
              <a:rPr lang="en-US" sz="950" dirty="0">
                <a:solidFill>
                  <a:srgbClr val="A9BDD1"/>
                </a:solidFill>
                <a:latin typeface="Arial" pitchFamily="34" charset="0"/>
                <a:ea typeface="Arial" pitchFamily="34" charset="-122"/>
                <a:cs typeface="Arial" pitchFamily="34" charset="-120"/>
              </a:rPr>
              <a:t>No deployed or qualified hardware. No completed physical validation. No production customers. No demonstrated return on investment. No certification or airworthiness approval.</a:t>
            </a:r>
            <a:endParaRPr lang="en-US" sz="850" dirty="0"/>
          </a:p>
          <a:p>
            <a:pPr algn="l" indent="0" marL="0">
              <a:lnSpc>
                <a:spcPct val="112000"/>
              </a:lnSpc>
              <a:buNone/>
            </a:pPr>
            <a:r>
              <a:rPr lang="en-US" sz="900" i="1" dirty="0">
                <a:solidFill>
                  <a:srgbClr val="72879D"/>
                </a:solidFill>
                <a:latin typeface="Arial" pitchFamily="34" charset="0"/>
                <a:ea typeface="Arial" pitchFamily="34" charset="-122"/>
                <a:cs typeface="Arial" pitchFamily="34" charset="-120"/>
              </a:rPr>
              <a:t>First article inspection is a part-specific verification gate and remains so. Syntrex targets the engineering burden required to reach that gate, not the gate itself.</a:t>
            </a:r>
            <a:endParaRPr lang="en-US" sz="850" dirty="0"/>
          </a:p>
        </p:txBody>
      </p:sp>
      <p:sp>
        <p:nvSpPr>
          <p:cNvPr id="32" name="Text 30"/>
          <p:cNvSpPr txBox="1"/>
          <p:nvPr/>
        </p:nvSpPr>
        <p:spPr>
          <a:xfrm>
            <a:off x="8412480" y="5047488"/>
            <a:ext cx="3154680" cy="1188720"/>
          </a:xfrm>
          <a:prstGeom prst="rect">
            <a:avLst/>
          </a:prstGeom>
          <a:noFill/>
          <a:ln/>
        </p:spPr>
        <p:txBody>
          <a:bodyPr wrap="square" lIns="0" tIns="0" rIns="0" bIns="0" rtlCol="0" anchor="t"/>
          <a:lstStyle/>
          <a:p>
            <a:pPr algn="l" indent="0" marL="0">
              <a:lnSpc>
                <a:spcPct val="118000"/>
              </a:lnSpc>
              <a:buNone/>
            </a:pPr>
            <a:r>
              <a:rPr lang="en-US" sz="1250" b="1" dirty="0">
                <a:solidFill>
                  <a:srgbClr val="6FD3FF"/>
                </a:solidFill>
                <a:latin typeface="Arial" pitchFamily="34" charset="0"/>
                <a:ea typeface="Arial" pitchFamily="34" charset="-122"/>
                <a:cs typeface="Arial" pitchFamily="34" charset="-120"/>
              </a:rPr>
              <a:t>We have already withdrawn internal claims that did not survive our own review.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09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CAPITAL FOLLOWS EVIDENCE</a:t>
            </a:r>
            <a:endParaRPr lang="en-US" sz="1000" dirty="0"/>
          </a:p>
        </p:txBody>
      </p:sp>
      <p:sp>
        <p:nvSpPr>
          <p:cNvPr id="5" name="Text 3"/>
          <p:cNvSpPr txBox="1"/>
          <p:nvPr/>
        </p:nvSpPr>
        <p:spPr>
          <a:xfrm>
            <a:off x="621792" y="786384"/>
            <a:ext cx="10948111" cy="868680"/>
          </a:xfrm>
          <a:prstGeom prst="rect">
            <a:avLst/>
          </a:prstGeom>
          <a:noFill/>
          <a:ln/>
        </p:spPr>
        <p:txBody>
          <a:bodyPr wrap="square" lIns="0" tIns="0" rIns="0" bIns="0" rtlCol="0" anchor="t"/>
          <a:lstStyle/>
          <a:p>
            <a:pPr indent="0" marL="0">
              <a:lnSpc>
                <a:spcPct val="102000"/>
              </a:lnSpc>
              <a:buNone/>
            </a:pPr>
            <a:r>
              <a:rPr lang="en-US" sz="2500" b="1" dirty="0">
                <a:solidFill>
                  <a:srgbClr val="EAF2FA"/>
                </a:solidFill>
                <a:latin typeface="Arial" pitchFamily="34" charset="0"/>
                <a:ea typeface="Arial" pitchFamily="34" charset="-122"/>
                <a:cs typeface="Arial" pitchFamily="34" charset="-120"/>
              </a:rPr>
              <a:t>The first assumption can be falsified for under $5,000.</a:t>
            </a:r>
            <a:endParaRPr lang="en-US" sz="2500" dirty="0"/>
          </a:p>
          <a:p>
            <a:pPr indent="0" marL="0">
              <a:lnSpc>
                <a:spcPct val="102000"/>
              </a:lnSpc>
              <a:buNone/>
            </a:pPr>
            <a:r>
              <a:rPr lang="en-US" sz="2500" dirty="0">
                <a:solidFill>
                  <a:srgbClr val="A9BDD1"/>
                </a:solidFill>
                <a:latin typeface="Arial" pitchFamily="34" charset="0"/>
                <a:ea typeface="Arial" pitchFamily="34" charset="-122"/>
                <a:cs typeface="Arial" pitchFamily="34" charset="-120"/>
              </a:rPr>
              <a:t>No robot. No facility.</a:t>
            </a:r>
            <a:endParaRPr lang="en-US" sz="2500" dirty="0"/>
          </a:p>
        </p:txBody>
      </p:sp>
      <p:sp>
        <p:nvSpPr>
          <p:cNvPr id="6" name="Shape 4"/>
          <p:cNvSpPr/>
          <p:nvPr/>
        </p:nvSpPr>
        <p:spPr>
          <a:xfrm>
            <a:off x="621792" y="1847088"/>
            <a:ext cx="6903720" cy="3108960"/>
          </a:xfrm>
          <a:prstGeom prst="roundRect">
            <a:avLst>
              <a:gd name="adj" fmla="val 2647"/>
            </a:avLst>
          </a:prstGeom>
          <a:solidFill>
            <a:srgbClr val="0F1E31">
              <a:alpha val="68000"/>
            </a:srgbClr>
          </a:solidFill>
          <a:ln w="9525">
            <a:solidFill>
              <a:srgbClr val="2A4A68">
                <a:alpha val="75000"/>
              </a:srgbClr>
            </a:solidFill>
            <a:prstDash val="solid"/>
          </a:ln>
          <a:effectLst>
            <a:outerShdw sx="100000" sy="100000" kx="0" ky="0" algn="bl" rotWithShape="0" blurRad="127000" dist="38100" dir="5400000">
              <a:srgbClr val="000000">
                <a:alpha val="35000"/>
              </a:srgbClr>
            </a:outerShdw>
          </a:effectLst>
        </p:spPr>
      </p:sp>
      <p:sp>
        <p:nvSpPr>
          <p:cNvPr id="7" name="Text 5"/>
          <p:cNvSpPr txBox="1"/>
          <p:nvPr/>
        </p:nvSpPr>
        <p:spPr>
          <a:xfrm>
            <a:off x="877824" y="2011680"/>
            <a:ext cx="6400800" cy="2194560"/>
          </a:xfrm>
          <a:prstGeom prst="rect">
            <a:avLst/>
          </a:prstGeom>
          <a:noFill/>
          <a:ln/>
        </p:spPr>
        <p:txBody>
          <a:bodyPr wrap="square" lIns="0" tIns="0" rIns="0" bIns="0" rtlCol="0" anchor="t"/>
          <a:lstStyle/>
          <a:p>
            <a:pPr algn="l" indent="0" marL="0">
              <a:lnSpc>
                <a:spcPct val="108000"/>
              </a:lnSpc>
              <a:spcAft>
                <a:spcPts val="500"/>
              </a:spcAft>
              <a:buNone/>
            </a:pPr>
            <a:r>
              <a:rPr lang="en-US" sz="1000" b="1" spc="180" kern="0" dirty="0">
                <a:solidFill>
                  <a:srgbClr val="6FD3FF"/>
                </a:solidFill>
                <a:latin typeface="Arial" pitchFamily="34" charset="0"/>
                <a:ea typeface="Arial" pitchFamily="34" charset="-122"/>
                <a:cs typeface="Arial" pitchFamily="34" charset="-120"/>
              </a:rPr>
              <a:t>GATE 1 — FIRST FALSIFYING TEST — UNDER $5,000</a:t>
            </a:r>
            <a:endParaRPr lang="en-US" sz="1000" dirty="0"/>
          </a:p>
          <a:p>
            <a:pPr algn="l" indent="0" marL="0">
              <a:lnSpc>
                <a:spcPct val="108000"/>
              </a:lnSpc>
              <a:spcAft>
                <a:spcPts val="500"/>
              </a:spcAft>
              <a:buNone/>
            </a:pPr>
            <a:r>
              <a:rPr lang="en-US" sz="950" b="1" dirty="0">
                <a:solidFill>
                  <a:srgbClr val="EAF2FA"/>
                </a:solidFill>
                <a:latin typeface="Arial" pitchFamily="34" charset="0"/>
                <a:ea typeface="Arial" pitchFamily="34" charset="-122"/>
                <a:cs typeface="Arial" pitchFamily="34" charset="-120"/>
              </a:rPr>
              <a:t>The question: does a pre-terminated bundle seat repeatably from a branch-specific cassette under closed-loop tension?</a:t>
            </a:r>
            <a:endParaRPr lang="en-US" sz="1000" dirty="0"/>
          </a:p>
          <a:p>
            <a:pPr algn="l" indent="0" marL="0">
              <a:lnSpc>
                <a:spcPct val="108000"/>
              </a:lnSpc>
              <a:spcAft>
                <a:spcPts val="500"/>
              </a:spcAft>
              <a:buNone/>
            </a:pPr>
            <a:r>
              <a:rPr lang="en-US" sz="860" dirty="0">
                <a:solidFill>
                  <a:srgbClr val="A9BDD1"/>
                </a:solidFill>
                <a:latin typeface="Arial" pitchFamily="34" charset="0"/>
                <a:ea typeface="Arial" pitchFamily="34" charset="-122"/>
                <a:cs typeface="Arial" pitchFamily="34" charset="-120"/>
              </a:rPr>
              <a:t>Why this operation first: it is the cheapest experiment that exercises the whole architecture at once. Three channel geometries give real configuration variability. Seating a bundle is a constrained physical interaction against a compliant part — exactly the case that defeats programming from nominal geometry. It requires sensing, closed-loop control and a repeatability measurement. Terminal and insulation condition give an unambiguous damage criterion. Every failure mode is observable at bench scale, and none of it needs a robot or a facility.</a:t>
            </a:r>
            <a:endParaRPr lang="en-US" sz="1000" dirty="0"/>
          </a:p>
          <a:p>
            <a:pPr algn="l" indent="0" marL="0">
              <a:lnSpc>
                <a:spcPct val="108000"/>
              </a:lnSpc>
              <a:spcAft>
                <a:spcPts val="500"/>
              </a:spcAft>
              <a:buNone/>
            </a:pPr>
            <a:r>
              <a:rPr lang="en-US" sz="860" i="1" dirty="0">
                <a:solidFill>
                  <a:srgbClr val="72879D"/>
                </a:solidFill>
                <a:latin typeface="Arial" pitchFamily="34" charset="0"/>
                <a:ea typeface="Arial" pitchFamily="34" charset="-122"/>
                <a:cs typeface="Arial" pitchFamily="34" charset="-120"/>
              </a:rPr>
              <a:t>Harness routing is one operation class among many — chosen because it is a hard, honest test of the architecture at low cost, not because it stands in for aerospace manufacturing.</a:t>
            </a:r>
            <a:endParaRPr lang="en-US" sz="1000" dirty="0"/>
          </a:p>
          <a:p>
            <a:pPr algn="l" indent="0" marL="0">
              <a:lnSpc>
                <a:spcPct val="108000"/>
              </a:lnSpc>
              <a:spcAft>
                <a:spcPts val="300"/>
              </a:spcAft>
              <a:buNone/>
            </a:pPr>
            <a:r>
              <a:rPr lang="en-US" sz="860" dirty="0">
                <a:solidFill>
                  <a:srgbClr val="A9BDD1"/>
                </a:solidFill>
                <a:latin typeface="Arial" pitchFamily="34" charset="0"/>
                <a:ea typeface="Arial" pitchFamily="34" charset="-122"/>
                <a:cs typeface="Arial" pitchFamily="34" charset="-120"/>
              </a:rPr>
              <a:t>Apparatus: stepper feeder, inline tension cell, three channel cross-section geometries, pre-terminated 20-conductor bundle, machine vision camera. Bench scale.</a:t>
            </a:r>
            <a:endParaRPr lang="en-US" sz="1000" dirty="0"/>
          </a:p>
          <a:p>
            <a:pPr algn="l" indent="0" marL="0">
              <a:lnSpc>
                <a:spcPct val="108000"/>
              </a:lnSpc>
              <a:buNone/>
            </a:pPr>
            <a:r>
              <a:rPr lang="en-US" sz="860" dirty="0">
                <a:solidFill>
                  <a:srgbClr val="A9BDD1"/>
                </a:solidFill>
                <a:latin typeface="Arial" pitchFamily="34" charset="0"/>
                <a:ea typeface="Arial" pitchFamily="34" charset="-122"/>
                <a:cs typeface="Arial" pitchFamily="34" charset="-120"/>
              </a:rPr>
              <a:t>Measures: seating repeatability, tension stability, snag events, terminal condition.</a:t>
            </a:r>
            <a:endParaRPr lang="en-US" sz="1000" dirty="0"/>
          </a:p>
        </p:txBody>
      </p:sp>
      <p:sp>
        <p:nvSpPr>
          <p:cNvPr id="8" name="Text 6"/>
          <p:cNvSpPr txBox="1"/>
          <p:nvPr/>
        </p:nvSpPr>
        <p:spPr>
          <a:xfrm>
            <a:off x="877824" y="4297680"/>
            <a:ext cx="6400800" cy="603504"/>
          </a:xfrm>
          <a:prstGeom prst="rect">
            <a:avLst/>
          </a:prstGeom>
          <a:noFill/>
          <a:ln/>
        </p:spPr>
        <p:txBody>
          <a:bodyPr wrap="square" lIns="0" tIns="0" rIns="0" bIns="0" rtlCol="0" anchor="t"/>
          <a:lstStyle/>
          <a:p>
            <a:pPr algn="l" indent="0" marL="0">
              <a:lnSpc>
                <a:spcPct val="108000"/>
              </a:lnSpc>
              <a:spcAft>
                <a:spcPts val="300"/>
              </a:spcAft>
              <a:buNone/>
            </a:pPr>
            <a:r>
              <a:rPr lang="en-US" sz="880" b="1" dirty="0">
                <a:solidFill>
                  <a:srgbClr val="EAF2FA"/>
                </a:solidFill>
                <a:latin typeface="Arial" pitchFamily="34" charset="0"/>
                <a:ea typeface="Arial" pitchFamily="34" charset="-122"/>
                <a:cs typeface="Arial" pitchFamily="34" charset="-120"/>
              </a:rPr>
              <a:t>Decision: PASS at 95% or better observed first-pass seating, scatter within ±3 mm, no abrasion. CONDITIONAL 85–95%. KILL below 85%, or on any insulation damage.</a:t>
            </a:r>
            <a:endParaRPr lang="en-US" sz="880" dirty="0"/>
          </a:p>
          <a:p>
            <a:pPr algn="l" indent="0" marL="0">
              <a:lnSpc>
                <a:spcPct val="108000"/>
              </a:lnSpc>
              <a:buNone/>
            </a:pPr>
            <a:r>
              <a:rPr lang="en-US" sz="860" dirty="0">
                <a:solidFill>
                  <a:srgbClr val="A9BDD1"/>
                </a:solidFill>
                <a:latin typeface="Arial" pitchFamily="34" charset="0"/>
                <a:ea typeface="Arial" pitchFamily="34" charset="-122"/>
                <a:cs typeface="Arial" pitchFamily="34" charset="-120"/>
              </a:rPr>
              <a:t>Gate funded to approximately $14,000, including two redesign and rerun attempts. Outcome: redesign, rerun, or narrow.</a:t>
            </a:r>
            <a:endParaRPr lang="en-US" sz="880" dirty="0"/>
          </a:p>
        </p:txBody>
      </p:sp>
      <p:sp>
        <p:nvSpPr>
          <p:cNvPr id="9" name="Shape 7"/>
          <p:cNvSpPr/>
          <p:nvPr/>
        </p:nvSpPr>
        <p:spPr>
          <a:xfrm>
            <a:off x="7772400" y="1847088"/>
            <a:ext cx="3794760" cy="1810512"/>
          </a:xfrm>
          <a:prstGeom prst="roundRect">
            <a:avLst>
              <a:gd name="adj" fmla="val 4545"/>
            </a:avLst>
          </a:prstGeom>
          <a:solidFill>
            <a:srgbClr val="0F1E31">
              <a:alpha val="68000"/>
            </a:srgbClr>
          </a:solidFill>
          <a:ln w="9525">
            <a:solidFill>
              <a:srgbClr val="2A4A68">
                <a:alpha val="75000"/>
              </a:srgbClr>
            </a:solidFill>
            <a:prstDash val="solid"/>
          </a:ln>
          <a:effectLst>
            <a:outerShdw sx="100000" sy="100000" kx="0" ky="0" algn="bl" rotWithShape="0" blurRad="127000" dist="38100" dir="5400000">
              <a:srgbClr val="000000">
                <a:alpha val="35000"/>
              </a:srgbClr>
            </a:outerShdw>
          </a:effectLst>
        </p:spPr>
      </p:sp>
      <p:sp>
        <p:nvSpPr>
          <p:cNvPr id="10" name="Text 8"/>
          <p:cNvSpPr txBox="1"/>
          <p:nvPr/>
        </p:nvSpPr>
        <p:spPr>
          <a:xfrm>
            <a:off x="8010144" y="2011680"/>
            <a:ext cx="3337560" cy="1554480"/>
          </a:xfrm>
          <a:prstGeom prst="rect">
            <a:avLst/>
          </a:prstGeom>
          <a:noFill/>
          <a:ln/>
        </p:spPr>
        <p:txBody>
          <a:bodyPr wrap="square" lIns="0" tIns="0" rIns="0" bIns="0" rtlCol="0" anchor="t"/>
          <a:lstStyle/>
          <a:p>
            <a:pPr algn="l" indent="0" marL="0">
              <a:lnSpc>
                <a:spcPct val="110000"/>
              </a:lnSpc>
              <a:spcAft>
                <a:spcPts val="500"/>
              </a:spcAft>
              <a:buNone/>
            </a:pPr>
            <a:r>
              <a:rPr lang="en-US" sz="850" b="1" spc="160" kern="0" dirty="0">
                <a:solidFill>
                  <a:srgbClr val="6FD3FF"/>
                </a:solidFill>
                <a:latin typeface="Arial" pitchFamily="34" charset="0"/>
                <a:ea typeface="Arial" pitchFamily="34" charset="-122"/>
                <a:cs typeface="Arial" pitchFamily="34" charset="-120"/>
              </a:rPr>
              <a:t>THE APPARATUS IS NOT HYPOTHETICAL</a:t>
            </a:r>
            <a:endParaRPr lang="en-US" sz="850" dirty="0"/>
          </a:p>
          <a:p>
            <a:pPr algn="l" indent="0" marL="0">
              <a:lnSpc>
                <a:spcPct val="110000"/>
              </a:lnSpc>
              <a:spcAft>
                <a:spcPts val="400"/>
              </a:spcAft>
              <a:buNone/>
            </a:pPr>
            <a:r>
              <a:rPr lang="en-US" sz="880" dirty="0">
                <a:solidFill>
                  <a:srgbClr val="A9BDD1"/>
                </a:solidFill>
                <a:latin typeface="Arial" pitchFamily="34" charset="0"/>
                <a:ea typeface="Arial" pitchFamily="34" charset="-122"/>
                <a:cs typeface="Arial" pitchFamily="34" charset="-120"/>
              </a:rPr>
              <a:t>Four of five apparatus components have published catalog list prices totalling $2,194:</a:t>
            </a:r>
            <a:endParaRPr lang="en-US" sz="850" dirty="0"/>
          </a:p>
          <a:p>
            <a:pPr algn="l" indent="0" marL="0">
              <a:lnSpc>
                <a:spcPct val="110000"/>
              </a:lnSpc>
              <a:spcAft>
                <a:spcPts val="200"/>
              </a:spcAft>
              <a:buNone/>
            </a:pPr>
            <a:r>
              <a:rPr lang="en-US" sz="880" dirty="0">
                <a:solidFill>
                  <a:srgbClr val="EAF2FA"/>
                </a:solidFill>
                <a:latin typeface="Arial" pitchFamily="34" charset="0"/>
                <a:ea typeface="Arial" pitchFamily="34" charset="-122"/>
                <a:cs typeface="Arial" pitchFamily="34" charset="-120"/>
              </a:rPr>
              <a:t>Stepper linear actuator — $243</a:t>
            </a:r>
            <a:endParaRPr lang="en-US" sz="850" dirty="0"/>
          </a:p>
          <a:p>
            <a:pPr algn="l" indent="0" marL="0">
              <a:lnSpc>
                <a:spcPct val="110000"/>
              </a:lnSpc>
              <a:spcAft>
                <a:spcPts val="200"/>
              </a:spcAft>
              <a:buNone/>
            </a:pPr>
            <a:r>
              <a:rPr lang="en-US" sz="880" dirty="0">
                <a:solidFill>
                  <a:srgbClr val="EAF2FA"/>
                </a:solidFill>
                <a:latin typeface="Arial" pitchFamily="34" charset="0"/>
                <a:ea typeface="Arial" pitchFamily="34" charset="-122"/>
                <a:cs typeface="Arial" pitchFamily="34" charset="-120"/>
              </a:rPr>
              <a:t>Stepper motor — $173</a:t>
            </a:r>
            <a:endParaRPr lang="en-US" sz="850" dirty="0"/>
          </a:p>
          <a:p>
            <a:pPr algn="l" indent="0" marL="0">
              <a:lnSpc>
                <a:spcPct val="110000"/>
              </a:lnSpc>
              <a:spcAft>
                <a:spcPts val="200"/>
              </a:spcAft>
              <a:buNone/>
            </a:pPr>
            <a:r>
              <a:rPr lang="en-US" sz="880" dirty="0">
                <a:solidFill>
                  <a:srgbClr val="EAF2FA"/>
                </a:solidFill>
                <a:latin typeface="Arial" pitchFamily="34" charset="0"/>
                <a:ea typeface="Arial" pitchFamily="34" charset="-122"/>
                <a:cs typeface="Arial" pitchFamily="34" charset="-120"/>
              </a:rPr>
              <a:t>Inline load cell, 200 kg at ±0.02% FS — $342</a:t>
            </a:r>
            <a:endParaRPr lang="en-US" sz="850" dirty="0"/>
          </a:p>
          <a:p>
            <a:pPr algn="l" indent="0" marL="0">
              <a:lnSpc>
                <a:spcPct val="110000"/>
              </a:lnSpc>
              <a:buNone/>
            </a:pPr>
            <a:r>
              <a:rPr lang="en-US" sz="880" dirty="0">
                <a:solidFill>
                  <a:srgbClr val="EAF2FA"/>
                </a:solidFill>
                <a:latin typeface="Arial" pitchFamily="34" charset="0"/>
                <a:ea typeface="Arial" pitchFamily="34" charset="-122"/>
                <a:cs typeface="Arial" pitchFamily="34" charset="-120"/>
              </a:rPr>
              <a:t>Industrial vision camera — $1,436</a:t>
            </a:r>
            <a:endParaRPr lang="en-US" sz="850" dirty="0"/>
          </a:p>
        </p:txBody>
      </p:sp>
      <p:sp>
        <p:nvSpPr>
          <p:cNvPr id="11" name="Text 9"/>
          <p:cNvSpPr txBox="1"/>
          <p:nvPr/>
        </p:nvSpPr>
        <p:spPr>
          <a:xfrm>
            <a:off x="7818120" y="3913632"/>
            <a:ext cx="3749040" cy="1005840"/>
          </a:xfrm>
          <a:prstGeom prst="rect">
            <a:avLst/>
          </a:prstGeom>
          <a:noFill/>
          <a:ln/>
        </p:spPr>
        <p:txBody>
          <a:bodyPr wrap="square" lIns="0" tIns="0" rIns="0" bIns="0" rtlCol="0" anchor="t"/>
          <a:lstStyle/>
          <a:p>
            <a:pPr algn="l" indent="0" marL="0">
              <a:lnSpc>
                <a:spcPct val="115000"/>
              </a:lnSpc>
              <a:spcAft>
                <a:spcPts val="400"/>
              </a:spcAft>
              <a:buNone/>
            </a:pPr>
            <a:r>
              <a:rPr lang="en-US" sz="1200" b="1" dirty="0">
                <a:solidFill>
                  <a:srgbClr val="EAF2FA"/>
                </a:solidFill>
                <a:latin typeface="Arial" pitchFamily="34" charset="0"/>
                <a:ea typeface="Arial" pitchFamily="34" charset="-122"/>
                <a:cs typeface="Arial" pitchFamily="34" charset="-120"/>
              </a:rPr>
              <a:t>A failed $5,000 test prevents a $300,000 commitment.</a:t>
            </a:r>
            <a:endParaRPr lang="en-US" sz="1200" dirty="0"/>
          </a:p>
          <a:p>
            <a:pPr algn="l" indent="0" marL="0">
              <a:lnSpc>
                <a:spcPct val="115000"/>
              </a:lnSpc>
              <a:buNone/>
            </a:pPr>
            <a:r>
              <a:rPr lang="en-US" sz="1200" b="1" dirty="0">
                <a:solidFill>
                  <a:srgbClr val="6FD3FF"/>
                </a:solidFill>
                <a:latin typeface="Arial" pitchFamily="34" charset="0"/>
                <a:ea typeface="Arial" pitchFamily="34" charset="-122"/>
                <a:cs typeface="Arial" pitchFamily="34" charset="-120"/>
              </a:rPr>
              <a:t>Capital moves behind evidence, not ahead of it.</a:t>
            </a:r>
            <a:endParaRPr lang="en-US" sz="1200" dirty="0"/>
          </a:p>
        </p:txBody>
      </p:sp>
      <p:sp>
        <p:nvSpPr>
          <p:cNvPr id="12" name="Shape 10"/>
          <p:cNvSpPr/>
          <p:nvPr/>
        </p:nvSpPr>
        <p:spPr>
          <a:xfrm>
            <a:off x="621792" y="5591494"/>
            <a:ext cx="827075" cy="516698"/>
          </a:xfrm>
          <a:prstGeom prst="rect">
            <a:avLst/>
          </a:prstGeom>
          <a:solidFill>
            <a:srgbClr val="0E2A46">
              <a:alpha val="92000"/>
            </a:srgbClr>
          </a:solidFill>
          <a:ln w="19050">
            <a:solidFill>
              <a:srgbClr val="6FD3FF"/>
            </a:solidFill>
            <a:prstDash val="solid"/>
          </a:ln>
        </p:spPr>
      </p:sp>
      <p:sp>
        <p:nvSpPr>
          <p:cNvPr id="13" name="Text 11"/>
          <p:cNvSpPr txBox="1"/>
          <p:nvPr/>
        </p:nvSpPr>
        <p:spPr>
          <a:xfrm>
            <a:off x="694944" y="5637214"/>
            <a:ext cx="717347" cy="219456"/>
          </a:xfrm>
          <a:prstGeom prst="rect">
            <a:avLst/>
          </a:prstGeom>
          <a:noFill/>
          <a:ln/>
        </p:spPr>
        <p:txBody>
          <a:bodyPr wrap="square" lIns="0" tIns="0" rIns="0" bIns="0" rtlCol="0" anchor="ctr"/>
          <a:lstStyle/>
          <a:p>
            <a:pPr indent="0" marL="0">
              <a:buNone/>
            </a:pPr>
            <a:r>
              <a:rPr lang="en-US" sz="850" b="1" dirty="0">
                <a:solidFill>
                  <a:srgbClr val="6FD3FF"/>
                </a:solidFill>
                <a:latin typeface="Arial" pitchFamily="34" charset="0"/>
                <a:ea typeface="Arial" pitchFamily="34" charset="-122"/>
                <a:cs typeface="Arial" pitchFamily="34" charset="-120"/>
              </a:rPr>
              <a:t>GATE 1 · under $5K</a:t>
            </a:r>
            <a:endParaRPr lang="en-US" sz="850" dirty="0"/>
          </a:p>
        </p:txBody>
      </p:sp>
      <p:sp>
        <p:nvSpPr>
          <p:cNvPr id="14" name="Shape 12"/>
          <p:cNvSpPr/>
          <p:nvPr/>
        </p:nvSpPr>
        <p:spPr>
          <a:xfrm>
            <a:off x="1576883" y="5383596"/>
            <a:ext cx="2052371" cy="724596"/>
          </a:xfrm>
          <a:prstGeom prst="rect">
            <a:avLst/>
          </a:prstGeom>
          <a:solidFill>
            <a:srgbClr val="0E2A46">
              <a:alpha val="92000"/>
            </a:srgbClr>
          </a:solidFill>
          <a:ln w="12700">
            <a:solidFill>
              <a:srgbClr val="3D9BD8"/>
            </a:solidFill>
            <a:prstDash val="solid"/>
          </a:ln>
        </p:spPr>
      </p:sp>
      <p:sp>
        <p:nvSpPr>
          <p:cNvPr id="15" name="Text 13"/>
          <p:cNvSpPr txBox="1"/>
          <p:nvPr/>
        </p:nvSpPr>
        <p:spPr>
          <a:xfrm>
            <a:off x="1650035" y="5429316"/>
            <a:ext cx="1942643" cy="219456"/>
          </a:xfrm>
          <a:prstGeom prst="rect">
            <a:avLst/>
          </a:prstGeom>
          <a:noFill/>
          <a:ln/>
        </p:spPr>
        <p:txBody>
          <a:bodyPr wrap="square" lIns="0" tIns="0" rIns="0" bIns="0" rtlCol="0" anchor="ctr"/>
          <a:lstStyle/>
          <a:p>
            <a:pPr indent="0" marL="0">
              <a:buNone/>
            </a:pPr>
            <a:r>
              <a:rPr lang="en-US" sz="850" b="1" dirty="0">
                <a:solidFill>
                  <a:srgbClr val="EAF2FA"/>
                </a:solidFill>
                <a:latin typeface="Arial" pitchFamily="34" charset="0"/>
                <a:ea typeface="Arial" pitchFamily="34" charset="-122"/>
                <a:cs typeface="Arial" pitchFamily="34" charset="-120"/>
              </a:rPr>
              <a:t>GATE 2 · ~$50K</a:t>
            </a:r>
            <a:endParaRPr lang="en-US" sz="850" dirty="0"/>
          </a:p>
        </p:txBody>
      </p:sp>
      <p:sp>
        <p:nvSpPr>
          <p:cNvPr id="16" name="Text 14"/>
          <p:cNvSpPr txBox="1"/>
          <p:nvPr/>
        </p:nvSpPr>
        <p:spPr>
          <a:xfrm>
            <a:off x="1650035" y="5657916"/>
            <a:ext cx="1906067" cy="395412"/>
          </a:xfrm>
          <a:prstGeom prst="rect">
            <a:avLst/>
          </a:prstGeom>
          <a:noFill/>
          <a:ln/>
        </p:spPr>
        <p:txBody>
          <a:bodyPr wrap="square" lIns="0" tIns="0" rIns="0" bIns="0" rtlCol="0" anchor="ctr"/>
          <a:lstStyle/>
          <a:p>
            <a:pPr indent="0" marL="0">
              <a:lnSpc>
                <a:spcPct val="105000"/>
              </a:lnSpc>
              <a:buNone/>
            </a:pPr>
            <a:r>
              <a:rPr lang="en-US" sz="720" dirty="0">
                <a:solidFill>
                  <a:srgbClr val="A9BDD1"/>
                </a:solidFill>
                <a:latin typeface="Arial" pitchFamily="34" charset="0"/>
                <a:ea typeface="Arial" pitchFamily="34" charset="-122"/>
                <a:cs typeface="Arial" pitchFamily="34" charset="-120"/>
              </a:rPr>
              <a:t>Foundational validation — physical state and process capability measurement, incl. one full rerun. Outcome: iterate, narrow, or advance.</a:t>
            </a:r>
            <a:endParaRPr lang="en-US" sz="720" dirty="0"/>
          </a:p>
        </p:txBody>
      </p:sp>
      <p:sp>
        <p:nvSpPr>
          <p:cNvPr id="17" name="Shape 15"/>
          <p:cNvSpPr/>
          <p:nvPr/>
        </p:nvSpPr>
        <p:spPr>
          <a:xfrm>
            <a:off x="3757270" y="5212080"/>
            <a:ext cx="3063240" cy="896112"/>
          </a:xfrm>
          <a:prstGeom prst="rect">
            <a:avLst/>
          </a:prstGeom>
          <a:solidFill>
            <a:srgbClr val="10365E">
              <a:alpha val="92000"/>
            </a:srgbClr>
          </a:solidFill>
          <a:ln w="12700">
            <a:solidFill>
              <a:srgbClr val="3D9BD8"/>
            </a:solidFill>
            <a:prstDash val="solid"/>
          </a:ln>
        </p:spPr>
      </p:sp>
      <p:sp>
        <p:nvSpPr>
          <p:cNvPr id="18" name="Text 16"/>
          <p:cNvSpPr txBox="1"/>
          <p:nvPr/>
        </p:nvSpPr>
        <p:spPr>
          <a:xfrm>
            <a:off x="3830422" y="5257800"/>
            <a:ext cx="2953512" cy="219456"/>
          </a:xfrm>
          <a:prstGeom prst="rect">
            <a:avLst/>
          </a:prstGeom>
          <a:noFill/>
          <a:ln/>
        </p:spPr>
        <p:txBody>
          <a:bodyPr wrap="square" lIns="0" tIns="0" rIns="0" bIns="0" rtlCol="0" anchor="ctr"/>
          <a:lstStyle/>
          <a:p>
            <a:pPr indent="0" marL="0">
              <a:buNone/>
            </a:pPr>
            <a:r>
              <a:rPr lang="en-US" sz="850" b="1" dirty="0">
                <a:solidFill>
                  <a:srgbClr val="EAF2FA"/>
                </a:solidFill>
                <a:latin typeface="Arial" pitchFamily="34" charset="0"/>
                <a:ea typeface="Arial" pitchFamily="34" charset="-122"/>
                <a:cs typeface="Arial" pitchFamily="34" charset="-120"/>
              </a:rPr>
              <a:t>GATE 3 · $250K–$450K</a:t>
            </a:r>
            <a:endParaRPr lang="en-US" sz="850" dirty="0"/>
          </a:p>
        </p:txBody>
      </p:sp>
      <p:sp>
        <p:nvSpPr>
          <p:cNvPr id="19" name="Text 17"/>
          <p:cNvSpPr txBox="1"/>
          <p:nvPr/>
        </p:nvSpPr>
        <p:spPr>
          <a:xfrm>
            <a:off x="3830422" y="5486400"/>
            <a:ext cx="2916936" cy="566928"/>
          </a:xfrm>
          <a:prstGeom prst="rect">
            <a:avLst/>
          </a:prstGeom>
          <a:noFill/>
          <a:ln/>
        </p:spPr>
        <p:txBody>
          <a:bodyPr wrap="square" lIns="0" tIns="0" rIns="0" bIns="0" rtlCol="0" anchor="ctr"/>
          <a:lstStyle/>
          <a:p>
            <a:pPr indent="0" marL="0">
              <a:lnSpc>
                <a:spcPct val="105000"/>
              </a:lnSpc>
              <a:buNone/>
            </a:pPr>
            <a:r>
              <a:rPr lang="en-US" sz="720" dirty="0">
                <a:solidFill>
                  <a:srgbClr val="A9BDD1"/>
                </a:solidFill>
                <a:latin typeface="Arial" pitchFamily="34" charset="0"/>
                <a:ea typeface="Arial" pitchFamily="34" charset="-122"/>
                <a:cs typeface="Arial" pitchFamily="34" charset="-120"/>
              </a:rPr>
              <a:t>Integrated demonstrator — one operation class, end to end, with evidence output. Includes a funded redesign reserve. Outcome: verify, iterate, or narrow.</a:t>
            </a:r>
            <a:endParaRPr lang="en-US" sz="720" dirty="0"/>
          </a:p>
        </p:txBody>
      </p:sp>
      <p:sp>
        <p:nvSpPr>
          <p:cNvPr id="20" name="Shape 18"/>
          <p:cNvSpPr/>
          <p:nvPr/>
        </p:nvSpPr>
        <p:spPr>
          <a:xfrm>
            <a:off x="621792" y="6135624"/>
            <a:ext cx="6309360" cy="0"/>
          </a:xfrm>
          <a:prstGeom prst="line">
            <a:avLst/>
          </a:prstGeom>
          <a:noFill/>
          <a:ln w="9525">
            <a:solidFill>
              <a:srgbClr val="23405C"/>
            </a:solidFill>
            <a:prstDash val="solid"/>
          </a:ln>
        </p:spPr>
      </p:sp>
      <p:sp>
        <p:nvSpPr>
          <p:cNvPr id="21" name="Text 19"/>
          <p:cNvSpPr txBox="1"/>
          <p:nvPr/>
        </p:nvSpPr>
        <p:spPr>
          <a:xfrm>
            <a:off x="621792" y="6172200"/>
            <a:ext cx="2194560" cy="182880"/>
          </a:xfrm>
          <a:prstGeom prst="rect">
            <a:avLst/>
          </a:prstGeom>
          <a:noFill/>
          <a:ln/>
        </p:spPr>
        <p:txBody>
          <a:bodyPr wrap="square" lIns="0" tIns="0" rIns="0" bIns="0" rtlCol="0" anchor="ctr"/>
          <a:lstStyle/>
          <a:p>
            <a:pPr indent="0" marL="0">
              <a:buNone/>
            </a:pPr>
            <a:r>
              <a:rPr lang="en-US" sz="650" spc="200" kern="0" dirty="0">
                <a:solidFill>
                  <a:srgbClr val="51667C"/>
                </a:solidFill>
                <a:latin typeface="Arial" pitchFamily="34" charset="0"/>
                <a:ea typeface="Arial" pitchFamily="34" charset="-122"/>
                <a:cs typeface="Arial" pitchFamily="34" charset="-120"/>
              </a:rPr>
              <a:t>COST · LOG SCALE</a:t>
            </a:r>
            <a:endParaRPr lang="en-US" sz="650" dirty="0"/>
          </a:p>
        </p:txBody>
      </p:sp>
      <p:sp>
        <p:nvSpPr>
          <p:cNvPr id="22" name="Text 20"/>
          <p:cNvSpPr txBox="1"/>
          <p:nvPr/>
        </p:nvSpPr>
        <p:spPr>
          <a:xfrm>
            <a:off x="7040880" y="5413248"/>
            <a:ext cx="4526280" cy="640080"/>
          </a:xfrm>
          <a:prstGeom prst="rect">
            <a:avLst/>
          </a:prstGeom>
          <a:noFill/>
          <a:ln/>
        </p:spPr>
        <p:txBody>
          <a:bodyPr wrap="square" lIns="0" tIns="0" rIns="0" bIns="0" rtlCol="0" anchor="t"/>
          <a:lstStyle/>
          <a:p>
            <a:pPr algn="l" indent="0" marL="0">
              <a:lnSpc>
                <a:spcPct val="115000"/>
              </a:lnSpc>
              <a:spcAft>
                <a:spcPts val="200"/>
              </a:spcAft>
              <a:buNone/>
            </a:pPr>
            <a:r>
              <a:rPr lang="en-US" sz="650" b="1" dirty="0">
                <a:solidFill>
                  <a:srgbClr val="72879D"/>
                </a:solidFill>
                <a:latin typeface="Arial" pitchFamily="34" charset="0"/>
                <a:ea typeface="Arial" pitchFamily="34" charset="-122"/>
                <a:cs typeface="Arial" pitchFamily="34" charset="-120"/>
              </a:rPr>
              <a:t>PLANNING ESTIMATES. GATE 3 BENCHMARKED AGAINST PUBLISHED 2026 INDUSTRIAL ROBOTICS AND METROLOGY PRICING. VENDOR QUOTES PENDING.</a:t>
            </a:r>
            <a:endParaRPr lang="en-US" sz="650" dirty="0"/>
          </a:p>
          <a:p>
            <a:pPr algn="l" indent="0" marL="0">
              <a:lnSpc>
                <a:spcPct val="115000"/>
              </a:lnSpc>
              <a:buNone/>
            </a:pPr>
            <a:r>
              <a:rPr lang="en-US" sz="650" b="1" dirty="0">
                <a:solidFill>
                  <a:srgbClr val="72879D"/>
                </a:solidFill>
                <a:latin typeface="Arial" pitchFamily="34" charset="0"/>
                <a:ea typeface="Arial" pitchFamily="34" charset="-122"/>
                <a:cs typeface="Arial" pitchFamily="34" charset="-120"/>
              </a:rPr>
              <a:t>MEASUREMENT CHAIN AND GROUND TRUTH: PROPOSED ENGINEERING DESIGN, REQUIRES TECHNICAL APPROVAL.</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10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DEPLOYMENT DOCTRINE</a:t>
            </a:r>
            <a:endParaRPr lang="en-US" sz="1000" dirty="0"/>
          </a:p>
        </p:txBody>
      </p:sp>
      <p:sp>
        <p:nvSpPr>
          <p:cNvPr id="5"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2700" b="1" dirty="0">
                <a:solidFill>
                  <a:srgbClr val="EAF2FA"/>
                </a:solidFill>
                <a:latin typeface="Arial" pitchFamily="34" charset="0"/>
                <a:ea typeface="Arial" pitchFamily="34" charset="-122"/>
                <a:cs typeface="Arial" pitchFamily="34" charset="-120"/>
              </a:rPr>
              <a:t>Start beside the process. Earn the right to control it.</a:t>
            </a:r>
            <a:endParaRPr lang="en-US" sz="2700" dirty="0"/>
          </a:p>
        </p:txBody>
      </p:sp>
      <p:sp>
        <p:nvSpPr>
          <p:cNvPr id="6" name="Shape 4"/>
          <p:cNvSpPr/>
          <p:nvPr/>
        </p:nvSpPr>
        <p:spPr>
          <a:xfrm>
            <a:off x="984466" y="1828800"/>
            <a:ext cx="1737360" cy="1234440"/>
          </a:xfrm>
          <a:prstGeom prst="parallelogram">
            <a:avLst/>
          </a:prstGeom>
          <a:solidFill>
            <a:srgbClr val="0F2740">
              <a:alpha val="80000"/>
            </a:srgbClr>
          </a:solidFill>
          <a:ln w="12700">
            <a:solidFill>
              <a:srgbClr val="3D9BD8">
                <a:alpha val="90000"/>
              </a:srgbClr>
            </a:solidFill>
            <a:prstDash val="solid"/>
          </a:ln>
        </p:spPr>
      </p:sp>
      <p:pic>
        <p:nvPicPr>
          <p:cNvPr id="7" name="Image 0" descr="/tmp/claude-0/-home-user-foodiehome/a2788c04-4021-50f7-9e92-8de1b0e68224/scratchpad/syntrex/assets/glowdot.png">    </p:cNvPr>
          <p:cNvPicPr>
            <a:picLocks noChangeAspect="1"/>
          </p:cNvPicPr>
          <p:nvPr/>
        </p:nvPicPr>
        <p:blipFill>
          <a:blip r:embed="rId2"/>
          <a:stretch>
            <a:fillRect/>
          </a:stretch>
        </p:blipFill>
        <p:spPr>
          <a:xfrm>
            <a:off x="600418" y="2272284"/>
            <a:ext cx="347472" cy="347472"/>
          </a:xfrm>
          <a:prstGeom prst="rect">
            <a:avLst/>
          </a:prstGeom>
        </p:spPr>
      </p:pic>
      <p:sp>
        <p:nvSpPr>
          <p:cNvPr id="8" name="Text 5"/>
          <p:cNvSpPr txBox="1"/>
          <p:nvPr/>
        </p:nvSpPr>
        <p:spPr>
          <a:xfrm>
            <a:off x="640080" y="3346704"/>
            <a:ext cx="2416988" cy="256032"/>
          </a:xfrm>
          <a:prstGeom prst="rect">
            <a:avLst/>
          </a:prstGeom>
          <a:noFill/>
          <a:ln/>
        </p:spPr>
        <p:txBody>
          <a:bodyPr wrap="square" lIns="0" tIns="0" rIns="0" bIns="0" rtlCol="0" anchor="ctr"/>
          <a:lstStyle/>
          <a:p>
            <a:pPr indent="0" marL="0">
              <a:buNone/>
            </a:pPr>
            <a:r>
              <a:rPr lang="en-US" sz="1100" b="1" spc="120" kern="0" dirty="0">
                <a:solidFill>
                  <a:srgbClr val="EAF2FA"/>
                </a:solidFill>
                <a:latin typeface="Arial" pitchFamily="34" charset="0"/>
                <a:ea typeface="Arial" pitchFamily="34" charset="-122"/>
                <a:cs typeface="Arial" pitchFamily="34" charset="-120"/>
              </a:rPr>
              <a:t>01 OBSERVE</a:t>
            </a:r>
            <a:endParaRPr lang="en-US" sz="1100" dirty="0"/>
          </a:p>
        </p:txBody>
      </p:sp>
      <p:sp>
        <p:nvSpPr>
          <p:cNvPr id="9" name="Text 6"/>
          <p:cNvSpPr txBox="1"/>
          <p:nvPr/>
        </p:nvSpPr>
        <p:spPr>
          <a:xfrm>
            <a:off x="640080" y="3639312"/>
            <a:ext cx="2371268" cy="914400"/>
          </a:xfrm>
          <a:prstGeom prst="rect">
            <a:avLst/>
          </a:prstGeom>
          <a:noFill/>
          <a:ln/>
        </p:spPr>
        <p:txBody>
          <a:bodyPr wrap="square" lIns="0" tIns="0" rIns="0" bIns="0" rtlCol="0" anchor="ctr"/>
          <a:lstStyle/>
          <a:p>
            <a:pPr indent="0" marL="0">
              <a:lnSpc>
                <a:spcPct val="114000"/>
              </a:lnSpc>
              <a:buNone/>
            </a:pPr>
            <a:r>
              <a:rPr lang="en-US" sz="880" dirty="0">
                <a:solidFill>
                  <a:srgbClr val="A9BDD1"/>
                </a:solidFill>
                <a:latin typeface="Arial" pitchFamily="34" charset="0"/>
                <a:ea typeface="Arial" pitchFamily="34" charset="-122"/>
                <a:cs typeface="Arial" pitchFamily="34" charset="-120"/>
              </a:rPr>
              <a:t>Read-only monitoring. Independent sensing where appropriate. Process characterization. No production authority.</a:t>
            </a:r>
            <a:endParaRPr lang="en-US" sz="880" dirty="0"/>
          </a:p>
        </p:txBody>
      </p:sp>
      <p:sp>
        <p:nvSpPr>
          <p:cNvPr id="10" name="Shape 7"/>
          <p:cNvSpPr/>
          <p:nvPr/>
        </p:nvSpPr>
        <p:spPr>
          <a:xfrm>
            <a:off x="3776358" y="1883664"/>
            <a:ext cx="1627632" cy="1143000"/>
          </a:xfrm>
          <a:prstGeom prst="parallelogram">
            <a:avLst/>
          </a:prstGeom>
          <a:solidFill>
            <a:srgbClr val="0F2740">
              <a:alpha val="72000"/>
            </a:srgbClr>
          </a:solidFill>
          <a:ln w="12700">
            <a:solidFill>
              <a:srgbClr val="3D9BD8">
                <a:alpha val="75000"/>
              </a:srgbClr>
            </a:solidFill>
            <a:prstDash val="solid"/>
          </a:ln>
        </p:spPr>
      </p:sp>
      <p:pic>
        <p:nvPicPr>
          <p:cNvPr id="11" name="Image 1" descr="/tmp/claude-0/-home-user-foodiehome/a2788c04-4021-50f7-9e92-8de1b0e68224/scratchpad/syntrex/assets/glowdot.png">    </p:cNvPr>
          <p:cNvPicPr>
            <a:picLocks noChangeAspect="1"/>
          </p:cNvPicPr>
          <p:nvPr/>
        </p:nvPicPr>
        <p:blipFill>
          <a:blip r:embed="rId3"/>
          <a:stretch>
            <a:fillRect/>
          </a:stretch>
        </p:blipFill>
        <p:spPr>
          <a:xfrm>
            <a:off x="3684918" y="2281428"/>
            <a:ext cx="347472" cy="347472"/>
          </a:xfrm>
          <a:prstGeom prst="rect">
            <a:avLst/>
          </a:prstGeom>
        </p:spPr>
      </p:pic>
      <p:sp>
        <p:nvSpPr>
          <p:cNvPr id="12" name="Text 8"/>
          <p:cNvSpPr txBox="1"/>
          <p:nvPr/>
        </p:nvSpPr>
        <p:spPr>
          <a:xfrm>
            <a:off x="3377108" y="3346704"/>
            <a:ext cx="2416988" cy="256032"/>
          </a:xfrm>
          <a:prstGeom prst="rect">
            <a:avLst/>
          </a:prstGeom>
          <a:noFill/>
          <a:ln/>
        </p:spPr>
        <p:txBody>
          <a:bodyPr wrap="square" lIns="0" tIns="0" rIns="0" bIns="0" rtlCol="0" anchor="ctr"/>
          <a:lstStyle/>
          <a:p>
            <a:pPr indent="0" marL="0">
              <a:buNone/>
            </a:pPr>
            <a:r>
              <a:rPr lang="en-US" sz="1100" b="1" spc="120" kern="0" dirty="0">
                <a:solidFill>
                  <a:srgbClr val="EAF2FA"/>
                </a:solidFill>
                <a:latin typeface="Arial" pitchFamily="34" charset="0"/>
                <a:ea typeface="Arial" pitchFamily="34" charset="-122"/>
                <a:cs typeface="Arial" pitchFamily="34" charset="-120"/>
              </a:rPr>
              <a:t>02 VERIFY</a:t>
            </a:r>
            <a:endParaRPr lang="en-US" sz="1100" dirty="0"/>
          </a:p>
        </p:txBody>
      </p:sp>
      <p:sp>
        <p:nvSpPr>
          <p:cNvPr id="13" name="Text 9"/>
          <p:cNvSpPr txBox="1"/>
          <p:nvPr/>
        </p:nvSpPr>
        <p:spPr>
          <a:xfrm>
            <a:off x="3377108" y="3639312"/>
            <a:ext cx="2371268" cy="914400"/>
          </a:xfrm>
          <a:prstGeom prst="rect">
            <a:avLst/>
          </a:prstGeom>
          <a:noFill/>
          <a:ln/>
        </p:spPr>
        <p:txBody>
          <a:bodyPr wrap="square" lIns="0" tIns="0" rIns="0" bIns="0" rtlCol="0" anchor="ctr"/>
          <a:lstStyle/>
          <a:p>
            <a:pPr indent="0" marL="0">
              <a:lnSpc>
                <a:spcPct val="114000"/>
              </a:lnSpc>
              <a:buNone/>
            </a:pPr>
            <a:r>
              <a:rPr lang="en-US" sz="880" dirty="0">
                <a:solidFill>
                  <a:srgbClr val="A9BDD1"/>
                </a:solidFill>
                <a:latin typeface="Arial" pitchFamily="34" charset="0"/>
                <a:ea typeface="Arial" pitchFamily="34" charset="-122"/>
                <a:cs typeface="Arial" pitchFamily="34" charset="-120"/>
              </a:rPr>
              <a:t>Generate evidence around existing operations. Compare measured state against expected outcomes.</a:t>
            </a:r>
            <a:endParaRPr lang="en-US" sz="880" dirty="0"/>
          </a:p>
        </p:txBody>
      </p:sp>
      <p:sp>
        <p:nvSpPr>
          <p:cNvPr id="14" name="Shape 10"/>
          <p:cNvSpPr/>
          <p:nvPr/>
        </p:nvSpPr>
        <p:spPr>
          <a:xfrm>
            <a:off x="6568250" y="1938528"/>
            <a:ext cx="1517904" cy="1051560"/>
          </a:xfrm>
          <a:prstGeom prst="parallelogram">
            <a:avLst/>
          </a:prstGeom>
          <a:solidFill>
            <a:srgbClr val="0F2740">
              <a:alpha val="64000"/>
            </a:srgbClr>
          </a:solidFill>
          <a:ln w="12700">
            <a:solidFill>
              <a:srgbClr val="3D9BD8">
                <a:alpha val="60000"/>
              </a:srgbClr>
            </a:solidFill>
            <a:prstDash val="solid"/>
          </a:ln>
        </p:spPr>
      </p:sp>
      <p:pic>
        <p:nvPicPr>
          <p:cNvPr id="15" name="Image 2" descr="/tmp/claude-0/-home-user-foodiehome/a2788c04-4021-50f7-9e92-8de1b0e68224/scratchpad/syntrex/assets/glowdot.png">    </p:cNvPr>
          <p:cNvPicPr>
            <a:picLocks noChangeAspect="1"/>
          </p:cNvPicPr>
          <p:nvPr/>
        </p:nvPicPr>
        <p:blipFill>
          <a:blip r:embed="rId4"/>
          <a:stretch>
            <a:fillRect/>
          </a:stretch>
        </p:blipFill>
        <p:spPr>
          <a:xfrm>
            <a:off x="6714554" y="2290572"/>
            <a:ext cx="347472" cy="347472"/>
          </a:xfrm>
          <a:prstGeom prst="rect">
            <a:avLst/>
          </a:prstGeom>
        </p:spPr>
      </p:pic>
      <p:sp>
        <p:nvSpPr>
          <p:cNvPr id="16" name="Text 11"/>
          <p:cNvSpPr txBox="1"/>
          <p:nvPr/>
        </p:nvSpPr>
        <p:spPr>
          <a:xfrm>
            <a:off x="6114136" y="3346704"/>
            <a:ext cx="2416988" cy="256032"/>
          </a:xfrm>
          <a:prstGeom prst="rect">
            <a:avLst/>
          </a:prstGeom>
          <a:noFill/>
          <a:ln/>
        </p:spPr>
        <p:txBody>
          <a:bodyPr wrap="square" lIns="0" tIns="0" rIns="0" bIns="0" rtlCol="0" anchor="ctr"/>
          <a:lstStyle/>
          <a:p>
            <a:pPr indent="0" marL="0">
              <a:buNone/>
            </a:pPr>
            <a:r>
              <a:rPr lang="en-US" sz="1100" b="1" spc="120" kern="0" dirty="0">
                <a:solidFill>
                  <a:srgbClr val="EAF2FA"/>
                </a:solidFill>
                <a:latin typeface="Arial" pitchFamily="34" charset="0"/>
                <a:ea typeface="Arial" pitchFamily="34" charset="-122"/>
                <a:cs typeface="Arial" pitchFamily="34" charset="-120"/>
              </a:rPr>
              <a:t>03 BOUNDED INTEGRATION</a:t>
            </a:r>
            <a:endParaRPr lang="en-US" sz="1100" dirty="0"/>
          </a:p>
        </p:txBody>
      </p:sp>
      <p:sp>
        <p:nvSpPr>
          <p:cNvPr id="17" name="Text 12"/>
          <p:cNvSpPr txBox="1"/>
          <p:nvPr/>
        </p:nvSpPr>
        <p:spPr>
          <a:xfrm>
            <a:off x="6114136" y="3639312"/>
            <a:ext cx="2371268" cy="914400"/>
          </a:xfrm>
          <a:prstGeom prst="rect">
            <a:avLst/>
          </a:prstGeom>
          <a:noFill/>
          <a:ln/>
        </p:spPr>
        <p:txBody>
          <a:bodyPr wrap="square" lIns="0" tIns="0" rIns="0" bIns="0" rtlCol="0" anchor="ctr"/>
          <a:lstStyle/>
          <a:p>
            <a:pPr indent="0" marL="0">
              <a:lnSpc>
                <a:spcPct val="114000"/>
              </a:lnSpc>
              <a:buNone/>
            </a:pPr>
            <a:r>
              <a:rPr lang="en-US" sz="880" dirty="0">
                <a:solidFill>
                  <a:srgbClr val="A9BDD1"/>
                </a:solidFill>
                <a:latin typeface="Arial" pitchFamily="34" charset="0"/>
                <a:ea typeface="Arial" pitchFamily="34" charset="-122"/>
                <a:cs typeface="Arial" pitchFamily="34" charset="-120"/>
              </a:rPr>
              <a:t>Approved interfaces. Explicitly defined authority. Controlled interaction with customer equipment.</a:t>
            </a:r>
            <a:endParaRPr lang="en-US" sz="880" dirty="0"/>
          </a:p>
        </p:txBody>
      </p:sp>
      <p:sp>
        <p:nvSpPr>
          <p:cNvPr id="18" name="Shape 13"/>
          <p:cNvSpPr/>
          <p:nvPr/>
        </p:nvSpPr>
        <p:spPr>
          <a:xfrm>
            <a:off x="9360141" y="1993392"/>
            <a:ext cx="1408176" cy="960120"/>
          </a:xfrm>
          <a:prstGeom prst="parallelogram">
            <a:avLst/>
          </a:prstGeom>
          <a:solidFill>
            <a:srgbClr val="0F2740">
              <a:alpha val="56000"/>
            </a:srgbClr>
          </a:solidFill>
          <a:ln w="12700">
            <a:solidFill>
              <a:srgbClr val="3D9BD8">
                <a:alpha val="45000"/>
              </a:srgbClr>
            </a:solidFill>
            <a:prstDash val="solid"/>
          </a:ln>
        </p:spPr>
      </p:sp>
      <p:pic>
        <p:nvPicPr>
          <p:cNvPr id="19" name="Image 3" descr="/tmp/claude-0/-home-user-foodiehome/a2788c04-4021-50f7-9e92-8de1b0e68224/scratchpad/syntrex/assets/glowdot.png">    </p:cNvPr>
          <p:cNvPicPr>
            <a:picLocks noChangeAspect="1"/>
          </p:cNvPicPr>
          <p:nvPr/>
        </p:nvPicPr>
        <p:blipFill>
          <a:blip r:embed="rId5"/>
          <a:stretch>
            <a:fillRect/>
          </a:stretch>
        </p:blipFill>
        <p:spPr>
          <a:xfrm>
            <a:off x="9945357" y="2299716"/>
            <a:ext cx="347472" cy="347472"/>
          </a:xfrm>
          <a:prstGeom prst="rect">
            <a:avLst/>
          </a:prstGeom>
        </p:spPr>
      </p:pic>
      <p:sp>
        <p:nvSpPr>
          <p:cNvPr id="20" name="Text 14"/>
          <p:cNvSpPr txBox="1"/>
          <p:nvPr/>
        </p:nvSpPr>
        <p:spPr>
          <a:xfrm>
            <a:off x="8851163" y="3346704"/>
            <a:ext cx="2416988" cy="256032"/>
          </a:xfrm>
          <a:prstGeom prst="rect">
            <a:avLst/>
          </a:prstGeom>
          <a:noFill/>
          <a:ln/>
        </p:spPr>
        <p:txBody>
          <a:bodyPr wrap="square" lIns="0" tIns="0" rIns="0" bIns="0" rtlCol="0" anchor="ctr"/>
          <a:lstStyle/>
          <a:p>
            <a:pPr indent="0" marL="0">
              <a:buNone/>
            </a:pPr>
            <a:r>
              <a:rPr lang="en-US" sz="1100" b="1" spc="120" kern="0" dirty="0">
                <a:solidFill>
                  <a:srgbClr val="EAF2FA"/>
                </a:solidFill>
                <a:latin typeface="Arial" pitchFamily="34" charset="0"/>
                <a:ea typeface="Arial" pitchFamily="34" charset="-122"/>
                <a:cs typeface="Arial" pitchFamily="34" charset="-120"/>
              </a:rPr>
              <a:t>04 PERFORM</a:t>
            </a:r>
            <a:endParaRPr lang="en-US" sz="1100" dirty="0"/>
          </a:p>
        </p:txBody>
      </p:sp>
      <p:sp>
        <p:nvSpPr>
          <p:cNvPr id="21" name="Text 15"/>
          <p:cNvSpPr txBox="1"/>
          <p:nvPr/>
        </p:nvSpPr>
        <p:spPr>
          <a:xfrm>
            <a:off x="8851163" y="3639312"/>
            <a:ext cx="2371268" cy="914400"/>
          </a:xfrm>
          <a:prstGeom prst="rect">
            <a:avLst/>
          </a:prstGeom>
          <a:noFill/>
          <a:ln/>
        </p:spPr>
        <p:txBody>
          <a:bodyPr wrap="square" lIns="0" tIns="0" rIns="0" bIns="0" rtlCol="0" anchor="ctr"/>
          <a:lstStyle/>
          <a:p>
            <a:pPr indent="0" marL="0">
              <a:lnSpc>
                <a:spcPct val="114000"/>
              </a:lnSpc>
              <a:buNone/>
            </a:pPr>
            <a:r>
              <a:rPr lang="en-US" sz="880" dirty="0">
                <a:solidFill>
                  <a:srgbClr val="A9BDD1"/>
                </a:solidFill>
                <a:latin typeface="Arial" pitchFamily="34" charset="0"/>
                <a:ea typeface="Arial" pitchFamily="34" charset="-122"/>
                <a:cs typeface="Arial" pitchFamily="34" charset="-120"/>
              </a:rPr>
              <a:t>Bounded physical execution, only after evidence and approvals justify greater authority.</a:t>
            </a:r>
            <a:endParaRPr lang="en-US" sz="880" dirty="0"/>
          </a:p>
        </p:txBody>
      </p:sp>
      <p:sp>
        <p:nvSpPr>
          <p:cNvPr id="22" name="Shape 16"/>
          <p:cNvSpPr/>
          <p:nvPr/>
        </p:nvSpPr>
        <p:spPr>
          <a:xfrm>
            <a:off x="621792" y="4681728"/>
            <a:ext cx="10948111" cy="0"/>
          </a:xfrm>
          <a:prstGeom prst="line">
            <a:avLst/>
          </a:prstGeom>
          <a:noFill/>
          <a:ln w="9525">
            <a:solidFill>
              <a:srgbClr val="23405C"/>
            </a:solidFill>
            <a:prstDash val="solid"/>
          </a:ln>
        </p:spPr>
      </p:sp>
      <p:sp>
        <p:nvSpPr>
          <p:cNvPr id="23" name="Text 17"/>
          <p:cNvSpPr txBox="1"/>
          <p:nvPr/>
        </p:nvSpPr>
        <p:spPr>
          <a:xfrm>
            <a:off x="621792" y="4828032"/>
            <a:ext cx="6949440" cy="1234440"/>
          </a:xfrm>
          <a:prstGeom prst="rect">
            <a:avLst/>
          </a:prstGeom>
          <a:noFill/>
          <a:ln/>
        </p:spPr>
        <p:txBody>
          <a:bodyPr wrap="square" lIns="0" tIns="0" rIns="0" bIns="0" rtlCol="0" anchor="t"/>
          <a:lstStyle/>
          <a:p>
            <a:pPr algn="l" indent="0" marL="0">
              <a:lnSpc>
                <a:spcPct val="115000"/>
              </a:lnSpc>
              <a:spcAft>
                <a:spcPts val="400"/>
              </a:spcAft>
              <a:buNone/>
            </a:pPr>
            <a:r>
              <a:rPr lang="en-US" sz="850" b="1" spc="240" kern="0" dirty="0">
                <a:solidFill>
                  <a:srgbClr val="6FD3FF"/>
                </a:solidFill>
                <a:latin typeface="Arial" pitchFamily="34" charset="0"/>
                <a:ea typeface="Arial" pitchFamily="34" charset="-122"/>
                <a:cs typeface="Arial" pitchFamily="34" charset="-120"/>
              </a:rPr>
              <a:t>WHY IT HAS TO WORK THIS WAY</a:t>
            </a:r>
            <a:endParaRPr lang="en-US" sz="850" dirty="0"/>
          </a:p>
          <a:p>
            <a:pPr algn="l" indent="0" marL="0">
              <a:lnSpc>
                <a:spcPct val="115000"/>
              </a:lnSpc>
              <a:buNone/>
            </a:pPr>
            <a:r>
              <a:rPr lang="en-US" sz="950" dirty="0">
                <a:solidFill>
                  <a:srgbClr val="A9BDD1"/>
                </a:solidFill>
                <a:latin typeface="Arial" pitchFamily="34" charset="0"/>
                <a:ea typeface="Arial" pitchFamily="34" charset="-122"/>
                <a:cs typeface="Arial" pitchFamily="34" charset="-120"/>
              </a:rPr>
              <a:t>Customers own the equipment. Machines may remain under manufacturer warranty. Protected controller parameters are frequently inaccessible by design. Altering how a machine runs is a process change under the customer's quality system — and the customer's quality organisation gates it, not the equipment vendor.</a:t>
            </a:r>
            <a:endParaRPr lang="en-US" sz="850" dirty="0"/>
          </a:p>
        </p:txBody>
      </p:sp>
      <p:sp>
        <p:nvSpPr>
          <p:cNvPr id="24" name="Text 18"/>
          <p:cNvSpPr txBox="1"/>
          <p:nvPr/>
        </p:nvSpPr>
        <p:spPr>
          <a:xfrm>
            <a:off x="7909560" y="4846320"/>
            <a:ext cx="3657600" cy="1097280"/>
          </a:xfrm>
          <a:prstGeom prst="rect">
            <a:avLst/>
          </a:prstGeom>
          <a:noFill/>
          <a:ln/>
        </p:spPr>
        <p:txBody>
          <a:bodyPr wrap="square" lIns="0" tIns="0" rIns="0" bIns="0" rtlCol="0" anchor="t"/>
          <a:lstStyle/>
          <a:p>
            <a:pPr algn="l" indent="0" marL="0">
              <a:lnSpc>
                <a:spcPct val="115000"/>
              </a:lnSpc>
              <a:spcAft>
                <a:spcPts val="600"/>
              </a:spcAft>
              <a:buNone/>
            </a:pPr>
            <a:r>
              <a:rPr lang="en-US" sz="1000" b="1" dirty="0">
                <a:solidFill>
                  <a:srgbClr val="EAF2FA"/>
                </a:solidFill>
                <a:latin typeface="Arial" pitchFamily="34" charset="0"/>
                <a:ea typeface="Arial" pitchFamily="34" charset="-122"/>
                <a:cs typeface="Arial" pitchFamily="34" charset="-120"/>
              </a:rPr>
              <a:t>Data rights and evidence ownership are addressed before deployment, not after.</a:t>
            </a:r>
            <a:endParaRPr lang="en-US" sz="1000" dirty="0"/>
          </a:p>
          <a:p>
            <a:pPr algn="l" indent="0" marL="0">
              <a:lnSpc>
                <a:spcPct val="115000"/>
              </a:lnSpc>
              <a:buNone/>
            </a:pPr>
            <a:r>
              <a:rPr lang="en-US" sz="1350" b="1" dirty="0">
                <a:solidFill>
                  <a:srgbClr val="6FD3FF"/>
                </a:solidFill>
                <a:latin typeface="Arial" pitchFamily="34" charset="0"/>
                <a:ea typeface="Arial" pitchFamily="34" charset="-122"/>
                <a:cs typeface="Arial" pitchFamily="34" charset="-120"/>
              </a:rPr>
              <a:t>Evidence first. Execution later.</a:t>
            </a:r>
            <a:endParaRPr lang="en-US" sz="1000" dirty="0"/>
          </a:p>
        </p:txBody>
      </p:sp>
      <p:sp>
        <p:nvSpPr>
          <p:cNvPr id="25" name="Text 19"/>
          <p:cNvSpPr txBox="1"/>
          <p:nvPr/>
        </p:nvSpPr>
        <p:spPr>
          <a:xfrm>
            <a:off x="621792" y="6144768"/>
            <a:ext cx="10948111" cy="256032"/>
          </a:xfrm>
          <a:prstGeom prst="rect">
            <a:avLst/>
          </a:prstGeom>
          <a:noFill/>
          <a:ln/>
        </p:spPr>
        <p:txBody>
          <a:bodyPr wrap="square" lIns="0" tIns="0" rIns="0" bIns="0" rtlCol="0" anchor="ctr"/>
          <a:lstStyle/>
          <a:p>
            <a:pPr indent="0" marL="0">
              <a:lnSpc>
                <a:spcPct val="105000"/>
              </a:lnSpc>
              <a:buNone/>
            </a:pPr>
            <a:r>
              <a:rPr lang="en-US" sz="650" dirty="0">
                <a:solidFill>
                  <a:srgbClr val="51667C"/>
                </a:solidFill>
                <a:latin typeface="Arial" pitchFamily="34" charset="0"/>
                <a:ea typeface="Arial" pitchFamily="34" charset="-122"/>
                <a:cs typeface="Arial" pitchFamily="34" charset="-120"/>
              </a:rPr>
              <a:t>Actual customer, original equipment manufacturer, quality, first article, configuration control and requalification obligations depend on the specific process and change, and are determined by the customer.</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11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THE ECONOMIC MECHANISM</a:t>
            </a:r>
            <a:endParaRPr lang="en-US" sz="1000" dirty="0"/>
          </a:p>
        </p:txBody>
      </p:sp>
      <p:sp>
        <p:nvSpPr>
          <p:cNvPr id="5"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2600" b="1" dirty="0">
                <a:solidFill>
                  <a:srgbClr val="EAF2FA"/>
                </a:solidFill>
                <a:latin typeface="Arial" pitchFamily="34" charset="0"/>
                <a:ea typeface="Arial" pitchFamily="34" charset="-122"/>
                <a:cs typeface="Arial" pitchFamily="34" charset="-120"/>
              </a:rPr>
              <a:t>If introduction cost falls, high-mix automation becomes economic.</a:t>
            </a:r>
            <a:endParaRPr lang="en-US" sz="2600" dirty="0"/>
          </a:p>
        </p:txBody>
      </p:sp>
      <p:sp>
        <p:nvSpPr>
          <p:cNvPr id="6" name="Shape 4"/>
          <p:cNvSpPr/>
          <p:nvPr/>
        </p:nvSpPr>
        <p:spPr>
          <a:xfrm>
            <a:off x="621792" y="5029200"/>
            <a:ext cx="6035040" cy="0"/>
          </a:xfrm>
          <a:prstGeom prst="line">
            <a:avLst/>
          </a:prstGeom>
          <a:noFill/>
          <a:ln w="12700">
            <a:solidFill>
              <a:srgbClr val="23405C"/>
            </a:solidFill>
            <a:prstDash val="solid"/>
          </a:ln>
        </p:spPr>
      </p:sp>
      <p:sp>
        <p:nvSpPr>
          <p:cNvPr id="7" name="Shape 5"/>
          <p:cNvSpPr/>
          <p:nvPr/>
        </p:nvSpPr>
        <p:spPr>
          <a:xfrm>
            <a:off x="621792" y="3383280"/>
            <a:ext cx="0" cy="1645920"/>
          </a:xfrm>
          <a:prstGeom prst="line">
            <a:avLst/>
          </a:prstGeom>
          <a:noFill/>
          <a:ln w="12700">
            <a:solidFill>
              <a:srgbClr val="23405C"/>
            </a:solidFill>
            <a:prstDash val="solid"/>
          </a:ln>
        </p:spPr>
      </p:sp>
      <p:sp>
        <p:nvSpPr>
          <p:cNvPr id="8" name="Shape 6"/>
          <p:cNvSpPr/>
          <p:nvPr/>
        </p:nvSpPr>
        <p:spPr>
          <a:xfrm flipV="1">
            <a:off x="621792" y="3712464"/>
            <a:ext cx="1327709" cy="1316736"/>
          </a:xfrm>
          <a:prstGeom prst="line">
            <a:avLst/>
          </a:prstGeom>
          <a:noFill/>
          <a:ln w="22225">
            <a:solidFill>
              <a:srgbClr val="3D9BD8"/>
            </a:solidFill>
            <a:prstDash val="solid"/>
          </a:ln>
        </p:spPr>
      </p:sp>
      <p:sp>
        <p:nvSpPr>
          <p:cNvPr id="9" name="Shape 7"/>
          <p:cNvSpPr/>
          <p:nvPr/>
        </p:nvSpPr>
        <p:spPr>
          <a:xfrm>
            <a:off x="1949501" y="3712464"/>
            <a:ext cx="0" cy="1316736"/>
          </a:xfrm>
          <a:prstGeom prst="line">
            <a:avLst/>
          </a:prstGeom>
          <a:noFill/>
          <a:ln w="12700">
            <a:solidFill>
              <a:srgbClr val="3D9BD8">
                <a:alpha val="65000"/>
              </a:srgbClr>
            </a:solidFill>
            <a:prstDash val="sysDot"/>
          </a:ln>
        </p:spPr>
      </p:sp>
      <p:sp>
        <p:nvSpPr>
          <p:cNvPr id="10" name="Shape 8"/>
          <p:cNvSpPr/>
          <p:nvPr/>
        </p:nvSpPr>
        <p:spPr>
          <a:xfrm flipV="1">
            <a:off x="2130552" y="3712464"/>
            <a:ext cx="1327709" cy="1316736"/>
          </a:xfrm>
          <a:prstGeom prst="line">
            <a:avLst/>
          </a:prstGeom>
          <a:noFill/>
          <a:ln w="22225">
            <a:solidFill>
              <a:srgbClr val="3D9BD8"/>
            </a:solidFill>
            <a:prstDash val="solid"/>
          </a:ln>
        </p:spPr>
      </p:sp>
      <p:sp>
        <p:nvSpPr>
          <p:cNvPr id="11" name="Shape 9"/>
          <p:cNvSpPr/>
          <p:nvPr/>
        </p:nvSpPr>
        <p:spPr>
          <a:xfrm>
            <a:off x="3458261" y="3712464"/>
            <a:ext cx="0" cy="1316736"/>
          </a:xfrm>
          <a:prstGeom prst="line">
            <a:avLst/>
          </a:prstGeom>
          <a:noFill/>
          <a:ln w="12700">
            <a:solidFill>
              <a:srgbClr val="3D9BD8">
                <a:alpha val="65000"/>
              </a:srgbClr>
            </a:solidFill>
            <a:prstDash val="sysDot"/>
          </a:ln>
        </p:spPr>
      </p:sp>
      <p:sp>
        <p:nvSpPr>
          <p:cNvPr id="12" name="Shape 10"/>
          <p:cNvSpPr/>
          <p:nvPr/>
        </p:nvSpPr>
        <p:spPr>
          <a:xfrm flipV="1">
            <a:off x="3639312" y="3712464"/>
            <a:ext cx="1327709" cy="1316736"/>
          </a:xfrm>
          <a:prstGeom prst="line">
            <a:avLst/>
          </a:prstGeom>
          <a:noFill/>
          <a:ln w="22225">
            <a:solidFill>
              <a:srgbClr val="3D9BD8"/>
            </a:solidFill>
            <a:prstDash val="solid"/>
          </a:ln>
        </p:spPr>
      </p:sp>
      <p:sp>
        <p:nvSpPr>
          <p:cNvPr id="13" name="Shape 11"/>
          <p:cNvSpPr/>
          <p:nvPr/>
        </p:nvSpPr>
        <p:spPr>
          <a:xfrm>
            <a:off x="4967021" y="3712464"/>
            <a:ext cx="0" cy="1316736"/>
          </a:xfrm>
          <a:prstGeom prst="line">
            <a:avLst/>
          </a:prstGeom>
          <a:noFill/>
          <a:ln w="12700">
            <a:solidFill>
              <a:srgbClr val="3D9BD8">
                <a:alpha val="65000"/>
              </a:srgbClr>
            </a:solidFill>
            <a:prstDash val="sysDot"/>
          </a:ln>
        </p:spPr>
      </p:sp>
      <p:sp>
        <p:nvSpPr>
          <p:cNvPr id="14" name="Shape 12"/>
          <p:cNvSpPr/>
          <p:nvPr/>
        </p:nvSpPr>
        <p:spPr>
          <a:xfrm flipV="1">
            <a:off x="5148072" y="3712464"/>
            <a:ext cx="1327709" cy="1316736"/>
          </a:xfrm>
          <a:prstGeom prst="line">
            <a:avLst/>
          </a:prstGeom>
          <a:noFill/>
          <a:ln w="22225">
            <a:solidFill>
              <a:srgbClr val="3D9BD8"/>
            </a:solidFill>
            <a:prstDash val="solid"/>
          </a:ln>
        </p:spPr>
      </p:sp>
      <p:sp>
        <p:nvSpPr>
          <p:cNvPr id="15" name="Shape 13"/>
          <p:cNvSpPr/>
          <p:nvPr/>
        </p:nvSpPr>
        <p:spPr>
          <a:xfrm>
            <a:off x="6475781" y="3712464"/>
            <a:ext cx="0" cy="1316736"/>
          </a:xfrm>
          <a:prstGeom prst="line">
            <a:avLst/>
          </a:prstGeom>
          <a:noFill/>
          <a:ln w="12700">
            <a:solidFill>
              <a:srgbClr val="3D9BD8">
                <a:alpha val="65000"/>
              </a:srgbClr>
            </a:solidFill>
            <a:prstDash val="sysDot"/>
          </a:ln>
        </p:spPr>
      </p:sp>
      <p:sp>
        <p:nvSpPr>
          <p:cNvPr id="16" name="Shape 14"/>
          <p:cNvSpPr/>
          <p:nvPr/>
        </p:nvSpPr>
        <p:spPr>
          <a:xfrm>
            <a:off x="621792" y="4535424"/>
            <a:ext cx="6035040" cy="0"/>
          </a:xfrm>
          <a:prstGeom prst="line">
            <a:avLst/>
          </a:prstGeom>
          <a:noFill/>
          <a:ln w="19050">
            <a:solidFill>
              <a:srgbClr val="6FD3FF"/>
            </a:solidFill>
            <a:prstDash val="dash"/>
          </a:ln>
        </p:spPr>
      </p:sp>
      <p:sp>
        <p:nvSpPr>
          <p:cNvPr id="17" name="Text 15"/>
          <p:cNvSpPr txBox="1"/>
          <p:nvPr/>
        </p:nvSpPr>
        <p:spPr>
          <a:xfrm>
            <a:off x="676656" y="4581144"/>
            <a:ext cx="2057400" cy="182880"/>
          </a:xfrm>
          <a:prstGeom prst="rect">
            <a:avLst/>
          </a:prstGeom>
          <a:noFill/>
          <a:ln/>
        </p:spPr>
        <p:txBody>
          <a:bodyPr wrap="square" lIns="0" tIns="0" rIns="0" bIns="0" rtlCol="0" anchor="ctr"/>
          <a:lstStyle/>
          <a:p>
            <a:pPr indent="0" marL="0">
              <a:buNone/>
            </a:pPr>
            <a:r>
              <a:rPr lang="en-US" sz="750" b="1" spc="160" kern="0" dirty="0">
                <a:solidFill>
                  <a:srgbClr val="6FD3FF"/>
                </a:solidFill>
                <a:latin typeface="Arial" pitchFamily="34" charset="0"/>
                <a:ea typeface="Arial" pitchFamily="34" charset="-122"/>
                <a:cs typeface="Arial" pitchFamily="34" charset="-120"/>
              </a:rPr>
              <a:t>TARGET — TO BE MEASURED</a:t>
            </a:r>
            <a:endParaRPr lang="en-US" sz="750" dirty="0"/>
          </a:p>
        </p:txBody>
      </p:sp>
      <p:sp>
        <p:nvSpPr>
          <p:cNvPr id="18" name="Text 16"/>
          <p:cNvSpPr txBox="1"/>
          <p:nvPr/>
        </p:nvSpPr>
        <p:spPr>
          <a:xfrm>
            <a:off x="566928" y="3127248"/>
            <a:ext cx="4023360" cy="182880"/>
          </a:xfrm>
          <a:prstGeom prst="rect">
            <a:avLst/>
          </a:prstGeom>
          <a:noFill/>
          <a:ln/>
        </p:spPr>
        <p:txBody>
          <a:bodyPr wrap="square" lIns="0" tIns="0" rIns="0" bIns="0" rtlCol="0" anchor="ctr"/>
          <a:lstStyle/>
          <a:p>
            <a:pPr indent="0" marL="0">
              <a:buNone/>
            </a:pPr>
            <a:r>
              <a:rPr lang="en-US" sz="700" spc="180" kern="0" dirty="0">
                <a:solidFill>
                  <a:srgbClr val="72879D"/>
                </a:solidFill>
                <a:latin typeface="Arial" pitchFamily="34" charset="0"/>
                <a:ea typeface="Arial" pitchFamily="34" charset="-122"/>
                <a:cs typeface="Arial" pitchFamily="34" charset="-120"/>
              </a:rPr>
              <a:t>ENGINEERING EFFORT PER INTRODUCTION</a:t>
            </a:r>
            <a:endParaRPr lang="en-US" sz="700" dirty="0"/>
          </a:p>
        </p:txBody>
      </p:sp>
      <p:sp>
        <p:nvSpPr>
          <p:cNvPr id="19" name="Text 17"/>
          <p:cNvSpPr txBox="1"/>
          <p:nvPr/>
        </p:nvSpPr>
        <p:spPr>
          <a:xfrm>
            <a:off x="621792" y="5102352"/>
            <a:ext cx="3657600" cy="182880"/>
          </a:xfrm>
          <a:prstGeom prst="rect">
            <a:avLst/>
          </a:prstGeom>
          <a:noFill/>
          <a:ln/>
        </p:spPr>
        <p:txBody>
          <a:bodyPr wrap="square" lIns="0" tIns="0" rIns="0" bIns="0" rtlCol="0" anchor="ctr"/>
          <a:lstStyle/>
          <a:p>
            <a:pPr indent="0" marL="0">
              <a:buNone/>
            </a:pPr>
            <a:r>
              <a:rPr lang="en-US" sz="700" spc="180" kern="0" dirty="0">
                <a:solidFill>
                  <a:srgbClr val="72879D"/>
                </a:solidFill>
                <a:latin typeface="Arial" pitchFamily="34" charset="0"/>
                <a:ea typeface="Arial" pitchFamily="34" charset="-122"/>
                <a:cs typeface="Arial" pitchFamily="34" charset="-120"/>
              </a:rPr>
              <a:t>CONFIGURATION CHANGES →</a:t>
            </a:r>
            <a:endParaRPr lang="en-US" sz="700" dirty="0"/>
          </a:p>
        </p:txBody>
      </p:sp>
      <p:sp>
        <p:nvSpPr>
          <p:cNvPr id="20" name="Text 18"/>
          <p:cNvSpPr txBox="1"/>
          <p:nvPr/>
        </p:nvSpPr>
        <p:spPr>
          <a:xfrm>
            <a:off x="3639312" y="5102352"/>
            <a:ext cx="3017520" cy="182880"/>
          </a:xfrm>
          <a:prstGeom prst="rect">
            <a:avLst/>
          </a:prstGeom>
          <a:noFill/>
          <a:ln/>
        </p:spPr>
        <p:txBody>
          <a:bodyPr wrap="square" lIns="0" tIns="0" rIns="0" bIns="0" rtlCol="0" anchor="ctr"/>
          <a:lstStyle/>
          <a:p>
            <a:pPr algn="r" indent="0" marL="0">
              <a:buNone/>
            </a:pPr>
            <a:r>
              <a:rPr lang="en-US" sz="700" b="1" spc="140" kern="0" dirty="0">
                <a:solidFill>
                  <a:srgbClr val="51667C"/>
                </a:solidFill>
                <a:latin typeface="Arial" pitchFamily="34" charset="0"/>
                <a:ea typeface="Arial" pitchFamily="34" charset="-122"/>
                <a:cs typeface="Arial" pitchFamily="34" charset="-120"/>
              </a:rPr>
              <a:t>SCHEMATIC — ILLUSTRATIVE, NOT A DATA SERIES</a:t>
            </a:r>
            <a:endParaRPr lang="en-US" sz="700" dirty="0"/>
          </a:p>
        </p:txBody>
      </p:sp>
      <p:sp>
        <p:nvSpPr>
          <p:cNvPr id="21" name="Text 19"/>
          <p:cNvSpPr txBox="1"/>
          <p:nvPr/>
        </p:nvSpPr>
        <p:spPr>
          <a:xfrm>
            <a:off x="621792" y="1627632"/>
            <a:ext cx="6035040" cy="1280160"/>
          </a:xfrm>
          <a:prstGeom prst="rect">
            <a:avLst/>
          </a:prstGeom>
          <a:noFill/>
          <a:ln/>
        </p:spPr>
        <p:txBody>
          <a:bodyPr wrap="square" lIns="0" tIns="0" rIns="0" bIns="0" rtlCol="0" anchor="t"/>
          <a:lstStyle/>
          <a:p>
            <a:pPr algn="l" indent="0" marL="0">
              <a:lnSpc>
                <a:spcPct val="116000"/>
              </a:lnSpc>
              <a:spcAft>
                <a:spcPts val="400"/>
              </a:spcAft>
              <a:buNone/>
            </a:pPr>
            <a:r>
              <a:rPr lang="en-US" sz="850" b="1" spc="240" kern="0" dirty="0">
                <a:solidFill>
                  <a:srgbClr val="6FD3FF"/>
                </a:solidFill>
                <a:latin typeface="Arial" pitchFamily="34" charset="0"/>
                <a:ea typeface="Arial" pitchFamily="34" charset="-122"/>
                <a:cs typeface="Arial" pitchFamily="34" charset="-120"/>
              </a:rPr>
              <a:t>THE MECHANISM</a:t>
            </a:r>
            <a:endParaRPr lang="en-US" sz="850" dirty="0"/>
          </a:p>
          <a:p>
            <a:pPr algn="l" indent="0" marL="0">
              <a:lnSpc>
                <a:spcPct val="116000"/>
              </a:lnSpc>
              <a:buNone/>
            </a:pPr>
            <a:r>
              <a:rPr lang="en-US" sz="1000" dirty="0">
                <a:solidFill>
                  <a:srgbClr val="A9BDD1"/>
                </a:solidFill>
                <a:latin typeface="Arial" pitchFamily="34" charset="0"/>
                <a:ea typeface="Arial" pitchFamily="34" charset="-122"/>
                <a:cs typeface="Arial" pitchFamily="34" charset="-120"/>
              </a:rPr>
              <a:t>Every configuration change today resets process planning, programming, tooling, inspection planning, commissioning and first article preparation. Syntrex targets how much of that engineering has to reset.</a:t>
            </a:r>
            <a:endParaRPr lang="en-US" sz="850" dirty="0"/>
          </a:p>
        </p:txBody>
      </p:sp>
      <p:sp>
        <p:nvSpPr>
          <p:cNvPr id="22" name="Shape 20"/>
          <p:cNvSpPr/>
          <p:nvPr/>
        </p:nvSpPr>
        <p:spPr>
          <a:xfrm>
            <a:off x="7086600" y="1609344"/>
            <a:ext cx="4480560" cy="0"/>
          </a:xfrm>
          <a:prstGeom prst="line">
            <a:avLst/>
          </a:prstGeom>
          <a:noFill/>
          <a:ln w="9525">
            <a:solidFill>
              <a:srgbClr val="23405C"/>
            </a:solidFill>
            <a:prstDash val="solid"/>
          </a:ln>
        </p:spPr>
      </p:sp>
      <p:sp>
        <p:nvSpPr>
          <p:cNvPr id="23" name="Text 21"/>
          <p:cNvSpPr txBox="1"/>
          <p:nvPr/>
        </p:nvSpPr>
        <p:spPr>
          <a:xfrm>
            <a:off x="7086600" y="1700784"/>
            <a:ext cx="4480560" cy="237744"/>
          </a:xfrm>
          <a:prstGeom prst="rect">
            <a:avLst/>
          </a:prstGeom>
          <a:noFill/>
          <a:ln/>
        </p:spPr>
        <p:txBody>
          <a:bodyPr wrap="square" lIns="0" tIns="0" rIns="0" bIns="0" rtlCol="0" anchor="ctr"/>
          <a:lstStyle/>
          <a:p>
            <a:pPr indent="0" marL="0">
              <a:buNone/>
            </a:pPr>
            <a:r>
              <a:rPr lang="en-US" sz="1150" b="1" spc="100" kern="0" dirty="0">
                <a:solidFill>
                  <a:srgbClr val="EAF2FA"/>
                </a:solidFill>
                <a:latin typeface="Arial" pitchFamily="34" charset="0"/>
                <a:ea typeface="Arial" pitchFamily="34" charset="-122"/>
                <a:cs typeface="Arial" pitchFamily="34" charset="-120"/>
              </a:rPr>
              <a:t>DOES THE BURDEN FALL?</a:t>
            </a:r>
            <a:endParaRPr lang="en-US" sz="1150" dirty="0"/>
          </a:p>
        </p:txBody>
      </p:sp>
      <p:sp>
        <p:nvSpPr>
          <p:cNvPr id="24" name="Text 22"/>
          <p:cNvSpPr txBox="1"/>
          <p:nvPr/>
        </p:nvSpPr>
        <p:spPr>
          <a:xfrm>
            <a:off x="7086600" y="1975104"/>
            <a:ext cx="4480560" cy="237744"/>
          </a:xfrm>
          <a:prstGeom prst="rect">
            <a:avLst/>
          </a:prstGeom>
          <a:noFill/>
          <a:ln/>
        </p:spPr>
        <p:txBody>
          <a:bodyPr wrap="square" lIns="0" tIns="0" rIns="0" bIns="0" rtlCol="0" anchor="ctr"/>
          <a:lstStyle/>
          <a:p>
            <a:pPr indent="0" marL="0">
              <a:buNone/>
            </a:pPr>
            <a:r>
              <a:rPr lang="en-US" sz="900" dirty="0">
                <a:solidFill>
                  <a:srgbClr val="72879D"/>
                </a:solidFill>
                <a:latin typeface="Arial" pitchFamily="34" charset="0"/>
                <a:ea typeface="Arial" pitchFamily="34" charset="-122"/>
                <a:cs typeface="Arial" pitchFamily="34" charset="-120"/>
              </a:rPr>
              <a:t>measured in engineering hours per configuration</a:t>
            </a:r>
            <a:endParaRPr lang="en-US" sz="900" dirty="0"/>
          </a:p>
        </p:txBody>
      </p:sp>
      <p:sp>
        <p:nvSpPr>
          <p:cNvPr id="25" name="Shape 23"/>
          <p:cNvSpPr/>
          <p:nvPr/>
        </p:nvSpPr>
        <p:spPr>
          <a:xfrm>
            <a:off x="7086600" y="2322576"/>
            <a:ext cx="4480560" cy="0"/>
          </a:xfrm>
          <a:prstGeom prst="line">
            <a:avLst/>
          </a:prstGeom>
          <a:noFill/>
          <a:ln w="9525">
            <a:solidFill>
              <a:srgbClr val="23405C"/>
            </a:solidFill>
            <a:prstDash val="solid"/>
          </a:ln>
        </p:spPr>
      </p:sp>
      <p:sp>
        <p:nvSpPr>
          <p:cNvPr id="26" name="Text 24"/>
          <p:cNvSpPr txBox="1"/>
          <p:nvPr/>
        </p:nvSpPr>
        <p:spPr>
          <a:xfrm>
            <a:off x="7086600" y="2414016"/>
            <a:ext cx="4480560" cy="237744"/>
          </a:xfrm>
          <a:prstGeom prst="rect">
            <a:avLst/>
          </a:prstGeom>
          <a:noFill/>
          <a:ln/>
        </p:spPr>
        <p:txBody>
          <a:bodyPr wrap="square" lIns="0" tIns="0" rIns="0" bIns="0" rtlCol="0" anchor="ctr"/>
          <a:lstStyle/>
          <a:p>
            <a:pPr indent="0" marL="0">
              <a:buNone/>
            </a:pPr>
            <a:r>
              <a:rPr lang="en-US" sz="1150" b="1" spc="100" kern="0" dirty="0">
                <a:solidFill>
                  <a:srgbClr val="EAF2FA"/>
                </a:solidFill>
                <a:latin typeface="Arial" pitchFamily="34" charset="0"/>
                <a:ea typeface="Arial" pitchFamily="34" charset="-122"/>
                <a:cs typeface="Arial" pitchFamily="34" charset="-120"/>
              </a:rPr>
              <a:t>DOES THE EVIDENCE HOLD?</a:t>
            </a:r>
            <a:endParaRPr lang="en-US" sz="1150" dirty="0"/>
          </a:p>
        </p:txBody>
      </p:sp>
      <p:sp>
        <p:nvSpPr>
          <p:cNvPr id="27" name="Text 25"/>
          <p:cNvSpPr txBox="1"/>
          <p:nvPr/>
        </p:nvSpPr>
        <p:spPr>
          <a:xfrm>
            <a:off x="7086600" y="2688336"/>
            <a:ext cx="4480560" cy="237744"/>
          </a:xfrm>
          <a:prstGeom prst="rect">
            <a:avLst/>
          </a:prstGeom>
          <a:noFill/>
          <a:ln/>
        </p:spPr>
        <p:txBody>
          <a:bodyPr wrap="square" lIns="0" tIns="0" rIns="0" bIns="0" rtlCol="0" anchor="ctr"/>
          <a:lstStyle/>
          <a:p>
            <a:pPr indent="0" marL="0">
              <a:buNone/>
            </a:pPr>
            <a:r>
              <a:rPr lang="en-US" sz="900" dirty="0">
                <a:solidFill>
                  <a:srgbClr val="72879D"/>
                </a:solidFill>
                <a:latin typeface="Arial" pitchFamily="34" charset="0"/>
                <a:ea typeface="Arial" pitchFamily="34" charset="-122"/>
                <a:cs typeface="Arial" pitchFamily="34" charset="-120"/>
              </a:rPr>
              <a:t>measured against the customer's quality system</a:t>
            </a:r>
            <a:endParaRPr lang="en-US" sz="900" dirty="0"/>
          </a:p>
        </p:txBody>
      </p:sp>
      <p:sp>
        <p:nvSpPr>
          <p:cNvPr id="28" name="Shape 26"/>
          <p:cNvSpPr/>
          <p:nvPr/>
        </p:nvSpPr>
        <p:spPr>
          <a:xfrm>
            <a:off x="7086600" y="3035808"/>
            <a:ext cx="4480560" cy="0"/>
          </a:xfrm>
          <a:prstGeom prst="line">
            <a:avLst/>
          </a:prstGeom>
          <a:noFill/>
          <a:ln w="9525">
            <a:solidFill>
              <a:srgbClr val="23405C"/>
            </a:solidFill>
            <a:prstDash val="solid"/>
          </a:ln>
        </p:spPr>
      </p:sp>
      <p:sp>
        <p:nvSpPr>
          <p:cNvPr id="29" name="Text 27"/>
          <p:cNvSpPr txBox="1"/>
          <p:nvPr/>
        </p:nvSpPr>
        <p:spPr>
          <a:xfrm>
            <a:off x="7086600" y="3127248"/>
            <a:ext cx="4480560" cy="237744"/>
          </a:xfrm>
          <a:prstGeom prst="rect">
            <a:avLst/>
          </a:prstGeom>
          <a:noFill/>
          <a:ln/>
        </p:spPr>
        <p:txBody>
          <a:bodyPr wrap="square" lIns="0" tIns="0" rIns="0" bIns="0" rtlCol="0" anchor="ctr"/>
          <a:lstStyle/>
          <a:p>
            <a:pPr indent="0" marL="0">
              <a:buNone/>
            </a:pPr>
            <a:r>
              <a:rPr lang="en-US" sz="1150" b="1" spc="100" kern="0" dirty="0">
                <a:solidFill>
                  <a:srgbClr val="EAF2FA"/>
                </a:solidFill>
                <a:latin typeface="Arial" pitchFamily="34" charset="0"/>
                <a:ea typeface="Arial" pitchFamily="34" charset="-122"/>
                <a:cs typeface="Arial" pitchFamily="34" charset="-120"/>
              </a:rPr>
              <a:t>DOES IT TRANSFER?</a:t>
            </a:r>
            <a:endParaRPr lang="en-US" sz="1150" dirty="0"/>
          </a:p>
        </p:txBody>
      </p:sp>
      <p:sp>
        <p:nvSpPr>
          <p:cNvPr id="30" name="Text 28"/>
          <p:cNvSpPr txBox="1"/>
          <p:nvPr/>
        </p:nvSpPr>
        <p:spPr>
          <a:xfrm>
            <a:off x="7086600" y="3401568"/>
            <a:ext cx="4480560" cy="237744"/>
          </a:xfrm>
          <a:prstGeom prst="rect">
            <a:avLst/>
          </a:prstGeom>
          <a:noFill/>
          <a:ln/>
        </p:spPr>
        <p:txBody>
          <a:bodyPr wrap="square" lIns="0" tIns="0" rIns="0" bIns="0" rtlCol="0" anchor="ctr"/>
          <a:lstStyle/>
          <a:p>
            <a:pPr indent="0" marL="0">
              <a:buNone/>
            </a:pPr>
            <a:r>
              <a:rPr lang="en-US" sz="900" dirty="0">
                <a:solidFill>
                  <a:srgbClr val="72879D"/>
                </a:solidFill>
                <a:latin typeface="Arial" pitchFamily="34" charset="0"/>
                <a:ea typeface="Arial" pitchFamily="34" charset="-122"/>
                <a:cs typeface="Arial" pitchFamily="34" charset="-120"/>
              </a:rPr>
              <a:t>measured across a second configuration</a:t>
            </a:r>
            <a:endParaRPr lang="en-US" sz="900" dirty="0"/>
          </a:p>
        </p:txBody>
      </p:sp>
      <p:sp>
        <p:nvSpPr>
          <p:cNvPr id="31" name="Shape 29"/>
          <p:cNvSpPr/>
          <p:nvPr/>
        </p:nvSpPr>
        <p:spPr>
          <a:xfrm>
            <a:off x="7086600" y="3968496"/>
            <a:ext cx="4480560" cy="1554480"/>
          </a:xfrm>
          <a:prstGeom prst="roundRect">
            <a:avLst>
              <a:gd name="adj" fmla="val 5294"/>
            </a:avLst>
          </a:prstGeom>
          <a:solidFill>
            <a:srgbClr val="0F1E31">
              <a:alpha val="68000"/>
            </a:srgbClr>
          </a:solidFill>
          <a:ln w="9525">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32" name="Text 30"/>
          <p:cNvSpPr txBox="1"/>
          <p:nvPr/>
        </p:nvSpPr>
        <p:spPr>
          <a:xfrm>
            <a:off x="7315200" y="4133088"/>
            <a:ext cx="4023360" cy="1325880"/>
          </a:xfrm>
          <a:prstGeom prst="rect">
            <a:avLst/>
          </a:prstGeom>
          <a:noFill/>
          <a:ln/>
        </p:spPr>
        <p:txBody>
          <a:bodyPr wrap="square" lIns="0" tIns="0" rIns="0" bIns="0" rtlCol="0" anchor="t"/>
          <a:lstStyle/>
          <a:p>
            <a:pPr algn="l" indent="0" marL="0">
              <a:lnSpc>
                <a:spcPct val="110000"/>
              </a:lnSpc>
              <a:spcAft>
                <a:spcPts val="400"/>
              </a:spcAft>
              <a:buNone/>
            </a:pPr>
            <a:r>
              <a:rPr lang="en-US" sz="850" b="1" spc="240" kern="0" dirty="0">
                <a:solidFill>
                  <a:srgbClr val="6FD3FF"/>
                </a:solidFill>
                <a:latin typeface="Arial" pitchFamily="34" charset="0"/>
                <a:ea typeface="Arial" pitchFamily="34" charset="-122"/>
                <a:cs typeface="Arial" pitchFamily="34" charset="-120"/>
              </a:rPr>
              <a:t>THE DISCIPLINE</a:t>
            </a:r>
            <a:endParaRPr lang="en-US" sz="850" dirty="0"/>
          </a:p>
          <a:p>
            <a:pPr algn="l" indent="0" marL="0">
              <a:lnSpc>
                <a:spcPct val="110000"/>
              </a:lnSpc>
              <a:spcAft>
                <a:spcPts val="500"/>
              </a:spcAft>
              <a:buNone/>
            </a:pPr>
            <a:r>
              <a:rPr lang="en-US" sz="880" dirty="0">
                <a:solidFill>
                  <a:srgbClr val="A9BDD1"/>
                </a:solidFill>
                <a:latin typeface="Arial" pitchFamily="34" charset="0"/>
                <a:ea typeface="Arial" pitchFamily="34" charset="-122"/>
                <a:cs typeface="Arial" pitchFamily="34" charset="-120"/>
              </a:rPr>
              <a:t>There is no public benchmark for engineering hours per new part number in aerospace. The peer-reviewed literature states that no consolidated cost theory exists. The commercial datasets that come closest are gated and do not reach part-number granularity.</a:t>
            </a:r>
            <a:endParaRPr lang="en-US" sz="850" dirty="0"/>
          </a:p>
          <a:p>
            <a:pPr algn="l" indent="0" marL="0">
              <a:lnSpc>
                <a:spcPct val="110000"/>
              </a:lnSpc>
              <a:buNone/>
            </a:pPr>
            <a:r>
              <a:rPr lang="en-US" sz="1000" b="1" dirty="0">
                <a:solidFill>
                  <a:srgbClr val="EAF2FA"/>
                </a:solidFill>
                <a:latin typeface="Arial" pitchFamily="34" charset="0"/>
                <a:ea typeface="Arial" pitchFamily="34" charset="-122"/>
                <a:cs typeface="Arial" pitchFamily="34" charset="-120"/>
              </a:rPr>
              <a:t>We will not borrow a number. We will measure our own and publish it.</a:t>
            </a:r>
            <a:endParaRPr lang="en-US" sz="850" dirty="0"/>
          </a:p>
        </p:txBody>
      </p:sp>
      <p:sp>
        <p:nvSpPr>
          <p:cNvPr id="33" name="Text 31"/>
          <p:cNvSpPr txBox="1"/>
          <p:nvPr/>
        </p:nvSpPr>
        <p:spPr>
          <a:xfrm>
            <a:off x="621792" y="5815584"/>
            <a:ext cx="7315200" cy="310896"/>
          </a:xfrm>
          <a:prstGeom prst="rect">
            <a:avLst/>
          </a:prstGeom>
          <a:noFill/>
          <a:ln/>
        </p:spPr>
        <p:txBody>
          <a:bodyPr wrap="square" lIns="0" tIns="0" rIns="0" bIns="0" rtlCol="0" anchor="ctr"/>
          <a:lstStyle/>
          <a:p>
            <a:pPr indent="0" marL="0">
              <a:buNone/>
            </a:pPr>
            <a:r>
              <a:rPr lang="en-US" sz="1400" b="1" dirty="0">
                <a:solidFill>
                  <a:srgbClr val="6FD3FF"/>
                </a:solidFill>
                <a:latin typeface="Arial" pitchFamily="34" charset="0"/>
                <a:ea typeface="Arial" pitchFamily="34" charset="-122"/>
                <a:cs typeface="Arial" pitchFamily="34" charset="-120"/>
              </a:rPr>
              <a:t>Customer-measured values. Not assumed savings.</a:t>
            </a:r>
            <a:endParaRPr lang="en-US" sz="1400" dirty="0"/>
          </a:p>
        </p:txBody>
      </p:sp>
      <p:sp>
        <p:nvSpPr>
          <p:cNvPr id="34" name="Text 32"/>
          <p:cNvSpPr txBox="1"/>
          <p:nvPr/>
        </p:nvSpPr>
        <p:spPr>
          <a:xfrm>
            <a:off x="621792" y="6236208"/>
            <a:ext cx="10948111" cy="256032"/>
          </a:xfrm>
          <a:prstGeom prst="rect">
            <a:avLst/>
          </a:prstGeom>
          <a:noFill/>
          <a:ln/>
        </p:spPr>
        <p:txBody>
          <a:bodyPr wrap="square" lIns="0" tIns="0" rIns="0" bIns="0" rtlCol="0" anchor="ctr"/>
          <a:lstStyle/>
          <a:p>
            <a:pPr indent="0" marL="0">
              <a:lnSpc>
                <a:spcPct val="105000"/>
              </a:lnSpc>
              <a:buNone/>
            </a:pPr>
            <a:r>
              <a:rPr lang="en-US" sz="650" dirty="0">
                <a:solidFill>
                  <a:srgbClr val="51667C"/>
                </a:solidFill>
                <a:latin typeface="Arial" pitchFamily="34" charset="0"/>
                <a:ea typeface="Arial" pitchFamily="34" charset="-122"/>
                <a:cs typeface="Arial" pitchFamily="34" charset="-120"/>
              </a:rPr>
              <a:t>Sources: Della Vecchia, Mandorino, Cusati and Nicolosi, Retrofitting Cost Modeling in Aircraft Design, Aerospace 9(7):349, 2022 · APQC, Manufacturing Key Benchmarks: Aerospace Industry, 2026</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12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THE INDUSTRIAL RACE IS ALREADY UNDERWAY</a:t>
            </a:r>
            <a:endParaRPr lang="en-US" sz="1000" dirty="0"/>
          </a:p>
        </p:txBody>
      </p:sp>
      <p:sp>
        <p:nvSpPr>
          <p:cNvPr id="5"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2700" b="1" dirty="0">
                <a:solidFill>
                  <a:srgbClr val="EAF2FA"/>
                </a:solidFill>
                <a:latin typeface="Arial" pitchFamily="34" charset="0"/>
                <a:ea typeface="Arial" pitchFamily="34" charset="-122"/>
                <a:cs typeface="Arial" pitchFamily="34" charset="-120"/>
              </a:rPr>
              <a:t>The category is real and well capitalized.</a:t>
            </a:r>
            <a:endParaRPr lang="en-US" sz="2700" dirty="0"/>
          </a:p>
        </p:txBody>
      </p:sp>
      <p:sp>
        <p:nvSpPr>
          <p:cNvPr id="6" name="Text 4"/>
          <p:cNvSpPr txBox="1"/>
          <p:nvPr/>
        </p:nvSpPr>
        <p:spPr>
          <a:xfrm>
            <a:off x="621792" y="1316736"/>
            <a:ext cx="1920240" cy="182880"/>
          </a:xfrm>
          <a:prstGeom prst="rect">
            <a:avLst/>
          </a:prstGeom>
          <a:noFill/>
          <a:ln/>
        </p:spPr>
        <p:txBody>
          <a:bodyPr wrap="square" lIns="0" tIns="0" rIns="0" bIns="0" rtlCol="0" anchor="ctr"/>
          <a:lstStyle/>
          <a:p>
            <a:pPr indent="0" marL="0">
              <a:buNone/>
            </a:pPr>
            <a:r>
              <a:rPr lang="en-US" sz="750" b="1" spc="220" kern="0" dirty="0">
                <a:solidFill>
                  <a:srgbClr val="72879D"/>
                </a:solidFill>
                <a:latin typeface="Arial" pitchFamily="34" charset="0"/>
                <a:ea typeface="Arial" pitchFamily="34" charset="-122"/>
                <a:cs typeface="Arial" pitchFamily="34" charset="-120"/>
              </a:rPr>
              <a:t>COMPANY</a:t>
            </a:r>
            <a:endParaRPr lang="en-US" sz="750" dirty="0"/>
          </a:p>
        </p:txBody>
      </p:sp>
      <p:sp>
        <p:nvSpPr>
          <p:cNvPr id="7" name="Text 5"/>
          <p:cNvSpPr txBox="1"/>
          <p:nvPr/>
        </p:nvSpPr>
        <p:spPr>
          <a:xfrm>
            <a:off x="2679192" y="1316736"/>
            <a:ext cx="5486400" cy="182880"/>
          </a:xfrm>
          <a:prstGeom prst="rect">
            <a:avLst/>
          </a:prstGeom>
          <a:noFill/>
          <a:ln/>
        </p:spPr>
        <p:txBody>
          <a:bodyPr wrap="square" lIns="0" tIns="0" rIns="0" bIns="0" rtlCol="0" anchor="ctr"/>
          <a:lstStyle/>
          <a:p>
            <a:pPr indent="0" marL="0">
              <a:buNone/>
            </a:pPr>
            <a:r>
              <a:rPr lang="en-US" sz="750" b="1" spc="220" kern="0" dirty="0">
                <a:solidFill>
                  <a:srgbClr val="72879D"/>
                </a:solidFill>
                <a:latin typeface="Arial" pitchFamily="34" charset="0"/>
                <a:ea typeface="Arial" pitchFamily="34" charset="-122"/>
                <a:cs typeface="Arial" pitchFamily="34" charset="-120"/>
              </a:rPr>
              <a:t>WHAT THEY HAVE ESTABLISHED</a:t>
            </a:r>
            <a:endParaRPr lang="en-US" sz="750" dirty="0"/>
          </a:p>
        </p:txBody>
      </p:sp>
      <p:sp>
        <p:nvSpPr>
          <p:cNvPr id="8" name="Text 6"/>
          <p:cNvSpPr txBox="1"/>
          <p:nvPr/>
        </p:nvSpPr>
        <p:spPr>
          <a:xfrm>
            <a:off x="8348472" y="1316736"/>
            <a:ext cx="3200400" cy="182880"/>
          </a:xfrm>
          <a:prstGeom prst="rect">
            <a:avLst/>
          </a:prstGeom>
          <a:noFill/>
          <a:ln/>
        </p:spPr>
        <p:txBody>
          <a:bodyPr wrap="square" lIns="0" tIns="0" rIns="0" bIns="0" rtlCol="0" anchor="ctr"/>
          <a:lstStyle/>
          <a:p>
            <a:pPr indent="0" marL="0">
              <a:buNone/>
            </a:pPr>
            <a:r>
              <a:rPr lang="en-US" sz="750" b="1" spc="220" kern="0" dirty="0">
                <a:solidFill>
                  <a:srgbClr val="72879D"/>
                </a:solidFill>
                <a:latin typeface="Arial" pitchFamily="34" charset="0"/>
                <a:ea typeface="Arial" pitchFamily="34" charset="-122"/>
                <a:cs typeface="Arial" pitchFamily="34" charset="-120"/>
              </a:rPr>
              <a:t>STATUS</a:t>
            </a:r>
            <a:endParaRPr lang="en-US" sz="750" dirty="0"/>
          </a:p>
        </p:txBody>
      </p:sp>
      <p:sp>
        <p:nvSpPr>
          <p:cNvPr id="9" name="Shape 7"/>
          <p:cNvSpPr/>
          <p:nvPr/>
        </p:nvSpPr>
        <p:spPr>
          <a:xfrm>
            <a:off x="621792" y="1536192"/>
            <a:ext cx="10948111" cy="0"/>
          </a:xfrm>
          <a:prstGeom prst="line">
            <a:avLst/>
          </a:prstGeom>
          <a:noFill/>
          <a:ln w="9525">
            <a:solidFill>
              <a:srgbClr val="23405C"/>
            </a:solidFill>
            <a:prstDash val="solid"/>
          </a:ln>
        </p:spPr>
      </p:sp>
      <p:sp>
        <p:nvSpPr>
          <p:cNvPr id="10" name="Text 8"/>
          <p:cNvSpPr txBox="1"/>
          <p:nvPr/>
        </p:nvSpPr>
        <p:spPr>
          <a:xfrm>
            <a:off x="621792" y="1627632"/>
            <a:ext cx="1965960" cy="274320"/>
          </a:xfrm>
          <a:prstGeom prst="rect">
            <a:avLst/>
          </a:prstGeom>
          <a:noFill/>
          <a:ln/>
        </p:spPr>
        <p:txBody>
          <a:bodyPr wrap="square" lIns="0" tIns="0" rIns="0" bIns="0" rtlCol="0" anchor="ctr"/>
          <a:lstStyle/>
          <a:p>
            <a:pPr indent="0" marL="0">
              <a:buNone/>
            </a:pPr>
            <a:r>
              <a:rPr lang="en-US" sz="1050" b="1" spc="140" kern="0" dirty="0">
                <a:solidFill>
                  <a:srgbClr val="EAF2FA"/>
                </a:solidFill>
                <a:latin typeface="Arial" pitchFamily="34" charset="0"/>
                <a:ea typeface="Arial" pitchFamily="34" charset="-122"/>
                <a:cs typeface="Arial" pitchFamily="34" charset="-120"/>
              </a:rPr>
              <a:t>ELECTROIMPACT</a:t>
            </a:r>
            <a:endParaRPr lang="en-US" sz="1050" dirty="0"/>
          </a:p>
        </p:txBody>
      </p:sp>
      <p:sp>
        <p:nvSpPr>
          <p:cNvPr id="11" name="Text 9"/>
          <p:cNvSpPr txBox="1"/>
          <p:nvPr/>
        </p:nvSpPr>
        <p:spPr>
          <a:xfrm>
            <a:off x="2679192" y="1609344"/>
            <a:ext cx="548640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Metrology-driven, sensor-corrected robotic assembly, drilling and fiber placement installed in customer factories. Documented accuracy of ±0.08 mm at three sigma versus ±0.45 mm for a standard robot.</a:t>
            </a:r>
            <a:endParaRPr lang="en-US" sz="830" dirty="0"/>
          </a:p>
        </p:txBody>
      </p:sp>
      <p:sp>
        <p:nvSpPr>
          <p:cNvPr id="12" name="Text 10"/>
          <p:cNvSpPr txBox="1"/>
          <p:nvPr/>
        </p:nvSpPr>
        <p:spPr>
          <a:xfrm>
            <a:off x="8348472" y="1609344"/>
            <a:ext cx="324612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Production proven on 787, A350, A400M and other programs</a:t>
            </a:r>
            <a:endParaRPr lang="en-US" sz="830" dirty="0"/>
          </a:p>
        </p:txBody>
      </p:sp>
      <p:sp>
        <p:nvSpPr>
          <p:cNvPr id="13" name="Shape 11"/>
          <p:cNvSpPr/>
          <p:nvPr/>
        </p:nvSpPr>
        <p:spPr>
          <a:xfrm>
            <a:off x="621792" y="2194560"/>
            <a:ext cx="10948111" cy="0"/>
          </a:xfrm>
          <a:prstGeom prst="line">
            <a:avLst/>
          </a:prstGeom>
          <a:noFill/>
          <a:ln w="9525">
            <a:solidFill>
              <a:srgbClr val="23405C"/>
            </a:solidFill>
            <a:prstDash val="solid"/>
          </a:ln>
        </p:spPr>
      </p:sp>
      <p:sp>
        <p:nvSpPr>
          <p:cNvPr id="14" name="Text 12"/>
          <p:cNvSpPr txBox="1"/>
          <p:nvPr/>
        </p:nvSpPr>
        <p:spPr>
          <a:xfrm>
            <a:off x="621792" y="2286000"/>
            <a:ext cx="1965960" cy="274320"/>
          </a:xfrm>
          <a:prstGeom prst="rect">
            <a:avLst/>
          </a:prstGeom>
          <a:noFill/>
          <a:ln/>
        </p:spPr>
        <p:txBody>
          <a:bodyPr wrap="square" lIns="0" tIns="0" rIns="0" bIns="0" rtlCol="0" anchor="ctr"/>
          <a:lstStyle/>
          <a:p>
            <a:pPr indent="0" marL="0">
              <a:buNone/>
            </a:pPr>
            <a:r>
              <a:rPr lang="en-US" sz="1050" b="1" spc="140" kern="0" dirty="0">
                <a:solidFill>
                  <a:srgbClr val="EAF2FA"/>
                </a:solidFill>
                <a:latin typeface="Arial" pitchFamily="34" charset="0"/>
                <a:ea typeface="Arial" pitchFamily="34" charset="-122"/>
                <a:cs typeface="Arial" pitchFamily="34" charset="-120"/>
              </a:rPr>
              <a:t>HADRIAN</a:t>
            </a:r>
            <a:endParaRPr lang="en-US" sz="1050" dirty="0"/>
          </a:p>
        </p:txBody>
      </p:sp>
      <p:sp>
        <p:nvSpPr>
          <p:cNvPr id="15" name="Text 13"/>
          <p:cNvSpPr txBox="1"/>
          <p:nvPr/>
        </p:nvSpPr>
        <p:spPr>
          <a:xfrm>
            <a:off x="2679192" y="2267712"/>
            <a:ext cx="548640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Automated precision machining and inspection, operated in Hadrian factories and as cells deployed at customer sites.</a:t>
            </a:r>
            <a:endParaRPr lang="en-US" sz="830" dirty="0"/>
          </a:p>
        </p:txBody>
      </p:sp>
      <p:sp>
        <p:nvSpPr>
          <p:cNvPr id="16" name="Text 14"/>
          <p:cNvSpPr txBox="1"/>
          <p:nvPr/>
        </p:nvSpPr>
        <p:spPr>
          <a:xfrm>
            <a:off x="8348472" y="2267712"/>
            <a:ext cx="324612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$1.37B Series D at $7.87B, August 2026</a:t>
            </a:r>
            <a:endParaRPr lang="en-US" sz="830" dirty="0"/>
          </a:p>
        </p:txBody>
      </p:sp>
      <p:sp>
        <p:nvSpPr>
          <p:cNvPr id="17" name="Shape 15"/>
          <p:cNvSpPr/>
          <p:nvPr/>
        </p:nvSpPr>
        <p:spPr>
          <a:xfrm>
            <a:off x="621792" y="2852928"/>
            <a:ext cx="10948111" cy="0"/>
          </a:xfrm>
          <a:prstGeom prst="line">
            <a:avLst/>
          </a:prstGeom>
          <a:noFill/>
          <a:ln w="9525">
            <a:solidFill>
              <a:srgbClr val="23405C"/>
            </a:solidFill>
            <a:prstDash val="solid"/>
          </a:ln>
        </p:spPr>
      </p:sp>
      <p:sp>
        <p:nvSpPr>
          <p:cNvPr id="18" name="Text 16"/>
          <p:cNvSpPr txBox="1"/>
          <p:nvPr/>
        </p:nvSpPr>
        <p:spPr>
          <a:xfrm>
            <a:off x="621792" y="2944368"/>
            <a:ext cx="1965960" cy="274320"/>
          </a:xfrm>
          <a:prstGeom prst="rect">
            <a:avLst/>
          </a:prstGeom>
          <a:noFill/>
          <a:ln/>
        </p:spPr>
        <p:txBody>
          <a:bodyPr wrap="square" lIns="0" tIns="0" rIns="0" bIns="0" rtlCol="0" anchor="ctr"/>
          <a:lstStyle/>
          <a:p>
            <a:pPr indent="0" marL="0">
              <a:buNone/>
            </a:pPr>
            <a:r>
              <a:rPr lang="en-US" sz="1050" b="1" spc="140" kern="0" dirty="0">
                <a:solidFill>
                  <a:srgbClr val="EAF2FA"/>
                </a:solidFill>
                <a:latin typeface="Arial" pitchFamily="34" charset="0"/>
                <a:ea typeface="Arial" pitchFamily="34" charset="-122"/>
                <a:cs typeface="Arial" pitchFamily="34" charset="-120"/>
              </a:rPr>
              <a:t>DIVERGENT</a:t>
            </a:r>
            <a:endParaRPr lang="en-US" sz="1050" dirty="0"/>
          </a:p>
        </p:txBody>
      </p:sp>
      <p:sp>
        <p:nvSpPr>
          <p:cNvPr id="19" name="Text 17"/>
          <p:cNvSpPr txBox="1"/>
          <p:nvPr/>
        </p:nvSpPr>
        <p:spPr>
          <a:xfrm>
            <a:off x="2679192" y="2926080"/>
            <a:ext cx="548640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Generative design, industrial-rate additive manufacturing and fixtureless robotic assembly, in its own factories.</a:t>
            </a:r>
            <a:endParaRPr lang="en-US" sz="830" dirty="0"/>
          </a:p>
        </p:txBody>
      </p:sp>
      <p:sp>
        <p:nvSpPr>
          <p:cNvPr id="20" name="Text 18"/>
          <p:cNvSpPr txBox="1"/>
          <p:nvPr/>
        </p:nvSpPr>
        <p:spPr>
          <a:xfrm>
            <a:off x="8348472" y="2926080"/>
            <a:ext cx="324612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Nadcap accredited for additive manufacturing, Dec 2024. Saab software-defined fuselage passed structural proof loading, Dec 2025</a:t>
            </a:r>
            <a:endParaRPr lang="en-US" sz="830" dirty="0"/>
          </a:p>
        </p:txBody>
      </p:sp>
      <p:sp>
        <p:nvSpPr>
          <p:cNvPr id="21" name="Shape 19"/>
          <p:cNvSpPr/>
          <p:nvPr/>
        </p:nvSpPr>
        <p:spPr>
          <a:xfrm>
            <a:off x="621792" y="3511296"/>
            <a:ext cx="10948111" cy="0"/>
          </a:xfrm>
          <a:prstGeom prst="line">
            <a:avLst/>
          </a:prstGeom>
          <a:noFill/>
          <a:ln w="9525">
            <a:solidFill>
              <a:srgbClr val="23405C"/>
            </a:solidFill>
            <a:prstDash val="solid"/>
          </a:ln>
        </p:spPr>
      </p:sp>
      <p:sp>
        <p:nvSpPr>
          <p:cNvPr id="22" name="Text 20"/>
          <p:cNvSpPr txBox="1"/>
          <p:nvPr/>
        </p:nvSpPr>
        <p:spPr>
          <a:xfrm>
            <a:off x="621792" y="3602736"/>
            <a:ext cx="1965960" cy="274320"/>
          </a:xfrm>
          <a:prstGeom prst="rect">
            <a:avLst/>
          </a:prstGeom>
          <a:noFill/>
          <a:ln/>
        </p:spPr>
        <p:txBody>
          <a:bodyPr wrap="square" lIns="0" tIns="0" rIns="0" bIns="0" rtlCol="0" anchor="ctr"/>
          <a:lstStyle/>
          <a:p>
            <a:pPr indent="0" marL="0">
              <a:buNone/>
            </a:pPr>
            <a:r>
              <a:rPr lang="en-US" sz="1050" b="1" spc="140" kern="0" dirty="0">
                <a:solidFill>
                  <a:srgbClr val="EAF2FA"/>
                </a:solidFill>
                <a:latin typeface="Arial" pitchFamily="34" charset="0"/>
                <a:ea typeface="Arial" pitchFamily="34" charset="-122"/>
                <a:cs typeface="Arial" pitchFamily="34" charset="-120"/>
              </a:rPr>
              <a:t>MACHINA LABS</a:t>
            </a:r>
            <a:endParaRPr lang="en-US" sz="1050" dirty="0"/>
          </a:p>
        </p:txBody>
      </p:sp>
      <p:sp>
        <p:nvSpPr>
          <p:cNvPr id="23" name="Text 21"/>
          <p:cNvSpPr txBox="1"/>
          <p:nvPr/>
        </p:nvSpPr>
        <p:spPr>
          <a:xfrm>
            <a:off x="2679192" y="3584448"/>
            <a:ext cx="548640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Dieless robotic metal forming with in-process sensing.</a:t>
            </a:r>
            <a:endParaRPr lang="en-US" sz="830" dirty="0"/>
          </a:p>
        </p:txBody>
      </p:sp>
      <p:sp>
        <p:nvSpPr>
          <p:cNvPr id="24" name="Text 22"/>
          <p:cNvSpPr txBox="1"/>
          <p:nvPr/>
        </p:nvSpPr>
        <p:spPr>
          <a:xfrm>
            <a:off x="8348472" y="3584448"/>
            <a:ext cx="324612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Awarded a qualification contract from Lockheed Martin in support of JASSM, July 2026</a:t>
            </a:r>
            <a:endParaRPr lang="en-US" sz="830" dirty="0"/>
          </a:p>
        </p:txBody>
      </p:sp>
      <p:sp>
        <p:nvSpPr>
          <p:cNvPr id="25" name="Shape 23"/>
          <p:cNvSpPr/>
          <p:nvPr/>
        </p:nvSpPr>
        <p:spPr>
          <a:xfrm>
            <a:off x="621792" y="4169664"/>
            <a:ext cx="10948111" cy="0"/>
          </a:xfrm>
          <a:prstGeom prst="line">
            <a:avLst/>
          </a:prstGeom>
          <a:noFill/>
          <a:ln w="9525">
            <a:solidFill>
              <a:srgbClr val="23405C"/>
            </a:solidFill>
            <a:prstDash val="solid"/>
          </a:ln>
        </p:spPr>
      </p:sp>
      <p:sp>
        <p:nvSpPr>
          <p:cNvPr id="26" name="Text 24"/>
          <p:cNvSpPr txBox="1"/>
          <p:nvPr/>
        </p:nvSpPr>
        <p:spPr>
          <a:xfrm>
            <a:off x="621792" y="4261104"/>
            <a:ext cx="1965960" cy="274320"/>
          </a:xfrm>
          <a:prstGeom prst="rect">
            <a:avLst/>
          </a:prstGeom>
          <a:noFill/>
          <a:ln/>
        </p:spPr>
        <p:txBody>
          <a:bodyPr wrap="square" lIns="0" tIns="0" rIns="0" bIns="0" rtlCol="0" anchor="ctr"/>
          <a:lstStyle/>
          <a:p>
            <a:pPr indent="0" marL="0">
              <a:buNone/>
            </a:pPr>
            <a:r>
              <a:rPr lang="en-US" sz="1050" b="1" spc="140" kern="0" dirty="0">
                <a:solidFill>
                  <a:srgbClr val="EAF2FA"/>
                </a:solidFill>
                <a:latin typeface="Arial" pitchFamily="34" charset="0"/>
                <a:ea typeface="Arial" pitchFamily="34" charset="-122"/>
                <a:cs typeface="Arial" pitchFamily="34" charset="-120"/>
              </a:rPr>
              <a:t>CLOUDNC</a:t>
            </a:r>
            <a:endParaRPr lang="en-US" sz="1050" dirty="0"/>
          </a:p>
        </p:txBody>
      </p:sp>
      <p:sp>
        <p:nvSpPr>
          <p:cNvPr id="27" name="Text 25"/>
          <p:cNvSpPr txBox="1"/>
          <p:nvPr/>
        </p:nvSpPr>
        <p:spPr>
          <a:xfrm>
            <a:off x="2679192" y="4242816"/>
            <a:ext cx="548640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AI-assisted CNC programming, claiming up to 80% of a CAM program completed automatically.</a:t>
            </a:r>
            <a:endParaRPr lang="en-US" sz="830" dirty="0"/>
          </a:p>
        </p:txBody>
      </p:sp>
      <p:sp>
        <p:nvSpPr>
          <p:cNvPr id="28" name="Text 26"/>
          <p:cNvSpPr txBox="1"/>
          <p:nvPr/>
        </p:nvSpPr>
        <p:spPr>
          <a:xfrm>
            <a:off x="8348472" y="4242816"/>
            <a:ext cx="3246120" cy="585216"/>
          </a:xfrm>
          <a:prstGeom prst="rect">
            <a:avLst/>
          </a:prstGeom>
          <a:noFill/>
          <a:ln/>
        </p:spPr>
        <p:txBody>
          <a:bodyPr wrap="square" lIns="0" tIns="0" rIns="0" bIns="0" rtlCol="0" anchor="ctr"/>
          <a:lstStyle/>
          <a:p>
            <a:pPr indent="0" marL="0">
              <a:lnSpc>
                <a:spcPct val="108000"/>
              </a:lnSpc>
              <a:buNone/>
            </a:pPr>
            <a:r>
              <a:rPr lang="en-US" sz="830" dirty="0">
                <a:solidFill>
                  <a:srgbClr val="A9BDD1"/>
                </a:solidFill>
                <a:latin typeface="Arial" pitchFamily="34" charset="0"/>
                <a:ea typeface="Arial" pitchFamily="34" charset="-122"/>
                <a:cs typeface="Arial" pitchFamily="34" charset="-120"/>
              </a:rPr>
              <a:t>In use at over 1,000 factories. Three-axis and 3+2 only</a:t>
            </a:r>
            <a:endParaRPr lang="en-US" sz="830" dirty="0"/>
          </a:p>
        </p:txBody>
      </p:sp>
      <p:sp>
        <p:nvSpPr>
          <p:cNvPr id="29" name="Shape 27"/>
          <p:cNvSpPr/>
          <p:nvPr/>
        </p:nvSpPr>
        <p:spPr>
          <a:xfrm>
            <a:off x="621792" y="4828032"/>
            <a:ext cx="10948111" cy="0"/>
          </a:xfrm>
          <a:prstGeom prst="line">
            <a:avLst/>
          </a:prstGeom>
          <a:noFill/>
          <a:ln w="9525">
            <a:solidFill>
              <a:srgbClr val="23405C"/>
            </a:solidFill>
            <a:prstDash val="solid"/>
          </a:ln>
        </p:spPr>
      </p:sp>
      <p:sp>
        <p:nvSpPr>
          <p:cNvPr id="30" name="Text 28"/>
          <p:cNvSpPr txBox="1"/>
          <p:nvPr/>
        </p:nvSpPr>
        <p:spPr>
          <a:xfrm>
            <a:off x="621792" y="4919472"/>
            <a:ext cx="1965960" cy="274320"/>
          </a:xfrm>
          <a:prstGeom prst="rect">
            <a:avLst/>
          </a:prstGeom>
          <a:noFill/>
          <a:ln/>
        </p:spPr>
        <p:txBody>
          <a:bodyPr wrap="square" lIns="0" tIns="0" rIns="0" bIns="0" rtlCol="0" anchor="ctr"/>
          <a:lstStyle/>
          <a:p>
            <a:pPr indent="0" marL="0">
              <a:buNone/>
            </a:pPr>
            <a:r>
              <a:rPr lang="en-US" sz="1050" b="1" spc="140" kern="0" dirty="0">
                <a:solidFill>
                  <a:srgbClr val="72879D"/>
                </a:solidFill>
                <a:latin typeface="Arial" pitchFamily="34" charset="0"/>
                <a:ea typeface="Arial" pitchFamily="34" charset="-122"/>
                <a:cs typeface="Arial" pitchFamily="34" charset="-120"/>
              </a:rPr>
              <a:t>SYNTREX</a:t>
            </a:r>
            <a:endParaRPr lang="en-US" sz="1050" dirty="0"/>
          </a:p>
        </p:txBody>
      </p:sp>
      <p:sp>
        <p:nvSpPr>
          <p:cNvPr id="31" name="Text 29"/>
          <p:cNvSpPr txBox="1"/>
          <p:nvPr/>
        </p:nvSpPr>
        <p:spPr>
          <a:xfrm>
            <a:off x="2679192" y="4901184"/>
            <a:ext cx="5486400" cy="585216"/>
          </a:xfrm>
          <a:prstGeom prst="rect">
            <a:avLst/>
          </a:prstGeom>
          <a:noFill/>
          <a:ln/>
        </p:spPr>
        <p:txBody>
          <a:bodyPr wrap="square" lIns="0" tIns="0" rIns="0" bIns="0" rtlCol="0" anchor="ctr"/>
          <a:lstStyle/>
          <a:p>
            <a:pPr indent="0" marL="0">
              <a:lnSpc>
                <a:spcPct val="108000"/>
              </a:lnSpc>
              <a:buNone/>
            </a:pPr>
            <a:r>
              <a:rPr lang="en-US" sz="830" dirty="0">
                <a:solidFill>
                  <a:srgbClr val="72879D"/>
                </a:solidFill>
                <a:latin typeface="Arial" pitchFamily="34" charset="0"/>
                <a:ea typeface="Arial" pitchFamily="34" charset="-122"/>
                <a:cs typeface="Arial" pitchFamily="34" charset="-120"/>
              </a:rPr>
              <a:t>Reusable bounded decision and evidence across changing configurations in high-mix production.</a:t>
            </a:r>
            <a:endParaRPr lang="en-US" sz="830" dirty="0"/>
          </a:p>
        </p:txBody>
      </p:sp>
      <p:sp>
        <p:nvSpPr>
          <p:cNvPr id="32" name="Text 30"/>
          <p:cNvSpPr txBox="1"/>
          <p:nvPr/>
        </p:nvSpPr>
        <p:spPr>
          <a:xfrm>
            <a:off x="8348472" y="4901184"/>
            <a:ext cx="3246120" cy="585216"/>
          </a:xfrm>
          <a:prstGeom prst="rect">
            <a:avLst/>
          </a:prstGeom>
          <a:noFill/>
          <a:ln/>
        </p:spPr>
        <p:txBody>
          <a:bodyPr wrap="square" lIns="0" tIns="0" rIns="0" bIns="0" rtlCol="0" anchor="ctr"/>
          <a:lstStyle/>
          <a:p>
            <a:pPr indent="0" marL="0">
              <a:lnSpc>
                <a:spcPct val="108000"/>
              </a:lnSpc>
              <a:buNone/>
            </a:pPr>
            <a:r>
              <a:rPr lang="en-US" sz="830" i="1" dirty="0">
                <a:solidFill>
                  <a:srgbClr val="72879D"/>
                </a:solidFill>
                <a:latin typeface="Arial" pitchFamily="34" charset="0"/>
                <a:ea typeface="Arial" pitchFamily="34" charset="-122"/>
                <a:cs typeface="Arial" pitchFamily="34" charset="-120"/>
              </a:rPr>
              <a:t>Design intent. To be proven</a:t>
            </a:r>
            <a:endParaRPr lang="en-US" sz="830" dirty="0"/>
          </a:p>
        </p:txBody>
      </p:sp>
      <p:sp>
        <p:nvSpPr>
          <p:cNvPr id="33" name="Shape 31"/>
          <p:cNvSpPr/>
          <p:nvPr/>
        </p:nvSpPr>
        <p:spPr>
          <a:xfrm>
            <a:off x="621792" y="5486400"/>
            <a:ext cx="10948111" cy="0"/>
          </a:xfrm>
          <a:prstGeom prst="line">
            <a:avLst/>
          </a:prstGeom>
          <a:noFill/>
          <a:ln w="9525">
            <a:solidFill>
              <a:srgbClr val="23405C"/>
            </a:solidFill>
            <a:prstDash val="solid"/>
          </a:ln>
        </p:spPr>
      </p:sp>
      <p:sp>
        <p:nvSpPr>
          <p:cNvPr id="34" name="Text 32"/>
          <p:cNvSpPr txBox="1"/>
          <p:nvPr/>
        </p:nvSpPr>
        <p:spPr>
          <a:xfrm>
            <a:off x="621792" y="5650992"/>
            <a:ext cx="10948111" cy="868680"/>
          </a:xfrm>
          <a:prstGeom prst="rect">
            <a:avLst/>
          </a:prstGeom>
          <a:noFill/>
          <a:ln/>
        </p:spPr>
        <p:txBody>
          <a:bodyPr wrap="square" lIns="0" tIns="0" rIns="0" bIns="0" rtlCol="0" anchor="t"/>
          <a:lstStyle/>
          <a:p>
            <a:pPr algn="l" indent="0" marL="0">
              <a:lnSpc>
                <a:spcPct val="112000"/>
              </a:lnSpc>
              <a:spcAft>
                <a:spcPts val="400"/>
              </a:spcAft>
              <a:buNone/>
            </a:pPr>
            <a:r>
              <a:rPr lang="en-US" sz="1200" b="1" dirty="0">
                <a:solidFill>
                  <a:srgbClr val="EAF2FA"/>
                </a:solidFill>
                <a:latin typeface="Arial" pitchFamily="34" charset="0"/>
                <a:ea typeface="Arial" pitchFamily="34" charset="-122"/>
                <a:cs typeface="Arial" pitchFamily="34" charset="-120"/>
              </a:rPr>
              <a:t>They validate the direction of travel. They do not validate the Syntrex architecture.</a:t>
            </a:r>
            <a:endParaRPr lang="en-US" sz="1200" dirty="0"/>
          </a:p>
          <a:p>
            <a:pPr algn="l" indent="0" marL="0">
              <a:lnSpc>
                <a:spcPct val="112000"/>
              </a:lnSpc>
              <a:buNone/>
            </a:pPr>
            <a:r>
              <a:rPr lang="en-US" sz="950" dirty="0">
                <a:solidFill>
                  <a:srgbClr val="A9BDD1"/>
                </a:solidFill>
                <a:latin typeface="Arial" pitchFamily="34" charset="0"/>
                <a:ea typeface="Arial" pitchFamily="34" charset="-122"/>
                <a:cs typeface="Arial" pitchFamily="34" charset="-120"/>
              </a:rPr>
              <a:t>Each of these engineers a process into a repeatable production system. The open question is what happens when configuration change stops the next part number inheriting the previous recipe.</a:t>
            </a:r>
            <a:endParaRPr lang="en-US" sz="1200" dirty="0"/>
          </a:p>
        </p:txBody>
      </p:sp>
      <p:sp>
        <p:nvSpPr>
          <p:cNvPr id="35" name="Text 33"/>
          <p:cNvSpPr txBox="1"/>
          <p:nvPr/>
        </p:nvSpPr>
        <p:spPr>
          <a:xfrm>
            <a:off x="621792" y="6355080"/>
            <a:ext cx="10948111" cy="256032"/>
          </a:xfrm>
          <a:prstGeom prst="rect">
            <a:avLst/>
          </a:prstGeom>
          <a:noFill/>
          <a:ln/>
        </p:spPr>
        <p:txBody>
          <a:bodyPr wrap="square" lIns="0" tIns="0" rIns="0" bIns="0" rtlCol="0" anchor="ctr"/>
          <a:lstStyle/>
          <a:p>
            <a:pPr indent="0" marL="0">
              <a:lnSpc>
                <a:spcPct val="105000"/>
              </a:lnSpc>
              <a:buNone/>
            </a:pPr>
            <a:r>
              <a:rPr lang="en-US" sz="650" dirty="0">
                <a:solidFill>
                  <a:srgbClr val="51667C"/>
                </a:solidFill>
                <a:latin typeface="Arial" pitchFamily="34" charset="0"/>
                <a:ea typeface="Arial" pitchFamily="34" charset="-122"/>
                <a:cs typeface="Arial" pitchFamily="34" charset="-120"/>
              </a:rPr>
              <a:t>Sources: company announcements and primary press releases, December 2024 to August 2026. Full citations in appendix.</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13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THE UNSOLVED BOUNDARY</a:t>
            </a:r>
            <a:endParaRPr lang="en-US" sz="1000" dirty="0"/>
          </a:p>
        </p:txBody>
      </p:sp>
      <p:sp>
        <p:nvSpPr>
          <p:cNvPr id="5"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2700" b="1" dirty="0">
                <a:solidFill>
                  <a:srgbClr val="EAF2FA"/>
                </a:solidFill>
                <a:latin typeface="Arial" pitchFamily="34" charset="0"/>
                <a:ea typeface="Arial" pitchFamily="34" charset="-122"/>
                <a:cs typeface="Arial" pitchFamily="34" charset="-120"/>
              </a:rPr>
              <a:t>Four gaps, stated narrowly.</a:t>
            </a:r>
            <a:endParaRPr lang="en-US" sz="2700" dirty="0"/>
          </a:p>
        </p:txBody>
      </p:sp>
      <p:sp>
        <p:nvSpPr>
          <p:cNvPr id="6" name="Text 4"/>
          <p:cNvSpPr txBox="1"/>
          <p:nvPr/>
        </p:nvSpPr>
        <p:spPr>
          <a:xfrm>
            <a:off x="621792" y="1371600"/>
            <a:ext cx="10948111" cy="274320"/>
          </a:xfrm>
          <a:prstGeom prst="rect">
            <a:avLst/>
          </a:prstGeom>
          <a:noFill/>
          <a:ln/>
        </p:spPr>
        <p:txBody>
          <a:bodyPr wrap="square" lIns="0" tIns="0" rIns="0" bIns="0" rtlCol="0" anchor="ctr"/>
          <a:lstStyle/>
          <a:p>
            <a:pPr indent="0" marL="0">
              <a:buNone/>
            </a:pPr>
            <a:r>
              <a:rPr lang="en-US" sz="1050" i="1" dirty="0">
                <a:solidFill>
                  <a:srgbClr val="72879D"/>
                </a:solidFill>
                <a:latin typeface="Arial" pitchFamily="34" charset="0"/>
                <a:ea typeface="Arial" pitchFamily="34" charset="-122"/>
                <a:cs typeface="Arial" pitchFamily="34" charset="-120"/>
              </a:rPr>
              <a:t>Based on the public record we have been able to verify. Stated as our working thesis, not as exhaustive knowledge of the market.</a:t>
            </a:r>
            <a:endParaRPr lang="en-US" sz="1050" dirty="0"/>
          </a:p>
        </p:txBody>
      </p:sp>
      <p:sp>
        <p:nvSpPr>
          <p:cNvPr id="7" name="Text 5"/>
          <p:cNvSpPr txBox="1"/>
          <p:nvPr/>
        </p:nvSpPr>
        <p:spPr>
          <a:xfrm>
            <a:off x="621792" y="1883664"/>
            <a:ext cx="685800" cy="457200"/>
          </a:xfrm>
          <a:prstGeom prst="rect">
            <a:avLst/>
          </a:prstGeom>
          <a:noFill/>
          <a:ln/>
        </p:spPr>
        <p:txBody>
          <a:bodyPr wrap="square" lIns="0" tIns="0" rIns="0" bIns="0" rtlCol="0" anchor="ctr"/>
          <a:lstStyle/>
          <a:p>
            <a:pPr indent="0" marL="0">
              <a:buNone/>
            </a:pPr>
            <a:r>
              <a:rPr lang="en-US" sz="2100" b="1" dirty="0">
                <a:solidFill>
                  <a:srgbClr val="6FD3FF"/>
                </a:solidFill>
                <a:latin typeface="Arial" pitchFamily="34" charset="0"/>
                <a:ea typeface="Arial" pitchFamily="34" charset="-122"/>
                <a:cs typeface="Arial" pitchFamily="34" charset="-120"/>
              </a:rPr>
              <a:t>01</a:t>
            </a:r>
            <a:endParaRPr lang="en-US" sz="2100" dirty="0"/>
          </a:p>
        </p:txBody>
      </p:sp>
      <p:sp>
        <p:nvSpPr>
          <p:cNvPr id="8" name="Text 6"/>
          <p:cNvSpPr txBox="1"/>
          <p:nvPr/>
        </p:nvSpPr>
        <p:spPr>
          <a:xfrm>
            <a:off x="1188720" y="1911096"/>
            <a:ext cx="4696816" cy="1463040"/>
          </a:xfrm>
          <a:prstGeom prst="rect">
            <a:avLst/>
          </a:prstGeom>
          <a:noFill/>
          <a:ln/>
        </p:spPr>
        <p:txBody>
          <a:bodyPr wrap="square" lIns="0" tIns="0" rIns="0" bIns="0" rtlCol="0" anchor="t"/>
          <a:lstStyle/>
          <a:p>
            <a:pPr algn="l" indent="0" marL="0">
              <a:lnSpc>
                <a:spcPct val="110000"/>
              </a:lnSpc>
              <a:spcAft>
                <a:spcPts val="400"/>
              </a:spcAft>
              <a:buNone/>
            </a:pPr>
            <a:r>
              <a:rPr lang="en-US" sz="1050" b="1" spc="60" kern="0" dirty="0">
                <a:solidFill>
                  <a:srgbClr val="EAF2FA"/>
                </a:solidFill>
                <a:latin typeface="Arial" pitchFamily="34" charset="0"/>
                <a:ea typeface="Arial" pitchFamily="34" charset="-122"/>
                <a:cs typeface="Arial" pitchFamily="34" charset="-120"/>
              </a:rPr>
              <a:t>PROGRAMMING AUTOMATION STOPS AT THREE AXES</a:t>
            </a:r>
            <a:endParaRPr lang="en-US" sz="1050" dirty="0"/>
          </a:p>
          <a:p>
            <a:pPr algn="l" indent="0" marL="0">
              <a:lnSpc>
                <a:spcPct val="110000"/>
              </a:lnSpc>
              <a:buNone/>
            </a:pPr>
            <a:r>
              <a:rPr lang="en-US" sz="880" dirty="0">
                <a:solidFill>
                  <a:srgbClr val="A9BDD1"/>
                </a:solidFill>
                <a:latin typeface="Arial" pitchFamily="34" charset="0"/>
                <a:ea typeface="Arial" pitchFamily="34" charset="-122"/>
                <a:cs typeface="Arial" pitchFamily="34" charset="-120"/>
              </a:rPr>
              <a:t>The leading CNC programming automation covers three-axis and 3+2 work and explicitly excludes lathes and mill-turn. Most aerospace complexity lives beyond that boundary.</a:t>
            </a:r>
            <a:endParaRPr lang="en-US" sz="1050" dirty="0"/>
          </a:p>
        </p:txBody>
      </p:sp>
      <p:sp>
        <p:nvSpPr>
          <p:cNvPr id="9" name="Text 7"/>
          <p:cNvSpPr txBox="1"/>
          <p:nvPr/>
        </p:nvSpPr>
        <p:spPr>
          <a:xfrm>
            <a:off x="6187288" y="1883664"/>
            <a:ext cx="685800" cy="457200"/>
          </a:xfrm>
          <a:prstGeom prst="rect">
            <a:avLst/>
          </a:prstGeom>
          <a:noFill/>
          <a:ln/>
        </p:spPr>
        <p:txBody>
          <a:bodyPr wrap="square" lIns="0" tIns="0" rIns="0" bIns="0" rtlCol="0" anchor="ctr"/>
          <a:lstStyle/>
          <a:p>
            <a:pPr indent="0" marL="0">
              <a:buNone/>
            </a:pPr>
            <a:r>
              <a:rPr lang="en-US" sz="2100" b="1" dirty="0">
                <a:solidFill>
                  <a:srgbClr val="6FD3FF"/>
                </a:solidFill>
                <a:latin typeface="Arial" pitchFamily="34" charset="0"/>
                <a:ea typeface="Arial" pitchFamily="34" charset="-122"/>
                <a:cs typeface="Arial" pitchFamily="34" charset="-120"/>
              </a:rPr>
              <a:t>02</a:t>
            </a:r>
            <a:endParaRPr lang="en-US" sz="2100" dirty="0"/>
          </a:p>
        </p:txBody>
      </p:sp>
      <p:sp>
        <p:nvSpPr>
          <p:cNvPr id="10" name="Text 8"/>
          <p:cNvSpPr txBox="1"/>
          <p:nvPr/>
        </p:nvSpPr>
        <p:spPr>
          <a:xfrm>
            <a:off x="6754216" y="1911096"/>
            <a:ext cx="4696816" cy="1463040"/>
          </a:xfrm>
          <a:prstGeom prst="rect">
            <a:avLst/>
          </a:prstGeom>
          <a:noFill/>
          <a:ln/>
        </p:spPr>
        <p:txBody>
          <a:bodyPr wrap="square" lIns="0" tIns="0" rIns="0" bIns="0" rtlCol="0" anchor="t"/>
          <a:lstStyle/>
          <a:p>
            <a:pPr algn="l" indent="0" marL="0">
              <a:lnSpc>
                <a:spcPct val="110000"/>
              </a:lnSpc>
              <a:spcAft>
                <a:spcPts val="400"/>
              </a:spcAft>
              <a:buNone/>
            </a:pPr>
            <a:r>
              <a:rPr lang="en-US" sz="1050" b="1" spc="60" kern="0" dirty="0">
                <a:solidFill>
                  <a:srgbClr val="EAF2FA"/>
                </a:solidFill>
                <a:latin typeface="Arial" pitchFamily="34" charset="0"/>
                <a:ea typeface="Arial" pitchFamily="34" charset="-122"/>
                <a:cs typeface="Arial" pitchFamily="34" charset="-120"/>
              </a:rPr>
              <a:t>ADAPTIVE ASSEMBLY IS PRICED FOR HIGH RATE, NOT HIGH MIX</a:t>
            </a:r>
            <a:endParaRPr lang="en-US" sz="1050" dirty="0"/>
          </a:p>
          <a:p>
            <a:pPr algn="l" indent="0" marL="0">
              <a:lnSpc>
                <a:spcPct val="110000"/>
              </a:lnSpc>
              <a:buNone/>
            </a:pPr>
            <a:r>
              <a:rPr lang="en-US" sz="880" dirty="0">
                <a:solidFill>
                  <a:srgbClr val="A9BDD1"/>
                </a:solidFill>
                <a:latin typeface="Arial" pitchFamily="34" charset="0"/>
                <a:ea typeface="Arial" pitchFamily="34" charset="-122"/>
                <a:cs typeface="Arial" pitchFamily="34" charset="-120"/>
              </a:rPr>
              <a:t>Production-proven adaptive assembly exists, as bespoke capital equipment amortized across a single high-rate program. The engineering cost is justified once and repaid over volume. That model does not reach low volume per part number.</a:t>
            </a:r>
            <a:endParaRPr lang="en-US" sz="1050" dirty="0"/>
          </a:p>
        </p:txBody>
      </p:sp>
      <p:sp>
        <p:nvSpPr>
          <p:cNvPr id="11" name="Text 9"/>
          <p:cNvSpPr txBox="1"/>
          <p:nvPr/>
        </p:nvSpPr>
        <p:spPr>
          <a:xfrm>
            <a:off x="621792" y="3456432"/>
            <a:ext cx="685800" cy="457200"/>
          </a:xfrm>
          <a:prstGeom prst="rect">
            <a:avLst/>
          </a:prstGeom>
          <a:noFill/>
          <a:ln/>
        </p:spPr>
        <p:txBody>
          <a:bodyPr wrap="square" lIns="0" tIns="0" rIns="0" bIns="0" rtlCol="0" anchor="ctr"/>
          <a:lstStyle/>
          <a:p>
            <a:pPr indent="0" marL="0">
              <a:buNone/>
            </a:pPr>
            <a:r>
              <a:rPr lang="en-US" sz="2100" b="1" dirty="0">
                <a:solidFill>
                  <a:srgbClr val="6FD3FF"/>
                </a:solidFill>
                <a:latin typeface="Arial" pitchFamily="34" charset="0"/>
                <a:ea typeface="Arial" pitchFamily="34" charset="-122"/>
                <a:cs typeface="Arial" pitchFamily="34" charset="-120"/>
              </a:rPr>
              <a:t>03</a:t>
            </a:r>
            <a:endParaRPr lang="en-US" sz="2100" dirty="0"/>
          </a:p>
        </p:txBody>
      </p:sp>
      <p:sp>
        <p:nvSpPr>
          <p:cNvPr id="12" name="Text 10"/>
          <p:cNvSpPr txBox="1"/>
          <p:nvPr/>
        </p:nvSpPr>
        <p:spPr>
          <a:xfrm>
            <a:off x="1188720" y="3483864"/>
            <a:ext cx="4696816" cy="1463040"/>
          </a:xfrm>
          <a:prstGeom prst="rect">
            <a:avLst/>
          </a:prstGeom>
          <a:noFill/>
          <a:ln/>
        </p:spPr>
        <p:txBody>
          <a:bodyPr wrap="square" lIns="0" tIns="0" rIns="0" bIns="0" rtlCol="0" anchor="t"/>
          <a:lstStyle/>
          <a:p>
            <a:pPr algn="l" indent="0" marL="0">
              <a:lnSpc>
                <a:spcPct val="110000"/>
              </a:lnSpc>
              <a:spcAft>
                <a:spcPts val="400"/>
              </a:spcAft>
              <a:buNone/>
            </a:pPr>
            <a:r>
              <a:rPr lang="en-US" sz="1050" b="1" spc="60" kern="0" dirty="0">
                <a:solidFill>
                  <a:srgbClr val="EAF2FA"/>
                </a:solidFill>
                <a:latin typeface="Arial" pitchFamily="34" charset="0"/>
                <a:ea typeface="Arial" pitchFamily="34" charset="-122"/>
                <a:cs typeface="Arial" pitchFamily="34" charset="-120"/>
              </a:rPr>
              <a:t>THE CAPABILITY IS SPLIT BY OPERATION</a:t>
            </a:r>
            <a:endParaRPr lang="en-US" sz="1050" dirty="0"/>
          </a:p>
          <a:p>
            <a:pPr algn="l" indent="0" marL="0">
              <a:lnSpc>
                <a:spcPct val="110000"/>
              </a:lnSpc>
              <a:buNone/>
            </a:pPr>
            <a:r>
              <a:rPr lang="en-US" sz="880" dirty="0">
                <a:solidFill>
                  <a:srgbClr val="A9BDD1"/>
                </a:solidFill>
                <a:latin typeface="Arial" pitchFamily="34" charset="0"/>
                <a:ea typeface="Arial" pitchFamily="34" charset="-122"/>
                <a:cs typeface="Arial" pitchFamily="34" charset="-120"/>
              </a:rPr>
              <a:t>Programming, or welding, or surface finishing, or forming, or drilling. Among the companies we have been able to verify, each owns one operation. We have not identified one that reduces recurring engineering setup across machining, assembly and inspection for the same part family.</a:t>
            </a:r>
            <a:endParaRPr lang="en-US" sz="1050" dirty="0"/>
          </a:p>
        </p:txBody>
      </p:sp>
      <p:sp>
        <p:nvSpPr>
          <p:cNvPr id="13" name="Text 11"/>
          <p:cNvSpPr txBox="1"/>
          <p:nvPr/>
        </p:nvSpPr>
        <p:spPr>
          <a:xfrm>
            <a:off x="6187288" y="3456432"/>
            <a:ext cx="685800" cy="457200"/>
          </a:xfrm>
          <a:prstGeom prst="rect">
            <a:avLst/>
          </a:prstGeom>
          <a:noFill/>
          <a:ln/>
        </p:spPr>
        <p:txBody>
          <a:bodyPr wrap="square" lIns="0" tIns="0" rIns="0" bIns="0" rtlCol="0" anchor="ctr"/>
          <a:lstStyle/>
          <a:p>
            <a:pPr indent="0" marL="0">
              <a:buNone/>
            </a:pPr>
            <a:r>
              <a:rPr lang="en-US" sz="2100" b="1" dirty="0">
                <a:solidFill>
                  <a:srgbClr val="6FD3FF"/>
                </a:solidFill>
                <a:latin typeface="Arial" pitchFamily="34" charset="0"/>
                <a:ea typeface="Arial" pitchFamily="34" charset="-122"/>
                <a:cs typeface="Arial" pitchFamily="34" charset="-120"/>
              </a:rPr>
              <a:t>04</a:t>
            </a:r>
            <a:endParaRPr lang="en-US" sz="2100" dirty="0"/>
          </a:p>
        </p:txBody>
      </p:sp>
      <p:sp>
        <p:nvSpPr>
          <p:cNvPr id="14" name="Text 12"/>
          <p:cNvSpPr txBox="1"/>
          <p:nvPr/>
        </p:nvSpPr>
        <p:spPr>
          <a:xfrm>
            <a:off x="6754216" y="3483864"/>
            <a:ext cx="4696816" cy="1463040"/>
          </a:xfrm>
          <a:prstGeom prst="rect">
            <a:avLst/>
          </a:prstGeom>
          <a:noFill/>
          <a:ln/>
        </p:spPr>
        <p:txBody>
          <a:bodyPr wrap="square" lIns="0" tIns="0" rIns="0" bIns="0" rtlCol="0" anchor="t"/>
          <a:lstStyle/>
          <a:p>
            <a:pPr algn="l" indent="0" marL="0">
              <a:lnSpc>
                <a:spcPct val="110000"/>
              </a:lnSpc>
              <a:spcAft>
                <a:spcPts val="400"/>
              </a:spcAft>
              <a:buNone/>
            </a:pPr>
            <a:r>
              <a:rPr lang="en-US" sz="1050" b="1" spc="60" kern="0" dirty="0">
                <a:solidFill>
                  <a:srgbClr val="EAF2FA"/>
                </a:solidFill>
                <a:latin typeface="Arial" pitchFamily="34" charset="0"/>
                <a:ea typeface="Arial" pitchFamily="34" charset="-122"/>
                <a:cs typeface="Arial" pitchFamily="34" charset="-120"/>
              </a:rPr>
              <a:t>THE QUALIFICATION PATH GETS LESS ATTENTION THAN THE PHYSICS</a:t>
            </a:r>
            <a:endParaRPr lang="en-US" sz="1050" dirty="0"/>
          </a:p>
          <a:p>
            <a:pPr algn="l" indent="0" marL="0">
              <a:lnSpc>
                <a:spcPct val="110000"/>
              </a:lnSpc>
              <a:buNone/>
            </a:pPr>
            <a:r>
              <a:rPr lang="en-US" sz="880" dirty="0">
                <a:solidFill>
                  <a:srgbClr val="A9BDD1"/>
                </a:solidFill>
                <a:latin typeface="Arial" pitchFamily="34" charset="0"/>
                <a:ea typeface="Arial" pitchFamily="34" charset="-122"/>
                <a:cs typeface="Arial" pitchFamily="34" charset="-120"/>
              </a:rPr>
              <a:t>The evidence a quality organisation will accept is still assembled by hand, per part number. We have found little public evidence of anyone attacking that burden directly, and qualification is where high-mix programs stall.</a:t>
            </a:r>
            <a:endParaRPr lang="en-US" sz="1050" dirty="0"/>
          </a:p>
        </p:txBody>
      </p:sp>
      <p:sp>
        <p:nvSpPr>
          <p:cNvPr id="15" name="Shape 13"/>
          <p:cNvSpPr/>
          <p:nvPr/>
        </p:nvSpPr>
        <p:spPr>
          <a:xfrm>
            <a:off x="621792" y="5138928"/>
            <a:ext cx="10948111" cy="0"/>
          </a:xfrm>
          <a:prstGeom prst="line">
            <a:avLst/>
          </a:prstGeom>
          <a:noFill/>
          <a:ln w="9525">
            <a:solidFill>
              <a:srgbClr val="23405C"/>
            </a:solidFill>
            <a:prstDash val="solid"/>
          </a:ln>
        </p:spPr>
      </p:sp>
      <p:sp>
        <p:nvSpPr>
          <p:cNvPr id="16" name="Text 14"/>
          <p:cNvSpPr txBox="1"/>
          <p:nvPr/>
        </p:nvSpPr>
        <p:spPr>
          <a:xfrm>
            <a:off x="621792" y="5285232"/>
            <a:ext cx="7589520" cy="1005840"/>
          </a:xfrm>
          <a:prstGeom prst="rect">
            <a:avLst/>
          </a:prstGeom>
          <a:noFill/>
          <a:ln/>
        </p:spPr>
        <p:txBody>
          <a:bodyPr wrap="square" lIns="0" tIns="0" rIns="0" bIns="0" rtlCol="0" anchor="t"/>
          <a:lstStyle/>
          <a:p>
            <a:pPr algn="l" indent="0" marL="0">
              <a:lnSpc>
                <a:spcPct val="114000"/>
              </a:lnSpc>
              <a:spcAft>
                <a:spcPts val="400"/>
              </a:spcAft>
              <a:buNone/>
            </a:pPr>
            <a:r>
              <a:rPr lang="en-US" sz="850" b="1" spc="240" kern="0" dirty="0">
                <a:solidFill>
                  <a:srgbClr val="6FD3FF"/>
                </a:solidFill>
                <a:latin typeface="Arial" pitchFamily="34" charset="0"/>
                <a:ea typeface="Arial" pitchFamily="34" charset="-122"/>
                <a:cs typeface="Arial" pitchFamily="34" charset="-120"/>
              </a:rPr>
              <a:t>THE SYNTREX POSITION</a:t>
            </a:r>
            <a:endParaRPr lang="en-US" sz="850" dirty="0"/>
          </a:p>
          <a:p>
            <a:pPr algn="l" indent="0" marL="0">
              <a:lnSpc>
                <a:spcPct val="114000"/>
              </a:lnSpc>
              <a:buNone/>
            </a:pPr>
            <a:r>
              <a:rPr lang="en-US" sz="1100" b="1" dirty="0">
                <a:solidFill>
                  <a:srgbClr val="EAF2FA"/>
                </a:solidFill>
                <a:latin typeface="Arial" pitchFamily="34" charset="0"/>
                <a:ea typeface="Arial" pitchFamily="34" charset="-122"/>
                <a:cs typeface="Arial" pitchFamily="34" charset="-120"/>
              </a:rPr>
              <a:t>Reduce how much engineering has to reset when the configuration changes, using measured physical state, measured process capability, bounded authorization, adaptive execution and independent verification.</a:t>
            </a:r>
            <a:endParaRPr lang="en-US" sz="850" dirty="0"/>
          </a:p>
        </p:txBody>
      </p:sp>
      <p:sp>
        <p:nvSpPr>
          <p:cNvPr id="17" name="Text 15"/>
          <p:cNvSpPr txBox="1"/>
          <p:nvPr/>
        </p:nvSpPr>
        <p:spPr>
          <a:xfrm>
            <a:off x="8549640" y="5358384"/>
            <a:ext cx="3017520" cy="914400"/>
          </a:xfrm>
          <a:prstGeom prst="rect">
            <a:avLst/>
          </a:prstGeom>
          <a:noFill/>
          <a:ln/>
        </p:spPr>
        <p:txBody>
          <a:bodyPr wrap="square" lIns="0" tIns="0" rIns="0" bIns="0" rtlCol="0" anchor="ctr"/>
          <a:lstStyle/>
          <a:p>
            <a:pPr indent="0" marL="0">
              <a:lnSpc>
                <a:spcPct val="115000"/>
              </a:lnSpc>
              <a:buNone/>
            </a:pPr>
            <a:r>
              <a:rPr lang="en-US" sz="800" i="1" dirty="0">
                <a:solidFill>
                  <a:srgbClr val="72879D"/>
                </a:solidFill>
                <a:latin typeface="Arial" pitchFamily="34" charset="0"/>
                <a:ea typeface="Arial" pitchFamily="34" charset="-122"/>
                <a:cs typeface="Arial" pitchFamily="34" charset="-120"/>
              </a:rPr>
              <a:t>This is design intent and a working thesis drawn from the public record. It is not demonstrated superiority over any named company, and it is not a claim of exhaustive market knowledge.</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14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TECHNICAL AUTHORITY</a:t>
            </a:r>
            <a:endParaRPr lang="en-US" sz="1000" dirty="0"/>
          </a:p>
        </p:txBody>
      </p:sp>
      <p:sp>
        <p:nvSpPr>
          <p:cNvPr id="5" name="Text 3"/>
          <p:cNvSpPr txBox="1"/>
          <p:nvPr/>
        </p:nvSpPr>
        <p:spPr>
          <a:xfrm>
            <a:off x="621792" y="786384"/>
            <a:ext cx="10948111" cy="868680"/>
          </a:xfrm>
          <a:prstGeom prst="rect">
            <a:avLst/>
          </a:prstGeom>
          <a:noFill/>
          <a:ln/>
        </p:spPr>
        <p:txBody>
          <a:bodyPr wrap="square" lIns="0" tIns="0" rIns="0" bIns="0" rtlCol="0" anchor="t"/>
          <a:lstStyle/>
          <a:p>
            <a:pPr indent="0" marL="0">
              <a:lnSpc>
                <a:spcPct val="102000"/>
              </a:lnSpc>
              <a:buNone/>
            </a:pPr>
            <a:r>
              <a:rPr lang="en-US" sz="2500" b="1" dirty="0">
                <a:solidFill>
                  <a:srgbClr val="EAF2FA"/>
                </a:solidFill>
                <a:latin typeface="Arial" pitchFamily="34" charset="0"/>
                <a:ea typeface="Arial" pitchFamily="34" charset="-122"/>
                <a:cs typeface="Arial" pitchFamily="34" charset="-120"/>
              </a:rPr>
              <a:t>The architecture identified the risks.</a:t>
            </a:r>
            <a:endParaRPr lang="en-US" sz="2500" dirty="0"/>
          </a:p>
          <a:p>
            <a:pPr indent="0" marL="0">
              <a:lnSpc>
                <a:spcPct val="102000"/>
              </a:lnSpc>
              <a:buNone/>
            </a:pPr>
            <a:r>
              <a:rPr lang="en-US" sz="2500" dirty="0">
                <a:solidFill>
                  <a:srgbClr val="A9BDD1"/>
                </a:solidFill>
                <a:latin typeface="Arial" pitchFamily="34" charset="0"/>
                <a:ea typeface="Arial" pitchFamily="34" charset="-122"/>
                <a:cs typeface="Arial" pitchFamily="34" charset="-120"/>
              </a:rPr>
              <a:t>Syntrex built senior technical authority around them.</a:t>
            </a:r>
            <a:endParaRPr lang="en-US" sz="2500" dirty="0"/>
          </a:p>
        </p:txBody>
      </p:sp>
      <p:sp>
        <p:nvSpPr>
          <p:cNvPr id="6" name="Text 4"/>
          <p:cNvSpPr txBox="1"/>
          <p:nvPr/>
        </p:nvSpPr>
        <p:spPr>
          <a:xfrm>
            <a:off x="621792" y="1810512"/>
            <a:ext cx="10948111" cy="237744"/>
          </a:xfrm>
          <a:prstGeom prst="rect">
            <a:avLst/>
          </a:prstGeom>
          <a:noFill/>
          <a:ln/>
        </p:spPr>
        <p:txBody>
          <a:bodyPr wrap="square" lIns="0" tIns="0" rIns="0" bIns="0" rtlCol="0" anchor="ctr"/>
          <a:lstStyle/>
          <a:p>
            <a:pPr indent="0" marL="0">
              <a:buNone/>
            </a:pPr>
            <a:r>
              <a:rPr lang="en-US" sz="900" b="1" spc="220" kern="0" dirty="0">
                <a:solidFill>
                  <a:srgbClr val="6FD3FF"/>
                </a:solidFill>
                <a:latin typeface="Arial" pitchFamily="34" charset="0"/>
                <a:ea typeface="Arial" pitchFamily="34" charset="-122"/>
                <a:cs typeface="Arial" pitchFamily="34" charset="-120"/>
              </a:rPr>
              <a:t>SENIOR TECHNICAL ADVISORY BENCH — TWO EXECUTED, THREE IN FORMATION</a:t>
            </a:r>
            <a:endParaRPr lang="en-US" sz="900" dirty="0"/>
          </a:p>
        </p:txBody>
      </p:sp>
      <p:sp>
        <p:nvSpPr>
          <p:cNvPr id="7" name="Shape 5"/>
          <p:cNvSpPr/>
          <p:nvPr/>
        </p:nvSpPr>
        <p:spPr>
          <a:xfrm>
            <a:off x="621792" y="2148840"/>
            <a:ext cx="10948111" cy="0"/>
          </a:xfrm>
          <a:prstGeom prst="line">
            <a:avLst/>
          </a:prstGeom>
          <a:noFill/>
          <a:ln w="9525">
            <a:solidFill>
              <a:srgbClr val="23405C"/>
            </a:solidFill>
            <a:prstDash val="solid"/>
          </a:ln>
        </p:spPr>
      </p:sp>
      <p:sp>
        <p:nvSpPr>
          <p:cNvPr id="8" name="Shape 6"/>
          <p:cNvSpPr/>
          <p:nvPr/>
        </p:nvSpPr>
        <p:spPr>
          <a:xfrm>
            <a:off x="640080" y="2276856"/>
            <a:ext cx="100584" cy="100584"/>
          </a:xfrm>
          <a:prstGeom prst="ellipse">
            <a:avLst/>
          </a:prstGeom>
          <a:solidFill>
            <a:srgbClr val="6FD3FF"/>
          </a:solidFill>
          <a:ln w="12700">
            <a:solidFill>
              <a:srgbClr val="6FD3FF"/>
            </a:solidFill>
            <a:prstDash val="solid"/>
          </a:ln>
        </p:spPr>
      </p:sp>
      <p:sp>
        <p:nvSpPr>
          <p:cNvPr id="9" name="Text 7"/>
          <p:cNvSpPr txBox="1"/>
          <p:nvPr/>
        </p:nvSpPr>
        <p:spPr>
          <a:xfrm>
            <a:off x="896112" y="2212848"/>
            <a:ext cx="2011680" cy="292608"/>
          </a:xfrm>
          <a:prstGeom prst="rect">
            <a:avLst/>
          </a:prstGeom>
          <a:noFill/>
          <a:ln/>
        </p:spPr>
        <p:txBody>
          <a:bodyPr wrap="square" lIns="0" tIns="0" rIns="0" bIns="0" rtlCol="0" anchor="ctr"/>
          <a:lstStyle/>
          <a:p>
            <a:pPr indent="0" marL="0">
              <a:buNone/>
            </a:pPr>
            <a:r>
              <a:rPr lang="en-US" sz="1050" b="1" dirty="0">
                <a:solidFill>
                  <a:srgbClr val="EAF2FA"/>
                </a:solidFill>
                <a:latin typeface="Arial" pitchFamily="34" charset="0"/>
                <a:ea typeface="Arial" pitchFamily="34" charset="-122"/>
                <a:cs typeface="Arial" pitchFamily="34" charset="-120"/>
              </a:rPr>
              <a:t>Mark W. McElroy, Ph.D.</a:t>
            </a:r>
            <a:endParaRPr lang="en-US" sz="1050" dirty="0"/>
          </a:p>
        </p:txBody>
      </p:sp>
      <p:sp>
        <p:nvSpPr>
          <p:cNvPr id="10" name="Text 8"/>
          <p:cNvSpPr txBox="1"/>
          <p:nvPr/>
        </p:nvSpPr>
        <p:spPr>
          <a:xfrm>
            <a:off x="896112" y="2505456"/>
            <a:ext cx="2286000" cy="292608"/>
          </a:xfrm>
          <a:prstGeom prst="rect">
            <a:avLst/>
          </a:prstGeom>
          <a:noFill/>
          <a:ln/>
        </p:spPr>
        <p:txBody>
          <a:bodyPr wrap="square" lIns="0" tIns="0" rIns="0" bIns="0" rtlCol="0" anchor="ctr"/>
          <a:lstStyle/>
          <a:p>
            <a:pPr indent="0" marL="0">
              <a:lnSpc>
                <a:spcPct val="105000"/>
              </a:lnSpc>
              <a:buNone/>
            </a:pPr>
            <a:r>
              <a:rPr lang="en-US" sz="680" b="1" spc="100" kern="0" dirty="0">
                <a:solidFill>
                  <a:srgbClr val="6FD3FF"/>
                </a:solidFill>
                <a:latin typeface="Arial" pitchFamily="34" charset="0"/>
                <a:ea typeface="Arial" pitchFamily="34" charset="-122"/>
                <a:cs typeface="Arial" pitchFamily="34" charset="-120"/>
              </a:rPr>
              <a:t>SYSTEMS ENGINEERING AND PHYSICAL VALIDATION</a:t>
            </a:r>
            <a:endParaRPr lang="en-US" sz="680" dirty="0"/>
          </a:p>
        </p:txBody>
      </p:sp>
      <p:sp>
        <p:nvSpPr>
          <p:cNvPr id="11" name="Text 9"/>
          <p:cNvSpPr txBox="1"/>
          <p:nvPr/>
        </p:nvSpPr>
        <p:spPr>
          <a:xfrm>
            <a:off x="3319272" y="2221992"/>
            <a:ext cx="5989320" cy="576072"/>
          </a:xfrm>
          <a:prstGeom prst="rect">
            <a:avLst/>
          </a:prstGeom>
          <a:noFill/>
          <a:ln/>
        </p:spPr>
        <p:txBody>
          <a:bodyPr wrap="square" lIns="0" tIns="0" rIns="0" bIns="0" rtlCol="0" anchor="ctr"/>
          <a:lstStyle/>
          <a:p>
            <a:pPr indent="0" marL="0">
              <a:lnSpc>
                <a:spcPct val="105000"/>
              </a:lnSpc>
              <a:buNone/>
            </a:pPr>
            <a:r>
              <a:rPr lang="en-US" sz="790" dirty="0">
                <a:solidFill>
                  <a:srgbClr val="A9BDD1"/>
                </a:solidFill>
                <a:latin typeface="Arial" pitchFamily="34" charset="0"/>
                <a:ea typeface="Arial" pitchFamily="34" charset="-122"/>
                <a:cs typeface="Arial" pitchFamily="34" charset="-120"/>
              </a:rPr>
              <a:t>Chief Engineer, space systems. Approximately a decade at NASA in systems and flight hardware, structural integrity and qualification. Owns architecture integrity, validation sequencing, physical test progression and technical governance.</a:t>
            </a:r>
            <a:endParaRPr lang="en-US" sz="790" dirty="0"/>
          </a:p>
        </p:txBody>
      </p:sp>
      <p:sp>
        <p:nvSpPr>
          <p:cNvPr id="12" name="Text 10"/>
          <p:cNvSpPr txBox="1"/>
          <p:nvPr/>
        </p:nvSpPr>
        <p:spPr>
          <a:xfrm>
            <a:off x="9491472" y="2221992"/>
            <a:ext cx="2103120" cy="576072"/>
          </a:xfrm>
          <a:prstGeom prst="rect">
            <a:avLst/>
          </a:prstGeom>
          <a:noFill/>
          <a:ln/>
        </p:spPr>
        <p:txBody>
          <a:bodyPr wrap="square" lIns="0" tIns="0" rIns="0" bIns="0" rtlCol="0" anchor="ctr"/>
          <a:lstStyle/>
          <a:p>
            <a:pPr indent="0" marL="0">
              <a:lnSpc>
                <a:spcPct val="110000"/>
              </a:lnSpc>
              <a:buNone/>
            </a:pPr>
            <a:r>
              <a:rPr lang="en-US" sz="720" b="1" spc="60" kern="0" dirty="0">
                <a:solidFill>
                  <a:srgbClr val="6FD3FF"/>
                </a:solidFill>
                <a:latin typeface="Arial" pitchFamily="34" charset="0"/>
                <a:ea typeface="Arial" pitchFamily="34" charset="-122"/>
                <a:cs typeface="Arial" pitchFamily="34" charset="-120"/>
              </a:rPr>
              <a:t>ADVISOR, AGREEMENT EXECUTED</a:t>
            </a:r>
            <a:endParaRPr lang="en-US" sz="720" dirty="0"/>
          </a:p>
        </p:txBody>
      </p:sp>
      <p:sp>
        <p:nvSpPr>
          <p:cNvPr id="13" name="Shape 11"/>
          <p:cNvSpPr/>
          <p:nvPr/>
        </p:nvSpPr>
        <p:spPr>
          <a:xfrm>
            <a:off x="621792" y="2798064"/>
            <a:ext cx="10948111" cy="0"/>
          </a:xfrm>
          <a:prstGeom prst="line">
            <a:avLst/>
          </a:prstGeom>
          <a:noFill/>
          <a:ln w="9525">
            <a:solidFill>
              <a:srgbClr val="23405C"/>
            </a:solidFill>
            <a:prstDash val="solid"/>
          </a:ln>
        </p:spPr>
      </p:sp>
      <p:sp>
        <p:nvSpPr>
          <p:cNvPr id="14" name="Shape 12"/>
          <p:cNvSpPr/>
          <p:nvPr/>
        </p:nvSpPr>
        <p:spPr>
          <a:xfrm>
            <a:off x="640080" y="2926080"/>
            <a:ext cx="100584" cy="100584"/>
          </a:xfrm>
          <a:prstGeom prst="ellipse">
            <a:avLst/>
          </a:prstGeom>
          <a:solidFill>
            <a:srgbClr val="6FD3FF"/>
          </a:solidFill>
          <a:ln w="12700">
            <a:solidFill>
              <a:srgbClr val="6FD3FF"/>
            </a:solidFill>
            <a:prstDash val="solid"/>
          </a:ln>
        </p:spPr>
      </p:sp>
      <p:sp>
        <p:nvSpPr>
          <p:cNvPr id="15" name="Text 13"/>
          <p:cNvSpPr txBox="1"/>
          <p:nvPr/>
        </p:nvSpPr>
        <p:spPr>
          <a:xfrm>
            <a:off x="896112" y="2862072"/>
            <a:ext cx="2011680" cy="292608"/>
          </a:xfrm>
          <a:prstGeom prst="rect">
            <a:avLst/>
          </a:prstGeom>
          <a:noFill/>
          <a:ln/>
        </p:spPr>
        <p:txBody>
          <a:bodyPr wrap="square" lIns="0" tIns="0" rIns="0" bIns="0" rtlCol="0" anchor="ctr"/>
          <a:lstStyle/>
          <a:p>
            <a:pPr indent="0" marL="0">
              <a:buNone/>
            </a:pPr>
            <a:r>
              <a:rPr lang="en-US" sz="1050" b="1" dirty="0">
                <a:solidFill>
                  <a:srgbClr val="EAF2FA"/>
                </a:solidFill>
                <a:latin typeface="Arial" pitchFamily="34" charset="0"/>
                <a:ea typeface="Arial" pitchFamily="34" charset="-122"/>
                <a:cs typeface="Arial" pitchFamily="34" charset="-120"/>
              </a:rPr>
              <a:t>Michael Zervos</a:t>
            </a:r>
            <a:endParaRPr lang="en-US" sz="1050" dirty="0"/>
          </a:p>
        </p:txBody>
      </p:sp>
      <p:sp>
        <p:nvSpPr>
          <p:cNvPr id="16" name="Text 14"/>
          <p:cNvSpPr txBox="1"/>
          <p:nvPr/>
        </p:nvSpPr>
        <p:spPr>
          <a:xfrm>
            <a:off x="896112" y="3154680"/>
            <a:ext cx="2286000" cy="292608"/>
          </a:xfrm>
          <a:prstGeom prst="rect">
            <a:avLst/>
          </a:prstGeom>
          <a:noFill/>
          <a:ln/>
        </p:spPr>
        <p:txBody>
          <a:bodyPr wrap="square" lIns="0" tIns="0" rIns="0" bIns="0" rtlCol="0" anchor="ctr"/>
          <a:lstStyle/>
          <a:p>
            <a:pPr indent="0" marL="0">
              <a:lnSpc>
                <a:spcPct val="105000"/>
              </a:lnSpc>
              <a:buNone/>
            </a:pPr>
            <a:r>
              <a:rPr lang="en-US" sz="680" b="1" spc="100" kern="0" dirty="0">
                <a:solidFill>
                  <a:srgbClr val="6FD3FF"/>
                </a:solidFill>
                <a:latin typeface="Arial" pitchFamily="34" charset="0"/>
                <a:ea typeface="Arial" pitchFamily="34" charset="-122"/>
                <a:cs typeface="Arial" pitchFamily="34" charset="-120"/>
              </a:rPr>
              <a:t>AEROSPACE QUALITY AND QUALIFICATION</a:t>
            </a:r>
            <a:endParaRPr lang="en-US" sz="680" dirty="0"/>
          </a:p>
        </p:txBody>
      </p:sp>
      <p:sp>
        <p:nvSpPr>
          <p:cNvPr id="17" name="Text 15"/>
          <p:cNvSpPr txBox="1"/>
          <p:nvPr/>
        </p:nvSpPr>
        <p:spPr>
          <a:xfrm>
            <a:off x="3319272" y="2871216"/>
            <a:ext cx="5989320" cy="576072"/>
          </a:xfrm>
          <a:prstGeom prst="rect">
            <a:avLst/>
          </a:prstGeom>
          <a:noFill/>
          <a:ln/>
        </p:spPr>
        <p:txBody>
          <a:bodyPr wrap="square" lIns="0" tIns="0" rIns="0" bIns="0" rtlCol="0" anchor="ctr"/>
          <a:lstStyle/>
          <a:p>
            <a:pPr indent="0" marL="0">
              <a:lnSpc>
                <a:spcPct val="105000"/>
              </a:lnSpc>
              <a:buNone/>
            </a:pPr>
            <a:r>
              <a:rPr lang="en-US" sz="790" dirty="0">
                <a:solidFill>
                  <a:srgbClr val="A9BDD1"/>
                </a:solidFill>
                <a:latin typeface="Arial" pitchFamily="34" charset="0"/>
                <a:ea typeface="Arial" pitchFamily="34" charset="-122"/>
                <a:cs typeface="Arial" pitchFamily="34" charset="-120"/>
              </a:rPr>
              <a:t>Senior aerospace engineering and quality leader, more than three decades at Northrop Grumman. Owns quality systems, first article inspection, configuration control, quality evidence and production readiness.</a:t>
            </a:r>
            <a:endParaRPr lang="en-US" sz="790" dirty="0"/>
          </a:p>
        </p:txBody>
      </p:sp>
      <p:sp>
        <p:nvSpPr>
          <p:cNvPr id="18" name="Text 16"/>
          <p:cNvSpPr txBox="1"/>
          <p:nvPr/>
        </p:nvSpPr>
        <p:spPr>
          <a:xfrm>
            <a:off x="9491472" y="2871216"/>
            <a:ext cx="2103120" cy="576072"/>
          </a:xfrm>
          <a:prstGeom prst="rect">
            <a:avLst/>
          </a:prstGeom>
          <a:noFill/>
          <a:ln/>
        </p:spPr>
        <p:txBody>
          <a:bodyPr wrap="square" lIns="0" tIns="0" rIns="0" bIns="0" rtlCol="0" anchor="ctr"/>
          <a:lstStyle/>
          <a:p>
            <a:pPr indent="0" marL="0">
              <a:lnSpc>
                <a:spcPct val="110000"/>
              </a:lnSpc>
              <a:buNone/>
            </a:pPr>
            <a:r>
              <a:rPr lang="en-US" sz="720" b="1" spc="60" kern="0" dirty="0">
                <a:solidFill>
                  <a:srgbClr val="6FD3FF"/>
                </a:solidFill>
                <a:latin typeface="Arial" pitchFamily="34" charset="0"/>
                <a:ea typeface="Arial" pitchFamily="34" charset="-122"/>
                <a:cs typeface="Arial" pitchFamily="34" charset="-120"/>
              </a:rPr>
              <a:t>ADVISOR, AGREEMENT EXECUTED</a:t>
            </a:r>
            <a:endParaRPr lang="en-US" sz="720" dirty="0"/>
          </a:p>
        </p:txBody>
      </p:sp>
      <p:sp>
        <p:nvSpPr>
          <p:cNvPr id="19" name="Shape 17"/>
          <p:cNvSpPr/>
          <p:nvPr/>
        </p:nvSpPr>
        <p:spPr>
          <a:xfrm>
            <a:off x="621792" y="3447288"/>
            <a:ext cx="10948111" cy="0"/>
          </a:xfrm>
          <a:prstGeom prst="line">
            <a:avLst/>
          </a:prstGeom>
          <a:noFill/>
          <a:ln w="9525">
            <a:solidFill>
              <a:srgbClr val="23405C"/>
            </a:solidFill>
            <a:prstDash val="solid"/>
          </a:ln>
        </p:spPr>
      </p:sp>
      <p:sp>
        <p:nvSpPr>
          <p:cNvPr id="20" name="Shape 18"/>
          <p:cNvSpPr/>
          <p:nvPr/>
        </p:nvSpPr>
        <p:spPr>
          <a:xfrm>
            <a:off x="640080" y="3575304"/>
            <a:ext cx="100584" cy="100584"/>
          </a:xfrm>
          <a:prstGeom prst="ellipse">
            <a:avLst/>
          </a:prstGeom>
          <a:solidFill>
            <a:srgbClr val="0F1E31">
              <a:alpha val="0"/>
            </a:srgbClr>
          </a:solidFill>
          <a:ln w="12700">
            <a:solidFill>
              <a:srgbClr val="3D9BD8"/>
            </a:solidFill>
            <a:prstDash val="solid"/>
          </a:ln>
        </p:spPr>
      </p:sp>
      <p:sp>
        <p:nvSpPr>
          <p:cNvPr id="21" name="Text 19"/>
          <p:cNvSpPr txBox="1"/>
          <p:nvPr/>
        </p:nvSpPr>
        <p:spPr>
          <a:xfrm>
            <a:off x="896112" y="3511296"/>
            <a:ext cx="2011680" cy="292608"/>
          </a:xfrm>
          <a:prstGeom prst="rect">
            <a:avLst/>
          </a:prstGeom>
          <a:noFill/>
          <a:ln/>
        </p:spPr>
        <p:txBody>
          <a:bodyPr wrap="square" lIns="0" tIns="0" rIns="0" bIns="0" rtlCol="0" anchor="ctr"/>
          <a:lstStyle/>
          <a:p>
            <a:pPr indent="0" marL="0">
              <a:buNone/>
            </a:pPr>
            <a:r>
              <a:rPr lang="en-US" sz="1050" b="1" dirty="0">
                <a:solidFill>
                  <a:srgbClr val="EAF2FA"/>
                </a:solidFill>
                <a:latin typeface="Arial" pitchFamily="34" charset="0"/>
                <a:ea typeface="Arial" pitchFamily="34" charset="-122"/>
                <a:cs typeface="Arial" pitchFamily="34" charset="-120"/>
              </a:rPr>
              <a:t>John Moran</a:t>
            </a:r>
            <a:endParaRPr lang="en-US" sz="1050" dirty="0"/>
          </a:p>
        </p:txBody>
      </p:sp>
      <p:sp>
        <p:nvSpPr>
          <p:cNvPr id="22" name="Text 20"/>
          <p:cNvSpPr txBox="1"/>
          <p:nvPr/>
        </p:nvSpPr>
        <p:spPr>
          <a:xfrm>
            <a:off x="896112" y="3803904"/>
            <a:ext cx="2286000" cy="292608"/>
          </a:xfrm>
          <a:prstGeom prst="rect">
            <a:avLst/>
          </a:prstGeom>
          <a:noFill/>
          <a:ln/>
        </p:spPr>
        <p:txBody>
          <a:bodyPr wrap="square" lIns="0" tIns="0" rIns="0" bIns="0" rtlCol="0" anchor="ctr"/>
          <a:lstStyle/>
          <a:p>
            <a:pPr indent="0" marL="0">
              <a:lnSpc>
                <a:spcPct val="105000"/>
              </a:lnSpc>
              <a:buNone/>
            </a:pPr>
            <a:r>
              <a:rPr lang="en-US" sz="680" b="1" spc="100" kern="0" dirty="0">
                <a:solidFill>
                  <a:srgbClr val="6FD3FF"/>
                </a:solidFill>
                <a:latin typeface="Arial" pitchFamily="34" charset="0"/>
                <a:ea typeface="Arial" pitchFamily="34" charset="-122"/>
                <a:cs typeface="Arial" pitchFamily="34" charset="-120"/>
              </a:rPr>
              <a:t>DIGITAL MANUFACTURING AND FACTORY INTEGRATION</a:t>
            </a:r>
            <a:endParaRPr lang="en-US" sz="680" dirty="0"/>
          </a:p>
        </p:txBody>
      </p:sp>
      <p:sp>
        <p:nvSpPr>
          <p:cNvPr id="23" name="Text 21"/>
          <p:cNvSpPr txBox="1"/>
          <p:nvPr/>
        </p:nvSpPr>
        <p:spPr>
          <a:xfrm>
            <a:off x="3319272" y="3520440"/>
            <a:ext cx="5989320" cy="576072"/>
          </a:xfrm>
          <a:prstGeom prst="rect">
            <a:avLst/>
          </a:prstGeom>
          <a:noFill/>
          <a:ln/>
        </p:spPr>
        <p:txBody>
          <a:bodyPr wrap="square" lIns="0" tIns="0" rIns="0" bIns="0" rtlCol="0" anchor="ctr"/>
          <a:lstStyle/>
          <a:p>
            <a:pPr indent="0" marL="0">
              <a:lnSpc>
                <a:spcPct val="105000"/>
              </a:lnSpc>
              <a:buNone/>
            </a:pPr>
            <a:r>
              <a:rPr lang="en-US" sz="790" dirty="0">
                <a:solidFill>
                  <a:srgbClr val="A9BDD1"/>
                </a:solidFill>
                <a:latin typeface="Arial" pitchFamily="34" charset="0"/>
                <a:ea typeface="Arial" pitchFamily="34" charset="-122"/>
                <a:cs typeface="Arial" pitchFamily="34" charset="-120"/>
              </a:rPr>
              <a:t>Enterprise and shop floor systems integration across ERP, MRP, MES, QMS and PLM. Owns traceability, systems of record, evidence flow and the information technology to operational technology boundary.</a:t>
            </a:r>
            <a:endParaRPr lang="en-US" sz="790" dirty="0"/>
          </a:p>
        </p:txBody>
      </p:sp>
      <p:sp>
        <p:nvSpPr>
          <p:cNvPr id="24" name="Text 22"/>
          <p:cNvSpPr txBox="1"/>
          <p:nvPr/>
        </p:nvSpPr>
        <p:spPr>
          <a:xfrm>
            <a:off x="9491472" y="3520440"/>
            <a:ext cx="2103120" cy="576072"/>
          </a:xfrm>
          <a:prstGeom prst="rect">
            <a:avLst/>
          </a:prstGeom>
          <a:noFill/>
          <a:ln/>
        </p:spPr>
        <p:txBody>
          <a:bodyPr wrap="square" lIns="0" tIns="0" rIns="0" bIns="0" rtlCol="0" anchor="ctr"/>
          <a:lstStyle/>
          <a:p>
            <a:pPr indent="0" marL="0">
              <a:lnSpc>
                <a:spcPct val="110000"/>
              </a:lnSpc>
              <a:buNone/>
            </a:pPr>
            <a:r>
              <a:rPr lang="en-US" sz="720" spc="60" kern="0" dirty="0">
                <a:solidFill>
                  <a:srgbClr val="72879D"/>
                </a:solidFill>
                <a:latin typeface="Arial" pitchFamily="34" charset="0"/>
                <a:ea typeface="Arial" pitchFamily="34" charset="-122"/>
                <a:cs typeface="Arial" pitchFamily="34" charset="-120"/>
              </a:rPr>
              <a:t>AGREEMENT ISSUED, RELATIONSHIP IN FORMATION</a:t>
            </a:r>
            <a:endParaRPr lang="en-US" sz="720" dirty="0"/>
          </a:p>
        </p:txBody>
      </p:sp>
      <p:sp>
        <p:nvSpPr>
          <p:cNvPr id="25" name="Shape 23"/>
          <p:cNvSpPr/>
          <p:nvPr/>
        </p:nvSpPr>
        <p:spPr>
          <a:xfrm>
            <a:off x="621792" y="4096512"/>
            <a:ext cx="10948111" cy="0"/>
          </a:xfrm>
          <a:prstGeom prst="line">
            <a:avLst/>
          </a:prstGeom>
          <a:noFill/>
          <a:ln w="9525">
            <a:solidFill>
              <a:srgbClr val="23405C"/>
            </a:solidFill>
            <a:prstDash val="solid"/>
          </a:ln>
        </p:spPr>
      </p:sp>
      <p:sp>
        <p:nvSpPr>
          <p:cNvPr id="26" name="Shape 24"/>
          <p:cNvSpPr/>
          <p:nvPr/>
        </p:nvSpPr>
        <p:spPr>
          <a:xfrm>
            <a:off x="640080" y="4224528"/>
            <a:ext cx="100584" cy="100584"/>
          </a:xfrm>
          <a:prstGeom prst="ellipse">
            <a:avLst/>
          </a:prstGeom>
          <a:solidFill>
            <a:srgbClr val="0F1E31">
              <a:alpha val="0"/>
            </a:srgbClr>
          </a:solidFill>
          <a:ln w="12700">
            <a:solidFill>
              <a:srgbClr val="3D9BD8"/>
            </a:solidFill>
            <a:prstDash val="solid"/>
          </a:ln>
        </p:spPr>
      </p:sp>
      <p:sp>
        <p:nvSpPr>
          <p:cNvPr id="27" name="Text 25"/>
          <p:cNvSpPr txBox="1"/>
          <p:nvPr/>
        </p:nvSpPr>
        <p:spPr>
          <a:xfrm>
            <a:off x="896112" y="4160520"/>
            <a:ext cx="2011680" cy="292608"/>
          </a:xfrm>
          <a:prstGeom prst="rect">
            <a:avLst/>
          </a:prstGeom>
          <a:noFill/>
          <a:ln/>
        </p:spPr>
        <p:txBody>
          <a:bodyPr wrap="square" lIns="0" tIns="0" rIns="0" bIns="0" rtlCol="0" anchor="ctr"/>
          <a:lstStyle/>
          <a:p>
            <a:pPr indent="0" marL="0">
              <a:buNone/>
            </a:pPr>
            <a:r>
              <a:rPr lang="en-US" sz="1050" b="1" dirty="0">
                <a:solidFill>
                  <a:srgbClr val="EAF2FA"/>
                </a:solidFill>
                <a:latin typeface="Arial" pitchFamily="34" charset="0"/>
                <a:ea typeface="Arial" pitchFamily="34" charset="-122"/>
                <a:cs typeface="Arial" pitchFamily="34" charset="-120"/>
              </a:rPr>
              <a:t>Bryan Turner</a:t>
            </a:r>
            <a:endParaRPr lang="en-US" sz="1050" dirty="0"/>
          </a:p>
        </p:txBody>
      </p:sp>
      <p:sp>
        <p:nvSpPr>
          <p:cNvPr id="28" name="Text 26"/>
          <p:cNvSpPr txBox="1"/>
          <p:nvPr/>
        </p:nvSpPr>
        <p:spPr>
          <a:xfrm>
            <a:off x="896112" y="4453128"/>
            <a:ext cx="2286000" cy="292608"/>
          </a:xfrm>
          <a:prstGeom prst="rect">
            <a:avLst/>
          </a:prstGeom>
          <a:noFill/>
          <a:ln/>
        </p:spPr>
        <p:txBody>
          <a:bodyPr wrap="square" lIns="0" tIns="0" rIns="0" bIns="0" rtlCol="0" anchor="ctr"/>
          <a:lstStyle/>
          <a:p>
            <a:pPr indent="0" marL="0">
              <a:lnSpc>
                <a:spcPct val="105000"/>
              </a:lnSpc>
              <a:buNone/>
            </a:pPr>
            <a:r>
              <a:rPr lang="en-US" sz="680" b="1" spc="100" kern="0" dirty="0">
                <a:solidFill>
                  <a:srgbClr val="6FD3FF"/>
                </a:solidFill>
                <a:latin typeface="Arial" pitchFamily="34" charset="0"/>
                <a:ea typeface="Arial" pitchFamily="34" charset="-122"/>
                <a:cs typeface="Arial" pitchFamily="34" charset="-120"/>
              </a:rPr>
              <a:t>SENSING, CONTROLS AND INDEPENDENT MEASUREMENT</a:t>
            </a:r>
            <a:endParaRPr lang="en-US" sz="680" dirty="0"/>
          </a:p>
        </p:txBody>
      </p:sp>
      <p:sp>
        <p:nvSpPr>
          <p:cNvPr id="29" name="Text 27"/>
          <p:cNvSpPr txBox="1"/>
          <p:nvPr/>
        </p:nvSpPr>
        <p:spPr>
          <a:xfrm>
            <a:off x="3319272" y="4169664"/>
            <a:ext cx="5989320" cy="576072"/>
          </a:xfrm>
          <a:prstGeom prst="rect">
            <a:avLst/>
          </a:prstGeom>
          <a:noFill/>
          <a:ln/>
        </p:spPr>
        <p:txBody>
          <a:bodyPr wrap="square" lIns="0" tIns="0" rIns="0" bIns="0" rtlCol="0" anchor="ctr"/>
          <a:lstStyle/>
          <a:p>
            <a:pPr indent="0" marL="0">
              <a:lnSpc>
                <a:spcPct val="105000"/>
              </a:lnSpc>
              <a:buNone/>
            </a:pPr>
            <a:r>
              <a:rPr lang="en-US" sz="790" dirty="0">
                <a:solidFill>
                  <a:srgbClr val="A9BDD1"/>
                </a:solidFill>
                <a:latin typeface="Arial" pitchFamily="34" charset="0"/>
                <a:ea typeface="Arial" pitchFamily="34" charset="-122"/>
                <a:cs typeface="Arial" pitchFamily="34" charset="-120"/>
              </a:rPr>
              <a:t>Electrical and systems engineering across electronics, software, robotics and motion control. Owns ground truth, state estimation, observability, adaptive calibration, drift, confounders and the design of the first falsifying experiment.</a:t>
            </a:r>
            <a:endParaRPr lang="en-US" sz="790" dirty="0"/>
          </a:p>
        </p:txBody>
      </p:sp>
      <p:sp>
        <p:nvSpPr>
          <p:cNvPr id="30" name="Text 28"/>
          <p:cNvSpPr txBox="1"/>
          <p:nvPr/>
        </p:nvSpPr>
        <p:spPr>
          <a:xfrm>
            <a:off x="9491472" y="4169664"/>
            <a:ext cx="2103120" cy="576072"/>
          </a:xfrm>
          <a:prstGeom prst="rect">
            <a:avLst/>
          </a:prstGeom>
          <a:noFill/>
          <a:ln/>
        </p:spPr>
        <p:txBody>
          <a:bodyPr wrap="square" lIns="0" tIns="0" rIns="0" bIns="0" rtlCol="0" anchor="ctr"/>
          <a:lstStyle/>
          <a:p>
            <a:pPr indent="0" marL="0">
              <a:lnSpc>
                <a:spcPct val="110000"/>
              </a:lnSpc>
              <a:buNone/>
            </a:pPr>
            <a:r>
              <a:rPr lang="en-US" sz="720" spc="60" kern="0" dirty="0">
                <a:solidFill>
                  <a:srgbClr val="72879D"/>
                </a:solidFill>
                <a:latin typeface="Arial" pitchFamily="34" charset="0"/>
                <a:ea typeface="Arial" pitchFamily="34" charset="-122"/>
                <a:cs typeface="Arial" pitchFamily="34" charset="-120"/>
              </a:rPr>
              <a:t>AGREEMENT ISSUED, RELATIONSHIP IN FORMATION</a:t>
            </a:r>
            <a:endParaRPr lang="en-US" sz="720" dirty="0"/>
          </a:p>
        </p:txBody>
      </p:sp>
      <p:sp>
        <p:nvSpPr>
          <p:cNvPr id="31" name="Shape 29"/>
          <p:cNvSpPr/>
          <p:nvPr/>
        </p:nvSpPr>
        <p:spPr>
          <a:xfrm>
            <a:off x="621792" y="4745736"/>
            <a:ext cx="10948111" cy="0"/>
          </a:xfrm>
          <a:prstGeom prst="line">
            <a:avLst/>
          </a:prstGeom>
          <a:noFill/>
          <a:ln w="9525">
            <a:solidFill>
              <a:srgbClr val="23405C"/>
            </a:solidFill>
            <a:prstDash val="solid"/>
          </a:ln>
        </p:spPr>
      </p:sp>
      <p:sp>
        <p:nvSpPr>
          <p:cNvPr id="32" name="Shape 30"/>
          <p:cNvSpPr/>
          <p:nvPr/>
        </p:nvSpPr>
        <p:spPr>
          <a:xfrm>
            <a:off x="640080" y="4873752"/>
            <a:ext cx="100584" cy="100584"/>
          </a:xfrm>
          <a:prstGeom prst="ellipse">
            <a:avLst/>
          </a:prstGeom>
          <a:solidFill>
            <a:srgbClr val="0F1E31">
              <a:alpha val="0"/>
            </a:srgbClr>
          </a:solidFill>
          <a:ln w="12700">
            <a:solidFill>
              <a:srgbClr val="3D9BD8"/>
            </a:solidFill>
            <a:prstDash val="solid"/>
          </a:ln>
        </p:spPr>
      </p:sp>
      <p:sp>
        <p:nvSpPr>
          <p:cNvPr id="33" name="Text 31"/>
          <p:cNvSpPr txBox="1"/>
          <p:nvPr/>
        </p:nvSpPr>
        <p:spPr>
          <a:xfrm>
            <a:off x="896112" y="4809744"/>
            <a:ext cx="2011680" cy="292608"/>
          </a:xfrm>
          <a:prstGeom prst="rect">
            <a:avLst/>
          </a:prstGeom>
          <a:noFill/>
          <a:ln/>
        </p:spPr>
        <p:txBody>
          <a:bodyPr wrap="square" lIns="0" tIns="0" rIns="0" bIns="0" rtlCol="0" anchor="ctr"/>
          <a:lstStyle/>
          <a:p>
            <a:pPr indent="0" marL="0">
              <a:buNone/>
            </a:pPr>
            <a:r>
              <a:rPr lang="en-US" sz="1050" b="1" dirty="0">
                <a:solidFill>
                  <a:srgbClr val="EAF2FA"/>
                </a:solidFill>
                <a:latin typeface="Arial" pitchFamily="34" charset="0"/>
                <a:ea typeface="Arial" pitchFamily="34" charset="-122"/>
                <a:cs typeface="Arial" pitchFamily="34" charset="-120"/>
              </a:rPr>
              <a:t>Justin Boone, Ph.D.</a:t>
            </a:r>
            <a:endParaRPr lang="en-US" sz="1050" dirty="0"/>
          </a:p>
        </p:txBody>
      </p:sp>
      <p:sp>
        <p:nvSpPr>
          <p:cNvPr id="34" name="Text 32"/>
          <p:cNvSpPr txBox="1"/>
          <p:nvPr/>
        </p:nvSpPr>
        <p:spPr>
          <a:xfrm>
            <a:off x="896112" y="5102352"/>
            <a:ext cx="2286000" cy="292608"/>
          </a:xfrm>
          <a:prstGeom prst="rect">
            <a:avLst/>
          </a:prstGeom>
          <a:noFill/>
          <a:ln/>
        </p:spPr>
        <p:txBody>
          <a:bodyPr wrap="square" lIns="0" tIns="0" rIns="0" bIns="0" rtlCol="0" anchor="ctr"/>
          <a:lstStyle/>
          <a:p>
            <a:pPr indent="0" marL="0">
              <a:lnSpc>
                <a:spcPct val="105000"/>
              </a:lnSpc>
              <a:buNone/>
            </a:pPr>
            <a:r>
              <a:rPr lang="en-US" sz="680" b="1" spc="100" kern="0" dirty="0">
                <a:solidFill>
                  <a:srgbClr val="6FD3FF"/>
                </a:solidFill>
                <a:latin typeface="Arial" pitchFamily="34" charset="0"/>
                <a:ea typeface="Arial" pitchFamily="34" charset="-122"/>
                <a:cs typeface="Arial" pitchFamily="34" charset="-120"/>
              </a:rPr>
              <a:t>DEFENSE PRODUCTION AND PRODUCIBILITY</a:t>
            </a:r>
            <a:endParaRPr lang="en-US" sz="680" dirty="0"/>
          </a:p>
        </p:txBody>
      </p:sp>
      <p:sp>
        <p:nvSpPr>
          <p:cNvPr id="35" name="Text 33"/>
          <p:cNvSpPr txBox="1"/>
          <p:nvPr/>
        </p:nvSpPr>
        <p:spPr>
          <a:xfrm>
            <a:off x="3319272" y="4818888"/>
            <a:ext cx="5989320" cy="576072"/>
          </a:xfrm>
          <a:prstGeom prst="rect">
            <a:avLst/>
          </a:prstGeom>
          <a:noFill/>
          <a:ln/>
        </p:spPr>
        <p:txBody>
          <a:bodyPr wrap="square" lIns="0" tIns="0" rIns="0" bIns="0" rtlCol="0" anchor="ctr"/>
          <a:lstStyle/>
          <a:p>
            <a:pPr indent="0" marL="0">
              <a:lnSpc>
                <a:spcPct val="105000"/>
              </a:lnSpc>
              <a:buNone/>
            </a:pPr>
            <a:r>
              <a:rPr lang="en-US" sz="790" dirty="0">
                <a:solidFill>
                  <a:srgbClr val="A9BDD1"/>
                </a:solidFill>
                <a:latin typeface="Arial" pitchFamily="34" charset="0"/>
                <a:ea typeface="Arial" pitchFamily="34" charset="-122"/>
                <a:cs typeface="Arial" pitchFamily="34" charset="-120"/>
              </a:rPr>
              <a:t>Senior defense manufacturing leader. Owns producibility, affordability, new product introduction, production scale-up, facilityization, supply chain and the evidence a production organisation needs before adoption.</a:t>
            </a:r>
            <a:endParaRPr lang="en-US" sz="790" dirty="0"/>
          </a:p>
        </p:txBody>
      </p:sp>
      <p:sp>
        <p:nvSpPr>
          <p:cNvPr id="36" name="Text 34"/>
          <p:cNvSpPr txBox="1"/>
          <p:nvPr/>
        </p:nvSpPr>
        <p:spPr>
          <a:xfrm>
            <a:off x="9491472" y="4818888"/>
            <a:ext cx="2103120" cy="576072"/>
          </a:xfrm>
          <a:prstGeom prst="rect">
            <a:avLst/>
          </a:prstGeom>
          <a:noFill/>
          <a:ln/>
        </p:spPr>
        <p:txBody>
          <a:bodyPr wrap="square" lIns="0" tIns="0" rIns="0" bIns="0" rtlCol="0" anchor="ctr"/>
          <a:lstStyle/>
          <a:p>
            <a:pPr indent="0" marL="0">
              <a:lnSpc>
                <a:spcPct val="110000"/>
              </a:lnSpc>
              <a:buNone/>
            </a:pPr>
            <a:r>
              <a:rPr lang="en-US" sz="720" spc="60" kern="0" dirty="0">
                <a:solidFill>
                  <a:srgbClr val="72879D"/>
                </a:solidFill>
                <a:latin typeface="Arial" pitchFamily="34" charset="0"/>
                <a:ea typeface="Arial" pitchFamily="34" charset="-122"/>
                <a:cs typeface="Arial" pitchFamily="34" charset="-120"/>
              </a:rPr>
              <a:t>AGREEMENT ISSUED, RELATIONSHIP IN FORMATION</a:t>
            </a:r>
            <a:endParaRPr lang="en-US" sz="720" dirty="0"/>
          </a:p>
        </p:txBody>
      </p:sp>
      <p:sp>
        <p:nvSpPr>
          <p:cNvPr id="37" name="Shape 35"/>
          <p:cNvSpPr/>
          <p:nvPr/>
        </p:nvSpPr>
        <p:spPr>
          <a:xfrm>
            <a:off x="621792" y="5394960"/>
            <a:ext cx="10948111" cy="0"/>
          </a:xfrm>
          <a:prstGeom prst="line">
            <a:avLst/>
          </a:prstGeom>
          <a:noFill/>
          <a:ln w="9525">
            <a:solidFill>
              <a:srgbClr val="23405C"/>
            </a:solidFill>
            <a:prstDash val="solid"/>
          </a:ln>
        </p:spPr>
      </p:sp>
      <p:sp>
        <p:nvSpPr>
          <p:cNvPr id="38" name="Text 36"/>
          <p:cNvSpPr txBox="1"/>
          <p:nvPr/>
        </p:nvSpPr>
        <p:spPr>
          <a:xfrm>
            <a:off x="621792" y="5532120"/>
            <a:ext cx="7863840" cy="868680"/>
          </a:xfrm>
          <a:prstGeom prst="rect">
            <a:avLst/>
          </a:prstGeom>
          <a:noFill/>
          <a:ln/>
        </p:spPr>
        <p:txBody>
          <a:bodyPr wrap="square" lIns="0" tIns="0" rIns="0" bIns="0" rtlCol="0" anchor="t"/>
          <a:lstStyle/>
          <a:p>
            <a:pPr algn="l" indent="0" marL="0">
              <a:lnSpc>
                <a:spcPct val="112000"/>
              </a:lnSpc>
              <a:spcAft>
                <a:spcPts val="400"/>
              </a:spcAft>
              <a:buNone/>
            </a:pPr>
            <a:r>
              <a:rPr lang="en-US" sz="900" dirty="0">
                <a:solidFill>
                  <a:srgbClr val="EAF2FA"/>
                </a:solidFill>
                <a:latin typeface="Arial" pitchFamily="34" charset="0"/>
                <a:ea typeface="Arial" pitchFamily="34" charset="-122"/>
                <a:cs typeface="Arial" pitchFamily="34" charset="-120"/>
              </a:rPr>
              <a:t>THE HONEST GAP — Gate 1 requires qualified technical test ownership and independent measurement review before pre-registration. Establishing that authority is part of what this round funds.</a:t>
            </a:r>
            <a:endParaRPr lang="en-US" sz="900" dirty="0"/>
          </a:p>
          <a:p>
            <a:pPr algn="l" indent="0" marL="0">
              <a:lnSpc>
                <a:spcPct val="112000"/>
              </a:lnSpc>
              <a:buNone/>
            </a:pPr>
            <a:r>
              <a:rPr lang="en-US" sz="1150" b="1" dirty="0">
                <a:solidFill>
                  <a:srgbClr val="6FD3FF"/>
                </a:solidFill>
                <a:latin typeface="Arial" pitchFamily="34" charset="0"/>
                <a:ea typeface="Arial" pitchFamily="34" charset="-122"/>
                <a:cs typeface="Arial" pitchFamily="34" charset="-120"/>
              </a:rPr>
              <a:t>External experience shapes the test. Physical evidence decides.</a:t>
            </a:r>
            <a:endParaRPr lang="en-US" sz="900" dirty="0"/>
          </a:p>
        </p:txBody>
      </p:sp>
      <p:sp>
        <p:nvSpPr>
          <p:cNvPr id="39" name="Text 37"/>
          <p:cNvSpPr txBox="1"/>
          <p:nvPr/>
        </p:nvSpPr>
        <p:spPr>
          <a:xfrm>
            <a:off x="8686800" y="5550408"/>
            <a:ext cx="2880360" cy="640080"/>
          </a:xfrm>
          <a:prstGeom prst="rect">
            <a:avLst/>
          </a:prstGeom>
          <a:noFill/>
          <a:ln/>
        </p:spPr>
        <p:txBody>
          <a:bodyPr wrap="square" lIns="0" tIns="0" rIns="0" bIns="0" rtlCol="0" anchor="t"/>
          <a:lstStyle/>
          <a:p>
            <a:pPr algn="l" indent="0" marL="0">
              <a:lnSpc>
                <a:spcPct val="115000"/>
              </a:lnSpc>
              <a:spcAft>
                <a:spcPts val="200"/>
              </a:spcAft>
              <a:buNone/>
            </a:pPr>
            <a:r>
              <a:rPr lang="en-US" sz="700" dirty="0">
                <a:solidFill>
                  <a:srgbClr val="72879D"/>
                </a:solidFill>
                <a:latin typeface="Arial" pitchFamily="34" charset="0"/>
                <a:ea typeface="Arial" pitchFamily="34" charset="-122"/>
                <a:cs typeface="Arial" pitchFamily="34" charset="-120"/>
              </a:rPr>
              <a:t>Advisory relationships. No advisor endorses or has validated Syntrex technology.</a:t>
            </a:r>
            <a:endParaRPr lang="en-US" sz="700" dirty="0"/>
          </a:p>
          <a:p>
            <a:pPr algn="l" indent="0" marL="0">
              <a:lnSpc>
                <a:spcPct val="115000"/>
              </a:lnSpc>
              <a:buNone/>
            </a:pPr>
            <a:r>
              <a:rPr lang="en-US" sz="700" dirty="0">
                <a:solidFill>
                  <a:srgbClr val="72879D"/>
                </a:solidFill>
                <a:latin typeface="Arial" pitchFamily="34" charset="0"/>
                <a:ea typeface="Arial" pitchFamily="34" charset="-122"/>
                <a:cs typeface="Arial" pitchFamily="34" charset="-120"/>
              </a:rPr>
              <a:t>No employer is a party to, associated with, or endorses Syntrex.</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15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EXTERNAL CHALLENGE</a:t>
            </a:r>
            <a:endParaRPr lang="en-US" sz="1000" dirty="0"/>
          </a:p>
        </p:txBody>
      </p:sp>
      <p:sp>
        <p:nvSpPr>
          <p:cNvPr id="5" name="Text 3"/>
          <p:cNvSpPr txBox="1"/>
          <p:nvPr/>
        </p:nvSpPr>
        <p:spPr>
          <a:xfrm>
            <a:off x="621792" y="786384"/>
            <a:ext cx="10948111" cy="1005840"/>
          </a:xfrm>
          <a:prstGeom prst="rect">
            <a:avLst/>
          </a:prstGeom>
          <a:noFill/>
          <a:ln/>
        </p:spPr>
        <p:txBody>
          <a:bodyPr wrap="square" lIns="0" tIns="0" rIns="0" bIns="0" rtlCol="0" anchor="t"/>
          <a:lstStyle/>
          <a:p>
            <a:pPr indent="0" marL="0">
              <a:lnSpc>
                <a:spcPct val="102000"/>
              </a:lnSpc>
              <a:buNone/>
            </a:pPr>
            <a:r>
              <a:rPr lang="en-US" sz="2700" b="1" dirty="0">
                <a:solidFill>
                  <a:srgbClr val="EAF2FA"/>
                </a:solidFill>
                <a:latin typeface="Arial" pitchFamily="34" charset="0"/>
                <a:ea typeface="Arial" pitchFamily="34" charset="-122"/>
                <a:cs typeface="Arial" pitchFamily="34" charset="-120"/>
              </a:rPr>
              <a:t>The thesis is already being challenged.</a:t>
            </a:r>
            <a:endParaRPr lang="en-US" sz="2700" dirty="0"/>
          </a:p>
          <a:p>
            <a:pPr indent="0" marL="0">
              <a:lnSpc>
                <a:spcPct val="102000"/>
              </a:lnSpc>
              <a:buNone/>
            </a:pPr>
            <a:r>
              <a:rPr lang="en-US" sz="2700" dirty="0">
                <a:solidFill>
                  <a:srgbClr val="A9BDD1"/>
                </a:solidFill>
                <a:latin typeface="Arial" pitchFamily="34" charset="0"/>
                <a:ea typeface="Arial" pitchFamily="34" charset="-122"/>
                <a:cs typeface="Arial" pitchFamily="34" charset="-120"/>
              </a:rPr>
              <a:t>What we hear changes what we test.</a:t>
            </a:r>
            <a:endParaRPr lang="en-US" sz="2700" dirty="0"/>
          </a:p>
        </p:txBody>
      </p:sp>
      <p:sp>
        <p:nvSpPr>
          <p:cNvPr id="6" name="Text 4"/>
          <p:cNvSpPr txBox="1"/>
          <p:nvPr/>
        </p:nvSpPr>
        <p:spPr>
          <a:xfrm>
            <a:off x="621792" y="2103120"/>
            <a:ext cx="3192170" cy="3291840"/>
          </a:xfrm>
          <a:prstGeom prst="rect">
            <a:avLst/>
          </a:prstGeom>
          <a:noFill/>
          <a:ln/>
        </p:spPr>
        <p:txBody>
          <a:bodyPr wrap="square" lIns="0" tIns="0" rIns="0" bIns="0" rtlCol="0" anchor="t"/>
          <a:lstStyle/>
          <a:p>
            <a:pPr algn="l" indent="0" marL="0">
              <a:lnSpc>
                <a:spcPct val="112000"/>
              </a:lnSpc>
              <a:spcAft>
                <a:spcPts val="800"/>
              </a:spcAft>
              <a:buNone/>
            </a:pPr>
            <a:r>
              <a:rPr lang="en-US" sz="1000" b="1" spc="100" kern="0" dirty="0">
                <a:solidFill>
                  <a:srgbClr val="EAF2FA"/>
                </a:solidFill>
                <a:latin typeface="Arial" pitchFamily="34" charset="0"/>
                <a:ea typeface="Arial" pitchFamily="34" charset="-122"/>
                <a:cs typeface="Arial" pitchFamily="34" charset="-120"/>
              </a:rPr>
              <a:t>01 · AUTOMATION FAILURE MODES</a:t>
            </a:r>
            <a:endParaRPr lang="en-US" sz="1000" dirty="0"/>
          </a:p>
          <a:p>
            <a:pPr algn="l" indent="0" marL="0">
              <a:lnSpc>
                <a:spcPct val="112000"/>
              </a:lnSpc>
              <a:spcAft>
                <a:spcPts val="300"/>
              </a:spcAft>
              <a:buNone/>
            </a:pPr>
            <a:r>
              <a:rPr lang="en-US" sz="700" b="1" spc="180" kern="0" dirty="0">
                <a:solidFill>
                  <a:srgbClr val="72879D"/>
                </a:solidFill>
                <a:latin typeface="Arial" pitchFamily="34" charset="0"/>
                <a:ea typeface="Arial" pitchFamily="34" charset="-122"/>
                <a:cs typeface="Arial" pitchFamily="34" charset="-120"/>
              </a:rPr>
              <a:t>DOCUMENTED PRACTITIONER OBSERVATION</a:t>
            </a:r>
            <a:endParaRPr lang="en-US" sz="1000" dirty="0"/>
          </a:p>
          <a:p>
            <a:pPr algn="l" indent="0" marL="0">
              <a:lnSpc>
                <a:spcPct val="112000"/>
              </a:lnSpc>
              <a:spcAft>
                <a:spcPts val="400"/>
              </a:spcAft>
              <a:buNone/>
            </a:pPr>
            <a:r>
              <a:rPr lang="en-US" sz="950" dirty="0">
                <a:solidFill>
                  <a:srgbClr val="A9BDD1"/>
                </a:solidFill>
                <a:latin typeface="Arial" pitchFamily="34" charset="0"/>
                <a:ea typeface="Arial" pitchFamily="34" charset="-122"/>
                <a:cs typeface="Arial" pitchFamily="34" charset="-120"/>
              </a:rPr>
              <a:t>Automated operations can continue after the physical process has moved outside what the system recognizes.</a:t>
            </a:r>
            <a:endParaRPr lang="en-US" sz="1000" dirty="0"/>
          </a:p>
          <a:p>
            <a:pPr algn="l" indent="0" marL="0">
              <a:lnSpc>
                <a:spcPct val="112000"/>
              </a:lnSpc>
              <a:spcAft>
                <a:spcPts val="1000"/>
              </a:spcAft>
              <a:buNone/>
            </a:pPr>
            <a:r>
              <a:rPr lang="en-US" sz="850" i="1" dirty="0">
                <a:solidFill>
                  <a:srgbClr val="72879D"/>
                </a:solidFill>
                <a:latin typeface="Arial" pitchFamily="34" charset="0"/>
                <a:ea typeface="Arial" pitchFamily="34" charset="-122"/>
                <a:cs typeface="Arial" pitchFamily="34" charset="-120"/>
              </a:rPr>
              <a:t>— Senior aerospace engineering leader</a:t>
            </a:r>
            <a:endParaRPr lang="en-US" sz="1000" dirty="0"/>
          </a:p>
          <a:p>
            <a:pPr algn="l" indent="0" marL="0">
              <a:lnSpc>
                <a:spcPct val="112000"/>
              </a:lnSpc>
              <a:spcAft>
                <a:spcPts val="300"/>
              </a:spcAft>
              <a:buNone/>
            </a:pPr>
            <a:r>
              <a:rPr lang="en-US" sz="750" b="1" spc="220" kern="0" dirty="0">
                <a:solidFill>
                  <a:srgbClr val="6FD3FF"/>
                </a:solidFill>
                <a:latin typeface="Arial" pitchFamily="34" charset="0"/>
                <a:ea typeface="Arial" pitchFamily="34" charset="-122"/>
                <a:cs typeface="Arial" pitchFamily="34" charset="-120"/>
              </a:rPr>
              <a:t>WHAT CHANGED</a:t>
            </a:r>
            <a:endParaRPr lang="en-US" sz="1000" dirty="0"/>
          </a:p>
          <a:p>
            <a:pPr algn="l" indent="0" marL="0">
              <a:lnSpc>
                <a:spcPct val="112000"/>
              </a:lnSpc>
              <a:buNone/>
            </a:pPr>
            <a:r>
              <a:rPr lang="en-US" sz="1000" b="1" dirty="0">
                <a:solidFill>
                  <a:srgbClr val="EAF2FA"/>
                </a:solidFill>
                <a:latin typeface="Arial" pitchFamily="34" charset="0"/>
                <a:ea typeface="Arial" pitchFamily="34" charset="-122"/>
                <a:cs typeface="Arial" pitchFamily="34" charset="-120"/>
              </a:rPr>
              <a:t>Sensing and tool-condition failure modes moved higher in the validation plan.</a:t>
            </a:r>
            <a:endParaRPr lang="en-US" sz="1000" dirty="0"/>
          </a:p>
        </p:txBody>
      </p:sp>
      <p:sp>
        <p:nvSpPr>
          <p:cNvPr id="7" name="Shape 5"/>
          <p:cNvSpPr/>
          <p:nvPr/>
        </p:nvSpPr>
        <p:spPr>
          <a:xfrm>
            <a:off x="4252874" y="2103120"/>
            <a:ext cx="0" cy="3200400"/>
          </a:xfrm>
          <a:prstGeom prst="line">
            <a:avLst/>
          </a:prstGeom>
          <a:noFill/>
          <a:ln w="9525">
            <a:solidFill>
              <a:srgbClr val="23405C"/>
            </a:solidFill>
            <a:prstDash val="solid"/>
          </a:ln>
        </p:spPr>
      </p:sp>
      <p:sp>
        <p:nvSpPr>
          <p:cNvPr id="8" name="Text 6"/>
          <p:cNvSpPr txBox="1"/>
          <p:nvPr/>
        </p:nvSpPr>
        <p:spPr>
          <a:xfrm>
            <a:off x="4591202" y="2103120"/>
            <a:ext cx="3192170" cy="3291840"/>
          </a:xfrm>
          <a:prstGeom prst="rect">
            <a:avLst/>
          </a:prstGeom>
          <a:noFill/>
          <a:ln/>
        </p:spPr>
        <p:txBody>
          <a:bodyPr wrap="square" lIns="0" tIns="0" rIns="0" bIns="0" rtlCol="0" anchor="t"/>
          <a:lstStyle/>
          <a:p>
            <a:pPr algn="l" indent="0" marL="0">
              <a:lnSpc>
                <a:spcPct val="112000"/>
              </a:lnSpc>
              <a:spcAft>
                <a:spcPts val="800"/>
              </a:spcAft>
              <a:buNone/>
            </a:pPr>
            <a:r>
              <a:rPr lang="en-US" sz="1000" b="1" spc="100" kern="0" dirty="0">
                <a:solidFill>
                  <a:srgbClr val="EAF2FA"/>
                </a:solidFill>
                <a:latin typeface="Arial" pitchFamily="34" charset="0"/>
                <a:ea typeface="Arial" pitchFamily="34" charset="-122"/>
                <a:cs typeface="Arial" pitchFamily="34" charset="-120"/>
              </a:rPr>
              <a:t>02 · EQUIPMENT AND WARRANTY REALITY</a:t>
            </a:r>
            <a:endParaRPr lang="en-US" sz="1000" dirty="0"/>
          </a:p>
          <a:p>
            <a:pPr algn="l" indent="0" marL="0">
              <a:lnSpc>
                <a:spcPct val="112000"/>
              </a:lnSpc>
              <a:spcAft>
                <a:spcPts val="300"/>
              </a:spcAft>
              <a:buNone/>
            </a:pPr>
            <a:r>
              <a:rPr lang="en-US" sz="700" b="1" spc="180" kern="0" dirty="0">
                <a:solidFill>
                  <a:srgbClr val="72879D"/>
                </a:solidFill>
                <a:latin typeface="Arial" pitchFamily="34" charset="0"/>
                <a:ea typeface="Arial" pitchFamily="34" charset="-122"/>
                <a:cs typeface="Arial" pitchFamily="34" charset="-120"/>
              </a:rPr>
              <a:t>DOCUMENTED PRACTITIONER OBSERVATION</a:t>
            </a:r>
            <a:endParaRPr lang="en-US" sz="1000" dirty="0"/>
          </a:p>
          <a:p>
            <a:pPr algn="l" indent="0" marL="0">
              <a:lnSpc>
                <a:spcPct val="112000"/>
              </a:lnSpc>
              <a:spcAft>
                <a:spcPts val="400"/>
              </a:spcAft>
              <a:buNone/>
            </a:pPr>
            <a:r>
              <a:rPr lang="en-US" sz="950" dirty="0">
                <a:solidFill>
                  <a:srgbClr val="A9BDD1"/>
                </a:solidFill>
                <a:latin typeface="Arial" pitchFamily="34" charset="0"/>
                <a:ea typeface="Arial" pitchFamily="34" charset="-122"/>
                <a:cs typeface="Arial" pitchFamily="34" charset="-120"/>
              </a:rPr>
              <a:t>Customers own the machines, protected parameters may be inaccessible, and controller changes can affect warranty and configuration status.</a:t>
            </a:r>
            <a:endParaRPr lang="en-US" sz="1000" dirty="0"/>
          </a:p>
          <a:p>
            <a:pPr algn="l" indent="0" marL="0">
              <a:lnSpc>
                <a:spcPct val="112000"/>
              </a:lnSpc>
              <a:spcAft>
                <a:spcPts val="1000"/>
              </a:spcAft>
              <a:buNone/>
            </a:pPr>
            <a:r>
              <a:rPr lang="en-US" sz="850" i="1" dirty="0">
                <a:solidFill>
                  <a:srgbClr val="72879D"/>
                </a:solidFill>
                <a:latin typeface="Arial" pitchFamily="34" charset="0"/>
                <a:ea typeface="Arial" pitchFamily="34" charset="-122"/>
                <a:cs typeface="Arial" pitchFamily="34" charset="-120"/>
              </a:rPr>
              <a:t>— Senior aerospace quality leader</a:t>
            </a:r>
            <a:endParaRPr lang="en-US" sz="1000" dirty="0"/>
          </a:p>
          <a:p>
            <a:pPr algn="l" indent="0" marL="0">
              <a:lnSpc>
                <a:spcPct val="112000"/>
              </a:lnSpc>
              <a:spcAft>
                <a:spcPts val="300"/>
              </a:spcAft>
              <a:buNone/>
            </a:pPr>
            <a:r>
              <a:rPr lang="en-US" sz="750" b="1" spc="220" kern="0" dirty="0">
                <a:solidFill>
                  <a:srgbClr val="6FD3FF"/>
                </a:solidFill>
                <a:latin typeface="Arial" pitchFamily="34" charset="0"/>
                <a:ea typeface="Arial" pitchFamily="34" charset="-122"/>
                <a:cs typeface="Arial" pitchFamily="34" charset="-120"/>
              </a:rPr>
              <a:t>WHAT CHANGED</a:t>
            </a:r>
            <a:endParaRPr lang="en-US" sz="1000" dirty="0"/>
          </a:p>
          <a:p>
            <a:pPr algn="l" indent="0" marL="0">
              <a:lnSpc>
                <a:spcPct val="112000"/>
              </a:lnSpc>
              <a:buNone/>
            </a:pPr>
            <a:r>
              <a:rPr lang="en-US" sz="1000" b="1" dirty="0">
                <a:solidFill>
                  <a:srgbClr val="EAF2FA"/>
                </a:solidFill>
                <a:latin typeface="Arial" pitchFamily="34" charset="0"/>
                <a:ea typeface="Arial" pitchFamily="34" charset="-122"/>
                <a:cs typeface="Arial" pitchFamily="34" charset="-120"/>
              </a:rPr>
              <a:t>The deployment model was rewritten to start read-only, beside the process, with no production authority.</a:t>
            </a:r>
            <a:endParaRPr lang="en-US" sz="1000" dirty="0"/>
          </a:p>
        </p:txBody>
      </p:sp>
      <p:sp>
        <p:nvSpPr>
          <p:cNvPr id="9" name="Shape 7"/>
          <p:cNvSpPr/>
          <p:nvPr/>
        </p:nvSpPr>
        <p:spPr>
          <a:xfrm>
            <a:off x="7902245" y="2103120"/>
            <a:ext cx="0" cy="3200400"/>
          </a:xfrm>
          <a:prstGeom prst="line">
            <a:avLst/>
          </a:prstGeom>
          <a:noFill/>
          <a:ln w="9525">
            <a:solidFill>
              <a:srgbClr val="23405C"/>
            </a:solidFill>
            <a:prstDash val="solid"/>
          </a:ln>
        </p:spPr>
      </p:sp>
      <p:sp>
        <p:nvSpPr>
          <p:cNvPr id="10" name="Text 8"/>
          <p:cNvSpPr txBox="1"/>
          <p:nvPr/>
        </p:nvSpPr>
        <p:spPr>
          <a:xfrm>
            <a:off x="8240573" y="2103120"/>
            <a:ext cx="3192170" cy="3291840"/>
          </a:xfrm>
          <a:prstGeom prst="rect">
            <a:avLst/>
          </a:prstGeom>
          <a:noFill/>
          <a:ln/>
        </p:spPr>
        <p:txBody>
          <a:bodyPr wrap="square" lIns="0" tIns="0" rIns="0" bIns="0" rtlCol="0" anchor="t"/>
          <a:lstStyle/>
          <a:p>
            <a:pPr algn="l" indent="0" marL="0">
              <a:lnSpc>
                <a:spcPct val="112000"/>
              </a:lnSpc>
              <a:spcAft>
                <a:spcPts val="800"/>
              </a:spcAft>
              <a:buNone/>
            </a:pPr>
            <a:r>
              <a:rPr lang="en-US" sz="1000" b="1" spc="100" kern="0" dirty="0">
                <a:solidFill>
                  <a:srgbClr val="EAF2FA"/>
                </a:solidFill>
                <a:latin typeface="Arial" pitchFamily="34" charset="0"/>
                <a:ea typeface="Arial" pitchFamily="34" charset="-122"/>
                <a:cs typeface="Arial" pitchFamily="34" charset="-120"/>
              </a:rPr>
              <a:t>03 · QUALIFICATION IS NOT A SHORTCUT</a:t>
            </a:r>
            <a:endParaRPr lang="en-US" sz="1000" dirty="0"/>
          </a:p>
          <a:p>
            <a:pPr algn="l" indent="0" marL="0">
              <a:lnSpc>
                <a:spcPct val="112000"/>
              </a:lnSpc>
              <a:spcAft>
                <a:spcPts val="300"/>
              </a:spcAft>
              <a:buNone/>
            </a:pPr>
            <a:r>
              <a:rPr lang="en-US" sz="700" b="1" spc="180" kern="0" dirty="0">
                <a:solidFill>
                  <a:srgbClr val="72879D"/>
                </a:solidFill>
                <a:latin typeface="Arial" pitchFamily="34" charset="0"/>
                <a:ea typeface="Arial" pitchFamily="34" charset="-122"/>
                <a:cs typeface="Arial" pitchFamily="34" charset="-120"/>
              </a:rPr>
              <a:t>DOCUMENTED PRACTITIONER OBSERVATION</a:t>
            </a:r>
            <a:endParaRPr lang="en-US" sz="1000" dirty="0"/>
          </a:p>
          <a:p>
            <a:pPr algn="l" indent="0" marL="0">
              <a:lnSpc>
                <a:spcPct val="112000"/>
              </a:lnSpc>
              <a:spcAft>
                <a:spcPts val="400"/>
              </a:spcAft>
              <a:buNone/>
            </a:pPr>
            <a:r>
              <a:rPr lang="en-US" sz="950" dirty="0">
                <a:solidFill>
                  <a:srgbClr val="A9BDD1"/>
                </a:solidFill>
                <a:latin typeface="Arial" pitchFamily="34" charset="0"/>
                <a:ea typeface="Arial" pitchFamily="34" charset="-122"/>
                <a:cs typeface="Arial" pitchFamily="34" charset="-120"/>
              </a:rPr>
              <a:t>A part working is not the same as a process being trusted, and a new part number requires its own first article inspection.</a:t>
            </a:r>
            <a:endParaRPr lang="en-US" sz="1000" dirty="0"/>
          </a:p>
          <a:p>
            <a:pPr algn="l" indent="0" marL="0">
              <a:lnSpc>
                <a:spcPct val="112000"/>
              </a:lnSpc>
              <a:spcAft>
                <a:spcPts val="1000"/>
              </a:spcAft>
              <a:buNone/>
            </a:pPr>
            <a:r>
              <a:rPr lang="en-US" sz="850" i="1" dirty="0">
                <a:solidFill>
                  <a:srgbClr val="72879D"/>
                </a:solidFill>
                <a:latin typeface="Arial" pitchFamily="34" charset="0"/>
                <a:ea typeface="Arial" pitchFamily="34" charset="-122"/>
                <a:cs typeface="Arial" pitchFamily="34" charset="-120"/>
              </a:rPr>
              <a:t>— Senior aerospace quality leader</a:t>
            </a:r>
            <a:endParaRPr lang="en-US" sz="1000" dirty="0"/>
          </a:p>
          <a:p>
            <a:pPr algn="l" indent="0" marL="0">
              <a:lnSpc>
                <a:spcPct val="112000"/>
              </a:lnSpc>
              <a:spcAft>
                <a:spcPts val="300"/>
              </a:spcAft>
              <a:buNone/>
            </a:pPr>
            <a:r>
              <a:rPr lang="en-US" sz="750" b="1" spc="220" kern="0" dirty="0">
                <a:solidFill>
                  <a:srgbClr val="6FD3FF"/>
                </a:solidFill>
                <a:latin typeface="Arial" pitchFamily="34" charset="0"/>
                <a:ea typeface="Arial" pitchFamily="34" charset="-122"/>
                <a:cs typeface="Arial" pitchFamily="34" charset="-120"/>
              </a:rPr>
              <a:t>WHAT CHANGED</a:t>
            </a:r>
            <a:endParaRPr lang="en-US" sz="1000" dirty="0"/>
          </a:p>
          <a:p>
            <a:pPr algn="l" indent="0" marL="0">
              <a:lnSpc>
                <a:spcPct val="112000"/>
              </a:lnSpc>
              <a:buNone/>
            </a:pPr>
            <a:r>
              <a:rPr lang="en-US" sz="1000" b="1" dirty="0">
                <a:solidFill>
                  <a:srgbClr val="EAF2FA"/>
                </a:solidFill>
                <a:latin typeface="Arial" pitchFamily="34" charset="0"/>
                <a:ea typeface="Arial" pitchFamily="34" charset="-122"/>
                <a:cs typeface="Arial" pitchFamily="34" charset="-120"/>
              </a:rPr>
              <a:t>The thesis that one qualified process could reduce part-specific first article inspection across part numbers was killed. Evidence credibility was elevated ahead of physical performance.</a:t>
            </a:r>
            <a:endParaRPr lang="en-US" sz="1000" dirty="0"/>
          </a:p>
        </p:txBody>
      </p:sp>
      <p:sp>
        <p:nvSpPr>
          <p:cNvPr id="11" name="Shape 9"/>
          <p:cNvSpPr/>
          <p:nvPr/>
        </p:nvSpPr>
        <p:spPr>
          <a:xfrm>
            <a:off x="621792" y="5541264"/>
            <a:ext cx="10948111" cy="0"/>
          </a:xfrm>
          <a:prstGeom prst="line">
            <a:avLst/>
          </a:prstGeom>
          <a:noFill/>
          <a:ln w="9525">
            <a:solidFill>
              <a:srgbClr val="23405C"/>
            </a:solidFill>
            <a:prstDash val="solid"/>
          </a:ln>
        </p:spPr>
      </p:sp>
      <p:sp>
        <p:nvSpPr>
          <p:cNvPr id="12" name="Text 10"/>
          <p:cNvSpPr txBox="1"/>
          <p:nvPr/>
        </p:nvSpPr>
        <p:spPr>
          <a:xfrm>
            <a:off x="621792" y="5669280"/>
            <a:ext cx="7772400" cy="292608"/>
          </a:xfrm>
          <a:prstGeom prst="rect">
            <a:avLst/>
          </a:prstGeom>
          <a:noFill/>
          <a:ln/>
        </p:spPr>
        <p:txBody>
          <a:bodyPr wrap="square" lIns="0" tIns="0" rIns="0" bIns="0" rtlCol="0" anchor="ctr"/>
          <a:lstStyle/>
          <a:p>
            <a:pPr indent="0" marL="0">
              <a:buNone/>
            </a:pPr>
            <a:r>
              <a:rPr lang="en-US" sz="1350" b="1" dirty="0">
                <a:solidFill>
                  <a:srgbClr val="6FD3FF"/>
                </a:solidFill>
                <a:latin typeface="Arial" pitchFamily="34" charset="0"/>
                <a:ea typeface="Arial" pitchFamily="34" charset="-122"/>
                <a:cs typeface="Arial" pitchFamily="34" charset="-120"/>
              </a:rPr>
              <a:t>Industry input sharpens the test. Physical evidence still decides.</a:t>
            </a:r>
            <a:endParaRPr lang="en-US" sz="1350" dirty="0"/>
          </a:p>
        </p:txBody>
      </p:sp>
      <p:sp>
        <p:nvSpPr>
          <p:cNvPr id="13" name="Text 11"/>
          <p:cNvSpPr txBox="1"/>
          <p:nvPr/>
        </p:nvSpPr>
        <p:spPr>
          <a:xfrm>
            <a:off x="621792" y="6089904"/>
            <a:ext cx="10948111" cy="256032"/>
          </a:xfrm>
          <a:prstGeom prst="rect">
            <a:avLst/>
          </a:prstGeom>
          <a:noFill/>
          <a:ln/>
        </p:spPr>
        <p:txBody>
          <a:bodyPr wrap="square" lIns="0" tIns="0" rIns="0" bIns="0" rtlCol="0" anchor="ctr"/>
          <a:lstStyle/>
          <a:p>
            <a:pPr indent="0" marL="0">
              <a:lnSpc>
                <a:spcPct val="105000"/>
              </a:lnSpc>
              <a:buNone/>
            </a:pPr>
            <a:r>
              <a:rPr lang="en-US" sz="650" dirty="0">
                <a:solidFill>
                  <a:srgbClr val="51667C"/>
                </a:solidFill>
                <a:latin typeface="Arial" pitchFamily="34" charset="0"/>
                <a:ea typeface="Arial" pitchFamily="34" charset="-122"/>
                <a:cs typeface="Arial" pitchFamily="34" charset="-120"/>
              </a:rPr>
              <a:t>External practitioner input. Not customer validation, technical endorsement, or proof of performance.</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16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WHAT COMPOUNDS</a:t>
            </a:r>
            <a:endParaRPr lang="en-US" sz="1000" dirty="0"/>
          </a:p>
        </p:txBody>
      </p:sp>
      <p:sp>
        <p:nvSpPr>
          <p:cNvPr id="5" name="Text 3"/>
          <p:cNvSpPr txBox="1"/>
          <p:nvPr/>
        </p:nvSpPr>
        <p:spPr>
          <a:xfrm>
            <a:off x="621792" y="786384"/>
            <a:ext cx="10948111" cy="1005840"/>
          </a:xfrm>
          <a:prstGeom prst="rect">
            <a:avLst/>
          </a:prstGeom>
          <a:noFill/>
          <a:ln/>
        </p:spPr>
        <p:txBody>
          <a:bodyPr wrap="square" lIns="0" tIns="0" rIns="0" bIns="0" rtlCol="0" anchor="t"/>
          <a:lstStyle/>
          <a:p>
            <a:pPr indent="0" marL="0">
              <a:lnSpc>
                <a:spcPct val="102000"/>
              </a:lnSpc>
              <a:buNone/>
            </a:pPr>
            <a:r>
              <a:rPr lang="en-US" sz="2700" b="1" dirty="0">
                <a:solidFill>
                  <a:srgbClr val="EAF2FA"/>
                </a:solidFill>
                <a:latin typeface="Arial" pitchFamily="34" charset="0"/>
                <a:ea typeface="Arial" pitchFamily="34" charset="-122"/>
                <a:cs typeface="Arial" pitchFamily="34" charset="-120"/>
              </a:rPr>
              <a:t>The hardware stack can be bought.</a:t>
            </a:r>
            <a:endParaRPr lang="en-US" sz="2700" dirty="0"/>
          </a:p>
          <a:p>
            <a:pPr indent="0" marL="0">
              <a:lnSpc>
                <a:spcPct val="102000"/>
              </a:lnSpc>
              <a:buNone/>
            </a:pPr>
            <a:r>
              <a:rPr lang="en-US" sz="2700" dirty="0">
                <a:solidFill>
                  <a:srgbClr val="A9BDD1"/>
                </a:solidFill>
                <a:latin typeface="Arial" pitchFamily="34" charset="0"/>
                <a:ea typeface="Arial" pitchFamily="34" charset="-122"/>
                <a:cs typeface="Arial" pitchFamily="34" charset="-120"/>
              </a:rPr>
              <a:t>The operating history has to be earned.</a:t>
            </a:r>
            <a:endParaRPr lang="en-US" sz="2700" dirty="0"/>
          </a:p>
        </p:txBody>
      </p:sp>
      <p:sp>
        <p:nvSpPr>
          <p:cNvPr id="6" name="Text 4"/>
          <p:cNvSpPr txBox="1"/>
          <p:nvPr/>
        </p:nvSpPr>
        <p:spPr>
          <a:xfrm>
            <a:off x="621792" y="2103120"/>
            <a:ext cx="4206240" cy="219456"/>
          </a:xfrm>
          <a:prstGeom prst="rect">
            <a:avLst/>
          </a:prstGeom>
          <a:noFill/>
          <a:ln/>
        </p:spPr>
        <p:txBody>
          <a:bodyPr wrap="square" lIns="0" tIns="0" rIns="0" bIns="0" rtlCol="0" anchor="ctr"/>
          <a:lstStyle/>
          <a:p>
            <a:pPr indent="0" marL="0">
              <a:buNone/>
            </a:pPr>
            <a:r>
              <a:rPr lang="en-US" sz="950" b="1" spc="220" kern="0" dirty="0">
                <a:solidFill>
                  <a:srgbClr val="A9BDD1"/>
                </a:solidFill>
                <a:latin typeface="Arial" pitchFamily="34" charset="0"/>
                <a:ea typeface="Arial" pitchFamily="34" charset="-122"/>
                <a:cs typeface="Arial" pitchFamily="34" charset="-120"/>
              </a:rPr>
              <a:t>AVAILABLE AND REPLACEABLE</a:t>
            </a:r>
            <a:endParaRPr lang="en-US" sz="950" dirty="0"/>
          </a:p>
        </p:txBody>
      </p:sp>
      <p:sp>
        <p:nvSpPr>
          <p:cNvPr id="7" name="Shape 5"/>
          <p:cNvSpPr/>
          <p:nvPr/>
        </p:nvSpPr>
        <p:spPr>
          <a:xfrm>
            <a:off x="621792" y="2450592"/>
            <a:ext cx="3657600" cy="402336"/>
          </a:xfrm>
          <a:prstGeom prst="roundRect">
            <a:avLst>
              <a:gd name="adj" fmla="val 11364"/>
            </a:avLst>
          </a:prstGeom>
          <a:solidFill>
            <a:srgbClr val="0F1E31">
              <a:alpha val="70000"/>
            </a:srgbClr>
          </a:solidFill>
          <a:ln w="9525">
            <a:solidFill>
              <a:srgbClr val="23405C"/>
            </a:solidFill>
            <a:prstDash val="solid"/>
          </a:ln>
        </p:spPr>
      </p:sp>
      <p:sp>
        <p:nvSpPr>
          <p:cNvPr id="8" name="Text 6"/>
          <p:cNvSpPr txBox="1"/>
          <p:nvPr/>
        </p:nvSpPr>
        <p:spPr>
          <a:xfrm>
            <a:off x="822960" y="2450592"/>
            <a:ext cx="3383280" cy="402336"/>
          </a:xfrm>
          <a:prstGeom prst="rect">
            <a:avLst/>
          </a:prstGeom>
          <a:noFill/>
          <a:ln/>
        </p:spPr>
        <p:txBody>
          <a:bodyPr wrap="square" lIns="0" tIns="0" rIns="0" bIns="0" rtlCol="0" anchor="ctr"/>
          <a:lstStyle/>
          <a:p>
            <a:pPr indent="0" marL="0">
              <a:buNone/>
            </a:pPr>
            <a:r>
              <a:rPr lang="en-US" sz="1000" dirty="0">
                <a:solidFill>
                  <a:srgbClr val="EAF2FA"/>
                </a:solidFill>
                <a:latin typeface="Arial" pitchFamily="34" charset="0"/>
                <a:ea typeface="Arial" pitchFamily="34" charset="-122"/>
                <a:cs typeface="Arial" pitchFamily="34" charset="-120"/>
              </a:rPr>
              <a:t>Industrial robots</a:t>
            </a:r>
            <a:endParaRPr lang="en-US" sz="1000" dirty="0"/>
          </a:p>
        </p:txBody>
      </p:sp>
      <p:sp>
        <p:nvSpPr>
          <p:cNvPr id="9" name="Shape 7"/>
          <p:cNvSpPr/>
          <p:nvPr/>
        </p:nvSpPr>
        <p:spPr>
          <a:xfrm>
            <a:off x="621792" y="2962656"/>
            <a:ext cx="3657600" cy="402336"/>
          </a:xfrm>
          <a:prstGeom prst="roundRect">
            <a:avLst>
              <a:gd name="adj" fmla="val 11364"/>
            </a:avLst>
          </a:prstGeom>
          <a:solidFill>
            <a:srgbClr val="0F1E31">
              <a:alpha val="70000"/>
            </a:srgbClr>
          </a:solidFill>
          <a:ln w="9525">
            <a:solidFill>
              <a:srgbClr val="23405C"/>
            </a:solidFill>
            <a:prstDash val="solid"/>
          </a:ln>
        </p:spPr>
      </p:sp>
      <p:sp>
        <p:nvSpPr>
          <p:cNvPr id="10" name="Text 8"/>
          <p:cNvSpPr txBox="1"/>
          <p:nvPr/>
        </p:nvSpPr>
        <p:spPr>
          <a:xfrm>
            <a:off x="822960" y="2962656"/>
            <a:ext cx="3383280" cy="402336"/>
          </a:xfrm>
          <a:prstGeom prst="rect">
            <a:avLst/>
          </a:prstGeom>
          <a:noFill/>
          <a:ln/>
        </p:spPr>
        <p:txBody>
          <a:bodyPr wrap="square" lIns="0" tIns="0" rIns="0" bIns="0" rtlCol="0" anchor="ctr"/>
          <a:lstStyle/>
          <a:p>
            <a:pPr indent="0" marL="0">
              <a:buNone/>
            </a:pPr>
            <a:r>
              <a:rPr lang="en-US" sz="1000" dirty="0">
                <a:solidFill>
                  <a:srgbClr val="EAF2FA"/>
                </a:solidFill>
                <a:latin typeface="Arial" pitchFamily="34" charset="0"/>
                <a:ea typeface="Arial" pitchFamily="34" charset="-122"/>
                <a:cs typeface="Arial" pitchFamily="34" charset="-120"/>
              </a:rPr>
              <a:t>Cameras and sensors</a:t>
            </a:r>
            <a:endParaRPr lang="en-US" sz="1000" dirty="0"/>
          </a:p>
        </p:txBody>
      </p:sp>
      <p:sp>
        <p:nvSpPr>
          <p:cNvPr id="11" name="Shape 9"/>
          <p:cNvSpPr/>
          <p:nvPr/>
        </p:nvSpPr>
        <p:spPr>
          <a:xfrm>
            <a:off x="621792" y="3474720"/>
            <a:ext cx="3657600" cy="402336"/>
          </a:xfrm>
          <a:prstGeom prst="roundRect">
            <a:avLst>
              <a:gd name="adj" fmla="val 11364"/>
            </a:avLst>
          </a:prstGeom>
          <a:solidFill>
            <a:srgbClr val="0F1E31">
              <a:alpha val="70000"/>
            </a:srgbClr>
          </a:solidFill>
          <a:ln w="9525">
            <a:solidFill>
              <a:srgbClr val="23405C"/>
            </a:solidFill>
            <a:prstDash val="solid"/>
          </a:ln>
        </p:spPr>
      </p:sp>
      <p:sp>
        <p:nvSpPr>
          <p:cNvPr id="12" name="Text 10"/>
          <p:cNvSpPr txBox="1"/>
          <p:nvPr/>
        </p:nvSpPr>
        <p:spPr>
          <a:xfrm>
            <a:off x="822960" y="3474720"/>
            <a:ext cx="3383280" cy="402336"/>
          </a:xfrm>
          <a:prstGeom prst="rect">
            <a:avLst/>
          </a:prstGeom>
          <a:noFill/>
          <a:ln/>
        </p:spPr>
        <p:txBody>
          <a:bodyPr wrap="square" lIns="0" tIns="0" rIns="0" bIns="0" rtlCol="0" anchor="ctr"/>
          <a:lstStyle/>
          <a:p>
            <a:pPr indent="0" marL="0">
              <a:buNone/>
            </a:pPr>
            <a:r>
              <a:rPr lang="en-US" sz="1000" dirty="0">
                <a:solidFill>
                  <a:srgbClr val="EAF2FA"/>
                </a:solidFill>
                <a:latin typeface="Arial" pitchFamily="34" charset="0"/>
                <a:ea typeface="Arial" pitchFamily="34" charset="-122"/>
                <a:cs typeface="Arial" pitchFamily="34" charset="-120"/>
              </a:rPr>
              <a:t>Compute</a:t>
            </a:r>
            <a:endParaRPr lang="en-US" sz="1000" dirty="0"/>
          </a:p>
        </p:txBody>
      </p:sp>
      <p:sp>
        <p:nvSpPr>
          <p:cNvPr id="13" name="Shape 11"/>
          <p:cNvSpPr/>
          <p:nvPr/>
        </p:nvSpPr>
        <p:spPr>
          <a:xfrm>
            <a:off x="621792" y="3986784"/>
            <a:ext cx="3657600" cy="402336"/>
          </a:xfrm>
          <a:prstGeom prst="roundRect">
            <a:avLst>
              <a:gd name="adj" fmla="val 11364"/>
            </a:avLst>
          </a:prstGeom>
          <a:solidFill>
            <a:srgbClr val="0F1E31">
              <a:alpha val="70000"/>
            </a:srgbClr>
          </a:solidFill>
          <a:ln w="9525">
            <a:solidFill>
              <a:srgbClr val="23405C"/>
            </a:solidFill>
            <a:prstDash val="solid"/>
          </a:ln>
        </p:spPr>
      </p:sp>
      <p:sp>
        <p:nvSpPr>
          <p:cNvPr id="14" name="Text 12"/>
          <p:cNvSpPr txBox="1"/>
          <p:nvPr/>
        </p:nvSpPr>
        <p:spPr>
          <a:xfrm>
            <a:off x="822960" y="3986784"/>
            <a:ext cx="3383280" cy="402336"/>
          </a:xfrm>
          <a:prstGeom prst="rect">
            <a:avLst/>
          </a:prstGeom>
          <a:noFill/>
          <a:ln/>
        </p:spPr>
        <p:txBody>
          <a:bodyPr wrap="square" lIns="0" tIns="0" rIns="0" bIns="0" rtlCol="0" anchor="ctr"/>
          <a:lstStyle/>
          <a:p>
            <a:pPr indent="0" marL="0">
              <a:buNone/>
            </a:pPr>
            <a:r>
              <a:rPr lang="en-US" sz="1000" dirty="0">
                <a:solidFill>
                  <a:srgbClr val="EAF2FA"/>
                </a:solidFill>
                <a:latin typeface="Arial" pitchFamily="34" charset="0"/>
                <a:ea typeface="Arial" pitchFamily="34" charset="-122"/>
                <a:cs typeface="Arial" pitchFamily="34" charset="-120"/>
              </a:rPr>
              <a:t>AI models</a:t>
            </a:r>
            <a:endParaRPr lang="en-US" sz="1000" dirty="0"/>
          </a:p>
        </p:txBody>
      </p:sp>
      <p:sp>
        <p:nvSpPr>
          <p:cNvPr id="15" name="Shape 13"/>
          <p:cNvSpPr/>
          <p:nvPr/>
        </p:nvSpPr>
        <p:spPr>
          <a:xfrm>
            <a:off x="621792" y="4498848"/>
            <a:ext cx="3657600" cy="402336"/>
          </a:xfrm>
          <a:prstGeom prst="roundRect">
            <a:avLst>
              <a:gd name="adj" fmla="val 11364"/>
            </a:avLst>
          </a:prstGeom>
          <a:solidFill>
            <a:srgbClr val="0F1E31">
              <a:alpha val="70000"/>
            </a:srgbClr>
          </a:solidFill>
          <a:ln w="9525">
            <a:solidFill>
              <a:srgbClr val="23405C"/>
            </a:solidFill>
            <a:prstDash val="solid"/>
          </a:ln>
        </p:spPr>
      </p:sp>
      <p:sp>
        <p:nvSpPr>
          <p:cNvPr id="16" name="Text 14"/>
          <p:cNvSpPr txBox="1"/>
          <p:nvPr/>
        </p:nvSpPr>
        <p:spPr>
          <a:xfrm>
            <a:off x="822960" y="4498848"/>
            <a:ext cx="3383280" cy="402336"/>
          </a:xfrm>
          <a:prstGeom prst="rect">
            <a:avLst/>
          </a:prstGeom>
          <a:noFill/>
          <a:ln/>
        </p:spPr>
        <p:txBody>
          <a:bodyPr wrap="square" lIns="0" tIns="0" rIns="0" bIns="0" rtlCol="0" anchor="ctr"/>
          <a:lstStyle/>
          <a:p>
            <a:pPr indent="0" marL="0">
              <a:buNone/>
            </a:pPr>
            <a:r>
              <a:rPr lang="en-US" sz="1000" dirty="0">
                <a:solidFill>
                  <a:srgbClr val="EAF2FA"/>
                </a:solidFill>
                <a:latin typeface="Arial" pitchFamily="34" charset="0"/>
                <a:ea typeface="Arial" pitchFamily="34" charset="-122"/>
                <a:cs typeface="Arial" pitchFamily="34" charset="-120"/>
              </a:rPr>
              <a:t>Planning software</a:t>
            </a:r>
            <a:endParaRPr lang="en-US" sz="1000" dirty="0"/>
          </a:p>
        </p:txBody>
      </p:sp>
      <p:sp>
        <p:nvSpPr>
          <p:cNvPr id="17" name="Shape 15"/>
          <p:cNvSpPr/>
          <p:nvPr/>
        </p:nvSpPr>
        <p:spPr>
          <a:xfrm>
            <a:off x="621792" y="5010912"/>
            <a:ext cx="3657600" cy="402336"/>
          </a:xfrm>
          <a:prstGeom prst="roundRect">
            <a:avLst>
              <a:gd name="adj" fmla="val 11364"/>
            </a:avLst>
          </a:prstGeom>
          <a:solidFill>
            <a:srgbClr val="0F1E31">
              <a:alpha val="70000"/>
            </a:srgbClr>
          </a:solidFill>
          <a:ln w="9525">
            <a:solidFill>
              <a:srgbClr val="23405C"/>
            </a:solidFill>
            <a:prstDash val="solid"/>
          </a:ln>
        </p:spPr>
      </p:sp>
      <p:sp>
        <p:nvSpPr>
          <p:cNvPr id="18" name="Text 16"/>
          <p:cNvSpPr txBox="1"/>
          <p:nvPr/>
        </p:nvSpPr>
        <p:spPr>
          <a:xfrm>
            <a:off x="822960" y="5010912"/>
            <a:ext cx="3383280" cy="402336"/>
          </a:xfrm>
          <a:prstGeom prst="rect">
            <a:avLst/>
          </a:prstGeom>
          <a:noFill/>
          <a:ln/>
        </p:spPr>
        <p:txBody>
          <a:bodyPr wrap="square" lIns="0" tIns="0" rIns="0" bIns="0" rtlCol="0" anchor="ctr"/>
          <a:lstStyle/>
          <a:p>
            <a:pPr indent="0" marL="0">
              <a:buNone/>
            </a:pPr>
            <a:r>
              <a:rPr lang="en-US" sz="1000" dirty="0">
                <a:solidFill>
                  <a:srgbClr val="EAF2FA"/>
                </a:solidFill>
                <a:latin typeface="Arial" pitchFamily="34" charset="0"/>
                <a:ea typeface="Arial" pitchFamily="34" charset="-122"/>
                <a:cs typeface="Arial" pitchFamily="34" charset="-120"/>
              </a:rPr>
              <a:t>Machine interfaces</a:t>
            </a:r>
            <a:endParaRPr lang="en-US" sz="1000" dirty="0"/>
          </a:p>
        </p:txBody>
      </p:sp>
      <p:sp>
        <p:nvSpPr>
          <p:cNvPr id="19" name="Text 17"/>
          <p:cNvSpPr txBox="1"/>
          <p:nvPr/>
        </p:nvSpPr>
        <p:spPr>
          <a:xfrm>
            <a:off x="4480560" y="3566160"/>
            <a:ext cx="2286000" cy="640080"/>
          </a:xfrm>
          <a:prstGeom prst="rect">
            <a:avLst/>
          </a:prstGeom>
          <a:noFill/>
          <a:ln/>
        </p:spPr>
        <p:txBody>
          <a:bodyPr wrap="square" lIns="0" tIns="0" rIns="0" bIns="0" rtlCol="0" anchor="ctr"/>
          <a:lstStyle/>
          <a:p>
            <a:pPr algn="ctr" indent="0" marL="0">
              <a:lnSpc>
                <a:spcPct val="125000"/>
              </a:lnSpc>
              <a:buNone/>
            </a:pPr>
            <a:r>
              <a:rPr lang="en-US" sz="800" b="1" spc="160" kern="0" dirty="0">
                <a:solidFill>
                  <a:srgbClr val="6FD3FF"/>
                </a:solidFill>
                <a:latin typeface="Arial" pitchFamily="34" charset="0"/>
                <a:ea typeface="Arial" pitchFamily="34" charset="-122"/>
                <a:cs typeface="Arial" pitchFamily="34" charset="-120"/>
              </a:rPr>
              <a:t>PHYSICAL EXECUTION</a:t>
            </a:r>
            <a:endParaRPr lang="en-US" sz="800" dirty="0"/>
          </a:p>
          <a:p>
            <a:pPr algn="ctr" indent="0" marL="0">
              <a:lnSpc>
                <a:spcPct val="125000"/>
              </a:lnSpc>
              <a:buNone/>
            </a:pPr>
            <a:r>
              <a:rPr lang="en-US" sz="800" b="1" spc="160" kern="0" dirty="0">
                <a:solidFill>
                  <a:srgbClr val="6FD3FF"/>
                </a:solidFill>
                <a:latin typeface="Arial" pitchFamily="34" charset="0"/>
                <a:ea typeface="Arial" pitchFamily="34" charset="-122"/>
                <a:cs typeface="Arial" pitchFamily="34" charset="-120"/>
              </a:rPr>
              <a:t>AND VERIFIED OUTCOMES</a:t>
            </a:r>
            <a:endParaRPr lang="en-US" sz="800" dirty="0"/>
          </a:p>
        </p:txBody>
      </p:sp>
      <p:sp>
        <p:nvSpPr>
          <p:cNvPr id="20" name="Shape 18"/>
          <p:cNvSpPr/>
          <p:nvPr/>
        </p:nvSpPr>
        <p:spPr>
          <a:xfrm>
            <a:off x="4709160" y="3383280"/>
            <a:ext cx="1828800" cy="0"/>
          </a:xfrm>
          <a:prstGeom prst="line">
            <a:avLst/>
          </a:prstGeom>
          <a:noFill/>
          <a:ln w="12700">
            <a:solidFill>
              <a:srgbClr val="3D9BD8"/>
            </a:solidFill>
            <a:prstDash val="dash"/>
          </a:ln>
        </p:spPr>
      </p:sp>
      <p:sp>
        <p:nvSpPr>
          <p:cNvPr id="21" name="Shape 19"/>
          <p:cNvSpPr/>
          <p:nvPr/>
        </p:nvSpPr>
        <p:spPr>
          <a:xfrm>
            <a:off x="4709160" y="4315968"/>
            <a:ext cx="1828800" cy="0"/>
          </a:xfrm>
          <a:prstGeom prst="line">
            <a:avLst/>
          </a:prstGeom>
          <a:noFill/>
          <a:ln w="12700">
            <a:solidFill>
              <a:srgbClr val="3D9BD8"/>
            </a:solidFill>
            <a:prstDash val="dash"/>
          </a:ln>
        </p:spPr>
      </p:sp>
      <p:sp>
        <p:nvSpPr>
          <p:cNvPr id="22" name="Text 20"/>
          <p:cNvSpPr txBox="1"/>
          <p:nvPr/>
        </p:nvSpPr>
        <p:spPr>
          <a:xfrm>
            <a:off x="6949440" y="2103120"/>
            <a:ext cx="4754880" cy="219456"/>
          </a:xfrm>
          <a:prstGeom prst="rect">
            <a:avLst/>
          </a:prstGeom>
          <a:noFill/>
          <a:ln/>
        </p:spPr>
        <p:txBody>
          <a:bodyPr wrap="square" lIns="0" tIns="0" rIns="0" bIns="0" rtlCol="0" anchor="ctr"/>
          <a:lstStyle/>
          <a:p>
            <a:pPr indent="0" marL="0">
              <a:buNone/>
            </a:pPr>
            <a:r>
              <a:rPr lang="en-US" sz="950" b="1" spc="180" kern="0" dirty="0">
                <a:solidFill>
                  <a:srgbClr val="6FD3FF"/>
                </a:solidFill>
                <a:latin typeface="Arial" pitchFamily="34" charset="0"/>
                <a:ea typeface="Arial" pitchFamily="34" charset="-122"/>
                <a:cs typeface="Arial" pitchFamily="34" charset="-120"/>
              </a:rPr>
              <a:t>POTENTIALLY COMPOUNDING, IF THE ARCHITECTURE WORKS</a:t>
            </a:r>
            <a:endParaRPr lang="en-US" sz="950" dirty="0"/>
          </a:p>
        </p:txBody>
      </p:sp>
      <p:sp>
        <p:nvSpPr>
          <p:cNvPr id="23" name="Shape 21"/>
          <p:cNvSpPr/>
          <p:nvPr/>
        </p:nvSpPr>
        <p:spPr>
          <a:xfrm>
            <a:off x="6949440" y="2450592"/>
            <a:ext cx="3291840" cy="512064"/>
          </a:xfrm>
          <a:prstGeom prst="rect">
            <a:avLst/>
          </a:prstGeom>
          <a:solidFill>
            <a:srgbClr val="0F2E4E">
              <a:alpha val="60000"/>
            </a:srgbClr>
          </a:solidFill>
          <a:ln w="12700">
            <a:solidFill>
              <a:srgbClr val="0F2E4E"/>
            </a:solidFill>
            <a:prstDash val="solid"/>
          </a:ln>
        </p:spPr>
      </p:sp>
      <p:sp>
        <p:nvSpPr>
          <p:cNvPr id="24" name="Text 22"/>
          <p:cNvSpPr txBox="1"/>
          <p:nvPr/>
        </p:nvSpPr>
        <p:spPr>
          <a:xfrm>
            <a:off x="7150608" y="2450592"/>
            <a:ext cx="2971800" cy="512064"/>
          </a:xfrm>
          <a:prstGeom prst="rect">
            <a:avLst/>
          </a:prstGeom>
          <a:noFill/>
          <a:ln/>
        </p:spPr>
        <p:txBody>
          <a:bodyPr wrap="square" lIns="0" tIns="0" rIns="0" bIns="0" rtlCol="0" anchor="ctr"/>
          <a:lstStyle/>
          <a:p>
            <a:pPr indent="0" marL="0">
              <a:lnSpc>
                <a:spcPct val="100000"/>
              </a:lnSpc>
              <a:buNone/>
            </a:pPr>
            <a:r>
              <a:rPr lang="en-US" sz="900" dirty="0">
                <a:solidFill>
                  <a:srgbClr val="EAF2FA"/>
                </a:solidFill>
                <a:latin typeface="Arial" pitchFamily="34" charset="0"/>
                <a:ea typeface="Arial" pitchFamily="34" charset="-122"/>
                <a:cs typeface="Arial" pitchFamily="34" charset="-120"/>
              </a:rPr>
              <a:t>Process to outcome datasets</a:t>
            </a:r>
            <a:endParaRPr lang="en-US" sz="900" dirty="0"/>
          </a:p>
        </p:txBody>
      </p:sp>
      <p:sp>
        <p:nvSpPr>
          <p:cNvPr id="25" name="Shape 23"/>
          <p:cNvSpPr/>
          <p:nvPr/>
        </p:nvSpPr>
        <p:spPr>
          <a:xfrm>
            <a:off x="6949440" y="2962656"/>
            <a:ext cx="3529584" cy="512064"/>
          </a:xfrm>
          <a:prstGeom prst="rect">
            <a:avLst/>
          </a:prstGeom>
          <a:solidFill>
            <a:srgbClr val="0F2E4E">
              <a:alpha val="65000"/>
            </a:srgbClr>
          </a:solidFill>
          <a:ln w="12700">
            <a:solidFill>
              <a:srgbClr val="0F2E4E"/>
            </a:solidFill>
            <a:prstDash val="solid"/>
          </a:ln>
        </p:spPr>
      </p:sp>
      <p:sp>
        <p:nvSpPr>
          <p:cNvPr id="26" name="Text 24"/>
          <p:cNvSpPr txBox="1"/>
          <p:nvPr/>
        </p:nvSpPr>
        <p:spPr>
          <a:xfrm>
            <a:off x="7150608" y="2962656"/>
            <a:ext cx="3209544" cy="512064"/>
          </a:xfrm>
          <a:prstGeom prst="rect">
            <a:avLst/>
          </a:prstGeom>
          <a:noFill/>
          <a:ln/>
        </p:spPr>
        <p:txBody>
          <a:bodyPr wrap="square" lIns="0" tIns="0" rIns="0" bIns="0" rtlCol="0" anchor="ctr"/>
          <a:lstStyle/>
          <a:p>
            <a:pPr indent="0" marL="0">
              <a:lnSpc>
                <a:spcPct val="100000"/>
              </a:lnSpc>
              <a:buNone/>
            </a:pPr>
            <a:r>
              <a:rPr lang="en-US" sz="900" dirty="0">
                <a:solidFill>
                  <a:srgbClr val="EAF2FA"/>
                </a:solidFill>
                <a:latin typeface="Arial" pitchFamily="34" charset="0"/>
                <a:ea typeface="Arial" pitchFamily="34" charset="-122"/>
                <a:cs typeface="Arial" pitchFamily="34" charset="-120"/>
              </a:rPr>
              <a:t>Demonstrated process performance history across configurations</a:t>
            </a:r>
            <a:endParaRPr lang="en-US" sz="900" dirty="0"/>
          </a:p>
        </p:txBody>
      </p:sp>
      <p:sp>
        <p:nvSpPr>
          <p:cNvPr id="27" name="Shape 25"/>
          <p:cNvSpPr/>
          <p:nvPr/>
        </p:nvSpPr>
        <p:spPr>
          <a:xfrm>
            <a:off x="6949440" y="3474720"/>
            <a:ext cx="3767328" cy="512064"/>
          </a:xfrm>
          <a:prstGeom prst="rect">
            <a:avLst/>
          </a:prstGeom>
          <a:solidFill>
            <a:srgbClr val="0F2E4E">
              <a:alpha val="70000"/>
            </a:srgbClr>
          </a:solidFill>
          <a:ln w="12700">
            <a:solidFill>
              <a:srgbClr val="0F2E4E"/>
            </a:solidFill>
            <a:prstDash val="solid"/>
          </a:ln>
        </p:spPr>
      </p:sp>
      <p:sp>
        <p:nvSpPr>
          <p:cNvPr id="28" name="Text 26"/>
          <p:cNvSpPr txBox="1"/>
          <p:nvPr/>
        </p:nvSpPr>
        <p:spPr>
          <a:xfrm>
            <a:off x="7150608" y="3474720"/>
            <a:ext cx="3447288" cy="512064"/>
          </a:xfrm>
          <a:prstGeom prst="rect">
            <a:avLst/>
          </a:prstGeom>
          <a:noFill/>
          <a:ln/>
        </p:spPr>
        <p:txBody>
          <a:bodyPr wrap="square" lIns="0" tIns="0" rIns="0" bIns="0" rtlCol="0" anchor="ctr"/>
          <a:lstStyle/>
          <a:p>
            <a:pPr indent="0" marL="0">
              <a:lnSpc>
                <a:spcPct val="100000"/>
              </a:lnSpc>
              <a:buNone/>
            </a:pPr>
            <a:r>
              <a:rPr lang="en-US" sz="900" dirty="0">
                <a:solidFill>
                  <a:srgbClr val="EAF2FA"/>
                </a:solidFill>
                <a:latin typeface="Arial" pitchFamily="34" charset="0"/>
                <a:ea typeface="Arial" pitchFamily="34" charset="-122"/>
                <a:cs typeface="Arial" pitchFamily="34" charset="-120"/>
              </a:rPr>
              <a:t>Failure and recovery knowledge</a:t>
            </a:r>
            <a:endParaRPr lang="en-US" sz="900" dirty="0"/>
          </a:p>
        </p:txBody>
      </p:sp>
      <p:sp>
        <p:nvSpPr>
          <p:cNvPr id="29" name="Shape 27"/>
          <p:cNvSpPr/>
          <p:nvPr/>
        </p:nvSpPr>
        <p:spPr>
          <a:xfrm>
            <a:off x="6949440" y="3986784"/>
            <a:ext cx="4005072" cy="512064"/>
          </a:xfrm>
          <a:prstGeom prst="rect">
            <a:avLst/>
          </a:prstGeom>
          <a:solidFill>
            <a:srgbClr val="0F2E4E">
              <a:alpha val="75000"/>
            </a:srgbClr>
          </a:solidFill>
          <a:ln w="12700">
            <a:solidFill>
              <a:srgbClr val="0F2E4E"/>
            </a:solidFill>
            <a:prstDash val="solid"/>
          </a:ln>
        </p:spPr>
      </p:sp>
      <p:sp>
        <p:nvSpPr>
          <p:cNvPr id="30" name="Text 28"/>
          <p:cNvSpPr txBox="1"/>
          <p:nvPr/>
        </p:nvSpPr>
        <p:spPr>
          <a:xfrm>
            <a:off x="7150608" y="3986784"/>
            <a:ext cx="3685032" cy="512064"/>
          </a:xfrm>
          <a:prstGeom prst="rect">
            <a:avLst/>
          </a:prstGeom>
          <a:noFill/>
          <a:ln/>
        </p:spPr>
        <p:txBody>
          <a:bodyPr wrap="square" lIns="0" tIns="0" rIns="0" bIns="0" rtlCol="0" anchor="ctr"/>
          <a:lstStyle/>
          <a:p>
            <a:pPr indent="0" marL="0">
              <a:lnSpc>
                <a:spcPct val="100000"/>
              </a:lnSpc>
              <a:buNone/>
            </a:pPr>
            <a:r>
              <a:rPr lang="en-US" sz="900" dirty="0">
                <a:solidFill>
                  <a:srgbClr val="EAF2FA"/>
                </a:solidFill>
                <a:latin typeface="Arial" pitchFamily="34" charset="0"/>
                <a:ea typeface="Arial" pitchFamily="34" charset="-122"/>
                <a:cs typeface="Arial" pitchFamily="34" charset="-120"/>
              </a:rPr>
              <a:t>Configuration transition and changeover knowledge</a:t>
            </a:r>
            <a:endParaRPr lang="en-US" sz="900" dirty="0"/>
          </a:p>
        </p:txBody>
      </p:sp>
      <p:sp>
        <p:nvSpPr>
          <p:cNvPr id="31" name="Shape 29"/>
          <p:cNvSpPr/>
          <p:nvPr/>
        </p:nvSpPr>
        <p:spPr>
          <a:xfrm>
            <a:off x="6949440" y="4498848"/>
            <a:ext cx="4242816" cy="512064"/>
          </a:xfrm>
          <a:prstGeom prst="rect">
            <a:avLst/>
          </a:prstGeom>
          <a:solidFill>
            <a:srgbClr val="0F2E4E">
              <a:alpha val="80000"/>
            </a:srgbClr>
          </a:solidFill>
          <a:ln w="12700">
            <a:solidFill>
              <a:srgbClr val="0F2E4E"/>
            </a:solidFill>
            <a:prstDash val="solid"/>
          </a:ln>
        </p:spPr>
      </p:sp>
      <p:sp>
        <p:nvSpPr>
          <p:cNvPr id="32" name="Text 30"/>
          <p:cNvSpPr txBox="1"/>
          <p:nvPr/>
        </p:nvSpPr>
        <p:spPr>
          <a:xfrm>
            <a:off x="7150608" y="4498848"/>
            <a:ext cx="3922776" cy="512064"/>
          </a:xfrm>
          <a:prstGeom prst="rect">
            <a:avLst/>
          </a:prstGeom>
          <a:noFill/>
          <a:ln/>
        </p:spPr>
        <p:txBody>
          <a:bodyPr wrap="square" lIns="0" tIns="0" rIns="0" bIns="0" rtlCol="0" anchor="ctr"/>
          <a:lstStyle/>
          <a:p>
            <a:pPr indent="0" marL="0">
              <a:lnSpc>
                <a:spcPct val="100000"/>
              </a:lnSpc>
              <a:buNone/>
            </a:pPr>
            <a:r>
              <a:rPr lang="en-US" sz="900" dirty="0">
                <a:solidFill>
                  <a:srgbClr val="EAF2FA"/>
                </a:solidFill>
                <a:latin typeface="Arial" pitchFamily="34" charset="0"/>
                <a:ea typeface="Arial" pitchFamily="34" charset="-122"/>
                <a:cs typeface="Arial" pitchFamily="34" charset="-120"/>
              </a:rPr>
              <a:t>Qualification history and accepted evidence formats</a:t>
            </a:r>
            <a:endParaRPr lang="en-US" sz="900" dirty="0"/>
          </a:p>
        </p:txBody>
      </p:sp>
      <p:sp>
        <p:nvSpPr>
          <p:cNvPr id="33" name="Shape 31"/>
          <p:cNvSpPr/>
          <p:nvPr/>
        </p:nvSpPr>
        <p:spPr>
          <a:xfrm>
            <a:off x="6949440" y="5010912"/>
            <a:ext cx="4480560" cy="512064"/>
          </a:xfrm>
          <a:prstGeom prst="rect">
            <a:avLst/>
          </a:prstGeom>
          <a:solidFill>
            <a:srgbClr val="0F2E4E">
              <a:alpha val="85000"/>
            </a:srgbClr>
          </a:solidFill>
          <a:ln w="12700">
            <a:solidFill>
              <a:srgbClr val="0F2E4E"/>
            </a:solidFill>
            <a:prstDash val="solid"/>
          </a:ln>
        </p:spPr>
      </p:sp>
      <p:sp>
        <p:nvSpPr>
          <p:cNvPr id="34" name="Text 32"/>
          <p:cNvSpPr txBox="1"/>
          <p:nvPr/>
        </p:nvSpPr>
        <p:spPr>
          <a:xfrm>
            <a:off x="7150608" y="5010912"/>
            <a:ext cx="4160520" cy="512064"/>
          </a:xfrm>
          <a:prstGeom prst="rect">
            <a:avLst/>
          </a:prstGeom>
          <a:noFill/>
          <a:ln/>
        </p:spPr>
        <p:txBody>
          <a:bodyPr wrap="square" lIns="0" tIns="0" rIns="0" bIns="0" rtlCol="0" anchor="ctr"/>
          <a:lstStyle/>
          <a:p>
            <a:pPr indent="0" marL="0">
              <a:lnSpc>
                <a:spcPct val="100000"/>
              </a:lnSpc>
              <a:buNone/>
            </a:pPr>
            <a:r>
              <a:rPr lang="en-US" sz="900" dirty="0">
                <a:solidFill>
                  <a:srgbClr val="EAF2FA"/>
                </a:solidFill>
                <a:latin typeface="Arial" pitchFamily="34" charset="0"/>
                <a:ea typeface="Arial" pitchFamily="34" charset="-122"/>
                <a:cs typeface="Arial" pitchFamily="34" charset="-120"/>
              </a:rPr>
              <a:t>Proprietary hardware designed around the manufacturing system</a:t>
            </a:r>
            <a:endParaRPr lang="en-US" sz="900" dirty="0"/>
          </a:p>
        </p:txBody>
      </p:sp>
      <p:sp>
        <p:nvSpPr>
          <p:cNvPr id="35" name="Text 33"/>
          <p:cNvSpPr txBox="1"/>
          <p:nvPr/>
        </p:nvSpPr>
        <p:spPr>
          <a:xfrm>
            <a:off x="621792" y="5650992"/>
            <a:ext cx="10948111" cy="274320"/>
          </a:xfrm>
          <a:prstGeom prst="rect">
            <a:avLst/>
          </a:prstGeom>
          <a:noFill/>
          <a:ln/>
        </p:spPr>
        <p:txBody>
          <a:bodyPr wrap="square" lIns="0" tIns="0" rIns="0" bIns="0" rtlCol="0" anchor="ctr"/>
          <a:lstStyle/>
          <a:p>
            <a:pPr indent="0" marL="0">
              <a:buNone/>
            </a:pPr>
            <a:r>
              <a:rPr lang="en-US" sz="1050" b="1" spc="180" kern="0" dirty="0">
                <a:solidFill>
                  <a:srgbClr val="72879D"/>
                </a:solidFill>
                <a:latin typeface="Arial" pitchFamily="34" charset="0"/>
                <a:ea typeface="Arial" pitchFamily="34" charset="-122"/>
                <a:cs typeface="Arial" pitchFamily="34" charset="-120"/>
              </a:rPr>
              <a:t>POTENTIAL MOAT, TO BE EARNED. NONE OF THESE ASSETS EXISTS AT SCALE TODAY.</a:t>
            </a:r>
            <a:endParaRPr lang="en-US" sz="1050" dirty="0"/>
          </a:p>
        </p:txBody>
      </p:sp>
      <p:sp>
        <p:nvSpPr>
          <p:cNvPr id="36" name="Text 34"/>
          <p:cNvSpPr txBox="1"/>
          <p:nvPr/>
        </p:nvSpPr>
        <p:spPr>
          <a:xfrm>
            <a:off x="621792" y="5961888"/>
            <a:ext cx="10948111" cy="457200"/>
          </a:xfrm>
          <a:prstGeom prst="rect">
            <a:avLst/>
          </a:prstGeom>
          <a:noFill/>
          <a:ln/>
        </p:spPr>
        <p:txBody>
          <a:bodyPr wrap="square" lIns="0" tIns="0" rIns="0" bIns="0" rtlCol="0" anchor="t"/>
          <a:lstStyle/>
          <a:p>
            <a:pPr algn="l" indent="0" marL="0">
              <a:lnSpc>
                <a:spcPct val="112000"/>
              </a:lnSpc>
              <a:buNone/>
            </a:pPr>
            <a:r>
              <a:rPr lang="en-US" sz="1150" b="1" dirty="0">
                <a:solidFill>
                  <a:srgbClr val="EAF2FA"/>
                </a:solidFill>
                <a:latin typeface="Arial" pitchFamily="34" charset="0"/>
                <a:ea typeface="Arial" pitchFamily="34" charset="-122"/>
                <a:cs typeface="Arial" pitchFamily="34" charset="-120"/>
              </a:rPr>
              <a:t>Capital can buy equivalent hardware. It cannot buy a record of what a process actually held, across configurations, accepted by a quality organisation.</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17 / 19</a:t>
            </a:r>
            <a:endParaRPr lang="en-US" sz="700" dirty="0"/>
          </a:p>
        </p:txBody>
      </p:sp>
      <p:pic>
        <p:nvPicPr>
          <p:cNvPr id="4" name="Image 0" descr="/tmp/claude-0/-home-user-foodiehome/a2788c04-4021-50f7-9e92-8de1b0e68224/scratchpad/syntrex/assets/fins.png">    </p:cNvPr>
          <p:cNvPicPr>
            <a:picLocks noChangeAspect="1"/>
          </p:cNvPicPr>
          <p:nvPr/>
        </p:nvPicPr>
        <p:blipFill>
          <a:blip r:embed="rId2">
            <a:alphaModFix amt="18000"/>
          </a:blip>
          <a:stretch>
            <a:fillRect/>
          </a:stretch>
        </p:blipFill>
        <p:spPr>
          <a:xfrm>
            <a:off x="8778240" y="-1188720"/>
            <a:ext cx="4846320" cy="4846320"/>
          </a:xfrm>
          <a:prstGeom prst="rect">
            <a:avLst/>
          </a:prstGeom>
        </p:spPr>
      </p:pic>
      <p:sp>
        <p:nvSpPr>
          <p:cNvPr id="5"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STRATEGIC DIRECTION, NOT FORECAST</a:t>
            </a:r>
            <a:endParaRPr lang="en-US" sz="1000" dirty="0"/>
          </a:p>
        </p:txBody>
      </p:sp>
      <p:sp>
        <p:nvSpPr>
          <p:cNvPr id="6"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2600" b="1" dirty="0">
                <a:solidFill>
                  <a:srgbClr val="EAF2FA"/>
                </a:solidFill>
                <a:latin typeface="Arial" pitchFamily="34" charset="0"/>
                <a:ea typeface="Arial" pitchFamily="34" charset="-122"/>
                <a:cs typeface="Arial" pitchFamily="34" charset="-120"/>
              </a:rPr>
              <a:t>Manufacturing capability is the entry point, not the ceiling.</a:t>
            </a:r>
            <a:endParaRPr lang="en-US" sz="2600" dirty="0"/>
          </a:p>
        </p:txBody>
      </p:sp>
      <p:sp>
        <p:nvSpPr>
          <p:cNvPr id="7" name="Shape 4"/>
          <p:cNvSpPr/>
          <p:nvPr/>
        </p:nvSpPr>
        <p:spPr>
          <a:xfrm>
            <a:off x="621792" y="3621024"/>
            <a:ext cx="2121408" cy="1207008"/>
          </a:xfrm>
          <a:prstGeom prst="rect">
            <a:avLst/>
          </a:prstGeom>
          <a:solidFill>
            <a:srgbClr val="12395F">
              <a:alpha val="94000"/>
            </a:srgbClr>
          </a:solidFill>
          <a:ln w="19050">
            <a:solidFill>
              <a:srgbClr val="6FD3FF"/>
            </a:solidFill>
            <a:prstDash val="solid"/>
          </a:ln>
        </p:spPr>
      </p:sp>
      <p:sp>
        <p:nvSpPr>
          <p:cNvPr id="8" name="Text 5"/>
          <p:cNvSpPr txBox="1"/>
          <p:nvPr/>
        </p:nvSpPr>
        <p:spPr>
          <a:xfrm>
            <a:off x="749808" y="3694176"/>
            <a:ext cx="731520" cy="292608"/>
          </a:xfrm>
          <a:prstGeom prst="rect">
            <a:avLst/>
          </a:prstGeom>
          <a:noFill/>
          <a:ln/>
        </p:spPr>
        <p:txBody>
          <a:bodyPr wrap="square" lIns="0" tIns="0" rIns="0" bIns="0" rtlCol="0" anchor="ctr"/>
          <a:lstStyle/>
          <a:p>
            <a:pPr indent="0" marL="0">
              <a:buNone/>
            </a:pPr>
            <a:r>
              <a:rPr lang="en-US" sz="1400" b="1" dirty="0">
                <a:solidFill>
                  <a:srgbClr val="6FD3FF"/>
                </a:solidFill>
                <a:latin typeface="Arial" pitchFamily="34" charset="0"/>
                <a:ea typeface="Arial" pitchFamily="34" charset="-122"/>
                <a:cs typeface="Arial" pitchFamily="34" charset="-120"/>
              </a:rPr>
              <a:t>01</a:t>
            </a:r>
            <a:endParaRPr lang="en-US" sz="1400" dirty="0"/>
          </a:p>
        </p:txBody>
      </p:sp>
      <p:sp>
        <p:nvSpPr>
          <p:cNvPr id="9" name="Text 6"/>
          <p:cNvSpPr txBox="1"/>
          <p:nvPr/>
        </p:nvSpPr>
        <p:spPr>
          <a:xfrm>
            <a:off x="749808" y="4005072"/>
            <a:ext cx="1865376" cy="548640"/>
          </a:xfrm>
          <a:prstGeom prst="rect">
            <a:avLst/>
          </a:prstGeom>
          <a:noFill/>
          <a:ln/>
        </p:spPr>
        <p:txBody>
          <a:bodyPr wrap="square" lIns="0" tIns="0" rIns="0" bIns="0" rtlCol="0" anchor="ctr"/>
          <a:lstStyle/>
          <a:p>
            <a:pPr indent="0" marL="0">
              <a:lnSpc>
                <a:spcPct val="108000"/>
              </a:lnSpc>
              <a:buNone/>
            </a:pPr>
            <a:r>
              <a:rPr lang="en-US" sz="860" b="1" spc="60" kern="0" dirty="0">
                <a:solidFill>
                  <a:srgbClr val="EAF2FA"/>
                </a:solidFill>
                <a:latin typeface="Arial" pitchFamily="34" charset="0"/>
                <a:ea typeface="Arial" pitchFamily="34" charset="-122"/>
                <a:cs typeface="Arial" pitchFamily="34" charset="-120"/>
              </a:rPr>
              <a:t>MANUFACTURING TECHNOLOGY</a:t>
            </a:r>
            <a:endParaRPr lang="en-US" sz="860" dirty="0"/>
          </a:p>
        </p:txBody>
      </p:sp>
      <p:sp>
        <p:nvSpPr>
          <p:cNvPr id="10" name="Text 7"/>
          <p:cNvSpPr txBox="1"/>
          <p:nvPr/>
        </p:nvSpPr>
        <p:spPr>
          <a:xfrm>
            <a:off x="749808" y="4480560"/>
            <a:ext cx="1865376" cy="329184"/>
          </a:xfrm>
          <a:prstGeom prst="rect">
            <a:avLst/>
          </a:prstGeom>
          <a:noFill/>
          <a:ln/>
        </p:spPr>
        <p:txBody>
          <a:bodyPr wrap="square" lIns="0" tIns="0" rIns="0" bIns="0" rtlCol="0" anchor="t"/>
          <a:lstStyle/>
          <a:p>
            <a:pPr indent="0" marL="0">
              <a:lnSpc>
                <a:spcPct val="108000"/>
              </a:lnSpc>
              <a:buNone/>
            </a:pPr>
            <a:r>
              <a:rPr lang="en-US" sz="740" dirty="0">
                <a:solidFill>
                  <a:srgbClr val="72879D"/>
                </a:solidFill>
                <a:latin typeface="Arial" pitchFamily="34" charset="0"/>
                <a:ea typeface="Arial" pitchFamily="34" charset="-122"/>
                <a:cs typeface="Arial" pitchFamily="34" charset="-120"/>
              </a:rPr>
              <a:t>A bounded decision and evidence layer for high-mix production</a:t>
            </a:r>
            <a:endParaRPr lang="en-US" sz="740" dirty="0"/>
          </a:p>
        </p:txBody>
      </p:sp>
      <p:sp>
        <p:nvSpPr>
          <p:cNvPr id="11" name="Shape 8"/>
          <p:cNvSpPr/>
          <p:nvPr/>
        </p:nvSpPr>
        <p:spPr>
          <a:xfrm>
            <a:off x="2816352" y="3236976"/>
            <a:ext cx="2121408" cy="1591056"/>
          </a:xfrm>
          <a:prstGeom prst="rect">
            <a:avLst/>
          </a:prstGeom>
          <a:solidFill>
            <a:srgbClr val="0F1E31">
              <a:alpha val="22000"/>
            </a:srgbClr>
          </a:solidFill>
          <a:ln w="11430">
            <a:solidFill>
              <a:srgbClr val="3D9BD8">
                <a:alpha val="65000"/>
              </a:srgbClr>
            </a:solidFill>
            <a:prstDash val="solid"/>
          </a:ln>
        </p:spPr>
      </p:sp>
      <p:sp>
        <p:nvSpPr>
          <p:cNvPr id="12" name="Text 9"/>
          <p:cNvSpPr txBox="1"/>
          <p:nvPr/>
        </p:nvSpPr>
        <p:spPr>
          <a:xfrm>
            <a:off x="2944368" y="3310128"/>
            <a:ext cx="731520" cy="292608"/>
          </a:xfrm>
          <a:prstGeom prst="rect">
            <a:avLst/>
          </a:prstGeom>
          <a:noFill/>
          <a:ln/>
        </p:spPr>
        <p:txBody>
          <a:bodyPr wrap="square" lIns="0" tIns="0" rIns="0" bIns="0" rtlCol="0" anchor="ctr"/>
          <a:lstStyle/>
          <a:p>
            <a:pPr indent="0" marL="0">
              <a:buNone/>
            </a:pPr>
            <a:r>
              <a:rPr lang="en-US" sz="1400" b="1" dirty="0">
                <a:solidFill>
                  <a:srgbClr val="72879D"/>
                </a:solidFill>
                <a:latin typeface="Arial" pitchFamily="34" charset="0"/>
                <a:ea typeface="Arial" pitchFamily="34" charset="-122"/>
                <a:cs typeface="Arial" pitchFamily="34" charset="-120"/>
              </a:rPr>
              <a:t>02</a:t>
            </a:r>
            <a:endParaRPr lang="en-US" sz="1400" dirty="0"/>
          </a:p>
        </p:txBody>
      </p:sp>
      <p:sp>
        <p:nvSpPr>
          <p:cNvPr id="13" name="Text 10"/>
          <p:cNvSpPr txBox="1"/>
          <p:nvPr/>
        </p:nvSpPr>
        <p:spPr>
          <a:xfrm>
            <a:off x="2944368" y="3621024"/>
            <a:ext cx="1865376" cy="548640"/>
          </a:xfrm>
          <a:prstGeom prst="rect">
            <a:avLst/>
          </a:prstGeom>
          <a:noFill/>
          <a:ln/>
        </p:spPr>
        <p:txBody>
          <a:bodyPr wrap="square" lIns="0" tIns="0" rIns="0" bIns="0" rtlCol="0" anchor="ctr"/>
          <a:lstStyle/>
          <a:p>
            <a:pPr indent="0" marL="0">
              <a:lnSpc>
                <a:spcPct val="108000"/>
              </a:lnSpc>
              <a:buNone/>
            </a:pPr>
            <a:r>
              <a:rPr lang="en-US" sz="860" b="1" spc="60" kern="0" dirty="0">
                <a:solidFill>
                  <a:srgbClr val="A9BDD1"/>
                </a:solidFill>
                <a:latin typeface="Arial" pitchFamily="34" charset="0"/>
                <a:ea typeface="Arial" pitchFamily="34" charset="-122"/>
                <a:cs typeface="Arial" pitchFamily="34" charset="-120"/>
              </a:rPr>
              <a:t>PROPRIETARY MANUFACTURING ADVANTAGE</a:t>
            </a:r>
            <a:endParaRPr lang="en-US" sz="860" dirty="0"/>
          </a:p>
        </p:txBody>
      </p:sp>
      <p:sp>
        <p:nvSpPr>
          <p:cNvPr id="14" name="Text 11"/>
          <p:cNvSpPr txBox="1"/>
          <p:nvPr/>
        </p:nvSpPr>
        <p:spPr>
          <a:xfrm>
            <a:off x="2944368" y="4096512"/>
            <a:ext cx="1865376" cy="329184"/>
          </a:xfrm>
          <a:prstGeom prst="rect">
            <a:avLst/>
          </a:prstGeom>
          <a:noFill/>
          <a:ln/>
        </p:spPr>
        <p:txBody>
          <a:bodyPr wrap="square" lIns="0" tIns="0" rIns="0" bIns="0" rtlCol="0" anchor="t"/>
          <a:lstStyle/>
          <a:p>
            <a:pPr indent="0" marL="0">
              <a:lnSpc>
                <a:spcPct val="108000"/>
              </a:lnSpc>
              <a:buNone/>
            </a:pPr>
            <a:r>
              <a:rPr lang="en-US" sz="740" dirty="0">
                <a:solidFill>
                  <a:srgbClr val="72879D"/>
                </a:solidFill>
                <a:latin typeface="Arial" pitchFamily="34" charset="0"/>
                <a:ea typeface="Arial" pitchFamily="34" charset="-122"/>
                <a:cs typeface="Arial" pitchFamily="34" charset="-120"/>
              </a:rPr>
              <a:t>Operating history that makes Syntrex-run production measurably better than the alternative</a:t>
            </a:r>
            <a:endParaRPr lang="en-US" sz="740" dirty="0"/>
          </a:p>
        </p:txBody>
      </p:sp>
      <p:sp>
        <p:nvSpPr>
          <p:cNvPr id="15" name="Shape 12"/>
          <p:cNvSpPr/>
          <p:nvPr/>
        </p:nvSpPr>
        <p:spPr>
          <a:xfrm>
            <a:off x="5010912" y="2852928"/>
            <a:ext cx="2121408" cy="1975104"/>
          </a:xfrm>
          <a:prstGeom prst="rect">
            <a:avLst/>
          </a:prstGeom>
          <a:solidFill>
            <a:srgbClr val="0F1E31">
              <a:alpha val="22000"/>
            </a:srgbClr>
          </a:solidFill>
          <a:ln w="11430">
            <a:solidFill>
              <a:srgbClr val="3D9BD8">
                <a:alpha val="65000"/>
              </a:srgbClr>
            </a:solidFill>
            <a:prstDash val="solid"/>
          </a:ln>
        </p:spPr>
      </p:sp>
      <p:sp>
        <p:nvSpPr>
          <p:cNvPr id="16" name="Text 13"/>
          <p:cNvSpPr txBox="1"/>
          <p:nvPr/>
        </p:nvSpPr>
        <p:spPr>
          <a:xfrm>
            <a:off x="5138928" y="2926080"/>
            <a:ext cx="731520" cy="292608"/>
          </a:xfrm>
          <a:prstGeom prst="rect">
            <a:avLst/>
          </a:prstGeom>
          <a:noFill/>
          <a:ln/>
        </p:spPr>
        <p:txBody>
          <a:bodyPr wrap="square" lIns="0" tIns="0" rIns="0" bIns="0" rtlCol="0" anchor="ctr"/>
          <a:lstStyle/>
          <a:p>
            <a:pPr indent="0" marL="0">
              <a:buNone/>
            </a:pPr>
            <a:r>
              <a:rPr lang="en-US" sz="1400" b="1" dirty="0">
                <a:solidFill>
                  <a:srgbClr val="72879D"/>
                </a:solidFill>
                <a:latin typeface="Arial" pitchFamily="34" charset="0"/>
                <a:ea typeface="Arial" pitchFamily="34" charset="-122"/>
                <a:cs typeface="Arial" pitchFamily="34" charset="-120"/>
              </a:rPr>
              <a:t>03</a:t>
            </a:r>
            <a:endParaRPr lang="en-US" sz="1400" dirty="0"/>
          </a:p>
        </p:txBody>
      </p:sp>
      <p:sp>
        <p:nvSpPr>
          <p:cNvPr id="17" name="Text 14"/>
          <p:cNvSpPr txBox="1"/>
          <p:nvPr/>
        </p:nvSpPr>
        <p:spPr>
          <a:xfrm>
            <a:off x="5138928" y="3236976"/>
            <a:ext cx="1865376" cy="548640"/>
          </a:xfrm>
          <a:prstGeom prst="rect">
            <a:avLst/>
          </a:prstGeom>
          <a:noFill/>
          <a:ln/>
        </p:spPr>
        <p:txBody>
          <a:bodyPr wrap="square" lIns="0" tIns="0" rIns="0" bIns="0" rtlCol="0" anchor="ctr"/>
          <a:lstStyle/>
          <a:p>
            <a:pPr indent="0" marL="0">
              <a:lnSpc>
                <a:spcPct val="108000"/>
              </a:lnSpc>
              <a:buNone/>
            </a:pPr>
            <a:r>
              <a:rPr lang="en-US" sz="860" b="1" spc="60" kern="0" dirty="0">
                <a:solidFill>
                  <a:srgbClr val="A9BDD1"/>
                </a:solidFill>
                <a:latin typeface="Arial" pitchFamily="34" charset="0"/>
                <a:ea typeface="Arial" pitchFamily="34" charset="-122"/>
                <a:cs typeface="Arial" pitchFamily="34" charset="-120"/>
              </a:rPr>
              <a:t>OWNED SUBASSEMBLIES AND NATIVE PARTS</a:t>
            </a:r>
            <a:endParaRPr lang="en-US" sz="860" dirty="0"/>
          </a:p>
        </p:txBody>
      </p:sp>
      <p:sp>
        <p:nvSpPr>
          <p:cNvPr id="18" name="Text 15"/>
          <p:cNvSpPr txBox="1"/>
          <p:nvPr/>
        </p:nvSpPr>
        <p:spPr>
          <a:xfrm>
            <a:off x="5138928" y="3712464"/>
            <a:ext cx="1865376" cy="329184"/>
          </a:xfrm>
          <a:prstGeom prst="rect">
            <a:avLst/>
          </a:prstGeom>
          <a:noFill/>
          <a:ln/>
        </p:spPr>
        <p:txBody>
          <a:bodyPr wrap="square" lIns="0" tIns="0" rIns="0" bIns="0" rtlCol="0" anchor="t"/>
          <a:lstStyle/>
          <a:p>
            <a:pPr indent="0" marL="0">
              <a:lnSpc>
                <a:spcPct val="108000"/>
              </a:lnSpc>
              <a:buNone/>
            </a:pPr>
            <a:r>
              <a:rPr lang="en-US" sz="740" dirty="0">
                <a:solidFill>
                  <a:srgbClr val="72879D"/>
                </a:solidFill>
                <a:latin typeface="Arial" pitchFamily="34" charset="0"/>
                <a:ea typeface="Arial" pitchFamily="34" charset="-122"/>
                <a:cs typeface="Arial" pitchFamily="34" charset="-120"/>
              </a:rPr>
              <a:t>Parts designed around the manufacturing system rather than adapted to it</a:t>
            </a:r>
            <a:endParaRPr lang="en-US" sz="740" dirty="0"/>
          </a:p>
        </p:txBody>
      </p:sp>
      <p:sp>
        <p:nvSpPr>
          <p:cNvPr id="19" name="Shape 16"/>
          <p:cNvSpPr/>
          <p:nvPr/>
        </p:nvSpPr>
        <p:spPr>
          <a:xfrm>
            <a:off x="7205472" y="2468880"/>
            <a:ext cx="2121408" cy="2359152"/>
          </a:xfrm>
          <a:prstGeom prst="rect">
            <a:avLst/>
          </a:prstGeom>
          <a:solidFill>
            <a:srgbClr val="0F1E31">
              <a:alpha val="22000"/>
            </a:srgbClr>
          </a:solidFill>
          <a:ln w="11430">
            <a:solidFill>
              <a:srgbClr val="3D9BD8">
                <a:alpha val="65000"/>
              </a:srgbClr>
            </a:solidFill>
            <a:prstDash val="solid"/>
          </a:ln>
        </p:spPr>
      </p:sp>
      <p:sp>
        <p:nvSpPr>
          <p:cNvPr id="20" name="Text 17"/>
          <p:cNvSpPr txBox="1"/>
          <p:nvPr/>
        </p:nvSpPr>
        <p:spPr>
          <a:xfrm>
            <a:off x="7333488" y="2542032"/>
            <a:ext cx="731520" cy="292608"/>
          </a:xfrm>
          <a:prstGeom prst="rect">
            <a:avLst/>
          </a:prstGeom>
          <a:noFill/>
          <a:ln/>
        </p:spPr>
        <p:txBody>
          <a:bodyPr wrap="square" lIns="0" tIns="0" rIns="0" bIns="0" rtlCol="0" anchor="ctr"/>
          <a:lstStyle/>
          <a:p>
            <a:pPr indent="0" marL="0">
              <a:buNone/>
            </a:pPr>
            <a:r>
              <a:rPr lang="en-US" sz="1400" b="1" dirty="0">
                <a:solidFill>
                  <a:srgbClr val="72879D"/>
                </a:solidFill>
                <a:latin typeface="Arial" pitchFamily="34" charset="0"/>
                <a:ea typeface="Arial" pitchFamily="34" charset="-122"/>
                <a:cs typeface="Arial" pitchFamily="34" charset="-120"/>
              </a:rPr>
              <a:t>04</a:t>
            </a:r>
            <a:endParaRPr lang="en-US" sz="1400" dirty="0"/>
          </a:p>
        </p:txBody>
      </p:sp>
      <p:sp>
        <p:nvSpPr>
          <p:cNvPr id="21" name="Text 18"/>
          <p:cNvSpPr txBox="1"/>
          <p:nvPr/>
        </p:nvSpPr>
        <p:spPr>
          <a:xfrm>
            <a:off x="7333488" y="2852928"/>
            <a:ext cx="1865376" cy="548640"/>
          </a:xfrm>
          <a:prstGeom prst="rect">
            <a:avLst/>
          </a:prstGeom>
          <a:noFill/>
          <a:ln/>
        </p:spPr>
        <p:txBody>
          <a:bodyPr wrap="square" lIns="0" tIns="0" rIns="0" bIns="0" rtlCol="0" anchor="ctr"/>
          <a:lstStyle/>
          <a:p>
            <a:pPr indent="0" marL="0">
              <a:lnSpc>
                <a:spcPct val="108000"/>
              </a:lnSpc>
              <a:buNone/>
            </a:pPr>
            <a:r>
              <a:rPr lang="en-US" sz="860" b="1" spc="60" kern="0" dirty="0">
                <a:solidFill>
                  <a:srgbClr val="A9BDD1"/>
                </a:solidFill>
                <a:latin typeface="Arial" pitchFamily="34" charset="0"/>
                <a:ea typeface="Arial" pitchFamily="34" charset="-122"/>
                <a:cs typeface="Arial" pitchFamily="34" charset="-120"/>
              </a:rPr>
              <a:t>BROADER AEROSPACE, DEFENSE AND SPACE SYSTEMS</a:t>
            </a:r>
            <a:endParaRPr lang="en-US" sz="860" dirty="0"/>
          </a:p>
        </p:txBody>
      </p:sp>
      <p:sp>
        <p:nvSpPr>
          <p:cNvPr id="22" name="Text 19"/>
          <p:cNvSpPr txBox="1"/>
          <p:nvPr/>
        </p:nvSpPr>
        <p:spPr>
          <a:xfrm>
            <a:off x="7333488" y="3328416"/>
            <a:ext cx="1865376" cy="329184"/>
          </a:xfrm>
          <a:prstGeom prst="rect">
            <a:avLst/>
          </a:prstGeom>
          <a:noFill/>
          <a:ln/>
        </p:spPr>
        <p:txBody>
          <a:bodyPr wrap="square" lIns="0" tIns="0" rIns="0" bIns="0" rtlCol="0" anchor="t"/>
          <a:lstStyle/>
          <a:p>
            <a:pPr indent="0" marL="0">
              <a:lnSpc>
                <a:spcPct val="108000"/>
              </a:lnSpc>
              <a:buNone/>
            </a:pPr>
            <a:r>
              <a:rPr lang="en-US" sz="740" dirty="0">
                <a:solidFill>
                  <a:srgbClr val="72879D"/>
                </a:solidFill>
                <a:latin typeface="Arial" pitchFamily="34" charset="0"/>
                <a:ea typeface="Arial" pitchFamily="34" charset="-122"/>
                <a:cs typeface="Arial" pitchFamily="34" charset="-120"/>
              </a:rPr>
              <a:t>Products whose feasibility depends on the manufacturing capability underneath them</a:t>
            </a:r>
            <a:endParaRPr lang="en-US" sz="740" dirty="0"/>
          </a:p>
        </p:txBody>
      </p:sp>
      <p:sp>
        <p:nvSpPr>
          <p:cNvPr id="23" name="Shape 20"/>
          <p:cNvSpPr/>
          <p:nvPr/>
        </p:nvSpPr>
        <p:spPr>
          <a:xfrm>
            <a:off x="9400032" y="2084832"/>
            <a:ext cx="2121408" cy="2743200"/>
          </a:xfrm>
          <a:prstGeom prst="rect">
            <a:avLst/>
          </a:prstGeom>
          <a:solidFill>
            <a:srgbClr val="0F1E31">
              <a:alpha val="22000"/>
            </a:srgbClr>
          </a:solidFill>
          <a:ln w="11430">
            <a:solidFill>
              <a:srgbClr val="3D9BD8">
                <a:alpha val="65000"/>
              </a:srgbClr>
            </a:solidFill>
            <a:prstDash val="solid"/>
          </a:ln>
        </p:spPr>
      </p:sp>
      <p:sp>
        <p:nvSpPr>
          <p:cNvPr id="24" name="Text 21"/>
          <p:cNvSpPr txBox="1"/>
          <p:nvPr/>
        </p:nvSpPr>
        <p:spPr>
          <a:xfrm>
            <a:off x="9528048" y="2157984"/>
            <a:ext cx="731520" cy="292608"/>
          </a:xfrm>
          <a:prstGeom prst="rect">
            <a:avLst/>
          </a:prstGeom>
          <a:noFill/>
          <a:ln/>
        </p:spPr>
        <p:txBody>
          <a:bodyPr wrap="square" lIns="0" tIns="0" rIns="0" bIns="0" rtlCol="0" anchor="ctr"/>
          <a:lstStyle/>
          <a:p>
            <a:pPr indent="0" marL="0">
              <a:buNone/>
            </a:pPr>
            <a:r>
              <a:rPr lang="en-US" sz="1400" b="1" dirty="0">
                <a:solidFill>
                  <a:srgbClr val="72879D"/>
                </a:solidFill>
                <a:latin typeface="Arial" pitchFamily="34" charset="0"/>
                <a:ea typeface="Arial" pitchFamily="34" charset="-122"/>
                <a:cs typeface="Arial" pitchFamily="34" charset="-120"/>
              </a:rPr>
              <a:t>05</a:t>
            </a:r>
            <a:endParaRPr lang="en-US" sz="1400" dirty="0"/>
          </a:p>
        </p:txBody>
      </p:sp>
      <p:sp>
        <p:nvSpPr>
          <p:cNvPr id="25" name="Text 22"/>
          <p:cNvSpPr txBox="1"/>
          <p:nvPr/>
        </p:nvSpPr>
        <p:spPr>
          <a:xfrm>
            <a:off x="9528048" y="2468880"/>
            <a:ext cx="1865376" cy="548640"/>
          </a:xfrm>
          <a:prstGeom prst="rect">
            <a:avLst/>
          </a:prstGeom>
          <a:noFill/>
          <a:ln/>
        </p:spPr>
        <p:txBody>
          <a:bodyPr wrap="square" lIns="0" tIns="0" rIns="0" bIns="0" rtlCol="0" anchor="ctr"/>
          <a:lstStyle/>
          <a:p>
            <a:pPr indent="0" marL="0">
              <a:lnSpc>
                <a:spcPct val="108000"/>
              </a:lnSpc>
              <a:buNone/>
            </a:pPr>
            <a:r>
              <a:rPr lang="en-US" sz="860" b="1" spc="60" kern="0" dirty="0">
                <a:solidFill>
                  <a:srgbClr val="A9BDD1"/>
                </a:solidFill>
                <a:latin typeface="Arial" pitchFamily="34" charset="0"/>
                <a:ea typeface="Arial" pitchFamily="34" charset="-122"/>
                <a:cs typeface="Arial" pitchFamily="34" charset="-120"/>
              </a:rPr>
              <a:t>VERTICALLY INTEGRATED ADVANCED SYSTEMS COMPANY</a:t>
            </a:r>
            <a:endParaRPr lang="en-US" sz="860" dirty="0"/>
          </a:p>
        </p:txBody>
      </p:sp>
      <p:sp>
        <p:nvSpPr>
          <p:cNvPr id="26" name="Shape 23"/>
          <p:cNvSpPr/>
          <p:nvPr/>
        </p:nvSpPr>
        <p:spPr>
          <a:xfrm>
            <a:off x="621792" y="5084064"/>
            <a:ext cx="10948111" cy="1042416"/>
          </a:xfrm>
          <a:prstGeom prst="roundRect">
            <a:avLst>
              <a:gd name="adj" fmla="val 7895"/>
            </a:avLst>
          </a:prstGeom>
          <a:solidFill>
            <a:srgbClr val="0D2036">
              <a:alpha val="88000"/>
            </a:srgbClr>
          </a:solidFill>
          <a:ln w="12700">
            <a:solidFill>
              <a:srgbClr val="3D9BD8">
                <a:alpha val="75000"/>
              </a:srgbClr>
            </a:solidFill>
            <a:prstDash val="solid"/>
          </a:ln>
          <a:effectLst>
            <a:outerShdw sx="100000" sy="100000" kx="0" ky="0" algn="bl" rotWithShape="0" blurRad="127000" dist="38100" dir="5400000">
              <a:srgbClr val="000000">
                <a:alpha val="35000"/>
              </a:srgbClr>
            </a:outerShdw>
          </a:effectLst>
        </p:spPr>
      </p:sp>
      <p:sp>
        <p:nvSpPr>
          <p:cNvPr id="27" name="Text 24"/>
          <p:cNvSpPr txBox="1"/>
          <p:nvPr/>
        </p:nvSpPr>
        <p:spPr>
          <a:xfrm>
            <a:off x="896112" y="5248656"/>
            <a:ext cx="3146450" cy="219456"/>
          </a:xfrm>
          <a:prstGeom prst="rect">
            <a:avLst/>
          </a:prstGeom>
          <a:noFill/>
          <a:ln/>
        </p:spPr>
        <p:txBody>
          <a:bodyPr wrap="square" lIns="0" tIns="0" rIns="0" bIns="0" rtlCol="0" anchor="ctr"/>
          <a:lstStyle/>
          <a:p>
            <a:pPr indent="0" marL="0">
              <a:buNone/>
            </a:pPr>
            <a:r>
              <a:rPr lang="en-US" sz="850" b="1" spc="160" kern="0" dirty="0">
                <a:solidFill>
                  <a:srgbClr val="6FD3FF"/>
                </a:solidFill>
                <a:latin typeface="Arial" pitchFamily="34" charset="0"/>
                <a:ea typeface="Arial" pitchFamily="34" charset="-122"/>
                <a:cs typeface="Arial" pitchFamily="34" charset="-120"/>
              </a:rPr>
              <a:t>WHAT EXISTS TODAY</a:t>
            </a:r>
            <a:endParaRPr lang="en-US" sz="850" dirty="0"/>
          </a:p>
        </p:txBody>
      </p:sp>
      <p:sp>
        <p:nvSpPr>
          <p:cNvPr id="28" name="Text 25"/>
          <p:cNvSpPr txBox="1"/>
          <p:nvPr/>
        </p:nvSpPr>
        <p:spPr>
          <a:xfrm>
            <a:off x="896112" y="5504688"/>
            <a:ext cx="3146450" cy="530352"/>
          </a:xfrm>
          <a:prstGeom prst="rect">
            <a:avLst/>
          </a:prstGeom>
          <a:noFill/>
          <a:ln/>
        </p:spPr>
        <p:txBody>
          <a:bodyPr wrap="square" lIns="0" tIns="0" rIns="0" bIns="0" rtlCol="0" anchor="ctr"/>
          <a:lstStyle/>
          <a:p>
            <a:pPr indent="0" marL="0">
              <a:lnSpc>
                <a:spcPct val="112000"/>
              </a:lnSpc>
              <a:buNone/>
            </a:pPr>
            <a:r>
              <a:rPr lang="en-US" sz="880" dirty="0">
                <a:solidFill>
                  <a:srgbClr val="A9BDD1"/>
                </a:solidFill>
                <a:latin typeface="Arial" pitchFamily="34" charset="0"/>
                <a:ea typeface="Arial" pitchFamily="34" charset="-122"/>
                <a:cs typeface="Arial" pitchFamily="34" charset="-120"/>
              </a:rPr>
              <a:t>An architecture, a validation programme, and senior technical authority.</a:t>
            </a:r>
            <a:endParaRPr lang="en-US" sz="880" dirty="0"/>
          </a:p>
        </p:txBody>
      </p:sp>
      <p:sp>
        <p:nvSpPr>
          <p:cNvPr id="29" name="Shape 26"/>
          <p:cNvSpPr/>
          <p:nvPr/>
        </p:nvSpPr>
        <p:spPr>
          <a:xfrm>
            <a:off x="4216298" y="5248656"/>
            <a:ext cx="0" cy="713232"/>
          </a:xfrm>
          <a:prstGeom prst="line">
            <a:avLst/>
          </a:prstGeom>
          <a:noFill/>
          <a:ln w="9525">
            <a:solidFill>
              <a:srgbClr val="23405C"/>
            </a:solidFill>
            <a:prstDash val="solid"/>
          </a:ln>
        </p:spPr>
      </p:sp>
      <p:sp>
        <p:nvSpPr>
          <p:cNvPr id="30" name="Text 27"/>
          <p:cNvSpPr txBox="1"/>
          <p:nvPr/>
        </p:nvSpPr>
        <p:spPr>
          <a:xfrm>
            <a:off x="4362602" y="5248656"/>
            <a:ext cx="3146450" cy="219456"/>
          </a:xfrm>
          <a:prstGeom prst="rect">
            <a:avLst/>
          </a:prstGeom>
          <a:noFill/>
          <a:ln/>
        </p:spPr>
        <p:txBody>
          <a:bodyPr wrap="square" lIns="0" tIns="0" rIns="0" bIns="0" rtlCol="0" anchor="ctr"/>
          <a:lstStyle/>
          <a:p>
            <a:pPr indent="0" marL="0">
              <a:buNone/>
            </a:pPr>
            <a:r>
              <a:rPr lang="en-US" sz="850" b="1" spc="160" kern="0" dirty="0">
                <a:solidFill>
                  <a:srgbClr val="6FD3FF"/>
                </a:solidFill>
                <a:latin typeface="Arial" pitchFamily="34" charset="0"/>
                <a:ea typeface="Arial" pitchFamily="34" charset="-122"/>
                <a:cs typeface="Arial" pitchFamily="34" charset="-120"/>
              </a:rPr>
              <a:t>THE EVIDENCE THIS ROUND FUNDS</a:t>
            </a:r>
            <a:endParaRPr lang="en-US" sz="850" dirty="0"/>
          </a:p>
        </p:txBody>
      </p:sp>
      <p:sp>
        <p:nvSpPr>
          <p:cNvPr id="31" name="Text 28"/>
          <p:cNvSpPr txBox="1"/>
          <p:nvPr/>
        </p:nvSpPr>
        <p:spPr>
          <a:xfrm>
            <a:off x="4362602" y="5504688"/>
            <a:ext cx="3146450" cy="530352"/>
          </a:xfrm>
          <a:prstGeom prst="rect">
            <a:avLst/>
          </a:prstGeom>
          <a:noFill/>
          <a:ln/>
        </p:spPr>
        <p:txBody>
          <a:bodyPr wrap="square" lIns="0" tIns="0" rIns="0" bIns="0" rtlCol="0" anchor="ctr"/>
          <a:lstStyle/>
          <a:p>
            <a:pPr indent="0" marL="0">
              <a:lnSpc>
                <a:spcPct val="112000"/>
              </a:lnSpc>
              <a:buNone/>
            </a:pPr>
            <a:r>
              <a:rPr lang="en-US" sz="880" dirty="0">
                <a:solidFill>
                  <a:srgbClr val="A9BDD1"/>
                </a:solidFill>
                <a:latin typeface="Arial" pitchFamily="34" charset="0"/>
                <a:ea typeface="Arial" pitchFamily="34" charset="-122"/>
                <a:cs typeface="Arial" pitchFamily="34" charset="-120"/>
              </a:rPr>
              <a:t>One operation class, end to end, with measured physical evidence.</a:t>
            </a:r>
            <a:endParaRPr lang="en-US" sz="880" dirty="0"/>
          </a:p>
        </p:txBody>
      </p:sp>
      <p:sp>
        <p:nvSpPr>
          <p:cNvPr id="32" name="Shape 29"/>
          <p:cNvSpPr/>
          <p:nvPr/>
        </p:nvSpPr>
        <p:spPr>
          <a:xfrm>
            <a:off x="7682789" y="5248656"/>
            <a:ext cx="0" cy="713232"/>
          </a:xfrm>
          <a:prstGeom prst="line">
            <a:avLst/>
          </a:prstGeom>
          <a:noFill/>
          <a:ln w="9525">
            <a:solidFill>
              <a:srgbClr val="23405C"/>
            </a:solidFill>
            <a:prstDash val="solid"/>
          </a:ln>
        </p:spPr>
      </p:sp>
      <p:sp>
        <p:nvSpPr>
          <p:cNvPr id="33" name="Text 30"/>
          <p:cNvSpPr txBox="1"/>
          <p:nvPr/>
        </p:nvSpPr>
        <p:spPr>
          <a:xfrm>
            <a:off x="7829093" y="5248656"/>
            <a:ext cx="3146450" cy="219456"/>
          </a:xfrm>
          <a:prstGeom prst="rect">
            <a:avLst/>
          </a:prstGeom>
          <a:noFill/>
          <a:ln/>
        </p:spPr>
        <p:txBody>
          <a:bodyPr wrap="square" lIns="0" tIns="0" rIns="0" bIns="0" rtlCol="0" anchor="ctr"/>
          <a:lstStyle/>
          <a:p>
            <a:pPr indent="0" marL="0">
              <a:buNone/>
            </a:pPr>
            <a:r>
              <a:rPr lang="en-US" sz="850" b="1" spc="160" kern="0" dirty="0">
                <a:solidFill>
                  <a:srgbClr val="6FD3FF"/>
                </a:solidFill>
                <a:latin typeface="Arial" pitchFamily="34" charset="0"/>
                <a:ea typeface="Arial" pitchFamily="34" charset="-122"/>
                <a:cs typeface="Arial" pitchFamily="34" charset="-120"/>
              </a:rPr>
              <a:t>WHAT BECOMES POSSIBLE</a:t>
            </a:r>
            <a:endParaRPr lang="en-US" sz="850" dirty="0"/>
          </a:p>
        </p:txBody>
      </p:sp>
      <p:sp>
        <p:nvSpPr>
          <p:cNvPr id="34" name="Text 31"/>
          <p:cNvSpPr txBox="1"/>
          <p:nvPr/>
        </p:nvSpPr>
        <p:spPr>
          <a:xfrm>
            <a:off x="7829093" y="5504688"/>
            <a:ext cx="3146450" cy="530352"/>
          </a:xfrm>
          <a:prstGeom prst="rect">
            <a:avLst/>
          </a:prstGeom>
          <a:noFill/>
          <a:ln/>
        </p:spPr>
        <p:txBody>
          <a:bodyPr wrap="square" lIns="0" tIns="0" rIns="0" bIns="0" rtlCol="0" anchor="ctr"/>
          <a:lstStyle/>
          <a:p>
            <a:pPr indent="0" marL="0">
              <a:lnSpc>
                <a:spcPct val="112000"/>
              </a:lnSpc>
              <a:buNone/>
            </a:pPr>
            <a:r>
              <a:rPr lang="en-US" sz="880" dirty="0">
                <a:solidFill>
                  <a:srgbClr val="A9BDD1"/>
                </a:solidFill>
                <a:latin typeface="Arial" pitchFamily="34" charset="0"/>
                <a:ea typeface="Arial" pitchFamily="34" charset="-122"/>
                <a:cs typeface="Arial" pitchFamily="34" charset="-120"/>
              </a:rPr>
              <a:t>Rungs two through five, and only if the evidence survives.</a:t>
            </a:r>
            <a:endParaRPr lang="en-US" sz="880" dirty="0"/>
          </a:p>
        </p:txBody>
      </p:sp>
      <p:sp>
        <p:nvSpPr>
          <p:cNvPr id="35" name="Text 32"/>
          <p:cNvSpPr txBox="1"/>
          <p:nvPr/>
        </p:nvSpPr>
        <p:spPr>
          <a:xfrm>
            <a:off x="621792" y="6254496"/>
            <a:ext cx="10948111" cy="274320"/>
          </a:xfrm>
          <a:prstGeom prst="rect">
            <a:avLst/>
          </a:prstGeom>
          <a:noFill/>
          <a:ln/>
        </p:spPr>
        <p:txBody>
          <a:bodyPr wrap="square" lIns="0" tIns="0" rIns="0" bIns="0" rtlCol="0" anchor="ctr"/>
          <a:lstStyle/>
          <a:p>
            <a:pPr indent="0" marL="0">
              <a:buNone/>
            </a:pPr>
            <a:r>
              <a:rPr lang="en-US" sz="1150" b="1" dirty="0">
                <a:solidFill>
                  <a:srgbClr val="EAF2FA"/>
                </a:solidFill>
                <a:latin typeface="Arial" pitchFamily="34" charset="0"/>
                <a:ea typeface="Arial" pitchFamily="34" charset="-122"/>
                <a:cs typeface="Arial" pitchFamily="34" charset="-120"/>
              </a:rPr>
              <a:t>Every rung above the first depends on physical evidence that does not exist yet.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18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TEAM</a:t>
            </a:r>
            <a:endParaRPr lang="en-US" sz="1000" dirty="0"/>
          </a:p>
        </p:txBody>
      </p:sp>
      <p:sp>
        <p:nvSpPr>
          <p:cNvPr id="5" name="Text 3"/>
          <p:cNvSpPr txBox="1"/>
          <p:nvPr/>
        </p:nvSpPr>
        <p:spPr>
          <a:xfrm>
            <a:off x="621792" y="786384"/>
            <a:ext cx="10948111" cy="868680"/>
          </a:xfrm>
          <a:prstGeom prst="rect">
            <a:avLst/>
          </a:prstGeom>
          <a:noFill/>
          <a:ln/>
        </p:spPr>
        <p:txBody>
          <a:bodyPr wrap="square" lIns="0" tIns="0" rIns="0" bIns="0" rtlCol="0" anchor="t"/>
          <a:lstStyle/>
          <a:p>
            <a:pPr indent="0" marL="0">
              <a:lnSpc>
                <a:spcPct val="102000"/>
              </a:lnSpc>
              <a:buNone/>
            </a:pPr>
            <a:r>
              <a:rPr lang="en-US" sz="2500" b="1" dirty="0">
                <a:solidFill>
                  <a:srgbClr val="EAF2FA"/>
                </a:solidFill>
                <a:latin typeface="Arial" pitchFamily="34" charset="0"/>
                <a:ea typeface="Arial" pitchFamily="34" charset="-122"/>
                <a:cs typeface="Arial" pitchFamily="34" charset="-120"/>
              </a:rPr>
              <a:t>A small operating core. Senior authority engaged.</a:t>
            </a:r>
            <a:endParaRPr lang="en-US" sz="2500" dirty="0"/>
          </a:p>
          <a:p>
            <a:pPr indent="0" marL="0">
              <a:lnSpc>
                <a:spcPct val="102000"/>
              </a:lnSpc>
              <a:buNone/>
            </a:pPr>
            <a:r>
              <a:rPr lang="en-US" sz="2500" dirty="0">
                <a:solidFill>
                  <a:srgbClr val="A9BDD1"/>
                </a:solidFill>
                <a:latin typeface="Arial" pitchFamily="34" charset="0"/>
                <a:ea typeface="Arial" pitchFamily="34" charset="-122"/>
                <a:cs typeface="Arial" pitchFamily="34" charset="-120"/>
              </a:rPr>
              <a:t>The engineering nucleus is what this round hires.</a:t>
            </a:r>
            <a:endParaRPr lang="en-US" sz="2500" dirty="0"/>
          </a:p>
        </p:txBody>
      </p:sp>
      <p:sp>
        <p:nvSpPr>
          <p:cNvPr id="6" name="Text 4"/>
          <p:cNvSpPr txBox="1"/>
          <p:nvPr/>
        </p:nvSpPr>
        <p:spPr>
          <a:xfrm>
            <a:off x="621792" y="1828800"/>
            <a:ext cx="3657600" cy="219456"/>
          </a:xfrm>
          <a:prstGeom prst="rect">
            <a:avLst/>
          </a:prstGeom>
          <a:noFill/>
          <a:ln/>
        </p:spPr>
        <p:txBody>
          <a:bodyPr wrap="square" lIns="0" tIns="0" rIns="0" bIns="0" rtlCol="0" anchor="ctr"/>
          <a:lstStyle/>
          <a:p>
            <a:pPr indent="0" marL="0">
              <a:buNone/>
            </a:pPr>
            <a:r>
              <a:rPr lang="en-US" sz="850" b="1" spc="260" kern="0" dirty="0">
                <a:solidFill>
                  <a:srgbClr val="6FD3FF"/>
                </a:solidFill>
                <a:latin typeface="Arial" pitchFamily="34" charset="0"/>
                <a:ea typeface="Arial" pitchFamily="34" charset="-122"/>
                <a:cs typeface="Arial" pitchFamily="34" charset="-120"/>
              </a:rPr>
              <a:t>OPERATING CORE</a:t>
            </a:r>
            <a:endParaRPr lang="en-US" sz="850" dirty="0"/>
          </a:p>
        </p:txBody>
      </p:sp>
      <p:sp>
        <p:nvSpPr>
          <p:cNvPr id="7" name="Shape 5"/>
          <p:cNvSpPr/>
          <p:nvPr/>
        </p:nvSpPr>
        <p:spPr>
          <a:xfrm>
            <a:off x="621792" y="2121408"/>
            <a:ext cx="3611880" cy="1170432"/>
          </a:xfrm>
          <a:prstGeom prst="roundRect">
            <a:avLst>
              <a:gd name="adj" fmla="val 5469"/>
            </a:avLst>
          </a:prstGeom>
          <a:solidFill>
            <a:srgbClr val="10304F">
              <a:alpha val="84000"/>
            </a:srgbClr>
          </a:solidFill>
          <a:ln w="12700">
            <a:solidFill>
              <a:srgbClr val="3D9BD8"/>
            </a:solidFill>
            <a:prstDash val="solid"/>
          </a:ln>
        </p:spPr>
      </p:sp>
      <p:sp>
        <p:nvSpPr>
          <p:cNvPr id="8" name="Text 6"/>
          <p:cNvSpPr txBox="1"/>
          <p:nvPr/>
        </p:nvSpPr>
        <p:spPr>
          <a:xfrm>
            <a:off x="841248" y="2249424"/>
            <a:ext cx="3200400" cy="274320"/>
          </a:xfrm>
          <a:prstGeom prst="rect">
            <a:avLst/>
          </a:prstGeom>
          <a:noFill/>
          <a:ln/>
        </p:spPr>
        <p:txBody>
          <a:bodyPr wrap="square" lIns="0" tIns="0" rIns="0" bIns="0" rtlCol="0" anchor="ctr"/>
          <a:lstStyle/>
          <a:p>
            <a:pPr indent="0" marL="0">
              <a:buNone/>
            </a:pPr>
            <a:r>
              <a:rPr lang="en-US" sz="1250" b="1" dirty="0">
                <a:solidFill>
                  <a:srgbClr val="EAF2FA"/>
                </a:solidFill>
                <a:latin typeface="Arial" pitchFamily="34" charset="0"/>
                <a:ea typeface="Arial" pitchFamily="34" charset="-122"/>
                <a:cs typeface="Arial" pitchFamily="34" charset="-120"/>
              </a:rPr>
              <a:t>Henry Bello</a:t>
            </a:r>
            <a:endParaRPr lang="en-US" sz="1250" dirty="0"/>
          </a:p>
        </p:txBody>
      </p:sp>
      <p:sp>
        <p:nvSpPr>
          <p:cNvPr id="9" name="Text 7"/>
          <p:cNvSpPr txBox="1"/>
          <p:nvPr/>
        </p:nvSpPr>
        <p:spPr>
          <a:xfrm>
            <a:off x="841248" y="2542032"/>
            <a:ext cx="3200400" cy="201168"/>
          </a:xfrm>
          <a:prstGeom prst="rect">
            <a:avLst/>
          </a:prstGeom>
          <a:noFill/>
          <a:ln/>
        </p:spPr>
        <p:txBody>
          <a:bodyPr wrap="square" lIns="0" tIns="0" rIns="0" bIns="0" rtlCol="0" anchor="ctr"/>
          <a:lstStyle/>
          <a:p>
            <a:pPr indent="0" marL="0">
              <a:buNone/>
            </a:pPr>
            <a:r>
              <a:rPr lang="en-US" sz="720" b="1" spc="160" kern="0" dirty="0">
                <a:solidFill>
                  <a:srgbClr val="6FD3FF"/>
                </a:solidFill>
                <a:latin typeface="Arial" pitchFamily="34" charset="0"/>
                <a:ea typeface="Arial" pitchFamily="34" charset="-122"/>
                <a:cs typeface="Arial" pitchFamily="34" charset="-120"/>
              </a:rPr>
              <a:t>FOUNDER AND CHIEF EXECUTIVE OFFICER</a:t>
            </a:r>
            <a:endParaRPr lang="en-US" sz="720" dirty="0"/>
          </a:p>
        </p:txBody>
      </p:sp>
      <p:sp>
        <p:nvSpPr>
          <p:cNvPr id="10" name="Text 8"/>
          <p:cNvSpPr txBox="1"/>
          <p:nvPr/>
        </p:nvSpPr>
        <p:spPr>
          <a:xfrm>
            <a:off x="841248" y="2779776"/>
            <a:ext cx="3200400" cy="475488"/>
          </a:xfrm>
          <a:prstGeom prst="rect">
            <a:avLst/>
          </a:prstGeom>
          <a:noFill/>
          <a:ln/>
        </p:spPr>
        <p:txBody>
          <a:bodyPr wrap="square" lIns="0" tIns="0" rIns="0" bIns="0" rtlCol="0" anchor="ctr"/>
          <a:lstStyle/>
          <a:p>
            <a:pPr indent="0" marL="0">
              <a:lnSpc>
                <a:spcPct val="110000"/>
              </a:lnSpc>
              <a:buNone/>
            </a:pPr>
            <a:r>
              <a:rPr lang="en-US" sz="830" dirty="0">
                <a:solidFill>
                  <a:srgbClr val="A9BDD1"/>
                </a:solidFill>
                <a:latin typeface="Arial" pitchFamily="34" charset="0"/>
                <a:ea typeface="Arial" pitchFamily="34" charset="-122"/>
                <a:cs typeface="Arial" pitchFamily="34" charset="-120"/>
              </a:rPr>
              <a:t>Thesis, product direction, capital, recruiting and technical organization.</a:t>
            </a:r>
            <a:endParaRPr lang="en-US" sz="830" dirty="0"/>
          </a:p>
        </p:txBody>
      </p:sp>
      <p:sp>
        <p:nvSpPr>
          <p:cNvPr id="11" name="Shape 9"/>
          <p:cNvSpPr/>
          <p:nvPr/>
        </p:nvSpPr>
        <p:spPr>
          <a:xfrm>
            <a:off x="4389120" y="2121408"/>
            <a:ext cx="3611880" cy="1170432"/>
          </a:xfrm>
          <a:prstGeom prst="roundRect">
            <a:avLst>
              <a:gd name="adj" fmla="val 5469"/>
            </a:avLst>
          </a:prstGeom>
          <a:solidFill>
            <a:srgbClr val="10304F">
              <a:alpha val="84000"/>
            </a:srgbClr>
          </a:solidFill>
          <a:ln w="12700">
            <a:solidFill>
              <a:srgbClr val="3D9BD8"/>
            </a:solidFill>
            <a:prstDash val="solid"/>
          </a:ln>
        </p:spPr>
      </p:sp>
      <p:sp>
        <p:nvSpPr>
          <p:cNvPr id="12" name="Text 10"/>
          <p:cNvSpPr txBox="1"/>
          <p:nvPr/>
        </p:nvSpPr>
        <p:spPr>
          <a:xfrm>
            <a:off x="4608576" y="2249424"/>
            <a:ext cx="3200400" cy="274320"/>
          </a:xfrm>
          <a:prstGeom prst="rect">
            <a:avLst/>
          </a:prstGeom>
          <a:noFill/>
          <a:ln/>
        </p:spPr>
        <p:txBody>
          <a:bodyPr wrap="square" lIns="0" tIns="0" rIns="0" bIns="0" rtlCol="0" anchor="ctr"/>
          <a:lstStyle/>
          <a:p>
            <a:pPr indent="0" marL="0">
              <a:buNone/>
            </a:pPr>
            <a:r>
              <a:rPr lang="en-US" sz="1250" b="1" dirty="0">
                <a:solidFill>
                  <a:srgbClr val="EAF2FA"/>
                </a:solidFill>
                <a:latin typeface="Arial" pitchFamily="34" charset="0"/>
                <a:ea typeface="Arial" pitchFamily="34" charset="-122"/>
                <a:cs typeface="Arial" pitchFamily="34" charset="-120"/>
              </a:rPr>
              <a:t>Sofia Weeden</a:t>
            </a:r>
            <a:endParaRPr lang="en-US" sz="1250" dirty="0"/>
          </a:p>
        </p:txBody>
      </p:sp>
      <p:sp>
        <p:nvSpPr>
          <p:cNvPr id="13" name="Text 11"/>
          <p:cNvSpPr txBox="1"/>
          <p:nvPr/>
        </p:nvSpPr>
        <p:spPr>
          <a:xfrm>
            <a:off x="4608576" y="2542032"/>
            <a:ext cx="3200400" cy="201168"/>
          </a:xfrm>
          <a:prstGeom prst="rect">
            <a:avLst/>
          </a:prstGeom>
          <a:noFill/>
          <a:ln/>
        </p:spPr>
        <p:txBody>
          <a:bodyPr wrap="square" lIns="0" tIns="0" rIns="0" bIns="0" rtlCol="0" anchor="ctr"/>
          <a:lstStyle/>
          <a:p>
            <a:pPr indent="0" marL="0">
              <a:buNone/>
            </a:pPr>
            <a:r>
              <a:rPr lang="en-US" sz="720" b="1" spc="160" kern="0" dirty="0">
                <a:solidFill>
                  <a:srgbClr val="6FD3FF"/>
                </a:solidFill>
                <a:latin typeface="Arial" pitchFamily="34" charset="0"/>
                <a:ea typeface="Arial" pitchFamily="34" charset="-122"/>
                <a:cs typeface="Arial" pitchFamily="34" charset="-120"/>
              </a:rPr>
              <a:t>CHIEF FINANCIAL OFFICER</a:t>
            </a:r>
            <a:endParaRPr lang="en-US" sz="720" dirty="0"/>
          </a:p>
        </p:txBody>
      </p:sp>
      <p:sp>
        <p:nvSpPr>
          <p:cNvPr id="14" name="Text 12"/>
          <p:cNvSpPr txBox="1"/>
          <p:nvPr/>
        </p:nvSpPr>
        <p:spPr>
          <a:xfrm>
            <a:off x="4608576" y="2779776"/>
            <a:ext cx="3200400" cy="475488"/>
          </a:xfrm>
          <a:prstGeom prst="rect">
            <a:avLst/>
          </a:prstGeom>
          <a:noFill/>
          <a:ln/>
        </p:spPr>
        <p:txBody>
          <a:bodyPr wrap="square" lIns="0" tIns="0" rIns="0" bIns="0" rtlCol="0" anchor="ctr"/>
          <a:lstStyle/>
          <a:p>
            <a:pPr indent="0" marL="0">
              <a:lnSpc>
                <a:spcPct val="110000"/>
              </a:lnSpc>
              <a:buNone/>
            </a:pPr>
            <a:r>
              <a:rPr lang="en-US" sz="830" dirty="0">
                <a:solidFill>
                  <a:srgbClr val="A9BDD1"/>
                </a:solidFill>
                <a:latin typeface="Arial" pitchFamily="34" charset="0"/>
                <a:ea typeface="Arial" pitchFamily="34" charset="-122"/>
                <a:cs typeface="Arial" pitchFamily="34" charset="-120"/>
              </a:rPr>
              <a:t>Financial strategy, capital planning, investor readiness and operating infrastructure.</a:t>
            </a:r>
            <a:endParaRPr lang="en-US" sz="830" dirty="0"/>
          </a:p>
        </p:txBody>
      </p:sp>
      <p:sp>
        <p:nvSpPr>
          <p:cNvPr id="15" name="Shape 13"/>
          <p:cNvSpPr/>
          <p:nvPr/>
        </p:nvSpPr>
        <p:spPr>
          <a:xfrm>
            <a:off x="8156448" y="2121408"/>
            <a:ext cx="3611880" cy="1170432"/>
          </a:xfrm>
          <a:prstGeom prst="roundRect">
            <a:avLst>
              <a:gd name="adj" fmla="val 5469"/>
            </a:avLst>
          </a:prstGeom>
          <a:solidFill>
            <a:srgbClr val="10304F">
              <a:alpha val="84000"/>
            </a:srgbClr>
          </a:solidFill>
          <a:ln w="12700">
            <a:solidFill>
              <a:srgbClr val="3D9BD8"/>
            </a:solidFill>
            <a:prstDash val="solid"/>
          </a:ln>
        </p:spPr>
      </p:sp>
      <p:sp>
        <p:nvSpPr>
          <p:cNvPr id="16" name="Text 14"/>
          <p:cNvSpPr txBox="1"/>
          <p:nvPr/>
        </p:nvSpPr>
        <p:spPr>
          <a:xfrm>
            <a:off x="8375904" y="2249424"/>
            <a:ext cx="3200400" cy="274320"/>
          </a:xfrm>
          <a:prstGeom prst="rect">
            <a:avLst/>
          </a:prstGeom>
          <a:noFill/>
          <a:ln/>
        </p:spPr>
        <p:txBody>
          <a:bodyPr wrap="square" lIns="0" tIns="0" rIns="0" bIns="0" rtlCol="0" anchor="ctr"/>
          <a:lstStyle/>
          <a:p>
            <a:pPr indent="0" marL="0">
              <a:buNone/>
            </a:pPr>
            <a:r>
              <a:rPr lang="en-US" sz="1250" b="1" dirty="0">
                <a:solidFill>
                  <a:srgbClr val="EAF2FA"/>
                </a:solidFill>
                <a:latin typeface="Arial" pitchFamily="34" charset="0"/>
                <a:ea typeface="Arial" pitchFamily="34" charset="-122"/>
                <a:cs typeface="Arial" pitchFamily="34" charset="-120"/>
              </a:rPr>
              <a:t>Alexander Ohmer</a:t>
            </a:r>
            <a:endParaRPr lang="en-US" sz="1250" dirty="0"/>
          </a:p>
        </p:txBody>
      </p:sp>
      <p:sp>
        <p:nvSpPr>
          <p:cNvPr id="17" name="Text 15"/>
          <p:cNvSpPr txBox="1"/>
          <p:nvPr/>
        </p:nvSpPr>
        <p:spPr>
          <a:xfrm>
            <a:off x="8375904" y="2542032"/>
            <a:ext cx="3200400" cy="201168"/>
          </a:xfrm>
          <a:prstGeom prst="rect">
            <a:avLst/>
          </a:prstGeom>
          <a:noFill/>
          <a:ln/>
        </p:spPr>
        <p:txBody>
          <a:bodyPr wrap="square" lIns="0" tIns="0" rIns="0" bIns="0" rtlCol="0" anchor="ctr"/>
          <a:lstStyle/>
          <a:p>
            <a:pPr indent="0" marL="0">
              <a:buNone/>
            </a:pPr>
            <a:r>
              <a:rPr lang="en-US" sz="720" b="1" spc="160" kern="0" dirty="0">
                <a:solidFill>
                  <a:srgbClr val="6FD3FF"/>
                </a:solidFill>
                <a:latin typeface="Arial" pitchFamily="34" charset="0"/>
                <a:ea typeface="Arial" pitchFamily="34" charset="-122"/>
                <a:cs typeface="Arial" pitchFamily="34" charset="-120"/>
              </a:rPr>
              <a:t>STRATEGIC OPERATIONS</a:t>
            </a:r>
            <a:endParaRPr lang="en-US" sz="720" dirty="0"/>
          </a:p>
        </p:txBody>
      </p:sp>
      <p:sp>
        <p:nvSpPr>
          <p:cNvPr id="18" name="Text 16"/>
          <p:cNvSpPr txBox="1"/>
          <p:nvPr/>
        </p:nvSpPr>
        <p:spPr>
          <a:xfrm>
            <a:off x="8375904" y="2779776"/>
            <a:ext cx="3200400" cy="475488"/>
          </a:xfrm>
          <a:prstGeom prst="rect">
            <a:avLst/>
          </a:prstGeom>
          <a:noFill/>
          <a:ln/>
        </p:spPr>
        <p:txBody>
          <a:bodyPr wrap="square" lIns="0" tIns="0" rIns="0" bIns="0" rtlCol="0" anchor="ctr"/>
          <a:lstStyle/>
          <a:p>
            <a:pPr indent="0" marL="0">
              <a:lnSpc>
                <a:spcPct val="110000"/>
              </a:lnSpc>
              <a:buNone/>
            </a:pPr>
            <a:r>
              <a:rPr lang="en-US" sz="830" dirty="0">
                <a:solidFill>
                  <a:srgbClr val="A9BDD1"/>
                </a:solidFill>
                <a:latin typeface="Arial" pitchFamily="34" charset="0"/>
                <a:ea typeface="Arial" pitchFamily="34" charset="-122"/>
                <a:cs typeface="Arial" pitchFamily="34" charset="-120"/>
              </a:rPr>
              <a:t>Strategic operations, project coordination and internal execution support.</a:t>
            </a:r>
            <a:endParaRPr lang="en-US" sz="830" dirty="0"/>
          </a:p>
        </p:txBody>
      </p:sp>
      <p:sp>
        <p:nvSpPr>
          <p:cNvPr id="19" name="Text 17"/>
          <p:cNvSpPr txBox="1"/>
          <p:nvPr/>
        </p:nvSpPr>
        <p:spPr>
          <a:xfrm>
            <a:off x="621792" y="3529584"/>
            <a:ext cx="5943600" cy="237744"/>
          </a:xfrm>
          <a:prstGeom prst="rect">
            <a:avLst/>
          </a:prstGeom>
          <a:noFill/>
          <a:ln/>
        </p:spPr>
        <p:txBody>
          <a:bodyPr wrap="square" lIns="0" tIns="0" rIns="0" bIns="0" rtlCol="0" anchor="ctr"/>
          <a:lstStyle/>
          <a:p>
            <a:pPr indent="0" marL="0">
              <a:buNone/>
            </a:pPr>
            <a:r>
              <a:rPr lang="en-US" sz="850" b="1" spc="260" kern="0" dirty="0">
                <a:solidFill>
                  <a:srgbClr val="6FD3FF"/>
                </a:solidFill>
                <a:latin typeface="Arial" pitchFamily="34" charset="0"/>
                <a:ea typeface="Arial" pitchFamily="34" charset="-122"/>
                <a:cs typeface="Arial" pitchFamily="34" charset="-120"/>
              </a:rPr>
              <a:t>SENIOR TECHNICAL AUTHORITY</a:t>
            </a:r>
            <a:pPr indent="0" marL="0">
              <a:buNone/>
            </a:pPr>
            <a:r>
              <a:rPr lang="en-US" sz="900" dirty="0">
                <a:solidFill>
                  <a:srgbClr val="72879D"/>
                </a:solidFill>
                <a:latin typeface="Arial" pitchFamily="34" charset="0"/>
                <a:ea typeface="Arial" pitchFamily="34" charset="-122"/>
                <a:cs typeface="Arial" pitchFamily="34" charset="-120"/>
              </a:rPr>
              <a:t>   Five domains. See preceding page.</a:t>
            </a:r>
            <a:endParaRPr lang="en-US" sz="850" dirty="0"/>
          </a:p>
        </p:txBody>
      </p:sp>
      <p:sp>
        <p:nvSpPr>
          <p:cNvPr id="20" name="Text 18"/>
          <p:cNvSpPr txBox="1"/>
          <p:nvPr/>
        </p:nvSpPr>
        <p:spPr>
          <a:xfrm>
            <a:off x="621792" y="3913632"/>
            <a:ext cx="6400800" cy="219456"/>
          </a:xfrm>
          <a:prstGeom prst="rect">
            <a:avLst/>
          </a:prstGeom>
          <a:noFill/>
          <a:ln/>
        </p:spPr>
        <p:txBody>
          <a:bodyPr wrap="square" lIns="0" tIns="0" rIns="0" bIns="0" rtlCol="0" anchor="ctr"/>
          <a:lstStyle/>
          <a:p>
            <a:pPr indent="0" marL="0">
              <a:buNone/>
            </a:pPr>
            <a:r>
              <a:rPr lang="en-US" sz="850" b="1" spc="220" kern="0" dirty="0">
                <a:solidFill>
                  <a:srgbClr val="A9BDD1"/>
                </a:solidFill>
                <a:latin typeface="Arial" pitchFamily="34" charset="0"/>
                <a:ea typeface="Arial" pitchFamily="34" charset="-122"/>
                <a:cs typeface="Arial" pitchFamily="34" charset="-120"/>
              </a:rPr>
              <a:t>FOUNDING ENGINEERING NUCLEUS — FINANCED BY THIS ROUND</a:t>
            </a:r>
            <a:endParaRPr lang="en-US" sz="850" dirty="0"/>
          </a:p>
        </p:txBody>
      </p:sp>
      <p:sp>
        <p:nvSpPr>
          <p:cNvPr id="21" name="Shape 19"/>
          <p:cNvSpPr/>
          <p:nvPr/>
        </p:nvSpPr>
        <p:spPr>
          <a:xfrm>
            <a:off x="621792" y="4206240"/>
            <a:ext cx="2670048" cy="548640"/>
          </a:xfrm>
          <a:prstGeom prst="roundRect">
            <a:avLst>
              <a:gd name="adj" fmla="val 10000"/>
            </a:avLst>
          </a:prstGeom>
          <a:solidFill>
            <a:srgbClr val="0F1E31">
              <a:alpha val="18000"/>
            </a:srgbClr>
          </a:solidFill>
          <a:ln w="11430">
            <a:solidFill>
              <a:srgbClr val="3D9BD8">
                <a:alpha val="60000"/>
              </a:srgbClr>
            </a:solidFill>
            <a:prstDash val="dash"/>
          </a:ln>
        </p:spPr>
      </p:sp>
      <p:sp>
        <p:nvSpPr>
          <p:cNvPr id="22" name="Text 20"/>
          <p:cNvSpPr txBox="1"/>
          <p:nvPr/>
        </p:nvSpPr>
        <p:spPr>
          <a:xfrm>
            <a:off x="786384" y="4206240"/>
            <a:ext cx="2377440" cy="548640"/>
          </a:xfrm>
          <a:prstGeom prst="rect">
            <a:avLst/>
          </a:prstGeom>
          <a:noFill/>
          <a:ln/>
        </p:spPr>
        <p:txBody>
          <a:bodyPr wrap="square" lIns="0" tIns="0" rIns="0" bIns="0" rtlCol="0" anchor="ctr"/>
          <a:lstStyle/>
          <a:p>
            <a:pPr indent="0" marL="0">
              <a:lnSpc>
                <a:spcPct val="105000"/>
              </a:lnSpc>
              <a:buNone/>
            </a:pPr>
            <a:r>
              <a:rPr lang="en-US" sz="880" dirty="0">
                <a:solidFill>
                  <a:srgbClr val="A9BDD1"/>
                </a:solidFill>
                <a:latin typeface="Arial" pitchFamily="34" charset="0"/>
                <a:ea typeface="Arial" pitchFamily="34" charset="-122"/>
                <a:cs typeface="Arial" pitchFamily="34" charset="-120"/>
              </a:rPr>
              <a:t>Founding Chief Engineer</a:t>
            </a:r>
            <a:endParaRPr lang="en-US" sz="880" dirty="0"/>
          </a:p>
        </p:txBody>
      </p:sp>
      <p:sp>
        <p:nvSpPr>
          <p:cNvPr id="23" name="Shape 21"/>
          <p:cNvSpPr/>
          <p:nvPr/>
        </p:nvSpPr>
        <p:spPr>
          <a:xfrm>
            <a:off x="3438144" y="4206240"/>
            <a:ext cx="2670048" cy="548640"/>
          </a:xfrm>
          <a:prstGeom prst="roundRect">
            <a:avLst>
              <a:gd name="adj" fmla="val 10000"/>
            </a:avLst>
          </a:prstGeom>
          <a:solidFill>
            <a:srgbClr val="0F1E31">
              <a:alpha val="18000"/>
            </a:srgbClr>
          </a:solidFill>
          <a:ln w="11430">
            <a:solidFill>
              <a:srgbClr val="3D9BD8">
                <a:alpha val="60000"/>
              </a:srgbClr>
            </a:solidFill>
            <a:prstDash val="dash"/>
          </a:ln>
        </p:spPr>
      </p:sp>
      <p:sp>
        <p:nvSpPr>
          <p:cNvPr id="24" name="Text 22"/>
          <p:cNvSpPr txBox="1"/>
          <p:nvPr/>
        </p:nvSpPr>
        <p:spPr>
          <a:xfrm>
            <a:off x="3602736" y="4206240"/>
            <a:ext cx="2377440" cy="548640"/>
          </a:xfrm>
          <a:prstGeom prst="rect">
            <a:avLst/>
          </a:prstGeom>
          <a:noFill/>
          <a:ln/>
        </p:spPr>
        <p:txBody>
          <a:bodyPr wrap="square" lIns="0" tIns="0" rIns="0" bIns="0" rtlCol="0" anchor="ctr"/>
          <a:lstStyle/>
          <a:p>
            <a:pPr indent="0" marL="0">
              <a:lnSpc>
                <a:spcPct val="105000"/>
              </a:lnSpc>
              <a:buNone/>
            </a:pPr>
            <a:r>
              <a:rPr lang="en-US" sz="880" dirty="0">
                <a:solidFill>
                  <a:srgbClr val="A9BDD1"/>
                </a:solidFill>
                <a:latin typeface="Arial" pitchFamily="34" charset="0"/>
                <a:ea typeface="Arial" pitchFamily="34" charset="-122"/>
                <a:cs typeface="Arial" pitchFamily="34" charset="-120"/>
              </a:rPr>
              <a:t>Principal robotics and mechanical</a:t>
            </a:r>
            <a:endParaRPr lang="en-US" sz="880" dirty="0"/>
          </a:p>
        </p:txBody>
      </p:sp>
      <p:sp>
        <p:nvSpPr>
          <p:cNvPr id="25" name="Shape 23"/>
          <p:cNvSpPr/>
          <p:nvPr/>
        </p:nvSpPr>
        <p:spPr>
          <a:xfrm>
            <a:off x="6254496" y="4206240"/>
            <a:ext cx="2670048" cy="548640"/>
          </a:xfrm>
          <a:prstGeom prst="roundRect">
            <a:avLst>
              <a:gd name="adj" fmla="val 10000"/>
            </a:avLst>
          </a:prstGeom>
          <a:solidFill>
            <a:srgbClr val="0F1E31">
              <a:alpha val="18000"/>
            </a:srgbClr>
          </a:solidFill>
          <a:ln w="11430">
            <a:solidFill>
              <a:srgbClr val="3D9BD8">
                <a:alpha val="60000"/>
              </a:srgbClr>
            </a:solidFill>
            <a:prstDash val="dash"/>
          </a:ln>
        </p:spPr>
      </p:sp>
      <p:sp>
        <p:nvSpPr>
          <p:cNvPr id="26" name="Text 24"/>
          <p:cNvSpPr txBox="1"/>
          <p:nvPr/>
        </p:nvSpPr>
        <p:spPr>
          <a:xfrm>
            <a:off x="6419088" y="4206240"/>
            <a:ext cx="2377440" cy="548640"/>
          </a:xfrm>
          <a:prstGeom prst="rect">
            <a:avLst/>
          </a:prstGeom>
          <a:noFill/>
          <a:ln/>
        </p:spPr>
        <p:txBody>
          <a:bodyPr wrap="square" lIns="0" tIns="0" rIns="0" bIns="0" rtlCol="0" anchor="ctr"/>
          <a:lstStyle/>
          <a:p>
            <a:pPr indent="0" marL="0">
              <a:lnSpc>
                <a:spcPct val="105000"/>
              </a:lnSpc>
              <a:buNone/>
            </a:pPr>
            <a:r>
              <a:rPr lang="en-US" sz="880" dirty="0">
                <a:solidFill>
                  <a:srgbClr val="A9BDD1"/>
                </a:solidFill>
                <a:latin typeface="Arial" pitchFamily="34" charset="0"/>
                <a:ea typeface="Arial" pitchFamily="34" charset="-122"/>
                <a:cs typeface="Arial" pitchFamily="34" charset="-120"/>
              </a:rPr>
              <a:t>Manufacturing and process</a:t>
            </a:r>
            <a:endParaRPr lang="en-US" sz="880" dirty="0"/>
          </a:p>
        </p:txBody>
      </p:sp>
      <p:sp>
        <p:nvSpPr>
          <p:cNvPr id="27" name="Shape 25"/>
          <p:cNvSpPr/>
          <p:nvPr/>
        </p:nvSpPr>
        <p:spPr>
          <a:xfrm>
            <a:off x="9070848" y="4206240"/>
            <a:ext cx="2670048" cy="548640"/>
          </a:xfrm>
          <a:prstGeom prst="roundRect">
            <a:avLst>
              <a:gd name="adj" fmla="val 10000"/>
            </a:avLst>
          </a:prstGeom>
          <a:solidFill>
            <a:srgbClr val="0F1E31">
              <a:alpha val="18000"/>
            </a:srgbClr>
          </a:solidFill>
          <a:ln w="11430">
            <a:solidFill>
              <a:srgbClr val="3D9BD8">
                <a:alpha val="60000"/>
              </a:srgbClr>
            </a:solidFill>
            <a:prstDash val="dash"/>
          </a:ln>
        </p:spPr>
      </p:sp>
      <p:sp>
        <p:nvSpPr>
          <p:cNvPr id="28" name="Text 26"/>
          <p:cNvSpPr txBox="1"/>
          <p:nvPr/>
        </p:nvSpPr>
        <p:spPr>
          <a:xfrm>
            <a:off x="9235440" y="4206240"/>
            <a:ext cx="2377440" cy="548640"/>
          </a:xfrm>
          <a:prstGeom prst="rect">
            <a:avLst/>
          </a:prstGeom>
          <a:noFill/>
          <a:ln/>
        </p:spPr>
        <p:txBody>
          <a:bodyPr wrap="square" lIns="0" tIns="0" rIns="0" bIns="0" rtlCol="0" anchor="ctr"/>
          <a:lstStyle/>
          <a:p>
            <a:pPr indent="0" marL="0">
              <a:lnSpc>
                <a:spcPct val="105000"/>
              </a:lnSpc>
              <a:buNone/>
            </a:pPr>
            <a:r>
              <a:rPr lang="en-US" sz="880" dirty="0">
                <a:solidFill>
                  <a:srgbClr val="A9BDD1"/>
                </a:solidFill>
                <a:latin typeface="Arial" pitchFamily="34" charset="0"/>
                <a:ea typeface="Arial" pitchFamily="34" charset="-122"/>
                <a:cs typeface="Arial" pitchFamily="34" charset="-120"/>
              </a:rPr>
              <a:t>Metrology, quality and safety support</a:t>
            </a:r>
            <a:endParaRPr lang="en-US" sz="880" dirty="0"/>
          </a:p>
        </p:txBody>
      </p:sp>
      <p:sp>
        <p:nvSpPr>
          <p:cNvPr id="29" name="Shape 27"/>
          <p:cNvSpPr/>
          <p:nvPr/>
        </p:nvSpPr>
        <p:spPr>
          <a:xfrm>
            <a:off x="621792" y="5029200"/>
            <a:ext cx="10948111" cy="0"/>
          </a:xfrm>
          <a:prstGeom prst="line">
            <a:avLst/>
          </a:prstGeom>
          <a:noFill/>
          <a:ln w="9525">
            <a:solidFill>
              <a:srgbClr val="23405C"/>
            </a:solidFill>
            <a:prstDash val="solid"/>
          </a:ln>
        </p:spPr>
      </p:sp>
      <p:sp>
        <p:nvSpPr>
          <p:cNvPr id="30" name="Text 28"/>
          <p:cNvSpPr txBox="1"/>
          <p:nvPr/>
        </p:nvSpPr>
        <p:spPr>
          <a:xfrm>
            <a:off x="621792" y="5157216"/>
            <a:ext cx="7589520" cy="1234440"/>
          </a:xfrm>
          <a:prstGeom prst="rect">
            <a:avLst/>
          </a:prstGeom>
          <a:noFill/>
          <a:ln/>
        </p:spPr>
        <p:txBody>
          <a:bodyPr wrap="square" lIns="0" tIns="0" rIns="0" bIns="0" rtlCol="0" anchor="t"/>
          <a:lstStyle/>
          <a:p>
            <a:pPr algn="l" indent="0" marL="0">
              <a:lnSpc>
                <a:spcPct val="112000"/>
              </a:lnSpc>
              <a:spcAft>
                <a:spcPts val="400"/>
              </a:spcAft>
              <a:buNone/>
            </a:pPr>
            <a:r>
              <a:rPr lang="en-US" sz="850" b="1" spc="200" kern="0" dirty="0">
                <a:solidFill>
                  <a:srgbClr val="6FD3FF"/>
                </a:solidFill>
                <a:latin typeface="Arial" pitchFamily="34" charset="0"/>
                <a:ea typeface="Arial" pitchFamily="34" charset="-122"/>
                <a:cs typeface="Arial" pitchFamily="34" charset="-120"/>
              </a:rPr>
              <a:t>HOW A COMPANY THIS SIZE PRODUCED THIS MUCH ANALYSIS</a:t>
            </a:r>
            <a:endParaRPr lang="en-US" sz="850" dirty="0"/>
          </a:p>
          <a:p>
            <a:pPr algn="l" indent="0" marL="0">
              <a:lnSpc>
                <a:spcPct val="112000"/>
              </a:lnSpc>
              <a:buNone/>
            </a:pPr>
            <a:r>
              <a:rPr lang="en-US" sz="880" dirty="0">
                <a:solidFill>
                  <a:srgbClr val="A9BDD1"/>
                </a:solidFill>
                <a:latin typeface="Arial" pitchFamily="34" charset="0"/>
                <a:ea typeface="Arial" pitchFamily="34" charset="-122"/>
                <a:cs typeface="Arial" pitchFamily="34" charset="-120"/>
              </a:rPr>
              <a:t>Syntrex runs an internal AI-native research system for orchestration, multi-agent review, adversarial analysis, assumption tracking, contradiction discovery and red teaming. It compresses the search across research, prior art, failure modes and competitive positions. It enforces adversarial review as process rather than habit. It produces a documented risk and contradiction register that survives external challenge.</a:t>
            </a:r>
            <a:endParaRPr lang="en-US" sz="850" dirty="0"/>
          </a:p>
        </p:txBody>
      </p:sp>
      <p:sp>
        <p:nvSpPr>
          <p:cNvPr id="31" name="Text 29"/>
          <p:cNvSpPr txBox="1"/>
          <p:nvPr/>
        </p:nvSpPr>
        <p:spPr>
          <a:xfrm>
            <a:off x="8549640" y="5157216"/>
            <a:ext cx="3017520" cy="1234440"/>
          </a:xfrm>
          <a:prstGeom prst="rect">
            <a:avLst/>
          </a:prstGeom>
          <a:noFill/>
          <a:ln/>
        </p:spPr>
        <p:txBody>
          <a:bodyPr wrap="square" lIns="0" tIns="0" rIns="0" bIns="0" rtlCol="0" anchor="t"/>
          <a:lstStyle/>
          <a:p>
            <a:pPr algn="l" indent="0" marL="0">
              <a:lnSpc>
                <a:spcPct val="112000"/>
              </a:lnSpc>
              <a:spcAft>
                <a:spcPts val="500"/>
              </a:spcAft>
              <a:buNone/>
            </a:pPr>
            <a:r>
              <a:rPr lang="en-US" sz="880" i="1" dirty="0">
                <a:solidFill>
                  <a:srgbClr val="EAF2FA"/>
                </a:solidFill>
                <a:latin typeface="Arial" pitchFamily="34" charset="0"/>
                <a:ea typeface="Arial" pitchFamily="34" charset="-122"/>
                <a:cs typeface="Arial" pitchFamily="34" charset="-120"/>
              </a:rPr>
              <a:t>This is research and development infrastructure. It is not the product, it holds no engineering authority, and it has validated nothing physical.</a:t>
            </a:r>
            <a:endParaRPr lang="en-US" sz="880" dirty="0"/>
          </a:p>
          <a:p>
            <a:pPr algn="l" indent="0" marL="0">
              <a:lnSpc>
                <a:spcPct val="112000"/>
              </a:lnSpc>
              <a:buNone/>
            </a:pPr>
            <a:r>
              <a:rPr lang="en-US" sz="1100" b="1" dirty="0">
                <a:solidFill>
                  <a:srgbClr val="6FD3FF"/>
                </a:solidFill>
                <a:latin typeface="Arial" pitchFamily="34" charset="0"/>
                <a:ea typeface="Arial" pitchFamily="34" charset="-122"/>
                <a:cs typeface="Arial" pitchFamily="34" charset="-120"/>
              </a:rPr>
              <a:t>AI accelerates the search. Physical evidence decides.</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21792" y="6510528"/>
            <a:ext cx="4114800" cy="219456"/>
          </a:xfrm>
          <a:prstGeom prst="rect">
            <a:avLst/>
          </a:prstGeom>
          <a:noFill/>
          <a:ln/>
        </p:spPr>
        <p:txBody>
          <a:bodyPr wrap="square" lIns="0" tIns="0" rIns="0" bIns="0" rtlCol="0" anchor="ctr"/>
          <a:lstStyle/>
          <a:p>
            <a:pPr indent="0" marL="0">
              <a:buNone/>
            </a:pPr>
            <a:r>
              <a:rPr lang="en-US" sz="700" spc="240" kern="0" dirty="0">
                <a:solidFill>
                  <a:srgbClr val="51667C"/>
                </a:solidFill>
                <a:latin typeface="Arial" pitchFamily="34" charset="0"/>
                <a:ea typeface="Arial" pitchFamily="34" charset="-122"/>
                <a:cs typeface="Arial" pitchFamily="34" charset="-120"/>
              </a:rPr>
              <a:t>SYNTREX ADVANCED SYSTEMS</a:t>
            </a:r>
            <a:endParaRPr lang="en-US" sz="700" dirty="0"/>
          </a:p>
        </p:txBody>
      </p:sp>
      <p:sp>
        <p:nvSpPr>
          <p:cNvPr id="3" name="Text 1"/>
          <p:cNvSpPr txBox="1"/>
          <p:nvPr/>
        </p:nvSpPr>
        <p:spPr>
          <a:xfrm>
            <a:off x="7455103" y="6510528"/>
            <a:ext cx="4114800" cy="219456"/>
          </a:xfrm>
          <a:prstGeom prst="rect">
            <a:avLst/>
          </a:prstGeom>
          <a:noFill/>
          <a:ln/>
        </p:spPr>
        <p:txBody>
          <a:bodyPr wrap="square" lIns="0" tIns="0" rIns="0" bIns="0" rtlCol="0" anchor="ctr"/>
          <a:lstStyle/>
          <a:p>
            <a:pPr algn="r" indent="0" marL="0">
              <a:buNone/>
            </a:pPr>
            <a:r>
              <a:rPr lang="en-US" sz="700" spc="240" kern="0" dirty="0">
                <a:solidFill>
                  <a:srgbClr val="51667C"/>
                </a:solidFill>
                <a:latin typeface="Arial" pitchFamily="34" charset="0"/>
                <a:ea typeface="Arial" pitchFamily="34" charset="-122"/>
                <a:cs typeface="Arial" pitchFamily="34" charset="-120"/>
              </a:rPr>
              <a:t>CONFIDENTIAL   ·   19 / 19</a:t>
            </a:r>
            <a:endParaRPr lang="en-US" sz="700" dirty="0"/>
          </a:p>
        </p:txBody>
      </p:sp>
      <p:sp>
        <p:nvSpPr>
          <p:cNvPr id="4" name="Text 2"/>
          <p:cNvSpPr txBox="1"/>
          <p:nvPr/>
        </p:nvSpPr>
        <p:spPr>
          <a:xfrm>
            <a:off x="621792" y="457200"/>
            <a:ext cx="10948111" cy="274320"/>
          </a:xfrm>
          <a:prstGeom prst="rect">
            <a:avLst/>
          </a:prstGeom>
          <a:noFill/>
          <a:ln/>
        </p:spPr>
        <p:txBody>
          <a:bodyPr wrap="square" lIns="0" tIns="0" rIns="0" bIns="0" rtlCol="0" anchor="ctr"/>
          <a:lstStyle/>
          <a:p>
            <a:pPr indent="0" marL="0">
              <a:buNone/>
            </a:pPr>
            <a:r>
              <a:rPr lang="en-US" sz="1000" b="1" spc="360" kern="0" dirty="0">
                <a:solidFill>
                  <a:srgbClr val="6FD3FF"/>
                </a:solidFill>
                <a:latin typeface="Arial" pitchFamily="34" charset="0"/>
                <a:ea typeface="Arial" pitchFamily="34" charset="-122"/>
                <a:cs typeface="Arial" pitchFamily="34" charset="-120"/>
              </a:rPr>
              <a:t>THE ROUND · PRE-SEED · 18-MONTH EXECUTION PLAN</a:t>
            </a:r>
            <a:endParaRPr lang="en-US" sz="1000" dirty="0"/>
          </a:p>
        </p:txBody>
      </p:sp>
      <p:sp>
        <p:nvSpPr>
          <p:cNvPr id="5" name="Text 3"/>
          <p:cNvSpPr txBox="1"/>
          <p:nvPr/>
        </p:nvSpPr>
        <p:spPr>
          <a:xfrm>
            <a:off x="621792" y="786384"/>
            <a:ext cx="10948111" cy="914400"/>
          </a:xfrm>
          <a:prstGeom prst="rect">
            <a:avLst/>
          </a:prstGeom>
          <a:noFill/>
          <a:ln/>
        </p:spPr>
        <p:txBody>
          <a:bodyPr wrap="square" lIns="0" tIns="0" rIns="0" bIns="0" rtlCol="0" anchor="t"/>
          <a:lstStyle/>
          <a:p>
            <a:pPr indent="0" marL="0">
              <a:lnSpc>
                <a:spcPct val="102000"/>
              </a:lnSpc>
              <a:buNone/>
            </a:pPr>
            <a:r>
              <a:rPr lang="en-US" sz="2800" b="1" dirty="0">
                <a:solidFill>
                  <a:srgbClr val="EAF2FA"/>
                </a:solidFill>
                <a:latin typeface="Arial" pitchFamily="34" charset="0"/>
                <a:ea typeface="Arial" pitchFamily="34" charset="-122"/>
                <a:cs typeface="Arial" pitchFamily="34" charset="-120"/>
              </a:rPr>
              <a:t>$3.0M converts an architecture into physical evidence.</a:t>
            </a:r>
            <a:endParaRPr lang="en-US" sz="2800" dirty="0"/>
          </a:p>
        </p:txBody>
      </p:sp>
      <p:sp>
        <p:nvSpPr>
          <p:cNvPr id="6" name="Text 4"/>
          <p:cNvSpPr txBox="1"/>
          <p:nvPr/>
        </p:nvSpPr>
        <p:spPr>
          <a:xfrm>
            <a:off x="621792" y="1426464"/>
            <a:ext cx="10948111" cy="329184"/>
          </a:xfrm>
          <a:prstGeom prst="rect">
            <a:avLst/>
          </a:prstGeom>
          <a:noFill/>
          <a:ln/>
        </p:spPr>
        <p:txBody>
          <a:bodyPr wrap="square" lIns="0" tIns="0" rIns="0" bIns="0" rtlCol="0" anchor="ctr"/>
          <a:lstStyle/>
          <a:p>
            <a:pPr indent="0" marL="0">
              <a:buNone/>
            </a:pPr>
            <a:r>
              <a:rPr lang="en-US" sz="1700" b="1" dirty="0">
                <a:solidFill>
                  <a:srgbClr val="6FD3FF"/>
                </a:solidFill>
                <a:latin typeface="Arial" pitchFamily="34" charset="0"/>
                <a:ea typeface="Arial" pitchFamily="34" charset="-122"/>
                <a:cs typeface="Arial" pitchFamily="34" charset="-120"/>
              </a:rPr>
              <a:t>49.5% </a:t>
            </a:r>
            <a:pPr indent="0" marL="0">
              <a:buNone/>
            </a:pPr>
            <a:r>
              <a:rPr lang="en-US" sz="1300" dirty="0">
                <a:solidFill>
                  <a:srgbClr val="EAF2FA"/>
                </a:solidFill>
                <a:latin typeface="Arial" pitchFamily="34" charset="0"/>
                <a:ea typeface="Arial" pitchFamily="34" charset="-122"/>
                <a:cs typeface="Arial" pitchFamily="34" charset="-120"/>
              </a:rPr>
              <a:t>of capital goes to technical people and physical evidence.</a:t>
            </a:r>
            <a:endParaRPr lang="en-US" sz="1700" dirty="0"/>
          </a:p>
        </p:txBody>
      </p:sp>
      <p:sp>
        <p:nvSpPr>
          <p:cNvPr id="7" name="Shape 5"/>
          <p:cNvSpPr/>
          <p:nvPr/>
        </p:nvSpPr>
        <p:spPr>
          <a:xfrm>
            <a:off x="621792" y="2011680"/>
            <a:ext cx="3544937" cy="566928"/>
          </a:xfrm>
          <a:prstGeom prst="rect">
            <a:avLst/>
          </a:prstGeom>
          <a:solidFill>
            <a:srgbClr val="3D9BD8">
              <a:alpha val="92000"/>
            </a:srgbClr>
          </a:solidFill>
          <a:ln w="9525">
            <a:solidFill>
              <a:srgbClr val="6FD3FF"/>
            </a:solidFill>
            <a:prstDash val="solid"/>
          </a:ln>
        </p:spPr>
      </p:sp>
      <p:sp>
        <p:nvSpPr>
          <p:cNvPr id="8" name="Text 6"/>
          <p:cNvSpPr txBox="1"/>
          <p:nvPr/>
        </p:nvSpPr>
        <p:spPr>
          <a:xfrm>
            <a:off x="694944" y="2157984"/>
            <a:ext cx="914400" cy="274320"/>
          </a:xfrm>
          <a:prstGeom prst="rect">
            <a:avLst/>
          </a:prstGeom>
          <a:noFill/>
          <a:ln/>
        </p:spPr>
        <p:txBody>
          <a:bodyPr wrap="square" lIns="0" tIns="0" rIns="0" bIns="0" rtlCol="0" anchor="ctr"/>
          <a:lstStyle/>
          <a:p>
            <a:pPr indent="0" marL="0">
              <a:buNone/>
            </a:pPr>
            <a:r>
              <a:rPr lang="en-US" sz="1100" b="1" dirty="0">
                <a:solidFill>
                  <a:srgbClr val="07131F"/>
                </a:solidFill>
                <a:latin typeface="Arial" pitchFamily="34" charset="0"/>
                <a:ea typeface="Arial" pitchFamily="34" charset="-122"/>
                <a:cs typeface="Arial" pitchFamily="34" charset="-120"/>
              </a:rPr>
              <a:t>32.6%</a:t>
            </a:r>
            <a:endParaRPr lang="en-US" sz="1100" dirty="0"/>
          </a:p>
        </p:txBody>
      </p:sp>
      <p:sp>
        <p:nvSpPr>
          <p:cNvPr id="9" name="Shape 7"/>
          <p:cNvSpPr/>
          <p:nvPr/>
        </p:nvSpPr>
        <p:spPr>
          <a:xfrm>
            <a:off x="667512" y="2596896"/>
            <a:ext cx="0" cy="91440"/>
          </a:xfrm>
          <a:prstGeom prst="line">
            <a:avLst/>
          </a:prstGeom>
          <a:noFill/>
          <a:ln w="9525">
            <a:solidFill>
              <a:srgbClr val="23405C"/>
            </a:solidFill>
            <a:prstDash val="solid"/>
          </a:ln>
        </p:spPr>
      </p:sp>
      <p:sp>
        <p:nvSpPr>
          <p:cNvPr id="10" name="Text 8"/>
          <p:cNvSpPr txBox="1"/>
          <p:nvPr/>
        </p:nvSpPr>
        <p:spPr>
          <a:xfrm>
            <a:off x="713232" y="2706624"/>
            <a:ext cx="3291840" cy="219456"/>
          </a:xfrm>
          <a:prstGeom prst="rect">
            <a:avLst/>
          </a:prstGeom>
          <a:noFill/>
          <a:ln/>
        </p:spPr>
        <p:txBody>
          <a:bodyPr wrap="square" lIns="0" tIns="0" rIns="0" bIns="0" rtlCol="0" anchor="ctr"/>
          <a:lstStyle/>
          <a:p>
            <a:pPr algn="l" indent="0" marL="0">
              <a:buNone/>
            </a:pPr>
            <a:r>
              <a:rPr lang="en-US" sz="830" dirty="0">
                <a:solidFill>
                  <a:srgbClr val="EAF2FA"/>
                </a:solidFill>
                <a:latin typeface="Arial" pitchFamily="34" charset="0"/>
                <a:ea typeface="Arial" pitchFamily="34" charset="-122"/>
                <a:cs typeface="Arial" pitchFamily="34" charset="-120"/>
              </a:rPr>
              <a:t>Engineering nucleus  </a:t>
            </a:r>
            <a:pPr algn="l" indent="0" marL="0">
              <a:buNone/>
            </a:pPr>
            <a:r>
              <a:rPr lang="en-US" sz="830" b="1" dirty="0">
                <a:solidFill>
                  <a:srgbClr val="6FD3FF"/>
                </a:solidFill>
                <a:latin typeface="Arial" pitchFamily="34" charset="0"/>
                <a:ea typeface="Arial" pitchFamily="34" charset="-122"/>
                <a:cs typeface="Arial" pitchFamily="34" charset="-120"/>
              </a:rPr>
              <a:t>$979K · 32.6%</a:t>
            </a:r>
            <a:endParaRPr lang="en-US" sz="830" dirty="0"/>
          </a:p>
        </p:txBody>
      </p:sp>
      <p:sp>
        <p:nvSpPr>
          <p:cNvPr id="11" name="Shape 9"/>
          <p:cNvSpPr/>
          <p:nvPr/>
        </p:nvSpPr>
        <p:spPr>
          <a:xfrm>
            <a:off x="4194161" y="2011680"/>
            <a:ext cx="1822799" cy="566928"/>
          </a:xfrm>
          <a:prstGeom prst="rect">
            <a:avLst/>
          </a:prstGeom>
          <a:solidFill>
            <a:srgbClr val="6FD3FF">
              <a:alpha val="88000"/>
            </a:srgbClr>
          </a:solidFill>
          <a:ln w="9525">
            <a:solidFill>
              <a:srgbClr val="6FD3FF"/>
            </a:solidFill>
            <a:prstDash val="solid"/>
          </a:ln>
        </p:spPr>
      </p:sp>
      <p:sp>
        <p:nvSpPr>
          <p:cNvPr id="12" name="Text 10"/>
          <p:cNvSpPr txBox="1"/>
          <p:nvPr/>
        </p:nvSpPr>
        <p:spPr>
          <a:xfrm>
            <a:off x="4267313" y="2157984"/>
            <a:ext cx="914400" cy="274320"/>
          </a:xfrm>
          <a:prstGeom prst="rect">
            <a:avLst/>
          </a:prstGeom>
          <a:noFill/>
          <a:ln/>
        </p:spPr>
        <p:txBody>
          <a:bodyPr wrap="square" lIns="0" tIns="0" rIns="0" bIns="0" rtlCol="0" anchor="ctr"/>
          <a:lstStyle/>
          <a:p>
            <a:pPr indent="0" marL="0">
              <a:buNone/>
            </a:pPr>
            <a:r>
              <a:rPr lang="en-US" sz="1100" b="1" dirty="0">
                <a:solidFill>
                  <a:srgbClr val="07131F"/>
                </a:solidFill>
                <a:latin typeface="Arial" pitchFamily="34" charset="0"/>
                <a:ea typeface="Arial" pitchFamily="34" charset="-122"/>
                <a:cs typeface="Arial" pitchFamily="34" charset="-120"/>
              </a:rPr>
              <a:t>16.9%</a:t>
            </a:r>
            <a:endParaRPr lang="en-US" sz="1100" dirty="0"/>
          </a:p>
        </p:txBody>
      </p:sp>
      <p:sp>
        <p:nvSpPr>
          <p:cNvPr id="13" name="Shape 11"/>
          <p:cNvSpPr/>
          <p:nvPr/>
        </p:nvSpPr>
        <p:spPr>
          <a:xfrm>
            <a:off x="4239881" y="2596896"/>
            <a:ext cx="0" cy="384048"/>
          </a:xfrm>
          <a:prstGeom prst="line">
            <a:avLst/>
          </a:prstGeom>
          <a:noFill/>
          <a:ln w="9525">
            <a:solidFill>
              <a:srgbClr val="23405C"/>
            </a:solidFill>
            <a:prstDash val="solid"/>
          </a:ln>
        </p:spPr>
      </p:sp>
      <p:sp>
        <p:nvSpPr>
          <p:cNvPr id="14" name="Text 12"/>
          <p:cNvSpPr txBox="1"/>
          <p:nvPr/>
        </p:nvSpPr>
        <p:spPr>
          <a:xfrm>
            <a:off x="4285601" y="2999232"/>
            <a:ext cx="3291840" cy="219456"/>
          </a:xfrm>
          <a:prstGeom prst="rect">
            <a:avLst/>
          </a:prstGeom>
          <a:noFill/>
          <a:ln/>
        </p:spPr>
        <p:txBody>
          <a:bodyPr wrap="square" lIns="0" tIns="0" rIns="0" bIns="0" rtlCol="0" anchor="ctr"/>
          <a:lstStyle/>
          <a:p>
            <a:pPr algn="l" indent="0" marL="0">
              <a:buNone/>
            </a:pPr>
            <a:r>
              <a:rPr lang="en-US" sz="830" dirty="0">
                <a:solidFill>
                  <a:srgbClr val="EAF2FA"/>
                </a:solidFill>
                <a:latin typeface="Arial" pitchFamily="34" charset="0"/>
                <a:ea typeface="Arial" pitchFamily="34" charset="-122"/>
                <a:cs typeface="Arial" pitchFamily="34" charset="-120"/>
              </a:rPr>
              <a:t>Physical validation  </a:t>
            </a:r>
            <a:pPr algn="l" indent="0" marL="0">
              <a:buNone/>
            </a:pPr>
            <a:r>
              <a:rPr lang="en-US" sz="830" b="1" dirty="0">
                <a:solidFill>
                  <a:srgbClr val="6FD3FF"/>
                </a:solidFill>
                <a:latin typeface="Arial" pitchFamily="34" charset="0"/>
                <a:ea typeface="Arial" pitchFamily="34" charset="-122"/>
                <a:cs typeface="Arial" pitchFamily="34" charset="-120"/>
              </a:rPr>
              <a:t>$507K · 16.9%</a:t>
            </a:r>
            <a:endParaRPr lang="en-US" sz="830" dirty="0"/>
          </a:p>
        </p:txBody>
      </p:sp>
      <p:sp>
        <p:nvSpPr>
          <p:cNvPr id="15" name="Shape 13"/>
          <p:cNvSpPr/>
          <p:nvPr/>
        </p:nvSpPr>
        <p:spPr>
          <a:xfrm>
            <a:off x="6044391" y="2011680"/>
            <a:ext cx="2523478" cy="566928"/>
          </a:xfrm>
          <a:prstGeom prst="rect">
            <a:avLst/>
          </a:prstGeom>
          <a:solidFill>
            <a:srgbClr val="16293E">
              <a:alpha val="95000"/>
            </a:srgbClr>
          </a:solidFill>
          <a:ln w="9525">
            <a:solidFill>
              <a:srgbClr val="23405C"/>
            </a:solidFill>
            <a:prstDash val="solid"/>
          </a:ln>
        </p:spPr>
      </p:sp>
      <p:sp>
        <p:nvSpPr>
          <p:cNvPr id="16" name="Text 14"/>
          <p:cNvSpPr txBox="1"/>
          <p:nvPr/>
        </p:nvSpPr>
        <p:spPr>
          <a:xfrm>
            <a:off x="6117543" y="2157984"/>
            <a:ext cx="914400" cy="274320"/>
          </a:xfrm>
          <a:prstGeom prst="rect">
            <a:avLst/>
          </a:prstGeom>
          <a:noFill/>
          <a:ln/>
        </p:spPr>
        <p:txBody>
          <a:bodyPr wrap="square" lIns="0" tIns="0" rIns="0" bIns="0" rtlCol="0" anchor="ctr"/>
          <a:lstStyle/>
          <a:p>
            <a:pPr indent="0" marL="0">
              <a:buNone/>
            </a:pPr>
            <a:r>
              <a:rPr lang="en-US" sz="1100" b="1" dirty="0">
                <a:solidFill>
                  <a:srgbClr val="A9BDD1"/>
                </a:solidFill>
                <a:latin typeface="Arial" pitchFamily="34" charset="0"/>
                <a:ea typeface="Arial" pitchFamily="34" charset="-122"/>
                <a:cs typeface="Arial" pitchFamily="34" charset="-120"/>
              </a:rPr>
              <a:t>23.3%</a:t>
            </a:r>
            <a:endParaRPr lang="en-US" sz="1100" dirty="0"/>
          </a:p>
        </p:txBody>
      </p:sp>
      <p:sp>
        <p:nvSpPr>
          <p:cNvPr id="17" name="Shape 15"/>
          <p:cNvSpPr/>
          <p:nvPr/>
        </p:nvSpPr>
        <p:spPr>
          <a:xfrm>
            <a:off x="6090111" y="2596896"/>
            <a:ext cx="0" cy="91440"/>
          </a:xfrm>
          <a:prstGeom prst="line">
            <a:avLst/>
          </a:prstGeom>
          <a:noFill/>
          <a:ln w="9525">
            <a:solidFill>
              <a:srgbClr val="23405C"/>
            </a:solidFill>
            <a:prstDash val="solid"/>
          </a:ln>
        </p:spPr>
      </p:sp>
      <p:sp>
        <p:nvSpPr>
          <p:cNvPr id="18" name="Text 16"/>
          <p:cNvSpPr txBox="1"/>
          <p:nvPr/>
        </p:nvSpPr>
        <p:spPr>
          <a:xfrm>
            <a:off x="6135831" y="2706624"/>
            <a:ext cx="3291840" cy="219456"/>
          </a:xfrm>
          <a:prstGeom prst="rect">
            <a:avLst/>
          </a:prstGeom>
          <a:noFill/>
          <a:ln/>
        </p:spPr>
        <p:txBody>
          <a:bodyPr wrap="square" lIns="0" tIns="0" rIns="0" bIns="0" rtlCol="0" anchor="ctr"/>
          <a:lstStyle/>
          <a:p>
            <a:pPr algn="l" indent="0" marL="0">
              <a:buNone/>
            </a:pPr>
            <a:r>
              <a:rPr lang="en-US" sz="830" dirty="0">
                <a:solidFill>
                  <a:srgbClr val="A9BDD1"/>
                </a:solidFill>
                <a:latin typeface="Arial" pitchFamily="34" charset="0"/>
                <a:ea typeface="Arial" pitchFamily="34" charset="-122"/>
                <a:cs typeface="Arial" pitchFamily="34" charset="-120"/>
              </a:rPr>
              <a:t>Runway and infrastructure  </a:t>
            </a:r>
            <a:pPr algn="l" indent="0" marL="0">
              <a:buNone/>
            </a:pPr>
            <a:r>
              <a:rPr lang="en-US" sz="830" b="1" dirty="0">
                <a:solidFill>
                  <a:srgbClr val="72879D"/>
                </a:solidFill>
                <a:latin typeface="Arial" pitchFamily="34" charset="0"/>
                <a:ea typeface="Arial" pitchFamily="34" charset="-122"/>
                <a:cs typeface="Arial" pitchFamily="34" charset="-120"/>
              </a:rPr>
              <a:t>$699K · 23.3%</a:t>
            </a:r>
            <a:endParaRPr lang="en-US" sz="830" dirty="0"/>
          </a:p>
        </p:txBody>
      </p:sp>
      <p:sp>
        <p:nvSpPr>
          <p:cNvPr id="19" name="Shape 17"/>
          <p:cNvSpPr/>
          <p:nvPr/>
        </p:nvSpPr>
        <p:spPr>
          <a:xfrm>
            <a:off x="8595301" y="2011680"/>
            <a:ext cx="588947" cy="566928"/>
          </a:xfrm>
          <a:prstGeom prst="rect">
            <a:avLst/>
          </a:prstGeom>
          <a:solidFill>
            <a:srgbClr val="16293E">
              <a:alpha val="95000"/>
            </a:srgbClr>
          </a:solidFill>
          <a:ln w="9525">
            <a:solidFill>
              <a:srgbClr val="23405C"/>
            </a:solidFill>
            <a:prstDash val="solid"/>
          </a:ln>
        </p:spPr>
      </p:sp>
      <p:sp>
        <p:nvSpPr>
          <p:cNvPr id="20" name="Shape 18"/>
          <p:cNvSpPr/>
          <p:nvPr/>
        </p:nvSpPr>
        <p:spPr>
          <a:xfrm>
            <a:off x="8641021" y="2596896"/>
            <a:ext cx="0" cy="384048"/>
          </a:xfrm>
          <a:prstGeom prst="line">
            <a:avLst/>
          </a:prstGeom>
          <a:noFill/>
          <a:ln w="9525">
            <a:solidFill>
              <a:srgbClr val="23405C"/>
            </a:solidFill>
            <a:prstDash val="solid"/>
          </a:ln>
        </p:spPr>
      </p:sp>
      <p:sp>
        <p:nvSpPr>
          <p:cNvPr id="21" name="Text 19"/>
          <p:cNvSpPr txBox="1"/>
          <p:nvPr/>
        </p:nvSpPr>
        <p:spPr>
          <a:xfrm>
            <a:off x="8686741" y="2999232"/>
            <a:ext cx="3291840" cy="219456"/>
          </a:xfrm>
          <a:prstGeom prst="rect">
            <a:avLst/>
          </a:prstGeom>
          <a:noFill/>
          <a:ln/>
        </p:spPr>
        <p:txBody>
          <a:bodyPr wrap="square" lIns="0" tIns="0" rIns="0" bIns="0" rtlCol="0" anchor="ctr"/>
          <a:lstStyle/>
          <a:p>
            <a:pPr algn="l" indent="0" marL="0">
              <a:buNone/>
            </a:pPr>
            <a:r>
              <a:rPr lang="en-US" sz="830" dirty="0">
                <a:solidFill>
                  <a:srgbClr val="A9BDD1"/>
                </a:solidFill>
                <a:latin typeface="Arial" pitchFamily="34" charset="0"/>
                <a:ea typeface="Arial" pitchFamily="34" charset="-122"/>
                <a:cs typeface="Arial" pitchFamily="34" charset="-120"/>
              </a:rPr>
              <a:t>IP, legal and data rights  </a:t>
            </a:r>
            <a:pPr algn="l" indent="0" marL="0">
              <a:buNone/>
            </a:pPr>
            <a:r>
              <a:rPr lang="en-US" sz="830" b="1" dirty="0">
                <a:solidFill>
                  <a:srgbClr val="72879D"/>
                </a:solidFill>
                <a:latin typeface="Arial" pitchFamily="34" charset="0"/>
                <a:ea typeface="Arial" pitchFamily="34" charset="-122"/>
                <a:cs typeface="Arial" pitchFamily="34" charset="-120"/>
              </a:rPr>
              <a:t>$169K · 5.6%</a:t>
            </a:r>
            <a:endParaRPr lang="en-US" sz="830" dirty="0"/>
          </a:p>
        </p:txBody>
      </p:sp>
      <p:sp>
        <p:nvSpPr>
          <p:cNvPr id="22" name="Shape 20"/>
          <p:cNvSpPr/>
          <p:nvPr/>
        </p:nvSpPr>
        <p:spPr>
          <a:xfrm>
            <a:off x="9211680" y="2011680"/>
            <a:ext cx="607558" cy="566928"/>
          </a:xfrm>
          <a:prstGeom prst="rect">
            <a:avLst/>
          </a:prstGeom>
          <a:solidFill>
            <a:srgbClr val="16293E">
              <a:alpha val="95000"/>
            </a:srgbClr>
          </a:solidFill>
          <a:ln w="9525">
            <a:solidFill>
              <a:srgbClr val="23405C"/>
            </a:solidFill>
            <a:prstDash val="solid"/>
          </a:ln>
        </p:spPr>
      </p:sp>
      <p:sp>
        <p:nvSpPr>
          <p:cNvPr id="23" name="Shape 21"/>
          <p:cNvSpPr/>
          <p:nvPr/>
        </p:nvSpPr>
        <p:spPr>
          <a:xfrm>
            <a:off x="9257400" y="2596896"/>
            <a:ext cx="0" cy="676656"/>
          </a:xfrm>
          <a:prstGeom prst="line">
            <a:avLst/>
          </a:prstGeom>
          <a:noFill/>
          <a:ln w="9525">
            <a:solidFill>
              <a:srgbClr val="23405C"/>
            </a:solidFill>
            <a:prstDash val="solid"/>
          </a:ln>
        </p:spPr>
      </p:sp>
      <p:sp>
        <p:nvSpPr>
          <p:cNvPr id="24" name="Text 22"/>
          <p:cNvSpPr txBox="1"/>
          <p:nvPr/>
        </p:nvSpPr>
        <p:spPr>
          <a:xfrm>
            <a:off x="9303120" y="3291840"/>
            <a:ext cx="3291840" cy="219456"/>
          </a:xfrm>
          <a:prstGeom prst="rect">
            <a:avLst/>
          </a:prstGeom>
          <a:noFill/>
          <a:ln/>
        </p:spPr>
        <p:txBody>
          <a:bodyPr wrap="square" lIns="0" tIns="0" rIns="0" bIns="0" rtlCol="0" anchor="ctr"/>
          <a:lstStyle/>
          <a:p>
            <a:pPr algn="l" indent="0" marL="0">
              <a:buNone/>
            </a:pPr>
            <a:r>
              <a:rPr lang="en-US" sz="830" dirty="0">
                <a:solidFill>
                  <a:srgbClr val="A9BDD1"/>
                </a:solidFill>
                <a:latin typeface="Arial" pitchFamily="34" charset="0"/>
                <a:ea typeface="Arial" pitchFamily="34" charset="-122"/>
                <a:cs typeface="Arial" pitchFamily="34" charset="-120"/>
              </a:rPr>
              <a:t>Commercial and qualification  </a:t>
            </a:r>
            <a:pPr algn="l" indent="0" marL="0">
              <a:buNone/>
            </a:pPr>
            <a:r>
              <a:rPr lang="en-US" sz="830" b="1" dirty="0">
                <a:solidFill>
                  <a:srgbClr val="72879D"/>
                </a:solidFill>
                <a:latin typeface="Arial" pitchFamily="34" charset="0"/>
                <a:ea typeface="Arial" pitchFamily="34" charset="-122"/>
                <a:cs typeface="Arial" pitchFamily="34" charset="-120"/>
              </a:rPr>
              <a:t>$174K · 5.8%</a:t>
            </a:r>
            <a:endParaRPr lang="en-US" sz="830" dirty="0"/>
          </a:p>
        </p:txBody>
      </p:sp>
      <p:sp>
        <p:nvSpPr>
          <p:cNvPr id="25" name="Shape 23"/>
          <p:cNvSpPr/>
          <p:nvPr/>
        </p:nvSpPr>
        <p:spPr>
          <a:xfrm>
            <a:off x="9846670" y="2011680"/>
            <a:ext cx="1694706" cy="566928"/>
          </a:xfrm>
          <a:prstGeom prst="rect">
            <a:avLst/>
          </a:prstGeom>
          <a:solidFill>
            <a:srgbClr val="16293E">
              <a:alpha val="95000"/>
            </a:srgbClr>
          </a:solidFill>
          <a:ln w="9525">
            <a:solidFill>
              <a:srgbClr val="23405C"/>
            </a:solidFill>
            <a:prstDash val="solid"/>
          </a:ln>
        </p:spPr>
      </p:sp>
      <p:sp>
        <p:nvSpPr>
          <p:cNvPr id="26" name="Text 24"/>
          <p:cNvSpPr txBox="1"/>
          <p:nvPr/>
        </p:nvSpPr>
        <p:spPr>
          <a:xfrm>
            <a:off x="9919822" y="2157984"/>
            <a:ext cx="914400" cy="274320"/>
          </a:xfrm>
          <a:prstGeom prst="rect">
            <a:avLst/>
          </a:prstGeom>
          <a:noFill/>
          <a:ln/>
        </p:spPr>
        <p:txBody>
          <a:bodyPr wrap="square" lIns="0" tIns="0" rIns="0" bIns="0" rtlCol="0" anchor="ctr"/>
          <a:lstStyle/>
          <a:p>
            <a:pPr indent="0" marL="0">
              <a:buNone/>
            </a:pPr>
            <a:r>
              <a:rPr lang="en-US" sz="1100" b="1" dirty="0">
                <a:solidFill>
                  <a:srgbClr val="A9BDD1"/>
                </a:solidFill>
                <a:latin typeface="Arial" pitchFamily="34" charset="0"/>
                <a:ea typeface="Arial" pitchFamily="34" charset="-122"/>
                <a:cs typeface="Arial" pitchFamily="34" charset="-120"/>
              </a:rPr>
              <a:t>15.7%</a:t>
            </a:r>
            <a:endParaRPr lang="en-US" sz="1100" dirty="0"/>
          </a:p>
        </p:txBody>
      </p:sp>
      <p:sp>
        <p:nvSpPr>
          <p:cNvPr id="27" name="Shape 25"/>
          <p:cNvSpPr/>
          <p:nvPr/>
        </p:nvSpPr>
        <p:spPr>
          <a:xfrm>
            <a:off x="9892390" y="2596896"/>
            <a:ext cx="0" cy="91440"/>
          </a:xfrm>
          <a:prstGeom prst="line">
            <a:avLst/>
          </a:prstGeom>
          <a:noFill/>
          <a:ln w="9525">
            <a:solidFill>
              <a:srgbClr val="23405C"/>
            </a:solidFill>
            <a:prstDash val="solid"/>
          </a:ln>
        </p:spPr>
      </p:sp>
      <p:sp>
        <p:nvSpPr>
          <p:cNvPr id="28" name="Text 26"/>
          <p:cNvSpPr txBox="1"/>
          <p:nvPr/>
        </p:nvSpPr>
        <p:spPr>
          <a:xfrm>
            <a:off x="8278063" y="2706624"/>
            <a:ext cx="3291840" cy="219456"/>
          </a:xfrm>
          <a:prstGeom prst="rect">
            <a:avLst/>
          </a:prstGeom>
          <a:noFill/>
          <a:ln/>
        </p:spPr>
        <p:txBody>
          <a:bodyPr wrap="square" lIns="0" tIns="0" rIns="0" bIns="0" rtlCol="0" anchor="ctr"/>
          <a:lstStyle/>
          <a:p>
            <a:pPr algn="r" indent="0" marL="0">
              <a:buNone/>
            </a:pPr>
            <a:r>
              <a:rPr lang="en-US" sz="830" dirty="0">
                <a:solidFill>
                  <a:srgbClr val="A9BDD1"/>
                </a:solidFill>
                <a:latin typeface="Arial" pitchFamily="34" charset="0"/>
                <a:ea typeface="Arial" pitchFamily="34" charset="-122"/>
                <a:cs typeface="Arial" pitchFamily="34" charset="-120"/>
              </a:rPr>
              <a:t>Contingency and fundraising reserve  </a:t>
            </a:r>
            <a:pPr algn="r" indent="0" marL="0">
              <a:buNone/>
            </a:pPr>
            <a:r>
              <a:rPr lang="en-US" sz="830" b="1" dirty="0">
                <a:solidFill>
                  <a:srgbClr val="72879D"/>
                </a:solidFill>
                <a:latin typeface="Arial" pitchFamily="34" charset="0"/>
                <a:ea typeface="Arial" pitchFamily="34" charset="-122"/>
                <a:cs typeface="Arial" pitchFamily="34" charset="-120"/>
              </a:rPr>
              <a:t>$472K · 15.7%</a:t>
            </a:r>
            <a:endParaRPr lang="en-US" sz="830" dirty="0"/>
          </a:p>
        </p:txBody>
      </p:sp>
      <p:sp>
        <p:nvSpPr>
          <p:cNvPr id="29" name="Text 27"/>
          <p:cNvSpPr txBox="1"/>
          <p:nvPr/>
        </p:nvSpPr>
        <p:spPr>
          <a:xfrm>
            <a:off x="621792" y="3520440"/>
            <a:ext cx="1828800" cy="256032"/>
          </a:xfrm>
          <a:prstGeom prst="rect">
            <a:avLst/>
          </a:prstGeom>
          <a:noFill/>
          <a:ln/>
        </p:spPr>
        <p:txBody>
          <a:bodyPr wrap="square" lIns="0" tIns="0" rIns="0" bIns="0" rtlCol="0" anchor="ctr"/>
          <a:lstStyle/>
          <a:p>
            <a:pPr indent="0" marL="0">
              <a:buNone/>
            </a:pPr>
            <a:r>
              <a:rPr lang="en-US" sz="1200" b="1" spc="260" kern="0" dirty="0">
                <a:solidFill>
                  <a:srgbClr val="6FD3FF"/>
                </a:solidFill>
                <a:latin typeface="Arial" pitchFamily="34" charset="0"/>
                <a:ea typeface="Arial" pitchFamily="34" charset="-122"/>
                <a:cs typeface="Arial" pitchFamily="34" charset="-120"/>
              </a:rPr>
              <a:t>BUILDS</a:t>
            </a:r>
            <a:endParaRPr lang="en-US" sz="1200" dirty="0"/>
          </a:p>
        </p:txBody>
      </p:sp>
      <p:sp>
        <p:nvSpPr>
          <p:cNvPr id="30" name="Text 28"/>
          <p:cNvSpPr txBox="1"/>
          <p:nvPr/>
        </p:nvSpPr>
        <p:spPr>
          <a:xfrm>
            <a:off x="621792" y="3849624"/>
            <a:ext cx="3192170" cy="1645920"/>
          </a:xfrm>
          <a:prstGeom prst="rect">
            <a:avLst/>
          </a:prstGeom>
          <a:noFill/>
          <a:ln/>
        </p:spPr>
        <p:txBody>
          <a:bodyPr wrap="square" lIns="0" tIns="0" rIns="0" bIns="0" rtlCol="0" anchor="t"/>
          <a:lstStyle/>
          <a:p>
            <a:pPr indent="0" marL="0">
              <a:lnSpc>
                <a:spcPct val="114000"/>
              </a:lnSpc>
              <a:buNone/>
            </a:pPr>
            <a:r>
              <a:rPr lang="en-US" sz="860" dirty="0">
                <a:solidFill>
                  <a:srgbClr val="A9BDD1"/>
                </a:solidFill>
                <a:latin typeface="Arial" pitchFamily="34" charset="0"/>
                <a:ea typeface="Arial" pitchFamily="34" charset="-122"/>
                <a:cs typeface="Arial" pitchFamily="34" charset="-120"/>
              </a:rPr>
              <a:t>Founding chief engineer and engineering nucleus. Physical validation and integration capability. An integrated demonstrator. An intellectual property and data-rights position.</a:t>
            </a:r>
            <a:endParaRPr lang="en-US" sz="860" dirty="0"/>
          </a:p>
        </p:txBody>
      </p:sp>
      <p:sp>
        <p:nvSpPr>
          <p:cNvPr id="31" name="Shape 29"/>
          <p:cNvSpPr/>
          <p:nvPr/>
        </p:nvSpPr>
        <p:spPr>
          <a:xfrm>
            <a:off x="4252874" y="3611880"/>
            <a:ext cx="0" cy="1828800"/>
          </a:xfrm>
          <a:prstGeom prst="line">
            <a:avLst/>
          </a:prstGeom>
          <a:noFill/>
          <a:ln w="9525">
            <a:solidFill>
              <a:srgbClr val="23405C"/>
            </a:solidFill>
            <a:prstDash val="solid"/>
          </a:ln>
        </p:spPr>
      </p:sp>
      <p:sp>
        <p:nvSpPr>
          <p:cNvPr id="32" name="Text 30"/>
          <p:cNvSpPr txBox="1"/>
          <p:nvPr/>
        </p:nvSpPr>
        <p:spPr>
          <a:xfrm>
            <a:off x="4563770" y="3520440"/>
            <a:ext cx="1828800" cy="256032"/>
          </a:xfrm>
          <a:prstGeom prst="rect">
            <a:avLst/>
          </a:prstGeom>
          <a:noFill/>
          <a:ln/>
        </p:spPr>
        <p:txBody>
          <a:bodyPr wrap="square" lIns="0" tIns="0" rIns="0" bIns="0" rtlCol="0" anchor="ctr"/>
          <a:lstStyle/>
          <a:p>
            <a:pPr indent="0" marL="0">
              <a:buNone/>
            </a:pPr>
            <a:r>
              <a:rPr lang="en-US" sz="1200" b="1" spc="260" kern="0" dirty="0">
                <a:solidFill>
                  <a:srgbClr val="6FD3FF"/>
                </a:solidFill>
                <a:latin typeface="Arial" pitchFamily="34" charset="0"/>
                <a:ea typeface="Arial" pitchFamily="34" charset="-122"/>
                <a:cs typeface="Arial" pitchFamily="34" charset="-120"/>
              </a:rPr>
              <a:t>PROVES</a:t>
            </a:r>
            <a:endParaRPr lang="en-US" sz="1200" dirty="0"/>
          </a:p>
        </p:txBody>
      </p:sp>
      <p:sp>
        <p:nvSpPr>
          <p:cNvPr id="33" name="Text 31"/>
          <p:cNvSpPr txBox="1"/>
          <p:nvPr/>
        </p:nvSpPr>
        <p:spPr>
          <a:xfrm>
            <a:off x="4563770" y="3849624"/>
            <a:ext cx="3192170" cy="1645920"/>
          </a:xfrm>
          <a:prstGeom prst="rect">
            <a:avLst/>
          </a:prstGeom>
          <a:noFill/>
          <a:ln/>
        </p:spPr>
        <p:txBody>
          <a:bodyPr wrap="square" lIns="0" tIns="0" rIns="0" bIns="0" rtlCol="0" anchor="t"/>
          <a:lstStyle/>
          <a:p>
            <a:pPr indent="0" marL="0">
              <a:lnSpc>
                <a:spcPct val="114000"/>
              </a:lnSpc>
              <a:buNone/>
            </a:pPr>
            <a:r>
              <a:rPr lang="en-US" sz="860" dirty="0">
                <a:solidFill>
                  <a:srgbClr val="A9BDD1"/>
                </a:solidFill>
                <a:latin typeface="Arial" pitchFamily="34" charset="0"/>
                <a:ea typeface="Arial" pitchFamily="34" charset="-122"/>
                <a:cs typeface="Arial" pitchFamily="34" charset="-120"/>
              </a:rPr>
              <a:t>One operation class end to end with evidence. Measured physical performance and process capability. Customer economics measured rather than assumed. A qualification pathway agreed with a customer's quality organisation.</a:t>
            </a:r>
            <a:endParaRPr lang="en-US" sz="860" dirty="0"/>
          </a:p>
        </p:txBody>
      </p:sp>
      <p:sp>
        <p:nvSpPr>
          <p:cNvPr id="34" name="Shape 32"/>
          <p:cNvSpPr/>
          <p:nvPr/>
        </p:nvSpPr>
        <p:spPr>
          <a:xfrm>
            <a:off x="7902245" y="3611880"/>
            <a:ext cx="0" cy="1828800"/>
          </a:xfrm>
          <a:prstGeom prst="line">
            <a:avLst/>
          </a:prstGeom>
          <a:noFill/>
          <a:ln w="9525">
            <a:solidFill>
              <a:srgbClr val="23405C"/>
            </a:solidFill>
            <a:prstDash val="solid"/>
          </a:ln>
        </p:spPr>
      </p:sp>
      <p:sp>
        <p:nvSpPr>
          <p:cNvPr id="35" name="Text 33"/>
          <p:cNvSpPr txBox="1"/>
          <p:nvPr/>
        </p:nvSpPr>
        <p:spPr>
          <a:xfrm>
            <a:off x="8213141" y="3520440"/>
            <a:ext cx="1828800" cy="256032"/>
          </a:xfrm>
          <a:prstGeom prst="rect">
            <a:avLst/>
          </a:prstGeom>
          <a:noFill/>
          <a:ln/>
        </p:spPr>
        <p:txBody>
          <a:bodyPr wrap="square" lIns="0" tIns="0" rIns="0" bIns="0" rtlCol="0" anchor="ctr"/>
          <a:lstStyle/>
          <a:p>
            <a:pPr indent="0" marL="0">
              <a:buNone/>
            </a:pPr>
            <a:r>
              <a:rPr lang="en-US" sz="1200" b="1" spc="260" kern="0" dirty="0">
                <a:solidFill>
                  <a:srgbClr val="6FD3FF"/>
                </a:solidFill>
                <a:latin typeface="Arial" pitchFamily="34" charset="0"/>
                <a:ea typeface="Arial" pitchFamily="34" charset="-122"/>
                <a:cs typeface="Arial" pitchFamily="34" charset="-120"/>
              </a:rPr>
              <a:t>UNLOCKS</a:t>
            </a:r>
            <a:endParaRPr lang="en-US" sz="1200" dirty="0"/>
          </a:p>
        </p:txBody>
      </p:sp>
      <p:sp>
        <p:nvSpPr>
          <p:cNvPr id="36" name="Text 34"/>
          <p:cNvSpPr txBox="1"/>
          <p:nvPr/>
        </p:nvSpPr>
        <p:spPr>
          <a:xfrm>
            <a:off x="8213141" y="3849624"/>
            <a:ext cx="3192170" cy="1645920"/>
          </a:xfrm>
          <a:prstGeom prst="rect">
            <a:avLst/>
          </a:prstGeom>
          <a:noFill/>
          <a:ln/>
        </p:spPr>
        <p:txBody>
          <a:bodyPr wrap="square" lIns="0" tIns="0" rIns="0" bIns="0" rtlCol="0" anchor="t"/>
          <a:lstStyle/>
          <a:p>
            <a:pPr indent="0" marL="0">
              <a:lnSpc>
                <a:spcPct val="114000"/>
              </a:lnSpc>
              <a:buNone/>
            </a:pPr>
            <a:r>
              <a:rPr lang="en-US" sz="860" dirty="0">
                <a:solidFill>
                  <a:srgbClr val="A9BDD1"/>
                </a:solidFill>
                <a:latin typeface="Arial" pitchFamily="34" charset="0"/>
                <a:ea typeface="Arial" pitchFamily="34" charset="-122"/>
                <a:cs typeface="Arial" pitchFamily="34" charset="-120"/>
              </a:rPr>
              <a:t>A bounded validation engagement with a high-mix aerospace or defense supplier: read-only beside an existing process, measuring engineering introduction burden and process performance, with quality scope, data rights, security requirements and integration authority agreed before deployment. A second operation class. A seed round priced against physical evidence rather than architecture.</a:t>
            </a:r>
            <a:endParaRPr lang="en-US" sz="860" dirty="0"/>
          </a:p>
        </p:txBody>
      </p:sp>
      <p:sp>
        <p:nvSpPr>
          <p:cNvPr id="37" name="Shape 35"/>
          <p:cNvSpPr/>
          <p:nvPr/>
        </p:nvSpPr>
        <p:spPr>
          <a:xfrm>
            <a:off x="621792" y="5596128"/>
            <a:ext cx="10948111" cy="0"/>
          </a:xfrm>
          <a:prstGeom prst="line">
            <a:avLst/>
          </a:prstGeom>
          <a:noFill/>
          <a:ln w="9525">
            <a:solidFill>
              <a:srgbClr val="23405C"/>
            </a:solidFill>
            <a:prstDash val="solid"/>
          </a:ln>
        </p:spPr>
      </p:sp>
      <p:sp>
        <p:nvSpPr>
          <p:cNvPr id="38" name="Text 36"/>
          <p:cNvSpPr txBox="1"/>
          <p:nvPr/>
        </p:nvSpPr>
        <p:spPr>
          <a:xfrm>
            <a:off x="621792" y="5724144"/>
            <a:ext cx="10948111" cy="777240"/>
          </a:xfrm>
          <a:prstGeom prst="rect">
            <a:avLst/>
          </a:prstGeom>
          <a:noFill/>
          <a:ln/>
        </p:spPr>
        <p:txBody>
          <a:bodyPr wrap="square" lIns="0" tIns="0" rIns="0" bIns="0" rtlCol="0" anchor="t"/>
          <a:lstStyle/>
          <a:p>
            <a:pPr algn="l" indent="0" marL="0">
              <a:lnSpc>
                <a:spcPct val="115000"/>
              </a:lnSpc>
              <a:spcAft>
                <a:spcPts val="500"/>
              </a:spcAft>
              <a:buNone/>
            </a:pPr>
            <a:r>
              <a:rPr lang="en-US" sz="1150" b="1" dirty="0">
                <a:solidFill>
                  <a:srgbClr val="EAF2FA"/>
                </a:solidFill>
                <a:latin typeface="Arial" pitchFamily="34" charset="0"/>
                <a:ea typeface="Arial" pitchFamily="34" charset="-122"/>
                <a:cs typeface="Arial" pitchFamily="34" charset="-120"/>
              </a:rPr>
              <a:t>The experiments are cheap. The organization that can run them, interpret them, and convert them into evidence an aerospace customer will accept is not.</a:t>
            </a:r>
            <a:endParaRPr lang="en-US" sz="1150" dirty="0"/>
          </a:p>
          <a:p>
            <a:pPr algn="l" indent="0" marL="0">
              <a:lnSpc>
                <a:spcPct val="115000"/>
              </a:lnSpc>
              <a:buNone/>
            </a:pPr>
            <a:r>
              <a:rPr lang="en-US" sz="1300" b="1" dirty="0">
                <a:solidFill>
                  <a:srgbClr val="6FD3FF"/>
                </a:solidFill>
                <a:latin typeface="Arial" pitchFamily="34" charset="0"/>
                <a:ea typeface="Arial" pitchFamily="34" charset="-122"/>
                <a:cs typeface="Arial" pitchFamily="34" charset="-120"/>
              </a:rPr>
              <a:t>Seeking strategic capital and industrial partners.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Syntrex Advanced Systems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Syntrex Advanced Systems — Investor Presentation, September 2026</dc:title>
  <dc:subject>PptxGenJS Presentation</dc:subject>
  <dc:creator>Syntrex Advanced Systems</dc:creator>
  <cp:lastModifiedBy>Syntrex Advanced Systems</cp:lastModifiedBy>
  <cp:revision>1</cp:revision>
  <dcterms:created xsi:type="dcterms:W3CDTF">2026-09-09T00:19:22Z</dcterms:created>
  <dcterms:modified xsi:type="dcterms:W3CDTF">2026-09-09T00:19:22Z</dcterms:modified>
</cp:coreProperties>
</file>